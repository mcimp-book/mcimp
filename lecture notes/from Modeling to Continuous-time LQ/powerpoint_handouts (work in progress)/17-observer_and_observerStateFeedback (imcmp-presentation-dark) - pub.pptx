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62" r:id="rId4"/>
    <p:sldId id="264" r:id="rId5"/>
    <p:sldId id="266" r:id="rId6"/>
    <p:sldId id="270" r:id="rId7"/>
    <p:sldId id="274" r:id="rId8"/>
    <p:sldId id="276" r:id="rId9"/>
    <p:sldId id="278" r:id="rId10"/>
    <p:sldId id="281" r:id="rId11"/>
    <p:sldId id="286" r:id="rId12"/>
    <p:sldId id="287" r:id="rId13"/>
    <p:sldId id="288" r:id="rId14"/>
    <p:sldId id="289" r:id="rId15"/>
    <p:sldId id="290" r:id="rId16"/>
    <p:sldId id="292" r:id="rId17"/>
    <p:sldId id="295" r:id="rId18"/>
    <p:sldId id="297" r:id="rId19"/>
    <p:sldId id="301" r:id="rId20"/>
    <p:sldId id="304" r:id="rId21"/>
    <p:sldId id="307" r:id="rId22"/>
    <p:sldId id="308" r:id="rId23"/>
    <p:sldId id="309" r:id="rId24"/>
    <p:sldId id="312" r:id="rId25"/>
    <p:sldId id="315" r:id="rId26"/>
    <p:sldId id="316" r:id="rId27"/>
    <p:sldId id="320" r:id="rId28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3DEBA8-33E5-4876-8C41-E6ABCCA1318E}" v="542" dt="2025-11-22T06:00:18.78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240" d="100"/>
          <a:sy n="240" d="100"/>
        </p:scale>
        <p:origin x="1920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an Cheng" userId="b14087c0-bac9-44dd-b3f8-5d50e1ee75e5" providerId="ADAL" clId="{75A9BF88-81BC-4677-82BB-DF96F3D360A6}"/>
    <pc:docChg chg="undo redo custSel addSld delSld modSld">
      <pc:chgData name="Shuan Cheng" userId="b14087c0-bac9-44dd-b3f8-5d50e1ee75e5" providerId="ADAL" clId="{75A9BF88-81BC-4677-82BB-DF96F3D360A6}" dt="2025-11-22T06:00:18.783" v="764"/>
      <pc:docMkLst>
        <pc:docMk/>
      </pc:docMkLst>
      <pc:sldChg chg="modSp add del mod">
        <pc:chgData name="Shuan Cheng" userId="b14087c0-bac9-44dd-b3f8-5d50e1ee75e5" providerId="ADAL" clId="{75A9BF88-81BC-4677-82BB-DF96F3D360A6}" dt="2025-11-21T02:20:31.039" v="83" actId="14100"/>
        <pc:sldMkLst>
          <pc:docMk/>
          <pc:sldMk cId="0" sldId="262"/>
        </pc:sldMkLst>
        <pc:spChg chg="mod">
          <ac:chgData name="Shuan Cheng" userId="b14087c0-bac9-44dd-b3f8-5d50e1ee75e5" providerId="ADAL" clId="{75A9BF88-81BC-4677-82BB-DF96F3D360A6}" dt="2025-11-21T02:19:36.191" v="70" actId="1035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20:31.039" v="83" actId="14100"/>
          <ac:spMkLst>
            <pc:docMk/>
            <pc:sldMk cId="0" sldId="262"/>
            <ac:spMk id="11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2T05:56:32.936" v="724" actId="114"/>
        <pc:sldMkLst>
          <pc:docMk/>
          <pc:sldMk cId="0" sldId="264"/>
        </pc:sldMkLst>
        <pc:spChg chg="mod">
          <ac:chgData name="Shuan Cheng" userId="b14087c0-bac9-44dd-b3f8-5d50e1ee75e5" providerId="ADAL" clId="{75A9BF88-81BC-4677-82BB-DF96F3D360A6}" dt="2025-11-22T05:56:32.936" v="724" actId="114"/>
          <ac:spMkLst>
            <pc:docMk/>
            <pc:sldMk cId="0" sldId="264"/>
            <ac:spMk id="3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1T02:25:11.726" v="113" actId="20577"/>
        <pc:sldMkLst>
          <pc:docMk/>
          <pc:sldMk cId="0" sldId="266"/>
        </pc:sldMkLst>
        <pc:spChg chg="mod">
          <ac:chgData name="Shuan Cheng" userId="b14087c0-bac9-44dd-b3f8-5d50e1ee75e5" providerId="ADAL" clId="{75A9BF88-81BC-4677-82BB-DF96F3D360A6}" dt="2025-11-21T02:25:11.726" v="113" actId="20577"/>
          <ac:spMkLst>
            <pc:docMk/>
            <pc:sldMk cId="0" sldId="266"/>
            <ac:spMk id="13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2T06:00:10.329" v="759" actId="114"/>
        <pc:sldMkLst>
          <pc:docMk/>
          <pc:sldMk cId="0" sldId="270"/>
        </pc:sldMkLst>
        <pc:spChg chg="mod">
          <ac:chgData name="Shuan Cheng" userId="b14087c0-bac9-44dd-b3f8-5d50e1ee75e5" providerId="ADAL" clId="{75A9BF88-81BC-4677-82BB-DF96F3D360A6}" dt="2025-11-22T06:00:10.329" v="759" actId="114"/>
          <ac:spMkLst>
            <pc:docMk/>
            <pc:sldMk cId="0" sldId="270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32:40.941" v="129" actId="207"/>
        <pc:sldMkLst>
          <pc:docMk/>
          <pc:sldMk cId="0" sldId="274"/>
        </pc:sldMkLst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2:38.967" v="127" actId="478"/>
          <ac:spMkLst>
            <pc:docMk/>
            <pc:sldMk cId="0" sldId="274"/>
            <ac:spMk id="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32:40.941" v="129" actId="207"/>
          <ac:spMkLst>
            <pc:docMk/>
            <pc:sldMk cId="0" sldId="274"/>
            <ac:spMk id="29" creationId="{E569B10B-ACA6-45BF-6EDB-9AADAA9C5F69}"/>
          </ac:spMkLst>
        </pc:spChg>
      </pc:sldChg>
      <pc:sldChg chg="delSp modSp add del mod">
        <pc:chgData name="Shuan Cheng" userId="b14087c0-bac9-44dd-b3f8-5d50e1ee75e5" providerId="ADAL" clId="{75A9BF88-81BC-4677-82BB-DF96F3D360A6}" dt="2025-11-22T06:00:18.783" v="764"/>
        <pc:sldMkLst>
          <pc:docMk/>
          <pc:sldMk cId="0" sldId="276"/>
        </pc:sldMkLst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5:21.813" v="148" actId="478"/>
          <ac:spMkLst>
            <pc:docMk/>
            <pc:sldMk cId="0" sldId="276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6:00:18.783" v="764"/>
          <ac:spMkLst>
            <pc:docMk/>
            <pc:sldMk cId="0" sldId="276"/>
            <ac:spMk id="9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45:07.884" v="380" actId="207"/>
        <pc:sldMkLst>
          <pc:docMk/>
          <pc:sldMk cId="0" sldId="278"/>
        </pc:sldMkLst>
        <pc:spChg chg="mod">
          <ac:chgData name="Shuan Cheng" userId="b14087c0-bac9-44dd-b3f8-5d50e1ee75e5" providerId="ADAL" clId="{75A9BF88-81BC-4677-82BB-DF96F3D360A6}" dt="2025-11-21T02:39:18.882" v="378"/>
          <ac:spMkLst>
            <pc:docMk/>
            <pc:sldMk cId="0" sldId="278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4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9:04.401" v="374" actId="478"/>
          <ac:spMkLst>
            <pc:docMk/>
            <pc:sldMk cId="0" sldId="278"/>
            <ac:spMk id="5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45:07.884" v="380" actId="207"/>
          <ac:spMkLst>
            <pc:docMk/>
            <pc:sldMk cId="0" sldId="278"/>
            <ac:spMk id="61" creationId="{BD513778-8A3D-2407-646C-EBD6F7144DE9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51:19.130" v="409" actId="207"/>
        <pc:sldMkLst>
          <pc:docMk/>
          <pc:sldMk cId="0" sldId="281"/>
        </pc:sldMkLst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6.237" v="382" actId="478"/>
          <ac:spMkLst>
            <pc:docMk/>
            <pc:sldMk cId="0" sldId="281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3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50:54.347" v="404" actId="20577"/>
          <ac:spMkLst>
            <pc:docMk/>
            <pc:sldMk cId="0" sldId="281"/>
            <ac:spMk id="3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51:19.130" v="409" actId="207"/>
          <ac:spMkLst>
            <pc:docMk/>
            <pc:sldMk cId="0" sldId="281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0:13.211" v="381" actId="478"/>
          <ac:spMkLst>
            <pc:docMk/>
            <pc:sldMk cId="0" sldId="281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50:18.132" v="384" actId="207"/>
          <ac:spMkLst>
            <pc:docMk/>
            <pc:sldMk cId="0" sldId="281"/>
            <ac:spMk id="47" creationId="{9DFAD710-2370-1A1B-69DD-480D5DC5FBDA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3:02:16.908" v="428" actId="207"/>
        <pc:sldMkLst>
          <pc:docMk/>
          <pc:sldMk cId="0" sldId="286"/>
        </pc:sldMkLst>
        <pc:spChg chg="mod">
          <ac:chgData name="Shuan Cheng" userId="b14087c0-bac9-44dd-b3f8-5d50e1ee75e5" providerId="ADAL" clId="{75A9BF88-81BC-4677-82BB-DF96F3D360A6}" dt="2025-11-21T03:01:16.174" v="422" actId="14100"/>
          <ac:spMkLst>
            <pc:docMk/>
            <pc:sldMk cId="0" sldId="28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1:18.816" v="423" actId="478"/>
          <ac:spMkLst>
            <pc:docMk/>
            <pc:sldMk cId="0" sldId="286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3:01:05.398" v="421" actId="20577"/>
          <ac:spMkLst>
            <pc:docMk/>
            <pc:sldMk cId="0" sldId="286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0:14.360" v="410" actId="478"/>
          <ac:spMkLst>
            <pc:docMk/>
            <pc:sldMk cId="0" sldId="286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0:14.360" v="410" actId="478"/>
          <ac:spMkLst>
            <pc:docMk/>
            <pc:sldMk cId="0" sldId="286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3:00:14.360" v="410" actId="478"/>
          <ac:spMkLst>
            <pc:docMk/>
            <pc:sldMk cId="0" sldId="286"/>
            <ac:spMk id="19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3:00:19.479" v="413" actId="207"/>
          <ac:spMkLst>
            <pc:docMk/>
            <pc:sldMk cId="0" sldId="286"/>
            <ac:spMk id="25" creationId="{B4816F5A-52D2-C682-BEC4-220DFC78479E}"/>
          </ac:spMkLst>
        </pc:spChg>
        <pc:spChg chg="add del mod">
          <ac:chgData name="Shuan Cheng" userId="b14087c0-bac9-44dd-b3f8-5d50e1ee75e5" providerId="ADAL" clId="{75A9BF88-81BC-4677-82BB-DF96F3D360A6}" dt="2025-11-21T03:02:15.100" v="426" actId="478"/>
          <ac:spMkLst>
            <pc:docMk/>
            <pc:sldMk cId="0" sldId="286"/>
            <ac:spMk id="26" creationId="{366BFF79-8641-E5C4-AB64-0D846344147E}"/>
          </ac:spMkLst>
        </pc:spChg>
        <pc:spChg chg="add mod">
          <ac:chgData name="Shuan Cheng" userId="b14087c0-bac9-44dd-b3f8-5d50e1ee75e5" providerId="ADAL" clId="{75A9BF88-81BC-4677-82BB-DF96F3D360A6}" dt="2025-11-21T03:02:16.908" v="428" actId="207"/>
          <ac:spMkLst>
            <pc:docMk/>
            <pc:sldMk cId="0" sldId="286"/>
            <ac:spMk id="27" creationId="{D050E6B6-6AE1-2037-D033-E18A529FA63E}"/>
          </ac:spMkLst>
        </pc:spChg>
      </pc:sldChg>
      <pc:sldChg chg="add del">
        <pc:chgData name="Shuan Cheng" userId="b14087c0-bac9-44dd-b3f8-5d50e1ee75e5" providerId="ADAL" clId="{75A9BF88-81BC-4677-82BB-DF96F3D360A6}" dt="2025-11-20T21:57:21.035" v="39" actId="47"/>
        <pc:sldMkLst>
          <pc:docMk/>
          <pc:sldMk cId="0" sldId="287"/>
        </pc:sldMkLst>
      </pc:sldChg>
      <pc:sldChg chg="addSp delSp modSp mod">
        <pc:chgData name="Shuan Cheng" userId="b14087c0-bac9-44dd-b3f8-5d50e1ee75e5" providerId="ADAL" clId="{75A9BF88-81BC-4677-82BB-DF96F3D360A6}" dt="2025-11-21T03:07:10.253" v="468" actId="1037"/>
        <pc:sldMkLst>
          <pc:docMk/>
          <pc:sldMk cId="0" sldId="288"/>
        </pc:sldMkLst>
        <pc:spChg chg="add mod">
          <ac:chgData name="Shuan Cheng" userId="b14087c0-bac9-44dd-b3f8-5d50e1ee75e5" providerId="ADAL" clId="{75A9BF88-81BC-4677-82BB-DF96F3D360A6}" dt="2025-11-21T03:06:55.813" v="461" actId="1582"/>
          <ac:spMkLst>
            <pc:docMk/>
            <pc:sldMk cId="0" sldId="288"/>
            <ac:spMk id="19" creationId="{3854AF50-1BB0-3265-C85D-87D9DC72257E}"/>
          </ac:spMkLst>
        </pc:spChg>
        <pc:grpChg chg="del mod">
          <ac:chgData name="Shuan Cheng" userId="b14087c0-bac9-44dd-b3f8-5d50e1ee75e5" providerId="ADAL" clId="{75A9BF88-81BC-4677-82BB-DF96F3D360A6}" dt="2025-11-21T03:03:29.788" v="431" actId="478"/>
          <ac:grpSpMkLst>
            <pc:docMk/>
            <pc:sldMk cId="0" sldId="288"/>
            <ac:grpSpMk id="3" creationId="{00000000-0000-0000-0000-000000000000}"/>
          </ac:grpSpMkLst>
        </pc:grpChg>
        <pc:graphicFrameChg chg="add mod modGraphic">
          <ac:chgData name="Shuan Cheng" userId="b14087c0-bac9-44dd-b3f8-5d50e1ee75e5" providerId="ADAL" clId="{75A9BF88-81BC-4677-82BB-DF96F3D360A6}" dt="2025-11-21T03:05:16.831" v="449"/>
          <ac:graphicFrameMkLst>
            <pc:docMk/>
            <pc:sldMk cId="0" sldId="288"/>
            <ac:graphicFrameMk id="18" creationId="{155BBE3B-E1E6-6795-ACC1-187B920A2D4C}"/>
          </ac:graphicFrameMkLst>
        </pc:graphicFrameChg>
        <pc:cxnChg chg="add mod">
          <ac:chgData name="Shuan Cheng" userId="b14087c0-bac9-44dd-b3f8-5d50e1ee75e5" providerId="ADAL" clId="{75A9BF88-81BC-4677-82BB-DF96F3D360A6}" dt="2025-11-21T03:07:10.253" v="468" actId="1037"/>
          <ac:cxnSpMkLst>
            <pc:docMk/>
            <pc:sldMk cId="0" sldId="288"/>
            <ac:cxnSpMk id="21" creationId="{58DAEF80-049B-4FF9-6331-412CA72D8332}"/>
          </ac:cxnSpMkLst>
        </pc:cxnChg>
      </pc:sldChg>
      <pc:sldChg chg="modSp">
        <pc:chgData name="Shuan Cheng" userId="b14087c0-bac9-44dd-b3f8-5d50e1ee75e5" providerId="ADAL" clId="{75A9BF88-81BC-4677-82BB-DF96F3D360A6}" dt="2025-11-21T03:08:35.581" v="477" actId="20577"/>
        <pc:sldMkLst>
          <pc:docMk/>
          <pc:sldMk cId="0" sldId="290"/>
        </pc:sldMkLst>
        <pc:spChg chg="mod">
          <ac:chgData name="Shuan Cheng" userId="b14087c0-bac9-44dd-b3f8-5d50e1ee75e5" providerId="ADAL" clId="{75A9BF88-81BC-4677-82BB-DF96F3D360A6}" dt="2025-11-21T03:08:35.581" v="477" actId="20577"/>
          <ac:spMkLst>
            <pc:docMk/>
            <pc:sldMk cId="0" sldId="290"/>
            <ac:spMk id="3" creationId="{00000000-0000-0000-0000-000000000000}"/>
          </ac:spMkLst>
        </pc:spChg>
      </pc:sldChg>
      <pc:sldChg chg="addSp delSp modSp mod">
        <pc:chgData name="Shuan Cheng" userId="b14087c0-bac9-44dd-b3f8-5d50e1ee75e5" providerId="ADAL" clId="{75A9BF88-81BC-4677-82BB-DF96F3D360A6}" dt="2025-11-22T05:16:54.600" v="498" actId="114"/>
        <pc:sldMkLst>
          <pc:docMk/>
          <pc:sldMk cId="0" sldId="292"/>
        </pc:sldMkLst>
        <pc:spChg chg="mod">
          <ac:chgData name="Shuan Cheng" userId="b14087c0-bac9-44dd-b3f8-5d50e1ee75e5" providerId="ADAL" clId="{75A9BF88-81BC-4677-82BB-DF96F3D360A6}" dt="2025-11-22T05:16:54.600" v="498" actId="114"/>
          <ac:spMkLst>
            <pc:docMk/>
            <pc:sldMk cId="0" sldId="292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05.996" v="489" actId="478"/>
          <ac:spMkLst>
            <pc:docMk/>
            <pc:sldMk cId="0" sldId="292"/>
            <ac:spMk id="12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2T05:15:14.295" v="493" actId="478"/>
          <ac:spMkLst>
            <pc:docMk/>
            <pc:sldMk cId="0" sldId="292"/>
            <ac:spMk id="17" creationId="{0B5909A6-2654-2A60-5C20-EFAFCF9582A5}"/>
          </ac:spMkLst>
        </pc:spChg>
        <pc:spChg chg="add mod">
          <ac:chgData name="Shuan Cheng" userId="b14087c0-bac9-44dd-b3f8-5d50e1ee75e5" providerId="ADAL" clId="{75A9BF88-81BC-4677-82BB-DF96F3D360A6}" dt="2025-11-22T05:16:28.217" v="495" actId="207"/>
          <ac:spMkLst>
            <pc:docMk/>
            <pc:sldMk cId="0" sldId="292"/>
            <ac:spMk id="18" creationId="{4A40F743-F86A-8642-46B3-D53E71857941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19:53.584" v="519" actId="207"/>
        <pc:sldMkLst>
          <pc:docMk/>
          <pc:sldMk cId="0" sldId="295"/>
        </pc:sldMkLst>
        <pc:spChg chg="mod">
          <ac:chgData name="Shuan Cheng" userId="b14087c0-bac9-44dd-b3f8-5d50e1ee75e5" providerId="ADAL" clId="{75A9BF88-81BC-4677-82BB-DF96F3D360A6}" dt="2025-11-22T05:17:31.103" v="500" actId="14100"/>
          <ac:spMkLst>
            <pc:docMk/>
            <pc:sldMk cId="0" sldId="29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28.672" v="499" actId="478"/>
          <ac:spMkLst>
            <pc:docMk/>
            <pc:sldMk cId="0" sldId="295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18:49.710" v="516" actId="20577"/>
          <ac:spMkLst>
            <pc:docMk/>
            <pc:sldMk cId="0" sldId="29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8:44.068" v="505" actId="478"/>
          <ac:spMkLst>
            <pc:docMk/>
            <pc:sldMk cId="0" sldId="295"/>
            <ac:spMk id="2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17:49.566" v="503" actId="14100"/>
          <ac:spMkLst>
            <pc:docMk/>
            <pc:sldMk cId="0" sldId="295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51.746" v="517" actId="478"/>
          <ac:spMkLst>
            <pc:docMk/>
            <pc:sldMk cId="0" sldId="295"/>
            <ac:spMk id="3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17:32.644" v="502" actId="207"/>
          <ac:spMkLst>
            <pc:docMk/>
            <pc:sldMk cId="0" sldId="295"/>
            <ac:spMk id="38" creationId="{204AED9F-C614-9FBF-1F3B-0550753F4318}"/>
          </ac:spMkLst>
        </pc:spChg>
        <pc:spChg chg="add mod">
          <ac:chgData name="Shuan Cheng" userId="b14087c0-bac9-44dd-b3f8-5d50e1ee75e5" providerId="ADAL" clId="{75A9BF88-81BC-4677-82BB-DF96F3D360A6}" dt="2025-11-22T05:18:45.922" v="507" actId="207"/>
          <ac:spMkLst>
            <pc:docMk/>
            <pc:sldMk cId="0" sldId="295"/>
            <ac:spMk id="39" creationId="{6D2E6E1B-9AD5-92E3-5A17-AA78E54F5F80}"/>
          </ac:spMkLst>
        </pc:spChg>
        <pc:spChg chg="add mod">
          <ac:chgData name="Shuan Cheng" userId="b14087c0-bac9-44dd-b3f8-5d50e1ee75e5" providerId="ADAL" clId="{75A9BF88-81BC-4677-82BB-DF96F3D360A6}" dt="2025-11-22T05:19:53.584" v="519" actId="207"/>
          <ac:spMkLst>
            <pc:docMk/>
            <pc:sldMk cId="0" sldId="295"/>
            <ac:spMk id="40" creationId="{8A7040EE-3E72-F21A-9A31-82AA5AB151B0}"/>
          </ac:spMkLst>
        </pc:spChg>
      </pc:sldChg>
      <pc:sldChg chg="add del">
        <pc:chgData name="Shuan Cheng" userId="b14087c0-bac9-44dd-b3f8-5d50e1ee75e5" providerId="ADAL" clId="{75A9BF88-81BC-4677-82BB-DF96F3D360A6}" dt="2025-11-20T21:57:32.028" v="47" actId="47"/>
        <pc:sldMkLst>
          <pc:docMk/>
          <pc:sldMk cId="0" sldId="297"/>
        </pc:sldMkLst>
      </pc:sldChg>
      <pc:sldChg chg="addSp delSp modSp mod">
        <pc:chgData name="Shuan Cheng" userId="b14087c0-bac9-44dd-b3f8-5d50e1ee75e5" providerId="ADAL" clId="{75A9BF88-81BC-4677-82BB-DF96F3D360A6}" dt="2025-11-22T05:24:41.356" v="527" actId="2085"/>
        <pc:sldMkLst>
          <pc:docMk/>
          <pc:sldMk cId="0" sldId="301"/>
        </pc:sldMkLst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0:33.354" v="522" actId="478"/>
          <ac:spMkLst>
            <pc:docMk/>
            <pc:sldMk cId="0" sldId="301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11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2T05:20:31.439" v="521" actId="478"/>
          <ac:spMkLst>
            <pc:docMk/>
            <pc:sldMk cId="0" sldId="301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4:14.462" v="523" actId="478"/>
          <ac:spMkLst>
            <pc:docMk/>
            <pc:sldMk cId="0" sldId="301"/>
            <ac:spMk id="1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0" creationId="{F6B94CEF-FFB0-77FD-8F5F-16ABDCB4DE17}"/>
          </ac:spMkLst>
        </pc:spChg>
        <pc:spChg chg="add 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1" creationId="{2F467978-5299-CD9F-6453-FFD5DA677AD7}"/>
          </ac:spMkLst>
        </pc:spChg>
        <pc:spChg chg="add 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2" creationId="{2BDD909E-F16B-91DE-54ED-E21BEB9F77FE}"/>
          </ac:spMkLst>
        </pc:spChg>
        <pc:spChg chg="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3" creationId="{EF38CC00-E251-B888-ED81-9841E4FC55F7}"/>
          </ac:spMkLst>
        </pc:spChg>
        <pc:spChg chg="add 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4" creationId="{050B88E6-AB92-5E9E-99E5-80970B9C7D26}"/>
          </ac:spMkLst>
        </pc:spChg>
        <pc:spChg chg="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5" creationId="{0249E2ED-5117-DD37-4AE1-313FD13E1F8A}"/>
          </ac:spMkLst>
        </pc:spChg>
        <pc:spChg chg="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6" creationId="{1E120AE1-98E4-5371-3C40-3F3E50E30973}"/>
          </ac:spMkLst>
        </pc:spChg>
        <pc:spChg chg="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7" creationId="{608C49E5-5689-1263-6102-6952AF1184C6}"/>
          </ac:spMkLst>
        </pc:spChg>
        <pc:spChg chg="mod">
          <ac:chgData name="Shuan Cheng" userId="b14087c0-bac9-44dd-b3f8-5d50e1ee75e5" providerId="ADAL" clId="{75A9BF88-81BC-4677-82BB-DF96F3D360A6}" dt="2025-11-22T05:24:41.356" v="527" actId="2085"/>
          <ac:spMkLst>
            <pc:docMk/>
            <pc:sldMk cId="0" sldId="301"/>
            <ac:spMk id="28" creationId="{EDAF7028-02CF-B1A2-B182-0521DC373C0D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0" creationId="{36FCED01-8890-9A5A-A5A3-92A63F000141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1" creationId="{B86C8B05-2F5C-79AF-DA67-C8B94CCC9C0C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2" creationId="{03AC0B36-8B12-B37D-F479-A1BAE5ACAF96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4" creationId="{0B2B3415-D9EE-4568-2372-A4F01272CAE2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6" creationId="{5BE43A68-2FD2-A960-16C8-E7AF41104281}"/>
          </ac:spMkLst>
        </pc:spChg>
        <pc:spChg chg="add mod">
          <ac:chgData name="Shuan Cheng" userId="b14087c0-bac9-44dd-b3f8-5d50e1ee75e5" providerId="ADAL" clId="{75A9BF88-81BC-4677-82BB-DF96F3D360A6}" dt="2025-11-22T05:24:23.538" v="526" actId="208"/>
          <ac:spMkLst>
            <pc:docMk/>
            <pc:sldMk cId="0" sldId="301"/>
            <ac:spMk id="38" creationId="{827EADB4-2400-E234-4433-C7874D2DCA19}"/>
          </ac:spMkLst>
        </pc:spChg>
      </pc:sldChg>
      <pc:sldChg chg="modSp add del mod">
        <pc:chgData name="Shuan Cheng" userId="b14087c0-bac9-44dd-b3f8-5d50e1ee75e5" providerId="ADAL" clId="{75A9BF88-81BC-4677-82BB-DF96F3D360A6}" dt="2025-11-22T05:32:24.119" v="557" actId="207"/>
        <pc:sldMkLst>
          <pc:docMk/>
          <pc:sldMk cId="0" sldId="304"/>
        </pc:sldMkLst>
        <pc:spChg chg="mod">
          <ac:chgData name="Shuan Cheng" userId="b14087c0-bac9-44dd-b3f8-5d50e1ee75e5" providerId="ADAL" clId="{75A9BF88-81BC-4677-82BB-DF96F3D360A6}" dt="2025-11-22T05:32:24.119" v="557" actId="207"/>
          <ac:spMkLst>
            <pc:docMk/>
            <pc:sldMk cId="0" sldId="304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37:53.356" v="580" actId="20577"/>
        <pc:sldMkLst>
          <pc:docMk/>
          <pc:sldMk cId="0" sldId="307"/>
        </pc:sldMkLst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19.975" v="558" actId="478"/>
          <ac:spMkLst>
            <pc:docMk/>
            <pc:sldMk cId="0" sldId="307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7:40.161" v="572" actId="114"/>
          <ac:spMkLst>
            <pc:docMk/>
            <pc:sldMk cId="0" sldId="307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7:23.706" v="560" actId="20577"/>
          <ac:spMkLst>
            <pc:docMk/>
            <pc:sldMk cId="0" sldId="307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7:21.420" v="559" actId="478"/>
          <ac:spMkLst>
            <pc:docMk/>
            <pc:sldMk cId="0" sldId="307"/>
            <ac:spMk id="3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7:53.356" v="580" actId="20577"/>
          <ac:spMkLst>
            <pc:docMk/>
            <pc:sldMk cId="0" sldId="307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37:26.098" v="562" actId="207"/>
          <ac:spMkLst>
            <pc:docMk/>
            <pc:sldMk cId="0" sldId="307"/>
            <ac:spMk id="46" creationId="{B324F48C-CF3C-1A10-8989-9B60C5B56B0D}"/>
          </ac:spMkLst>
        </pc:spChg>
        <pc:spChg chg="add mod">
          <ac:chgData name="Shuan Cheng" userId="b14087c0-bac9-44dd-b3f8-5d50e1ee75e5" providerId="ADAL" clId="{75A9BF88-81BC-4677-82BB-DF96F3D360A6}" dt="2025-11-22T05:37:26.098" v="562" actId="207"/>
          <ac:spMkLst>
            <pc:docMk/>
            <pc:sldMk cId="0" sldId="307"/>
            <ac:spMk id="47" creationId="{442088C7-1B52-74C7-69A8-E12D73D2F2C8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44:37.054" v="583" actId="207"/>
        <pc:sldMkLst>
          <pc:docMk/>
          <pc:sldMk cId="0" sldId="308"/>
        </pc:sldMkLst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4:34.877" v="581" actId="478"/>
          <ac:spMkLst>
            <pc:docMk/>
            <pc:sldMk cId="0" sldId="308"/>
            <ac:spMk id="3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44:37.054" v="583" actId="207"/>
          <ac:spMkLst>
            <pc:docMk/>
            <pc:sldMk cId="0" sldId="308"/>
            <ac:spMk id="43" creationId="{8B964864-3A3F-6D99-96A5-F5C1B12647AC}"/>
          </ac:spMkLst>
        </pc:spChg>
        <pc:spChg chg="add mod">
          <ac:chgData name="Shuan Cheng" userId="b14087c0-bac9-44dd-b3f8-5d50e1ee75e5" providerId="ADAL" clId="{75A9BF88-81BC-4677-82BB-DF96F3D360A6}" dt="2025-11-22T05:44:37.054" v="583" actId="207"/>
          <ac:spMkLst>
            <pc:docMk/>
            <pc:sldMk cId="0" sldId="308"/>
            <ac:spMk id="44" creationId="{866AE151-36AC-FB0C-56F4-8C0BA3AC81C5}"/>
          </ac:spMkLst>
        </pc:spChg>
        <pc:spChg chg="add mod">
          <ac:chgData name="Shuan Cheng" userId="b14087c0-bac9-44dd-b3f8-5d50e1ee75e5" providerId="ADAL" clId="{75A9BF88-81BC-4677-82BB-DF96F3D360A6}" dt="2025-11-22T05:44:37.054" v="583" actId="207"/>
          <ac:spMkLst>
            <pc:docMk/>
            <pc:sldMk cId="0" sldId="308"/>
            <ac:spMk id="45" creationId="{AF5369E6-9893-0D7E-8F1B-2336F8DC6ED0}"/>
          </ac:spMkLst>
        </pc:spChg>
        <pc:spChg chg="add mod">
          <ac:chgData name="Shuan Cheng" userId="b14087c0-bac9-44dd-b3f8-5d50e1ee75e5" providerId="ADAL" clId="{75A9BF88-81BC-4677-82BB-DF96F3D360A6}" dt="2025-11-22T05:44:37.054" v="583" actId="207"/>
          <ac:spMkLst>
            <pc:docMk/>
            <pc:sldMk cId="0" sldId="308"/>
            <ac:spMk id="46" creationId="{14EAC6BD-4EE6-634F-615D-B8A243B84962}"/>
          </ac:spMkLst>
        </pc:spChg>
      </pc:sldChg>
      <pc:sldChg chg="modSp add del mod">
        <pc:chgData name="Shuan Cheng" userId="b14087c0-bac9-44dd-b3f8-5d50e1ee75e5" providerId="ADAL" clId="{75A9BF88-81BC-4677-82BB-DF96F3D360A6}" dt="2025-11-22T05:45:59.434" v="639" actId="20577"/>
        <pc:sldMkLst>
          <pc:docMk/>
          <pc:sldMk cId="0" sldId="312"/>
        </pc:sldMkLst>
        <pc:spChg chg="mod">
          <ac:chgData name="Shuan Cheng" userId="b14087c0-bac9-44dd-b3f8-5d50e1ee75e5" providerId="ADAL" clId="{75A9BF88-81BC-4677-82BB-DF96F3D360A6}" dt="2025-11-22T05:45:59.434" v="639" actId="20577"/>
          <ac:spMkLst>
            <pc:docMk/>
            <pc:sldMk cId="0" sldId="312"/>
            <ac:spMk id="3" creationId="{00000000-0000-0000-0000-000000000000}"/>
          </ac:spMkLst>
        </pc:spChg>
      </pc:sldChg>
      <pc:sldChg chg="addSp delSp modSp mod">
        <pc:chgData name="Shuan Cheng" userId="b14087c0-bac9-44dd-b3f8-5d50e1ee75e5" providerId="ADAL" clId="{75A9BF88-81BC-4677-82BB-DF96F3D360A6}" dt="2025-11-22T05:51:04.338" v="681" actId="207"/>
        <pc:sldMkLst>
          <pc:docMk/>
          <pc:sldMk cId="0" sldId="315"/>
        </pc:sldMkLst>
        <pc:spChg chg="mod">
          <ac:chgData name="Shuan Cheng" userId="b14087c0-bac9-44dd-b3f8-5d50e1ee75e5" providerId="ADAL" clId="{75A9BF88-81BC-4677-82BB-DF96F3D360A6}" dt="2025-11-22T05:50:38.189" v="678" actId="20577"/>
          <ac:spMkLst>
            <pc:docMk/>
            <pc:sldMk cId="0" sldId="31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0:56.317" v="679" actId="478"/>
          <ac:spMkLst>
            <pc:docMk/>
            <pc:sldMk cId="0" sldId="315"/>
            <ac:spMk id="3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51:04.338" v="681" actId="207"/>
          <ac:spMkLst>
            <pc:docMk/>
            <pc:sldMk cId="0" sldId="315"/>
            <ac:spMk id="39" creationId="{49A523CE-FEBA-81DB-548D-34B8AE5EB560}"/>
          </ac:spMkLst>
        </pc:spChg>
        <pc:spChg chg="add mod">
          <ac:chgData name="Shuan Cheng" userId="b14087c0-bac9-44dd-b3f8-5d50e1ee75e5" providerId="ADAL" clId="{75A9BF88-81BC-4677-82BB-DF96F3D360A6}" dt="2025-11-22T05:51:04.338" v="681" actId="207"/>
          <ac:spMkLst>
            <pc:docMk/>
            <pc:sldMk cId="0" sldId="315"/>
            <ac:spMk id="40" creationId="{A0D83AA8-F720-8253-EA85-BDFF3E843F54}"/>
          </ac:spMkLst>
        </pc:spChg>
        <pc:spChg chg="add mod">
          <ac:chgData name="Shuan Cheng" userId="b14087c0-bac9-44dd-b3f8-5d50e1ee75e5" providerId="ADAL" clId="{75A9BF88-81BC-4677-82BB-DF96F3D360A6}" dt="2025-11-22T05:51:04.338" v="681" actId="207"/>
          <ac:spMkLst>
            <pc:docMk/>
            <pc:sldMk cId="0" sldId="315"/>
            <ac:spMk id="41" creationId="{729098C6-BD7C-6E95-1967-F7E333ECA731}"/>
          </ac:spMkLst>
        </pc:spChg>
        <pc:spChg chg="add mod">
          <ac:chgData name="Shuan Cheng" userId="b14087c0-bac9-44dd-b3f8-5d50e1ee75e5" providerId="ADAL" clId="{75A9BF88-81BC-4677-82BB-DF96F3D360A6}" dt="2025-11-22T05:51:04.338" v="681" actId="207"/>
          <ac:spMkLst>
            <pc:docMk/>
            <pc:sldMk cId="0" sldId="315"/>
            <ac:spMk id="42" creationId="{FB3DBE16-1B60-F168-21B6-8C6820024BAD}"/>
          </ac:spMkLst>
        </pc:spChg>
        <pc:spChg chg="add mod">
          <ac:chgData name="Shuan Cheng" userId="b14087c0-bac9-44dd-b3f8-5d50e1ee75e5" providerId="ADAL" clId="{75A9BF88-81BC-4677-82BB-DF96F3D360A6}" dt="2025-11-22T05:51:04.338" v="681" actId="207"/>
          <ac:spMkLst>
            <pc:docMk/>
            <pc:sldMk cId="0" sldId="315"/>
            <ac:spMk id="43" creationId="{E0523C91-7D5F-71B9-A974-D77B5D1ECC20}"/>
          </ac:spMkLst>
        </pc:spChg>
      </pc:sldChg>
      <pc:sldChg chg="modSp">
        <pc:chgData name="Shuan Cheng" userId="b14087c0-bac9-44dd-b3f8-5d50e1ee75e5" providerId="ADAL" clId="{75A9BF88-81BC-4677-82BB-DF96F3D360A6}" dt="2025-11-22T05:52:21.872" v="716" actId="20577"/>
        <pc:sldMkLst>
          <pc:docMk/>
          <pc:sldMk cId="0" sldId="316"/>
        </pc:sldMkLst>
        <pc:spChg chg="mod">
          <ac:chgData name="Shuan Cheng" userId="b14087c0-bac9-44dd-b3f8-5d50e1ee75e5" providerId="ADAL" clId="{75A9BF88-81BC-4677-82BB-DF96F3D360A6}" dt="2025-11-22T05:52:21.872" v="716" actId="20577"/>
          <ac:spMkLst>
            <pc:docMk/>
            <pc:sldMk cId="0" sldId="316"/>
            <ac:spMk id="2" creationId="{00000000-0000-0000-0000-000000000000}"/>
          </ac:spMkLst>
        </pc:spChg>
      </pc:sldChg>
      <pc:sldChg chg="addSp delSp modSp mod">
        <pc:chgData name="Shuan Cheng" userId="b14087c0-bac9-44dd-b3f8-5d50e1ee75e5" providerId="ADAL" clId="{75A9BF88-81BC-4677-82BB-DF96F3D360A6}" dt="2025-11-22T05:53:06.706" v="721" actId="14100"/>
        <pc:sldMkLst>
          <pc:docMk/>
          <pc:sldMk cId="0" sldId="320"/>
        </pc:sldMkLst>
        <pc:spChg chg="mod">
          <ac:chgData name="Shuan Cheng" userId="b14087c0-bac9-44dd-b3f8-5d50e1ee75e5" providerId="ADAL" clId="{75A9BF88-81BC-4677-82BB-DF96F3D360A6}" dt="2025-11-22T05:53:01.166" v="718" actId="14100"/>
          <ac:spMkLst>
            <pc:docMk/>
            <pc:sldMk cId="0" sldId="32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58.504" v="717" actId="478"/>
          <ac:spMkLst>
            <pc:docMk/>
            <pc:sldMk cId="0" sldId="320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53:06.706" v="721" actId="14100"/>
          <ac:spMkLst>
            <pc:docMk/>
            <pc:sldMk cId="0" sldId="320"/>
            <ac:spMk id="16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53:02.170" v="720" actId="207"/>
          <ac:spMkLst>
            <pc:docMk/>
            <pc:sldMk cId="0" sldId="320"/>
            <ac:spMk id="21" creationId="{9E453982-9D23-9A58-2159-6AA3A934088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0916"/>
            <a:ext cx="4254500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02742" y="860003"/>
            <a:ext cx="4244975" cy="1733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094" y="3338410"/>
            <a:ext cx="1447800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9763" y="3338410"/>
            <a:ext cx="303643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slide" Target="slid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Relationship Id="rId5" Type="http://schemas.openxmlformats.org/officeDocument/2006/relationships/slide" Target="slide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slide" Target="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9818" y="215336"/>
            <a:ext cx="13093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10" dirty="0">
                <a:solidFill>
                  <a:srgbClr val="FFFFFF"/>
                </a:solidFill>
                <a:latin typeface="Arial"/>
                <a:cs typeface="Arial"/>
              </a:rPr>
              <a:t>Linear</a:t>
            </a:r>
            <a:r>
              <a:rPr sz="17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700" spc="-14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8084" y="539261"/>
            <a:ext cx="3972560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spc="-180" dirty="0">
                <a:solidFill>
                  <a:srgbClr val="FFFFFF"/>
                </a:solidFill>
              </a:rPr>
              <a:t>Observer</a:t>
            </a:r>
            <a:r>
              <a:rPr sz="2050" spc="25" dirty="0">
                <a:solidFill>
                  <a:srgbClr val="FFFFFF"/>
                </a:solidFill>
              </a:rPr>
              <a:t> </a:t>
            </a:r>
            <a:r>
              <a:rPr sz="2050" spc="-170" dirty="0">
                <a:solidFill>
                  <a:srgbClr val="FFFFFF"/>
                </a:solidFill>
              </a:rPr>
              <a:t>and</a:t>
            </a:r>
            <a:r>
              <a:rPr sz="2050" spc="35" dirty="0">
                <a:solidFill>
                  <a:srgbClr val="FFFFFF"/>
                </a:solidFill>
              </a:rPr>
              <a:t> </a:t>
            </a:r>
            <a:r>
              <a:rPr sz="2050" spc="-185" dirty="0">
                <a:solidFill>
                  <a:srgbClr val="FFFFFF"/>
                </a:solidFill>
              </a:rPr>
              <a:t>Observer</a:t>
            </a:r>
            <a:r>
              <a:rPr sz="2050" spc="40" dirty="0">
                <a:solidFill>
                  <a:srgbClr val="FFFFFF"/>
                </a:solidFill>
              </a:rPr>
              <a:t> </a:t>
            </a:r>
            <a:r>
              <a:rPr sz="2050" spc="-110" dirty="0">
                <a:solidFill>
                  <a:srgbClr val="FFFFFF"/>
                </a:solidFill>
              </a:rPr>
              <a:t>State</a:t>
            </a:r>
            <a:r>
              <a:rPr sz="2050" spc="40" dirty="0">
                <a:solidFill>
                  <a:srgbClr val="FFFFFF"/>
                </a:solidFill>
              </a:rPr>
              <a:t> </a:t>
            </a:r>
            <a:r>
              <a:rPr sz="2050" spc="-185" dirty="0">
                <a:solidFill>
                  <a:srgbClr val="FFFFFF"/>
                </a:solidFill>
              </a:rPr>
              <a:t>Feedback</a:t>
            </a:r>
            <a:endParaRPr sz="2050"/>
          </a:p>
        </p:txBody>
      </p:sp>
      <p:grpSp>
        <p:nvGrpSpPr>
          <p:cNvPr id="4" name="object 4"/>
          <p:cNvGrpSpPr/>
          <p:nvPr/>
        </p:nvGrpSpPr>
        <p:grpSpPr>
          <a:xfrm>
            <a:off x="0" y="1796456"/>
            <a:ext cx="4608195" cy="1659889"/>
            <a:chOff x="0" y="1796456"/>
            <a:chExt cx="4608195" cy="165988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5248" y="1796456"/>
              <a:ext cx="3017267" cy="16595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19191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2381250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9395A602-077F-BCA7-9D74-4CE385BDF3A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-61405" y="3322038"/>
            <a:ext cx="2152650" cy="11669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90"/>
              </a:spcBef>
            </a:pPr>
            <a:r>
              <a:rPr dirty="0"/>
              <a:t>Mod</a:t>
            </a:r>
            <a:r>
              <a:rPr spc="80" dirty="0"/>
              <a:t> </a:t>
            </a:r>
            <a:r>
              <a:rPr dirty="0"/>
              <a:t>Ctrl</a:t>
            </a:r>
            <a:r>
              <a:rPr spc="75" dirty="0"/>
              <a:t> </a:t>
            </a:r>
            <a:r>
              <a:rPr dirty="0"/>
              <a:t>Intr</a:t>
            </a:r>
            <a:r>
              <a:rPr lang="en-US" dirty="0"/>
              <a:t>o</a:t>
            </a:r>
            <a:r>
              <a:rPr lang="en-US" spc="320" dirty="0"/>
              <a:t> </a:t>
            </a:r>
            <a:r>
              <a:rPr lang="en-US" dirty="0"/>
              <a:t>(</a:t>
            </a:r>
            <a:r>
              <a:rPr dirty="0"/>
              <a:t>w</a:t>
            </a:r>
            <a:r>
              <a:rPr spc="75" dirty="0"/>
              <a:t> </a:t>
            </a:r>
            <a:r>
              <a:rPr dirty="0"/>
              <a:t>Matlab</a:t>
            </a:r>
            <a:r>
              <a:rPr spc="80" dirty="0"/>
              <a:t> &amp;</a:t>
            </a:r>
            <a:r>
              <a:rPr spc="75" dirty="0"/>
              <a:t> </a:t>
            </a:r>
            <a:r>
              <a:rPr spc="-10" dirty="0"/>
              <a:t>Python)</a:t>
            </a:r>
            <a:r>
              <a:rPr lang="en-US" spc="-10" dirty="0"/>
              <a:t>, Chen &amp; </a:t>
            </a:r>
            <a:r>
              <a:rPr lang="en-US" spc="-10" dirty="0" err="1"/>
              <a:t>Tomizuka</a:t>
            </a:r>
            <a:endParaRPr spc="-10" dirty="0"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55" dirty="0"/>
              <a:t>Introduction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21414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61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full</a:t>
            </a:r>
            <a:r>
              <a:rPr sz="1200" spc="5" dirty="0"/>
              <a:t> </a:t>
            </a:r>
            <a:r>
              <a:rPr sz="1200" spc="-25" dirty="0"/>
              <a:t>state</a:t>
            </a:r>
            <a:r>
              <a:rPr sz="1200" spc="10" dirty="0"/>
              <a:t> </a:t>
            </a:r>
            <a:r>
              <a:rPr sz="1200" spc="-80" dirty="0"/>
              <a:t>feedback</a:t>
            </a:r>
            <a:r>
              <a:rPr sz="1200" spc="5" dirty="0"/>
              <a:t> </a:t>
            </a:r>
            <a:r>
              <a:rPr sz="1200" spc="-10" dirty="0"/>
              <a:t>is</a:t>
            </a:r>
            <a:r>
              <a:rPr sz="1200" spc="10" dirty="0"/>
              <a:t> </a:t>
            </a:r>
            <a:r>
              <a:rPr sz="1200" spc="-65" dirty="0"/>
              <a:t>usually</a:t>
            </a:r>
            <a:r>
              <a:rPr sz="1200" spc="10" dirty="0"/>
              <a:t> </a:t>
            </a:r>
            <a:r>
              <a:rPr sz="1200" dirty="0"/>
              <a:t>not</a:t>
            </a:r>
            <a:r>
              <a:rPr sz="1200" spc="5" dirty="0"/>
              <a:t> </a:t>
            </a:r>
            <a:r>
              <a:rPr sz="1200" spc="-10" dirty="0"/>
              <a:t>available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5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the</a:t>
            </a:r>
            <a:r>
              <a:rPr sz="1200" spc="-10" dirty="0"/>
              <a:t> </a:t>
            </a:r>
            <a:r>
              <a:rPr sz="1200" spc="-25" dirty="0"/>
              <a:t>state</a:t>
            </a:r>
            <a:r>
              <a:rPr sz="1200" spc="-10" dirty="0"/>
              <a:t> </a:t>
            </a:r>
            <a:r>
              <a:rPr sz="1200" spc="-40" dirty="0"/>
              <a:t>estimation</a:t>
            </a:r>
            <a:r>
              <a:rPr sz="1200" spc="-10" dirty="0"/>
              <a:t> problem</a:t>
            </a:r>
            <a:endParaRPr sz="1200">
              <a:latin typeface="Arial Unicode MS"/>
              <a:cs typeface="Arial Unicode MS"/>
            </a:endParaRPr>
          </a:p>
          <a:p>
            <a:pPr marL="358140">
              <a:lnSpc>
                <a:spcPct val="100000"/>
              </a:lnSpc>
              <a:spcBef>
                <a:spcPts val="21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35" dirty="0"/>
              <a:t>deterministic</a:t>
            </a:r>
            <a:r>
              <a:rPr sz="1100" spc="20" dirty="0"/>
              <a:t> </a:t>
            </a:r>
            <a:r>
              <a:rPr sz="1100" spc="-65" dirty="0"/>
              <a:t>case:</a:t>
            </a:r>
            <a:r>
              <a:rPr sz="1100" spc="130" dirty="0"/>
              <a:t> </a:t>
            </a:r>
            <a:r>
              <a:rPr sz="1100" spc="-75" dirty="0"/>
              <a:t>observer</a:t>
            </a:r>
            <a:r>
              <a:rPr sz="1100" spc="25" dirty="0"/>
              <a:t> </a:t>
            </a:r>
            <a:r>
              <a:rPr sz="1100" spc="-10" dirty="0"/>
              <a:t>design</a:t>
            </a:r>
            <a:endParaRPr sz="1100">
              <a:latin typeface="Arial Unicode MS"/>
              <a:cs typeface="Arial Unicode MS"/>
            </a:endParaRPr>
          </a:p>
          <a:p>
            <a:pPr marL="3581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1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40" dirty="0"/>
              <a:t>stochastic</a:t>
            </a:r>
            <a:r>
              <a:rPr sz="1100" spc="-20" dirty="0"/>
              <a:t> </a:t>
            </a:r>
            <a:r>
              <a:rPr sz="1100" spc="-65" dirty="0"/>
              <a:t>case:</a:t>
            </a:r>
            <a:r>
              <a:rPr sz="1100" spc="65" dirty="0"/>
              <a:t> </a:t>
            </a:r>
            <a:r>
              <a:rPr sz="1100" dirty="0"/>
              <a:t>the</a:t>
            </a:r>
            <a:r>
              <a:rPr sz="1100" spc="-20" dirty="0"/>
              <a:t> </a:t>
            </a:r>
            <a:r>
              <a:rPr sz="1100" spc="-30" dirty="0"/>
              <a:t>most</a:t>
            </a:r>
            <a:r>
              <a:rPr sz="1100" spc="-20" dirty="0"/>
              <a:t> </a:t>
            </a:r>
            <a:r>
              <a:rPr sz="1100" spc="-35" dirty="0"/>
              <a:t>frequent</a:t>
            </a:r>
            <a:r>
              <a:rPr sz="1100" spc="-20" dirty="0"/>
              <a:t> option </a:t>
            </a:r>
            <a:r>
              <a:rPr sz="1100" spc="-10" dirty="0"/>
              <a:t>is</a:t>
            </a:r>
            <a:r>
              <a:rPr sz="1100" spc="-20" dirty="0"/>
              <a:t> </a:t>
            </a:r>
            <a:r>
              <a:rPr sz="1100" spc="-40" dirty="0"/>
              <a:t>Kalman</a:t>
            </a:r>
            <a:r>
              <a:rPr sz="1100" spc="-20" dirty="0"/>
              <a:t> </a:t>
            </a:r>
            <a:r>
              <a:rPr sz="1100" spc="-10" dirty="0"/>
              <a:t>filter</a:t>
            </a:r>
            <a:endParaRPr sz="1100">
              <a:latin typeface="Arial Unicode MS"/>
              <a:cs typeface="Arial Unicode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0" dirty="0"/>
              <a:t>Open-</a:t>
            </a:r>
            <a:r>
              <a:rPr spc="-80" dirty="0"/>
              <a:t>loop</a:t>
            </a:r>
            <a:r>
              <a:rPr spc="5" dirty="0"/>
              <a:t> </a:t>
            </a:r>
            <a:r>
              <a:rPr spc="-130" dirty="0"/>
              <a:t>observer</a:t>
            </a:r>
          </a:p>
        </p:txBody>
      </p:sp>
      <p:sp>
        <p:nvSpPr>
          <p:cNvPr id="3" name="object 3"/>
          <p:cNvSpPr/>
          <p:nvPr/>
        </p:nvSpPr>
        <p:spPr>
          <a:xfrm>
            <a:off x="648588" y="793140"/>
            <a:ext cx="141605" cy="0"/>
          </a:xfrm>
          <a:custGeom>
            <a:avLst/>
            <a:gdLst/>
            <a:ahLst/>
            <a:cxnLst/>
            <a:rect l="l" t="t" r="r" b="b"/>
            <a:pathLst>
              <a:path w="141604">
                <a:moveTo>
                  <a:pt x="0" y="0"/>
                </a:moveTo>
                <a:lnTo>
                  <a:pt x="140995" y="0"/>
                </a:lnTo>
              </a:path>
            </a:pathLst>
          </a:custGeom>
          <a:ln w="607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5888" y="539191"/>
            <a:ext cx="155575" cy="439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765">
              <a:lnSpc>
                <a:spcPct val="113100"/>
              </a:lnSpc>
              <a:spcBef>
                <a:spcPts val="100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dt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92060" y="666556"/>
            <a:ext cx="31953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3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5442" y="1001011"/>
            <a:ext cx="29984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conceptually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simplest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"/>
                <a:cs typeface="Arial"/>
              </a:rPr>
              <a:t>scheme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estimate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97255" y="1512887"/>
            <a:ext cx="141605" cy="0"/>
          </a:xfrm>
          <a:custGeom>
            <a:avLst/>
            <a:gdLst/>
            <a:ahLst/>
            <a:cxnLst/>
            <a:rect l="l" t="t" r="r" b="b"/>
            <a:pathLst>
              <a:path w="141605">
                <a:moveTo>
                  <a:pt x="0" y="0"/>
                </a:moveTo>
                <a:lnTo>
                  <a:pt x="140995" y="0"/>
                </a:lnTo>
              </a:path>
            </a:pathLst>
          </a:custGeom>
          <a:ln w="607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4555" y="1258938"/>
            <a:ext cx="155575" cy="439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765">
              <a:lnSpc>
                <a:spcPct val="113100"/>
              </a:lnSpc>
              <a:spcBef>
                <a:spcPts val="100"/>
              </a:spcBef>
            </a:pP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d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dt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40727" y="1386316"/>
            <a:ext cx="31953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44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8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6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8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3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-46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99574" y="1730375"/>
            <a:ext cx="20510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0" dirty="0">
                <a:solidFill>
                  <a:srgbClr val="FFFFFF"/>
                </a:solidFill>
                <a:latin typeface="Arial"/>
                <a:cs typeface="Arial"/>
              </a:rPr>
              <a:t>e.g.</a:t>
            </a:r>
            <a:endParaRPr sz="8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1"/>
              <p:cNvSpPr txBox="1"/>
              <p:nvPr/>
            </p:nvSpPr>
            <p:spPr>
              <a:xfrm>
                <a:off x="215442" y="1724914"/>
                <a:ext cx="4223208" cy="1552348"/>
              </a:xfrm>
              <a:prstGeom prst="rect">
                <a:avLst/>
              </a:prstGeom>
            </p:spPr>
            <p:txBody>
              <a:bodyPr vert="horz" wrap="square" lIns="0" tIns="76835" rIns="0" bIns="0" rtlCol="0">
                <a:spAutoFit/>
              </a:bodyPr>
              <a:lstStyle/>
              <a:p>
                <a:pPr marL="230504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a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best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20" dirty="0">
                    <a:solidFill>
                      <a:srgbClr val="FFFFFF"/>
                    </a:solidFill>
                    <a:latin typeface="Arial"/>
                    <a:cs typeface="Arial"/>
                  </a:rPr>
                  <a:t>guess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initial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estimate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1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1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0.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509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dynamics:</a:t>
                </a:r>
                <a:r>
                  <a:rPr lang="en-US" sz="1200" spc="1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3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634365">
                  <a:lnSpc>
                    <a:spcPct val="100000"/>
                  </a:lnSpc>
                  <a:spcBef>
                    <a:spcPts val="106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4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4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</m:oMath>
                </a14:m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30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k</a:t>
                </a:r>
                <a:r>
                  <a:rPr lang="en-US" sz="1200" i="1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1)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k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30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14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5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42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9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45440">
                  <a:lnSpc>
                    <a:spcPct val="100000"/>
                  </a:lnSpc>
                  <a:spcBef>
                    <a:spcPts val="1240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330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sensitive</a:t>
                </a:r>
                <a:r>
                  <a:rPr lang="en-US" sz="11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r>
                  <a:rPr lang="en-US" sz="11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input</a:t>
                </a:r>
                <a:r>
                  <a:rPr lang="en-US" sz="11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disturbances</a:t>
                </a:r>
                <a:endParaRPr lang="en-US" sz="1100" dirty="0">
                  <a:latin typeface="Arial"/>
                  <a:cs typeface="Arial"/>
                </a:endParaRPr>
              </a:p>
              <a:p>
                <a:pPr marL="345440">
                  <a:lnSpc>
                    <a:spcPct val="100000"/>
                  </a:lnSpc>
                  <a:spcBef>
                    <a:spcPts val="35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270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 not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Hurwitz/Schur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stable,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 the </a:t>
                </a:r>
                <a:r>
                  <a:rPr lang="en-US" sz="11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error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diverges</a:t>
                </a:r>
                <a:endParaRPr lang="en-US" sz="11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27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open-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loop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observers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look 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simple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but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do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not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work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in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practice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1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1724914"/>
                <a:ext cx="4223208" cy="1552348"/>
              </a:xfrm>
              <a:prstGeom prst="rect">
                <a:avLst/>
              </a:prstGeom>
              <a:blipFill>
                <a:blip r:embed="rId2"/>
                <a:stretch>
                  <a:fillRect l="-1299" b="-47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3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662679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4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40" dirty="0"/>
              <a:t> </a:t>
            </a:r>
            <a:r>
              <a:rPr spc="-140" dirty="0"/>
              <a:t>observer</a:t>
            </a:r>
            <a:r>
              <a:rPr spc="40" dirty="0"/>
              <a:t> </a:t>
            </a:r>
            <a:r>
              <a:rPr spc="-85" dirty="0"/>
              <a:t>concept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02742" y="533930"/>
                <a:ext cx="4307205" cy="134793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3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given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78803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854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3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14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243204" marR="43180" indent="-19304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0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in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contrast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open-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loop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observers,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Luenberger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adds 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correction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solidFill>
                      <a:srgbClr val="FFFFFF"/>
                    </a:solidFill>
                    <a:latin typeface="Arial"/>
                    <a:cs typeface="Arial"/>
                  </a:rPr>
                  <a:t>based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on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output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differences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533930"/>
                <a:ext cx="4307205" cy="1347933"/>
              </a:xfrm>
              <a:prstGeom prst="rect">
                <a:avLst/>
              </a:prstGeom>
              <a:blipFill>
                <a:blip r:embed="rId2"/>
                <a:stretch>
                  <a:fillRect l="-990" t="-3620" b="-40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767" y="1980562"/>
            <a:ext cx="2586472" cy="111325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4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4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40" dirty="0"/>
              <a:t> </a:t>
            </a:r>
            <a:r>
              <a:rPr spc="-140" dirty="0"/>
              <a:t>observer</a:t>
            </a:r>
            <a:r>
              <a:rPr spc="40" dirty="0"/>
              <a:t> </a:t>
            </a:r>
            <a:r>
              <a:rPr spc="-55" dirty="0"/>
              <a:t>algorithm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777" y="943838"/>
            <a:ext cx="1826260" cy="942340"/>
            <a:chOff x="105777" y="943838"/>
            <a:chExt cx="1826260" cy="942340"/>
          </a:xfrm>
        </p:grpSpPr>
        <p:sp>
          <p:nvSpPr>
            <p:cNvPr id="4" name="object 4"/>
            <p:cNvSpPr/>
            <p:nvPr/>
          </p:nvSpPr>
          <p:spPr>
            <a:xfrm>
              <a:off x="105777" y="943838"/>
              <a:ext cx="1826260" cy="229235"/>
            </a:xfrm>
            <a:custGeom>
              <a:avLst/>
              <a:gdLst/>
              <a:ahLst/>
              <a:cxnLst/>
              <a:rect l="l" t="t" r="r" b="b"/>
              <a:pathLst>
                <a:path w="1826260" h="229234">
                  <a:moveTo>
                    <a:pt x="1775091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28728"/>
                  </a:lnTo>
                  <a:lnTo>
                    <a:pt x="1825892" y="228728"/>
                  </a:lnTo>
                  <a:lnTo>
                    <a:pt x="1825892" y="50800"/>
                  </a:lnTo>
                  <a:lnTo>
                    <a:pt x="1821883" y="31075"/>
                  </a:lnTo>
                  <a:lnTo>
                    <a:pt x="1810969" y="14922"/>
                  </a:lnTo>
                  <a:lnTo>
                    <a:pt x="1794816" y="4008"/>
                  </a:lnTo>
                  <a:lnTo>
                    <a:pt x="177509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777" y="1159903"/>
              <a:ext cx="1825892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05777" y="1204179"/>
              <a:ext cx="1826260" cy="681990"/>
            </a:xfrm>
            <a:custGeom>
              <a:avLst/>
              <a:gdLst/>
              <a:ahLst/>
              <a:cxnLst/>
              <a:rect l="l" t="t" r="r" b="b"/>
              <a:pathLst>
                <a:path w="1826260" h="681989">
                  <a:moveTo>
                    <a:pt x="1825892" y="0"/>
                  </a:moveTo>
                  <a:lnTo>
                    <a:pt x="0" y="0"/>
                  </a:lnTo>
                  <a:lnTo>
                    <a:pt x="0" y="630690"/>
                  </a:lnTo>
                  <a:lnTo>
                    <a:pt x="4008" y="650415"/>
                  </a:lnTo>
                  <a:lnTo>
                    <a:pt x="14922" y="666568"/>
                  </a:lnTo>
                  <a:lnTo>
                    <a:pt x="31075" y="677482"/>
                  </a:lnTo>
                  <a:lnTo>
                    <a:pt x="50800" y="681491"/>
                  </a:lnTo>
                  <a:lnTo>
                    <a:pt x="1775091" y="681491"/>
                  </a:lnTo>
                  <a:lnTo>
                    <a:pt x="1794816" y="677482"/>
                  </a:lnTo>
                  <a:lnTo>
                    <a:pt x="1810969" y="666568"/>
                  </a:lnTo>
                  <a:lnTo>
                    <a:pt x="1821883" y="650415"/>
                  </a:lnTo>
                  <a:lnTo>
                    <a:pt x="1825892" y="630690"/>
                  </a:lnTo>
                  <a:lnTo>
                    <a:pt x="18258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986622" y="730198"/>
            <a:ext cx="2515870" cy="229235"/>
          </a:xfrm>
          <a:custGeom>
            <a:avLst/>
            <a:gdLst/>
            <a:ahLst/>
            <a:cxnLst/>
            <a:rect l="l" t="t" r="r" b="b"/>
            <a:pathLst>
              <a:path w="2515870" h="229234">
                <a:moveTo>
                  <a:pt x="246483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28728"/>
                </a:lnTo>
                <a:lnTo>
                  <a:pt x="2515635" y="228728"/>
                </a:lnTo>
                <a:lnTo>
                  <a:pt x="2515635" y="50800"/>
                </a:lnTo>
                <a:lnTo>
                  <a:pt x="2511626" y="31075"/>
                </a:lnTo>
                <a:lnTo>
                  <a:pt x="2500712" y="14922"/>
                </a:lnTo>
                <a:lnTo>
                  <a:pt x="2484559" y="4008"/>
                </a:lnTo>
                <a:lnTo>
                  <a:pt x="24648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024722" y="703298"/>
            <a:ext cx="1238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9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400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FFFFFF"/>
                </a:solidFill>
                <a:latin typeface="Arial"/>
                <a:cs typeface="Arial"/>
              </a:rPr>
              <a:t>concept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986622" y="946277"/>
            <a:ext cx="2515870" cy="1153160"/>
            <a:chOff x="1986622" y="946277"/>
            <a:chExt cx="2515870" cy="115316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86622" y="946277"/>
              <a:ext cx="2515635" cy="5060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986622" y="990549"/>
              <a:ext cx="2515870" cy="1109345"/>
            </a:xfrm>
            <a:custGeom>
              <a:avLst/>
              <a:gdLst/>
              <a:ahLst/>
              <a:cxnLst/>
              <a:rect l="l" t="t" r="r" b="b"/>
              <a:pathLst>
                <a:path w="2515870" h="1109345">
                  <a:moveTo>
                    <a:pt x="2515635" y="0"/>
                  </a:moveTo>
                  <a:lnTo>
                    <a:pt x="0" y="0"/>
                  </a:lnTo>
                  <a:lnTo>
                    <a:pt x="0" y="1057960"/>
                  </a:lnTo>
                  <a:lnTo>
                    <a:pt x="4008" y="1077685"/>
                  </a:lnTo>
                  <a:lnTo>
                    <a:pt x="14922" y="1093837"/>
                  </a:lnTo>
                  <a:lnTo>
                    <a:pt x="31075" y="1104752"/>
                  </a:lnTo>
                  <a:lnTo>
                    <a:pt x="50800" y="1108760"/>
                  </a:lnTo>
                  <a:lnTo>
                    <a:pt x="2464834" y="1108760"/>
                  </a:lnTo>
                  <a:lnTo>
                    <a:pt x="2484559" y="1104752"/>
                  </a:lnTo>
                  <a:lnTo>
                    <a:pt x="2500712" y="1093837"/>
                  </a:lnTo>
                  <a:lnTo>
                    <a:pt x="2511626" y="1077685"/>
                  </a:lnTo>
                  <a:lnTo>
                    <a:pt x="2515635" y="1057960"/>
                  </a:lnTo>
                  <a:lnTo>
                    <a:pt x="25156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037422" y="1015871"/>
              <a:ext cx="2413976" cy="103901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13"/>
              <p:cNvSpPr txBox="1"/>
              <p:nvPr/>
            </p:nvSpPr>
            <p:spPr>
              <a:xfrm>
                <a:off x="118478" y="916924"/>
                <a:ext cx="4329430" cy="2007986"/>
              </a:xfrm>
              <a:prstGeom prst="rect">
                <a:avLst/>
              </a:prstGeom>
            </p:spPr>
            <p:txBody>
              <a:bodyPr vert="horz" wrap="square" lIns="0" tIns="1714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35"/>
                  </a:spcBef>
                </a:pPr>
                <a:r>
                  <a:rPr lang="en-US" sz="14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plant:</a:t>
                </a:r>
                <a:endParaRPr lang="en-US" sz="14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70"/>
                  </a:spcBef>
                </a:pPr>
                <a:endParaRPr lang="en-US" sz="1400" dirty="0">
                  <a:latin typeface="Arial"/>
                  <a:cs typeface="Arial"/>
                </a:endParaRPr>
              </a:p>
              <a:p>
                <a:pPr marL="127000" marR="2654300" indent="1905">
                  <a:lnSpc>
                    <a:spcPct val="1211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8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-6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815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13462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6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realization: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89890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b="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zh-CN" altLang="ar-AE" sz="12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ar-AE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ar-AE" altLang="zh-CN" sz="1200" spc="-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chemeClr val="bg1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chemeClr val="bg1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434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514350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Ly</a:t>
                </a:r>
                <a:r>
                  <a:rPr lang="en-US" sz="1200" i="1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3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78" y="916924"/>
                <a:ext cx="4329430" cy="2007986"/>
              </a:xfrm>
              <a:prstGeom prst="rect">
                <a:avLst/>
              </a:prstGeom>
              <a:blipFill>
                <a:blip r:embed="rId5"/>
                <a:stretch>
                  <a:fillRect l="-1688" t="-1818" b="-27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bject 1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5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25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25" dirty="0"/>
              <a:t> </a:t>
            </a:r>
            <a:r>
              <a:rPr spc="-140" dirty="0"/>
              <a:t>observer</a:t>
            </a:r>
            <a:r>
              <a:rPr spc="25" dirty="0"/>
              <a:t> </a:t>
            </a:r>
            <a:r>
              <a:rPr spc="-80" dirty="0"/>
              <a:t>error</a:t>
            </a:r>
            <a:r>
              <a:rPr spc="25" dirty="0"/>
              <a:t> </a:t>
            </a:r>
            <a:r>
              <a:rPr spc="-100" dirty="0"/>
              <a:t>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190042" y="475828"/>
                <a:ext cx="4270375" cy="284693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5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800735">
                  <a:lnSpc>
                    <a:spcPct val="100000"/>
                  </a:lnSpc>
                  <a:spcBef>
                    <a:spcPts val="102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ar-AE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981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3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5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26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Luenberger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correction: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635" algn="ctr">
                  <a:lnSpc>
                    <a:spcPct val="100000"/>
                  </a:lnSpc>
                  <a:spcBef>
                    <a:spcPts val="103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b="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zh-CN" altLang="ar-AE" sz="12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ar-AE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ar-AE" altLang="zh-CN" sz="1200" spc="-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434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442595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Ly</a:t>
                </a:r>
                <a:r>
                  <a:rPr lang="en-US" sz="1200" i="1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26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dynamics:</a:t>
                </a:r>
                <a:r>
                  <a:rPr lang="en-US" sz="1200" spc="1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3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635" algn="ctr">
                  <a:lnSpc>
                    <a:spcPct val="100000"/>
                  </a:lnSpc>
                  <a:spcBef>
                    <a:spcPts val="102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20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Ae</a:t>
                </a:r>
                <a:r>
                  <a:rPr lang="en-US" sz="1200" i="1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LCe</a:t>
                </a:r>
                <a:r>
                  <a:rPr lang="en-US" sz="1200" i="1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8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5904" marR="109855" indent="-193040">
                  <a:lnSpc>
                    <a:spcPct val="100000"/>
                  </a:lnSpc>
                  <a:spcBef>
                    <a:spcPts val="126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2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all </a:t>
                </a:r>
                <a:r>
                  <a:rPr lang="en-US" sz="1200" spc="-95" dirty="0">
                    <a:solidFill>
                      <a:srgbClr val="FFFFFF"/>
                    </a:solidFill>
                    <a:latin typeface="Arial"/>
                    <a:cs typeface="Arial"/>
                  </a:rPr>
                  <a:t>eigenvalues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1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are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on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the left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half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plane,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then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the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can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made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asymptotically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stable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42" y="475828"/>
                <a:ext cx="4270375" cy="2846933"/>
              </a:xfrm>
              <a:prstGeom prst="rect">
                <a:avLst/>
              </a:prstGeom>
              <a:blipFill>
                <a:blip r:embed="rId2"/>
                <a:stretch>
                  <a:fillRect l="-713" t="-1713" b="-23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6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3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30" dirty="0"/>
              <a:t> </a:t>
            </a:r>
            <a:r>
              <a:rPr spc="-125" dirty="0"/>
              <a:t>observer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827" y="510869"/>
            <a:ext cx="4412615" cy="824230"/>
            <a:chOff x="97827" y="510869"/>
            <a:chExt cx="4412615" cy="824230"/>
          </a:xfrm>
        </p:grpSpPr>
        <p:sp>
          <p:nvSpPr>
            <p:cNvPr id="4" name="object 4"/>
            <p:cNvSpPr/>
            <p:nvPr/>
          </p:nvSpPr>
          <p:spPr>
            <a:xfrm>
              <a:off x="97827" y="510869"/>
              <a:ext cx="4412615" cy="212725"/>
            </a:xfrm>
            <a:custGeom>
              <a:avLst/>
              <a:gdLst/>
              <a:ahLst/>
              <a:cxnLst/>
              <a:rect l="l" t="t" r="r" b="b"/>
              <a:pathLst>
                <a:path w="4412615" h="212725">
                  <a:moveTo>
                    <a:pt x="4361594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12278"/>
                  </a:lnTo>
                  <a:lnTo>
                    <a:pt x="4412395" y="212278"/>
                  </a:lnTo>
                  <a:lnTo>
                    <a:pt x="4412395" y="50800"/>
                  </a:lnTo>
                  <a:lnTo>
                    <a:pt x="4408386" y="31075"/>
                  </a:lnTo>
                  <a:lnTo>
                    <a:pt x="4397472" y="14922"/>
                  </a:lnTo>
                  <a:lnTo>
                    <a:pt x="4381319" y="4008"/>
                  </a:lnTo>
                  <a:lnTo>
                    <a:pt x="43615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27" y="710488"/>
              <a:ext cx="4412395" cy="5060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7827" y="754770"/>
              <a:ext cx="4412615" cy="580390"/>
            </a:xfrm>
            <a:custGeom>
              <a:avLst/>
              <a:gdLst/>
              <a:ahLst/>
              <a:cxnLst/>
              <a:rect l="l" t="t" r="r" b="b"/>
              <a:pathLst>
                <a:path w="4412615" h="580390">
                  <a:moveTo>
                    <a:pt x="4412395" y="0"/>
                  </a:moveTo>
                  <a:lnTo>
                    <a:pt x="0" y="0"/>
                  </a:lnTo>
                  <a:lnTo>
                    <a:pt x="0" y="529250"/>
                  </a:lnTo>
                  <a:lnTo>
                    <a:pt x="4008" y="548975"/>
                  </a:lnTo>
                  <a:lnTo>
                    <a:pt x="14922" y="565128"/>
                  </a:lnTo>
                  <a:lnTo>
                    <a:pt x="31075" y="576042"/>
                  </a:lnTo>
                  <a:lnTo>
                    <a:pt x="50800" y="580051"/>
                  </a:lnTo>
                  <a:lnTo>
                    <a:pt x="4361594" y="580051"/>
                  </a:lnTo>
                  <a:lnTo>
                    <a:pt x="4381319" y="576042"/>
                  </a:lnTo>
                  <a:lnTo>
                    <a:pt x="4397472" y="565128"/>
                  </a:lnTo>
                  <a:lnTo>
                    <a:pt x="4408386" y="548975"/>
                  </a:lnTo>
                  <a:lnTo>
                    <a:pt x="4412395" y="529250"/>
                  </a:lnTo>
                  <a:lnTo>
                    <a:pt x="44123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97828" y="451789"/>
            <a:ext cx="4387215" cy="132651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85"/>
              </a:spcBef>
            </a:pPr>
            <a:r>
              <a:rPr sz="1400" spc="-10" dirty="0">
                <a:solidFill>
                  <a:srgbClr val="FFFFFF"/>
                </a:solidFill>
                <a:latin typeface="Arial"/>
                <a:cs typeface="Arial"/>
              </a:rPr>
              <a:t>Theorem</a:t>
            </a:r>
            <a:endParaRPr sz="1400">
              <a:latin typeface="Arial"/>
              <a:cs typeface="Arial"/>
            </a:endParaRPr>
          </a:p>
          <a:p>
            <a:pPr marL="50800" marR="17780">
              <a:lnSpc>
                <a:spcPct val="100000"/>
              </a:lnSpc>
              <a:spcBef>
                <a:spcPts val="21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pair,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of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84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LC</a:t>
            </a:r>
            <a:r>
              <a:rPr sz="1200" i="1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can be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arbitrarily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assigned,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5" dirty="0">
                <a:solidFill>
                  <a:srgbClr val="FFFFFF"/>
                </a:solidFill>
                <a:latin typeface="Arial"/>
                <a:cs typeface="Arial"/>
              </a:rPr>
              <a:t>provided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that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they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symmetric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 with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respct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real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65" dirty="0">
                <a:solidFill>
                  <a:srgbClr val="FFFFFF"/>
                </a:solidFill>
                <a:latin typeface="Arial"/>
                <a:cs typeface="Arial"/>
              </a:rPr>
              <a:t>axis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complex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Arial"/>
                <a:cs typeface="Arial"/>
              </a:rPr>
              <a:t>plane.</a:t>
            </a:r>
            <a:endParaRPr sz="1200">
              <a:latin typeface="Arial"/>
              <a:cs typeface="Arial"/>
            </a:endParaRPr>
          </a:p>
          <a:p>
            <a:pPr marL="347980" marR="363855" indent="-193040">
              <a:lnSpc>
                <a:spcPct val="100000"/>
              </a:lnSpc>
              <a:spcBef>
                <a:spcPts val="8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show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SISO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case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observable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canonical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form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(if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not,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help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out):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15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15" y="109715"/>
                </a:lnTo>
                <a:lnTo>
                  <a:pt x="4607915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7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E569B10B-ACA6-45BF-6EDB-9AADAA9C5F69}"/>
                  </a:ext>
                </a:extLst>
              </p:cNvPr>
              <p:cNvSpPr txBox="1"/>
              <p:nvPr/>
            </p:nvSpPr>
            <p:spPr>
              <a:xfrm>
                <a:off x="753022" y="1836711"/>
                <a:ext cx="3102003" cy="14511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fun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E569B10B-ACA6-45BF-6EDB-9AADAA9C5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22" y="1836711"/>
                <a:ext cx="3102003" cy="1451166"/>
              </a:xfrm>
              <a:prstGeom prst="rect">
                <a:avLst/>
              </a:prstGeom>
              <a:blipFill>
                <a:blip r:embed="rId4"/>
                <a:stretch>
                  <a:fillRect b="-12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2742" y="860003"/>
                <a:ext cx="4244975" cy="1861856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 err="1"/>
                  <a:t>Luenberger</a:t>
                </a:r>
                <a:r>
                  <a:rPr lang="en-US" sz="1200" spc="35" dirty="0"/>
                  <a:t> </a:t>
                </a:r>
                <a:r>
                  <a:rPr lang="en-US" sz="1200" spc="-85" dirty="0"/>
                  <a:t>observer</a:t>
                </a:r>
                <a:r>
                  <a:rPr lang="en-US" sz="1200" spc="35" dirty="0"/>
                  <a:t> </a:t>
                </a:r>
                <a:r>
                  <a:rPr lang="en-US" sz="1200" dirty="0"/>
                  <a:t>with</a:t>
                </a:r>
                <a:r>
                  <a:rPr lang="en-US" sz="1200" spc="35" dirty="0"/>
                  <a:t> </a:t>
                </a:r>
                <a:r>
                  <a:rPr lang="en-US" sz="1200" spc="-10" dirty="0"/>
                  <a:t>correction:</a:t>
                </a:r>
                <a:endParaRPr lang="en-US" spc="200" dirty="0"/>
              </a:p>
              <a:p>
                <a:pPr marR="43180" algn="r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i="1" spc="-1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i="1" spc="2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i="1" spc="2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ar-AE" altLang="zh-CN" spc="200" dirty="0"/>
                  <a:t>=</a:t>
                </a:r>
                <a:r>
                  <a:rPr lang="ar-AE" altLang="zh-CN" spc="-5" dirty="0"/>
                  <a:t> </a:t>
                </a:r>
                <a:r>
                  <a:rPr lang="en-US" altLang="zh-CN" i="1" spc="40" dirty="0"/>
                  <a:t>A</a:t>
                </a:r>
                <a:r>
                  <a:rPr lang="en-US" altLang="zh-CN" i="1" spc="-480" dirty="0"/>
                  <a:t>x</a:t>
                </a:r>
                <a:r>
                  <a:rPr lang="en-US" altLang="zh-CN" spc="40" dirty="0"/>
                  <a:t>ˆ</a:t>
                </a:r>
                <a:r>
                  <a:rPr lang="en-US" altLang="zh-CN" spc="-80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0" dirty="0"/>
                  <a:t> </a:t>
                </a:r>
                <a:r>
                  <a:rPr lang="en-US" altLang="zh-CN" i="1" spc="-20" dirty="0"/>
                  <a:t>Bu</a:t>
                </a:r>
                <a:r>
                  <a:rPr lang="en-US" altLang="zh-CN" i="1" spc="-15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0" dirty="0"/>
                  <a:t> </a:t>
                </a:r>
                <a:r>
                  <a:rPr lang="en-US" altLang="zh-CN" i="1" spc="-40" dirty="0"/>
                  <a:t>L</a:t>
                </a:r>
                <a:r>
                  <a:rPr lang="en-US" altLang="zh-CN" i="1" spc="-130" dirty="0"/>
                  <a:t> </a:t>
                </a:r>
                <a:r>
                  <a:rPr lang="en-US" altLang="zh-CN" dirty="0"/>
                  <a:t>(</a:t>
                </a:r>
                <a:r>
                  <a:rPr lang="en-US" altLang="zh-CN" i="1" dirty="0"/>
                  <a:t>y</a:t>
                </a:r>
                <a:r>
                  <a:rPr lang="en-US" altLang="zh-CN" i="1" spc="60" dirty="0"/>
                  <a:t> </a:t>
                </a:r>
                <a:r>
                  <a:rPr lang="en-US" altLang="zh-CN" i="1" spc="200" dirty="0">
                    <a:latin typeface="Menlo"/>
                    <a:cs typeface="Menlo"/>
                  </a:rPr>
                  <a:t>−</a:t>
                </a:r>
                <a:r>
                  <a:rPr lang="en-US" altLang="zh-CN" i="1" spc="-459" dirty="0">
                    <a:latin typeface="Menlo"/>
                    <a:cs typeface="Menlo"/>
                  </a:rPr>
                  <a:t> </a:t>
                </a:r>
                <a:r>
                  <a:rPr lang="en-US" altLang="zh-CN" i="1" spc="-434" dirty="0"/>
                  <a:t>y</a:t>
                </a:r>
                <a:r>
                  <a:rPr lang="en-US" altLang="zh-CN" spc="65" dirty="0"/>
                  <a:t>ˆ</a:t>
                </a:r>
                <a:r>
                  <a:rPr lang="en-US" altLang="zh-CN" spc="75" dirty="0"/>
                  <a:t>)</a:t>
                </a:r>
                <a:r>
                  <a:rPr lang="en-US" altLang="zh-CN" dirty="0"/>
                  <a:t> </a:t>
                </a:r>
                <a:r>
                  <a:rPr lang="en-US" altLang="zh-CN" spc="200" dirty="0"/>
                  <a:t>=</a:t>
                </a:r>
                <a:r>
                  <a:rPr lang="en-US" altLang="zh-CN" spc="-5" dirty="0"/>
                  <a:t> </a:t>
                </a:r>
                <a:r>
                  <a:rPr lang="en-US" altLang="zh-CN" i="1" spc="40" dirty="0"/>
                  <a:t>A</a:t>
                </a:r>
                <a:r>
                  <a:rPr lang="en-US" altLang="zh-CN" i="1" spc="-480" dirty="0"/>
                  <a:t>x</a:t>
                </a:r>
                <a:r>
                  <a:rPr lang="en-US" altLang="zh-CN" spc="40" dirty="0"/>
                  <a:t>ˆ</a:t>
                </a:r>
                <a:r>
                  <a:rPr lang="en-US" altLang="zh-CN" spc="-85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0" dirty="0"/>
                  <a:t> </a:t>
                </a:r>
                <a:r>
                  <a:rPr lang="en-US" altLang="zh-CN" i="1" spc="-20" dirty="0"/>
                  <a:t>Bu</a:t>
                </a:r>
                <a:r>
                  <a:rPr lang="en-US" altLang="zh-CN" i="1" spc="-10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0" dirty="0"/>
                  <a:t> </a:t>
                </a:r>
                <a:r>
                  <a:rPr lang="en-US" altLang="zh-CN" i="1" spc="-40" dirty="0"/>
                  <a:t>L</a:t>
                </a:r>
                <a:r>
                  <a:rPr lang="en-US" altLang="zh-CN" i="1" spc="-135" dirty="0"/>
                  <a:t> </a:t>
                </a:r>
                <a:r>
                  <a:rPr lang="en-US" altLang="zh-CN" dirty="0"/>
                  <a:t>(</a:t>
                </a:r>
                <a:r>
                  <a:rPr lang="en-US" altLang="zh-CN" i="1" dirty="0"/>
                  <a:t>y</a:t>
                </a:r>
                <a:r>
                  <a:rPr lang="en-US" altLang="zh-CN" i="1" spc="65" dirty="0"/>
                  <a:t> </a:t>
                </a:r>
                <a:r>
                  <a:rPr lang="en-US" altLang="zh-CN" i="1" spc="200" dirty="0">
                    <a:latin typeface="Menlo"/>
                    <a:cs typeface="Menlo"/>
                  </a:rPr>
                  <a:t>−</a:t>
                </a:r>
                <a:r>
                  <a:rPr lang="en-US" altLang="zh-CN" i="1" spc="-459" dirty="0">
                    <a:latin typeface="Menlo"/>
                    <a:cs typeface="Menlo"/>
                  </a:rPr>
                  <a:t> </a:t>
                </a:r>
                <a:r>
                  <a:rPr lang="en-US" altLang="zh-CN" i="1" spc="-130" dirty="0"/>
                  <a:t>C</a:t>
                </a:r>
                <a:r>
                  <a:rPr lang="en-US" altLang="zh-CN" i="1" spc="-190" dirty="0"/>
                  <a:t> </a:t>
                </a:r>
                <a:r>
                  <a:rPr lang="en-US" altLang="zh-CN" i="1" spc="-445" dirty="0"/>
                  <a:t>x</a:t>
                </a:r>
                <a:r>
                  <a:rPr lang="en-US" altLang="zh-CN" spc="60" dirty="0"/>
                  <a:t>ˆ</a:t>
                </a:r>
                <a:r>
                  <a:rPr lang="en-US" altLang="zh-CN" spc="75" dirty="0"/>
                  <a:t>)</a:t>
                </a:r>
                <a:r>
                  <a:rPr lang="en-US" altLang="zh-CN" spc="-130" dirty="0"/>
                  <a:t> </a:t>
                </a:r>
                <a:r>
                  <a:rPr lang="en-US" altLang="zh-CN" i="1" dirty="0">
                    <a:latin typeface="Times New Roman"/>
                    <a:cs typeface="Times New Roman"/>
                  </a:rPr>
                  <a:t>,</a:t>
                </a:r>
                <a:r>
                  <a:rPr lang="en-US" altLang="zh-CN" i="1" spc="290" dirty="0">
                    <a:latin typeface="Times New Roman"/>
                    <a:cs typeface="Times New Roman"/>
                  </a:rPr>
                  <a:t> </a:t>
                </a:r>
                <a:r>
                  <a:rPr lang="en-US" altLang="zh-CN" i="1" spc="-484" dirty="0"/>
                  <a:t>x</a:t>
                </a:r>
                <a:r>
                  <a:rPr lang="en-US" altLang="zh-CN" spc="20" dirty="0"/>
                  <a:t>ˆ</a:t>
                </a:r>
                <a:r>
                  <a:rPr lang="en-US" altLang="zh-CN" spc="35" dirty="0"/>
                  <a:t>(0)</a:t>
                </a:r>
                <a:r>
                  <a:rPr lang="en-US" altLang="zh-CN" spc="-5" dirty="0"/>
                  <a:t> </a:t>
                </a:r>
                <a:r>
                  <a:rPr lang="en-US" altLang="zh-CN" spc="200" dirty="0"/>
                  <a:t>=</a:t>
                </a:r>
                <a:r>
                  <a:rPr lang="en-US" altLang="zh-CN" dirty="0"/>
                  <a:t> </a:t>
                </a:r>
                <a:r>
                  <a:rPr lang="en-US" altLang="zh-CN" spc="-50" dirty="0"/>
                  <a:t>0</a:t>
                </a:r>
                <a:endParaRPr lang="en-US" altLang="zh-CN" dirty="0"/>
              </a:p>
              <a:p>
                <a:pPr marL="4298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altLang="zh-CN" spc="200" dirty="0"/>
                  <a:t>=</a:t>
                </a:r>
                <a:r>
                  <a:rPr lang="en-US" altLang="zh-CN" spc="-25" dirty="0"/>
                  <a:t> </a:t>
                </a:r>
                <a:r>
                  <a:rPr lang="en-US" altLang="zh-CN" dirty="0"/>
                  <a:t>(</a:t>
                </a:r>
                <a:r>
                  <a:rPr lang="en-US" altLang="zh-CN" i="1" dirty="0"/>
                  <a:t>A</a:t>
                </a:r>
                <a:r>
                  <a:rPr lang="en-US" altLang="zh-CN" i="1" spc="-75" dirty="0"/>
                  <a:t> </a:t>
                </a:r>
                <a:r>
                  <a:rPr lang="en-US" altLang="zh-CN" i="1" spc="200" dirty="0">
                    <a:latin typeface="Menlo"/>
                    <a:cs typeface="Menlo"/>
                  </a:rPr>
                  <a:t>−</a:t>
                </a:r>
                <a:r>
                  <a:rPr lang="en-US" altLang="zh-CN" i="1" spc="-459" dirty="0">
                    <a:latin typeface="Menlo"/>
                    <a:cs typeface="Menlo"/>
                  </a:rPr>
                  <a:t> </a:t>
                </a:r>
                <a:r>
                  <a:rPr lang="en-US" altLang="zh-CN" i="1" spc="-85" dirty="0"/>
                  <a:t>LC</a:t>
                </a:r>
                <a:r>
                  <a:rPr lang="en-US" altLang="zh-CN" i="1" spc="-190" dirty="0"/>
                  <a:t> </a:t>
                </a:r>
                <a:r>
                  <a:rPr lang="en-US" altLang="zh-CN" spc="50" dirty="0"/>
                  <a:t>)</a:t>
                </a:r>
                <a:r>
                  <a:rPr lang="en-US" altLang="zh-CN" spc="-135" dirty="0"/>
                  <a:t> </a:t>
                </a:r>
                <a:r>
                  <a:rPr lang="en-US" altLang="zh-CN" i="1" spc="-440" dirty="0"/>
                  <a:t>x</a:t>
                </a:r>
                <a:r>
                  <a:rPr lang="en-US" altLang="zh-CN" spc="80" dirty="0"/>
                  <a:t>ˆ</a:t>
                </a:r>
                <a:r>
                  <a:rPr lang="en-US" altLang="zh-CN" spc="-90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5" dirty="0"/>
                  <a:t> </a:t>
                </a:r>
                <a:r>
                  <a:rPr lang="en-US" altLang="zh-CN" i="1" dirty="0"/>
                  <a:t>Ly</a:t>
                </a:r>
                <a:r>
                  <a:rPr lang="en-US" altLang="zh-CN" i="1" spc="55" dirty="0"/>
                  <a:t> </a:t>
                </a:r>
                <a:r>
                  <a:rPr lang="en-US" altLang="zh-CN" spc="200" dirty="0"/>
                  <a:t>+</a:t>
                </a:r>
                <a:r>
                  <a:rPr lang="en-US" altLang="zh-CN" spc="-75" dirty="0"/>
                  <a:t> </a:t>
                </a:r>
                <a:r>
                  <a:rPr lang="en-US" altLang="zh-CN" i="1" spc="-25" dirty="0"/>
                  <a:t>Bu</a:t>
                </a:r>
              </a:p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endParaRPr lang="en-US" altLang="zh-CN" i="1" spc="-25" dirty="0">
                  <a:latin typeface="Arial"/>
                  <a:cs typeface="Arial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:r>
                  <a:rPr lang="en-US" altLang="zh-CN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altLang="zh-CN" sz="1800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pc="-45" dirty="0">
                    <a:solidFill>
                      <a:schemeClr val="bg1"/>
                    </a:solidFill>
                  </a:rPr>
                  <a:t>Goal:</a:t>
                </a:r>
                <a:r>
                  <a:rPr lang="en-US" altLang="zh-CN" spc="14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pc="-70" dirty="0">
                    <a:solidFill>
                      <a:schemeClr val="bg1"/>
                    </a:solidFill>
                  </a:rPr>
                  <a:t>place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pc="-90" dirty="0">
                    <a:solidFill>
                      <a:schemeClr val="bg1"/>
                    </a:solidFill>
                  </a:rPr>
                  <a:t>eigenvalues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dirty="0">
                    <a:solidFill>
                      <a:schemeClr val="bg1"/>
                    </a:solidFill>
                  </a:rPr>
                  <a:t>of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dirty="0">
                    <a:solidFill>
                      <a:schemeClr val="bg1"/>
                    </a:solidFill>
                  </a:rPr>
                  <a:t>the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pc="-85" dirty="0">
                    <a:solidFill>
                      <a:schemeClr val="bg1"/>
                    </a:solidFill>
                  </a:rPr>
                  <a:t>observer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dirty="0">
                    <a:solidFill>
                      <a:schemeClr val="bg1"/>
                    </a:solidFill>
                  </a:rPr>
                  <a:t>at</a:t>
                </a:r>
                <a:r>
                  <a:rPr lang="en-US" altLang="zh-CN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pc="-40" dirty="0">
                    <a:solidFill>
                      <a:schemeClr val="bg1"/>
                    </a:solidFill>
                  </a:rPr>
                  <a:t>locations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en-US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pc="-4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en-US" altLang="zh-CN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pc="-40" dirty="0">
                    <a:solidFill>
                      <a:schemeClr val="bg1"/>
                    </a:solidFill>
                  </a:rPr>
                  <a:t>:</a:t>
                </a: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b="0" i="1" spc="-40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 =</m:t>
                      </m:r>
                      <m:sSup>
                        <m:sSup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spc="-4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2742" y="860003"/>
                <a:ext cx="4244975" cy="1861856"/>
              </a:xfrm>
              <a:prstGeom prst="rect">
                <a:avLst/>
              </a:prstGeom>
              <a:blipFill>
                <a:blip r:embed="rId2"/>
                <a:stretch>
                  <a:fillRect l="-1004" t="-2623" r="-1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1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8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215442" y="376339"/>
                <a:ext cx="4282440" cy="1274516"/>
              </a:xfrm>
              <a:prstGeom prst="rect">
                <a:avLst/>
              </a:prstGeom>
            </p:spPr>
            <p:txBody>
              <a:bodyPr vert="horz" wrap="square" lIns="0" tIns="93980" rIns="0" bIns="0" rtlCol="0">
                <a:spAutoFit/>
              </a:bodyPr>
              <a:lstStyle/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16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z="1200" spc="-45" dirty="0">
                    <a:solidFill>
                      <a:schemeClr val="bg1"/>
                    </a:solidFill>
                  </a:rPr>
                  <a:t>Goal:</a:t>
                </a:r>
                <a:r>
                  <a:rPr lang="en-US" altLang="zh-CN" sz="1200" spc="14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spc="-70" dirty="0">
                    <a:solidFill>
                      <a:schemeClr val="bg1"/>
                    </a:solidFill>
                  </a:rPr>
                  <a:t>place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spc="-90" dirty="0">
                    <a:solidFill>
                      <a:schemeClr val="bg1"/>
                    </a:solidFill>
                  </a:rPr>
                  <a:t>eigenvalues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of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the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spc="-85" dirty="0">
                    <a:solidFill>
                      <a:schemeClr val="bg1"/>
                    </a:solidFill>
                  </a:rPr>
                  <a:t>observer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at</a:t>
                </a:r>
                <a:r>
                  <a:rPr lang="en-US" altLang="zh-CN" sz="1200" spc="25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spc="-40" dirty="0">
                    <a:solidFill>
                      <a:schemeClr val="bg1"/>
                    </a:solidFill>
                  </a:rPr>
                  <a:t>locations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en-US" sz="1200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sz="1200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pc="-4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en-US" altLang="zh-CN" sz="1200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b="0" i="1" spc="-4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sz="1200" b="0" i="1" spc="-4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1200" spc="-40" dirty="0">
                    <a:solidFill>
                      <a:schemeClr val="bg1"/>
                    </a:solidFill>
                  </a:rPr>
                  <a:t>:</a:t>
                </a: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200" b="0" i="1" spc="-40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 =</m:t>
                      </m:r>
                      <m:sSup>
                        <m:sSup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sz="1200" b="0" i="1" spc="-4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sz="1200" spc="-40" dirty="0">
                  <a:solidFill>
                    <a:schemeClr val="bg1"/>
                  </a:solidFill>
                </a:endParaRPr>
              </a:p>
              <a:p>
                <a:pPr algn="ctr">
                  <a:lnSpc>
                    <a:spcPct val="100000"/>
                  </a:lnSpc>
                  <a:spcBef>
                    <a:spcPts val="96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5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Let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sz="1200" i="1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[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.</a:t>
                </a:r>
                <a:r>
                  <a:rPr sz="1200" i="1" spc="-10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.</a:t>
                </a:r>
                <a:r>
                  <a:rPr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.</a:t>
                </a:r>
                <a:r>
                  <a:rPr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1200" i="1" baseline="-13888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]</a:t>
                </a:r>
                <a:r>
                  <a:rPr sz="1200" i="1" baseline="41666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sz="1200" i="1" spc="-104" baseline="41666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spc="1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unique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structures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200" i="1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1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give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376339"/>
                <a:ext cx="4282440" cy="1274516"/>
              </a:xfrm>
              <a:prstGeom prst="rect">
                <a:avLst/>
              </a:prstGeom>
              <a:blipFill>
                <a:blip r:embed="rId2"/>
                <a:stretch>
                  <a:fillRect l="-1707" r="-1565" b="-66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object 57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9" name="object 5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9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BD513778-8A3D-2407-646C-EBD6F7144DE9}"/>
                  </a:ext>
                </a:extLst>
              </p:cNvPr>
              <p:cNvSpPr txBox="1"/>
              <p:nvPr/>
            </p:nvSpPr>
            <p:spPr>
              <a:xfrm>
                <a:off x="931752" y="1693711"/>
                <a:ext cx="2849819" cy="1639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100" b="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100" dirty="0">
                  <a:solidFill>
                    <a:schemeClr val="bg1"/>
                  </a:solidFill>
                </a:endParaRPr>
              </a:p>
              <a:p>
                <a:endParaRPr lang="en-US" altLang="zh-CN" sz="1100" dirty="0">
                  <a:solidFill>
                    <a:schemeClr val="bg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en-US" altLang="zh-CN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100" b="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5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BD513778-8A3D-2407-646C-EBD6F7144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752" y="1693711"/>
                <a:ext cx="2849819" cy="1639873"/>
              </a:xfrm>
              <a:prstGeom prst="rect">
                <a:avLst/>
              </a:prstGeom>
              <a:blipFill>
                <a:blip r:embed="rId4"/>
                <a:stretch>
                  <a:fillRect l="-2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25117"/>
            <a:ext cx="27463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1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LC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2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structure: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34"/>
              <p:cNvSpPr txBox="1"/>
              <p:nvPr/>
            </p:nvSpPr>
            <p:spPr>
              <a:xfrm>
                <a:off x="202742" y="1510738"/>
                <a:ext cx="4309110" cy="76283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3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Recall:</a:t>
                </a:r>
                <a:r>
                  <a:rPr lang="en-US" sz="1200" spc="1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det</a:t>
                </a:r>
                <a:r>
                  <a:rPr lang="en-US" sz="1200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sI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s</a:t>
                </a:r>
                <a:r>
                  <a:rPr lang="en-US" sz="1200" i="1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135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l-GR" sz="1200" i="1" spc="4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α</a:t>
                </a:r>
                <a:r>
                  <a:rPr lang="en-US" sz="1200" i="1" spc="67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67" baseline="-13888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en-US" sz="1200" spc="67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en-US" sz="1200" i="1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s</a:t>
                </a:r>
                <a:r>
                  <a:rPr lang="en-US" sz="1200" i="1" spc="67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67" baseline="31250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en-US" sz="1200" spc="67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en-US" sz="1200" spc="112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14:m>
                  <m:oMath xmlns:m="http://schemas.openxmlformats.org/officeDocument/2006/math">
                    <m:r>
                      <a:rPr lang="en-US" altLang="zh-CN" sz="1200" b="0" i="1" spc="20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cs typeface="Arial"/>
                      </a:rPr>
                      <m:t>⋯</m:t>
                    </m:r>
                  </m:oMath>
                </a14:m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l-GR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α</a:t>
                </a:r>
                <a:r>
                  <a:rPr lang="el-GR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s</a:t>
                </a:r>
                <a:r>
                  <a:rPr lang="en-US" sz="1200" i="1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l-GR" sz="1200" i="1" spc="-2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α</a:t>
                </a:r>
                <a:r>
                  <a:rPr lang="el-GR" sz="1200" spc="-37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l-GR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endParaRPr lang="el-GR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50"/>
                  </a:spcBef>
                </a:pPr>
                <a:r>
                  <a:rPr lang="el-GR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l-GR" sz="1800" spc="37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0" dirty="0">
                    <a:solidFill>
                      <a:schemeClr val="bg1"/>
                    </a:solidFill>
                    <a:latin typeface="Arial"/>
                    <a:cs typeface="Arial"/>
                  </a:rPr>
                  <a:t>Thus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266700">
                  <a:lnSpc>
                    <a:spcPct val="100000"/>
                  </a:lnSpc>
                  <a:spcBef>
                    <a:spcPts val="60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i="1" spc="-4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i="1" spc="-4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i="1" spc="-4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sz="1200" i="1" spc="-4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i="1" spc="-4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sz="1200" i="1" spc="-4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i="1" spc="-4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sz="1200" i="1" spc="-4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i="1" spc="-4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en-US" altLang="zh-CN" sz="120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200" i="1" spc="-4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altLang="zh-CN" sz="1200" i="1" spc="-4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altLang="zh-CN" sz="1200" i="1" spc="-4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CN" sz="1200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target</m:t>
                          </m:r>
                          <m:r>
                            <a:rPr lang="en-US" altLang="zh-CN" sz="1200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lim>
                      </m:limLow>
                      <m:sSup>
                        <m:sSupPr>
                          <m:ctrlP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i="1" spc="-4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i="1" spc="-4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limLow>
                        <m:limLowPr>
                          <m:ctrlPr>
                            <a:rPr lang="en-US" altLang="zh-CN" sz="120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altLang="zh-CN" sz="1200" b="0" i="1" spc="-4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CN" sz="1200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target</m:t>
                          </m:r>
                          <m:r>
                            <a:rPr lang="en-US" altLang="zh-CN" sz="1200" b="0" i="0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1200" b="0" i="1" spc="-4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sz="1800" baseline="46296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4" name="object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1510738"/>
                <a:ext cx="4309110" cy="762838"/>
              </a:xfrm>
              <a:prstGeom prst="rect">
                <a:avLst/>
              </a:prstGeom>
              <a:blipFill>
                <a:blip r:embed="rId2"/>
                <a:stretch>
                  <a:fillRect l="-990" t="-6400" b="-56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35"/>
              <p:cNvSpPr txBox="1"/>
              <p:nvPr/>
            </p:nvSpPr>
            <p:spPr>
              <a:xfrm>
                <a:off x="215441" y="2440505"/>
                <a:ext cx="4059721" cy="750847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7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Hence</a:t>
                </a:r>
                <a:endParaRPr lang="en-US" sz="1200" spc="-5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zh-CN" altLang="en-US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−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⋮</m:t>
                      </m:r>
                    </m:oMath>
                  </m:oMathPara>
                </a14:m>
                <a:endParaRPr lang="en-US" altLang="zh-CN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/>
                        </a:rPr>
                        <m:t>−</m:t>
                      </m:r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5" name="object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1" y="2440505"/>
                <a:ext cx="4059721" cy="750847"/>
              </a:xfrm>
              <a:prstGeom prst="rect">
                <a:avLst/>
              </a:prstGeom>
              <a:blipFill>
                <a:blip r:embed="rId3"/>
                <a:stretch>
                  <a:fillRect l="-1351" t="-6452" b="-48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bject 4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5" name="object 45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10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9DFAD710-2370-1A1B-69DD-480D5DC5FBDA}"/>
                  </a:ext>
                </a:extLst>
              </p:cNvPr>
              <p:cNvSpPr txBox="1"/>
              <p:nvPr/>
            </p:nvSpPr>
            <p:spPr>
              <a:xfrm>
                <a:off x="71840" y="587365"/>
                <a:ext cx="4464438" cy="912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CN" sz="1100" b="0" dirty="0">
                          <a:solidFill>
                            <a:schemeClr val="bg1"/>
                          </a:solidFill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9DFAD710-2370-1A1B-69DD-480D5DC5F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0" y="587365"/>
                <a:ext cx="4464438" cy="912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50" dirty="0"/>
              <a:t>General</a:t>
            </a:r>
            <a:r>
              <a:rPr spc="60" dirty="0"/>
              <a:t> </a:t>
            </a:r>
            <a:r>
              <a:rPr spc="-140" dirty="0"/>
              <a:t>observer</a:t>
            </a:r>
            <a:r>
              <a:rPr spc="60" dirty="0"/>
              <a:t> </a:t>
            </a:r>
            <a:r>
              <a:rPr spc="-145" dirty="0"/>
              <a:t>eigenvalue</a:t>
            </a:r>
            <a:r>
              <a:rPr spc="60" dirty="0"/>
              <a:t> </a:t>
            </a:r>
            <a:r>
              <a:rPr spc="-90" dirty="0"/>
              <a:t>placement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55724"/>
            <a:ext cx="4223208" cy="371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ts val="1435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What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canonical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form?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ts val="1435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o.c.f.</a:t>
            </a:r>
            <a:r>
              <a:rPr sz="1200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via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transform: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/>
              <p:cNvSpPr txBox="1"/>
              <p:nvPr/>
            </p:nvSpPr>
            <p:spPr>
              <a:xfrm>
                <a:off x="177342" y="1418816"/>
                <a:ext cx="4044315" cy="125265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762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3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120" dirty="0">
                    <a:solidFill>
                      <a:srgbClr val="FFFFFF"/>
                    </a:solidFill>
                    <a:latin typeface="Arial"/>
                    <a:cs typeface="Arial"/>
                  </a:rPr>
                  <a:t>use</a:t>
                </a:r>
                <a:r>
                  <a:rPr sz="1200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chemeClr val="bg1"/>
                    </a:solidFill>
                    <a:latin typeface="Arial"/>
                    <a:cs typeface="Arial"/>
                  </a:rPr>
                  <a:t>previous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solidFill>
                      <a:schemeClr val="bg1"/>
                    </a:solidFill>
                    <a:latin typeface="Arial"/>
                    <a:cs typeface="Arial"/>
                  </a:rPr>
                  <a:t>formulas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to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chemeClr val="bg1"/>
                    </a:solidFill>
                    <a:latin typeface="Arial"/>
                    <a:cs typeface="Arial"/>
                  </a:rPr>
                  <a:t>design</a:t>
                </a:r>
                <a:r>
                  <a:rPr lang="en-US" sz="1200" spc="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95" dirty="0">
                    <a:solidFill>
                      <a:schemeClr val="bg1"/>
                    </a:solidFill>
                    <a:latin typeface="Arial"/>
                    <a:cs typeface="Arial"/>
                  </a:rPr>
                  <a:t>L</a:t>
                </a:r>
                <a:r>
                  <a:rPr lang="en-US" sz="1800" spc="127" baseline="13888" dirty="0">
                    <a:solidFill>
                      <a:schemeClr val="bg1"/>
                    </a:solidFill>
                    <a:latin typeface="Arial"/>
                    <a:cs typeface="Arial"/>
                  </a:rPr>
                  <a:t>˜</a:t>
                </a:r>
                <a:r>
                  <a:rPr lang="en-US" sz="1800" spc="30" baseline="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in: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506095" algn="ctr">
                  <a:lnSpc>
                    <a:spcPct val="100000"/>
                  </a:lnSpc>
                  <a:spcBef>
                    <a:spcPts val="844"/>
                  </a:spcBef>
                  <a:tabLst>
                    <a:tab pos="2972435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200" b="0" i="1" spc="2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ar-AE" altLang="zh-CN" sz="1400" b="0" i="1" spc="-10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acc>
                              <m:accPr>
                                <m:chr m:val="̂"/>
                                <m:ctrlPr>
                                  <a:rPr lang="ar-AE" altLang="zh-CN" sz="1200" b="0" i="1" spc="20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zh-CN" altLang="ar-AE" sz="1200" b="0" i="1" spc="20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</m:acc>
                          </m:e>
                        </m:acc>
                      </m:e>
                      <m:sub>
                        <m:r>
                          <a:rPr lang="zh-CN" altLang="ar-AE" sz="1200" b="0" i="1" spc="2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𝑜𝑏</m:t>
                        </m:r>
                      </m:sub>
                    </m:sSub>
                  </m:oMath>
                </a14:m>
                <a:r>
                  <a:rPr lang="ar-AE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altLang="zh-CN" sz="1200" i="1" spc="80" dirty="0">
                    <a:solidFill>
                      <a:schemeClr val="bg1"/>
                    </a:solidFill>
                    <a:latin typeface="Arial"/>
                    <a:cs typeface="Arial"/>
                  </a:rPr>
                  <a:t>A</a:t>
                </a:r>
                <a:r>
                  <a:rPr lang="en-US" altLang="zh-CN" sz="1200" i="1" spc="120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o</a:t>
                </a:r>
                <a:r>
                  <a:rPr lang="en-US" altLang="zh-CN" sz="1200" i="1" spc="217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200" dirty="0">
                    <a:solidFill>
                      <a:schemeClr val="bg1"/>
                    </a:solidFill>
                    <a:latin typeface="Menlo"/>
                    <a:cs typeface="Menlo"/>
                  </a:rPr>
                  <a:t>−</a:t>
                </a:r>
                <a:r>
                  <a:rPr lang="en-US" altLang="zh-CN" sz="1200" i="1" spc="-459" dirty="0">
                    <a:solidFill>
                      <a:schemeClr val="bg1"/>
                    </a:solidFill>
                    <a:latin typeface="Menlo"/>
                    <a:cs typeface="Menlo"/>
                  </a:rPr>
                  <a:t> </a:t>
                </a:r>
                <a:r>
                  <a:rPr lang="en-US" altLang="zh-CN" sz="1200" i="1" spc="-580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L</a:t>
                </a:r>
                <a:r>
                  <a:rPr lang="en-US" altLang="zh-CN" sz="1800" spc="-44" baseline="13888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˜</a:t>
                </a:r>
                <a:r>
                  <a:rPr lang="en-US" altLang="zh-CN" sz="1200" i="1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C</a:t>
                </a:r>
                <a:r>
                  <a:rPr lang="en-US" altLang="zh-CN" sz="1200" i="1" baseline="-13888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o</a:t>
                </a:r>
                <a:r>
                  <a:rPr lang="en-US" altLang="zh-CN" sz="1200" i="1" spc="-179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465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altLang="zh-CN" sz="1800" spc="-202" baseline="6250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-484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altLang="zh-CN" sz="1200" spc="-55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ˆ</a:t>
                </a:r>
                <a:r>
                  <a:rPr lang="en-US" altLang="zh-CN" sz="1200" i="1" spc="52" baseline="-13888" dirty="0" err="1">
                    <a:solidFill>
                      <a:schemeClr val="bg1"/>
                    </a:solidFill>
                    <a:latin typeface="Arial"/>
                    <a:cs typeface="Arial"/>
                  </a:rPr>
                  <a:t>ob</a:t>
                </a:r>
                <a:r>
                  <a:rPr lang="en-US" altLang="zh-CN" sz="1200" i="1" spc="172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altLang="zh-CN" sz="1200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-555" dirty="0">
                    <a:solidFill>
                      <a:schemeClr val="bg1"/>
                    </a:solidFill>
                    <a:latin typeface="Arial"/>
                    <a:cs typeface="Arial"/>
                  </a:rPr>
                  <a:t>L</a:t>
                </a:r>
                <a:r>
                  <a:rPr lang="en-US" altLang="zh-CN" sz="1800" spc="-7" baseline="13888" dirty="0">
                    <a:solidFill>
                      <a:schemeClr val="bg1"/>
                    </a:solidFill>
                    <a:latin typeface="Arial"/>
                    <a:cs typeface="Arial"/>
                  </a:rPr>
                  <a:t>˜</a:t>
                </a:r>
                <a:r>
                  <a:rPr lang="en-US" altLang="zh-CN" sz="1200" i="1" spc="25" dirty="0">
                    <a:solidFill>
                      <a:schemeClr val="bg1"/>
                    </a:solidFill>
                    <a:latin typeface="Arial"/>
                    <a:cs typeface="Arial"/>
                  </a:rPr>
                  <a:t>y</a:t>
                </a:r>
                <a:r>
                  <a:rPr lang="en-US" altLang="zh-CN" sz="1200" i="1" spc="6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altLang="zh-CN" sz="1200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B</a:t>
                </a:r>
                <a:r>
                  <a:rPr lang="en-US" altLang="zh-CN" sz="1200" i="1" spc="-37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o</a:t>
                </a:r>
                <a:r>
                  <a:rPr lang="en-US" altLang="zh-CN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u</a:t>
                </a:r>
                <a:r>
                  <a:rPr lang="en-US" altLang="zh-CN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	</a:t>
                </a:r>
                <a:r>
                  <a:rPr lang="en-US" altLang="zh-CN" sz="1200" spc="-60" dirty="0">
                    <a:solidFill>
                      <a:schemeClr val="bg1"/>
                    </a:solidFill>
                    <a:latin typeface="Arial"/>
                    <a:cs typeface="Arial"/>
                  </a:rPr>
                  <a:t>(analysis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form)</a:t>
                </a:r>
                <a:endParaRPr lang="en-US" altLang="zh-CN" sz="1200" dirty="0">
                  <a:latin typeface="Arial"/>
                  <a:cs typeface="Arial"/>
                </a:endParaRPr>
              </a:p>
              <a:p>
                <a:pPr marL="76200">
                  <a:lnSpc>
                    <a:spcPct val="100000"/>
                  </a:lnSpc>
                  <a:spcBef>
                    <a:spcPts val="99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17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z="1200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correspondingly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in</a:t>
                </a:r>
                <a:r>
                  <a:rPr lang="en-US" altLang="zh-CN" sz="1200" spc="-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the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original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state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-105" dirty="0">
                    <a:solidFill>
                      <a:schemeClr val="bg1"/>
                    </a:solidFill>
                    <a:latin typeface="Arial"/>
                    <a:cs typeface="Arial"/>
                  </a:rPr>
                  <a:t>space</a:t>
                </a:r>
                <a:r>
                  <a:rPr lang="en-US" altLang="zh-CN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(via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-465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altLang="zh-CN" sz="1200" spc="-35" dirty="0">
                    <a:solidFill>
                      <a:schemeClr val="bg1"/>
                    </a:solidFill>
                    <a:latin typeface="Arial"/>
                    <a:cs typeface="Arial"/>
                  </a:rPr>
                  <a:t>ˆ</a:t>
                </a:r>
                <a:r>
                  <a:rPr lang="en-US" altLang="zh-CN" sz="1200" i="1" spc="82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ob</a:t>
                </a:r>
                <a:r>
                  <a:rPr lang="en-US" altLang="zh-CN" sz="1200" i="1" spc="179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altLang="zh-CN" sz="1200" spc="-6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i="1" spc="175" dirty="0">
                    <a:solidFill>
                      <a:schemeClr val="bg1"/>
                    </a:solidFill>
                    <a:latin typeface="Arial"/>
                    <a:cs typeface="Arial"/>
                  </a:rPr>
                  <a:t>R</a:t>
                </a:r>
                <a:r>
                  <a:rPr lang="en-US" altLang="zh-CN" sz="1200" i="1" spc="-445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altLang="zh-CN" sz="1200" spc="60" dirty="0">
                    <a:solidFill>
                      <a:schemeClr val="bg1"/>
                    </a:solidFill>
                    <a:latin typeface="Arial"/>
                    <a:cs typeface="Arial"/>
                  </a:rPr>
                  <a:t>ˆ</a:t>
                </a:r>
                <a:r>
                  <a:rPr lang="en-US" altLang="zh-CN" sz="1200" spc="70" dirty="0">
                    <a:solidFill>
                      <a:schemeClr val="bg1"/>
                    </a:solidFill>
                    <a:latin typeface="Arial"/>
                    <a:cs typeface="Arial"/>
                  </a:rPr>
                  <a:t>):</a:t>
                </a:r>
                <a:endParaRPr lang="en-US" altLang="zh-CN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L="500380" algn="ctr">
                  <a:lnSpc>
                    <a:spcPct val="100000"/>
                  </a:lnSpc>
                  <a:spcBef>
                    <a:spcPts val="880"/>
                  </a:spcBef>
                </a:pPr>
                <a:r>
                  <a:rPr lang="en-US" altLang="zh-CN" sz="1100" i="1" spc="55" dirty="0">
                    <a:solidFill>
                      <a:schemeClr val="bg1"/>
                    </a:solidFill>
                    <a:latin typeface="Arial"/>
                    <a:cs typeface="Arial"/>
                  </a:rPr>
                  <a:t>R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b="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1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zh-CN" altLang="ar-AE" sz="1100" b="0" i="1" spc="20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altLang="zh-CN" sz="11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altLang="zh-CN" sz="1100" spc="10" dirty="0">
                    <a:solidFill>
                      <a:schemeClr val="bg1"/>
                    </a:solidFill>
                    <a:latin typeface="Arial"/>
                    <a:cs typeface="Arial"/>
                  </a:rPr>
                  <a:t> (</a:t>
                </a:r>
                <a:r>
                  <a:rPr lang="en-US" altLang="zh-CN" sz="1100" i="1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RAR</a:t>
                </a:r>
                <a:r>
                  <a:rPr lang="en-US" altLang="zh-CN" sz="1200" i="1" spc="75" baseline="31250" dirty="0">
                    <a:solidFill>
                      <a:schemeClr val="bg1"/>
                    </a:solidFill>
                    <a:latin typeface="Hack"/>
                    <a:cs typeface="Hack"/>
                  </a:rPr>
                  <a:t>−</a:t>
                </a:r>
                <a:r>
                  <a:rPr lang="en-US" altLang="zh-CN" sz="1200" spc="75" baseline="31250" dirty="0">
                    <a:solidFill>
                      <a:schemeClr val="bg1"/>
                    </a:solidFill>
                    <a:latin typeface="Arial"/>
                    <a:cs typeface="Arial"/>
                  </a:rPr>
                  <a:t>1</a:t>
                </a:r>
                <a:r>
                  <a:rPr lang="en-US" altLang="zh-CN" sz="1200" spc="120" baseline="3125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100" i="1" spc="175" dirty="0">
                    <a:solidFill>
                      <a:schemeClr val="bg1"/>
                    </a:solidFill>
                    <a:latin typeface="Menlo"/>
                    <a:cs typeface="Menlo"/>
                  </a:rPr>
                  <a:t>−</a:t>
                </a:r>
                <a:r>
                  <a:rPr lang="en-US" altLang="zh-CN" sz="1100" i="1" spc="-409" dirty="0">
                    <a:solidFill>
                      <a:schemeClr val="bg1"/>
                    </a:solidFill>
                    <a:latin typeface="Menlo"/>
                    <a:cs typeface="Menlo"/>
                  </a:rPr>
                  <a:t> </a:t>
                </a:r>
                <a:r>
                  <a:rPr lang="en-US" altLang="zh-CN" sz="1100" i="1" spc="-490" dirty="0">
                    <a:solidFill>
                      <a:schemeClr val="bg1"/>
                    </a:solidFill>
                    <a:latin typeface="Arial"/>
                    <a:cs typeface="Arial"/>
                  </a:rPr>
                  <a:t>L</a:t>
                </a:r>
                <a:r>
                  <a:rPr lang="en-US" altLang="zh-CN" sz="1650" spc="37" baseline="12626" dirty="0">
                    <a:solidFill>
                      <a:schemeClr val="bg1"/>
                    </a:solidFill>
                    <a:latin typeface="Arial"/>
                    <a:cs typeface="Arial"/>
                  </a:rPr>
                  <a:t>˜</a:t>
                </a:r>
                <a:r>
                  <a:rPr lang="en-US" altLang="zh-CN" sz="1100" i="1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C</a:t>
                </a:r>
                <a:r>
                  <a:rPr lang="en-US" altLang="zh-CN" sz="1100" i="1" spc="140" dirty="0">
                    <a:solidFill>
                      <a:schemeClr val="bg1"/>
                    </a:solidFill>
                    <a:latin typeface="Arial"/>
                    <a:cs typeface="Arial"/>
                  </a:rPr>
                  <a:t>R</a:t>
                </a:r>
                <a:r>
                  <a:rPr lang="en-US" altLang="zh-CN" sz="1200" i="1" spc="75" baseline="31250" dirty="0">
                    <a:solidFill>
                      <a:schemeClr val="bg1"/>
                    </a:solidFill>
                    <a:latin typeface="Hack"/>
                    <a:cs typeface="Hack"/>
                  </a:rPr>
                  <a:t>−</a:t>
                </a:r>
                <a:r>
                  <a:rPr lang="en-US" altLang="zh-CN" sz="1200" spc="142" baseline="30000" dirty="0">
                    <a:solidFill>
                      <a:schemeClr val="bg1"/>
                    </a:solidFill>
                    <a:latin typeface="Arial"/>
                    <a:cs typeface="Arial"/>
                  </a:rPr>
                  <a:t>1</a:t>
                </a:r>
                <a:r>
                  <a:rPr lang="en-US" altLang="zh-CN" sz="1200" spc="142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altLang="zh-CN" sz="1100" i="1" spc="105" dirty="0">
                    <a:solidFill>
                      <a:schemeClr val="bg1"/>
                    </a:solidFill>
                    <a:latin typeface="Arial"/>
                    <a:cs typeface="Arial"/>
                  </a:rPr>
                  <a:t>R</a:t>
                </a:r>
                <a:r>
                  <a:rPr lang="en-US" altLang="zh-CN" sz="1100" i="1" spc="-465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altLang="zh-CN" sz="11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ˆ</a:t>
                </a:r>
                <a:r>
                  <a:rPr lang="en-US" altLang="zh-CN" sz="1100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1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altLang="zh-CN" sz="1100" spc="-5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100" i="1" spc="-500" dirty="0">
                    <a:solidFill>
                      <a:schemeClr val="bg1"/>
                    </a:solidFill>
                    <a:latin typeface="Arial"/>
                    <a:cs typeface="Arial"/>
                  </a:rPr>
                  <a:t>L</a:t>
                </a:r>
                <a:r>
                  <a:rPr lang="en-US" altLang="zh-CN" sz="1650" spc="22" baseline="12626" dirty="0">
                    <a:solidFill>
                      <a:schemeClr val="bg1"/>
                    </a:solidFill>
                    <a:latin typeface="Arial"/>
                    <a:cs typeface="Arial"/>
                  </a:rPr>
                  <a:t>˜</a:t>
                </a:r>
                <a:r>
                  <a:rPr lang="en-US" altLang="zh-CN" sz="1100" i="1" spc="40" dirty="0">
                    <a:solidFill>
                      <a:schemeClr val="bg1"/>
                    </a:solidFill>
                    <a:latin typeface="Arial"/>
                    <a:cs typeface="Arial"/>
                  </a:rPr>
                  <a:t>y</a:t>
                </a:r>
                <a:r>
                  <a:rPr lang="en-US" altLang="zh-CN" sz="1100" i="1" spc="7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1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altLang="zh-CN" sz="1100" spc="-5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1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RBu</a:t>
                </a:r>
                <a:endParaRPr lang="en-US" altLang="zh-CN" sz="1100" dirty="0">
                  <a:solidFill>
                    <a:schemeClr val="bg1"/>
                  </a:solidFill>
                  <a:latin typeface="Arial"/>
                  <a:cs typeface="Arial"/>
                </a:endParaRPr>
              </a:p>
              <a:p>
                <a:pPr marR="1252220" algn="ctr">
                  <a:lnSpc>
                    <a:spcPct val="100000"/>
                  </a:lnSpc>
                  <a:spcBef>
                    <a:spcPts val="5"/>
                  </a:spcBef>
                </a:pPr>
                <a:endParaRPr sz="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6" name="objec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42" y="1418816"/>
                <a:ext cx="4044315" cy="1252651"/>
              </a:xfrm>
              <a:prstGeom prst="rect">
                <a:avLst/>
              </a:prstGeom>
              <a:blipFill>
                <a:blip r:embed="rId2"/>
                <a:stretch>
                  <a:fillRect l="-301" t="-5854" r="-6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bject 20"/>
          <p:cNvSpPr txBox="1"/>
          <p:nvPr/>
        </p:nvSpPr>
        <p:spPr>
          <a:xfrm>
            <a:off x="2936113" y="2902342"/>
            <a:ext cx="13265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(implementation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form)</a:t>
            </a:r>
            <a:endParaRPr sz="110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3" name="object 23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11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4816F5A-52D2-C682-BEC4-220DFC78479E}"/>
                  </a:ext>
                </a:extLst>
              </p:cNvPr>
              <p:cNvSpPr txBox="1"/>
              <p:nvPr/>
            </p:nvSpPr>
            <p:spPr>
              <a:xfrm>
                <a:off x="655998" y="2768189"/>
                <a:ext cx="2018501" cy="3259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̇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acc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acc>
                                <m:accPr>
                                  <m:chr m:val="̃"/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acc>
                            </m:e>
                          </m:groupChr>
                        </m:e>
                        <m:li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lim>
                      </m:limUpp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𝐿𝑦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𝐵𝑢</m:t>
                      </m:r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4816F5A-52D2-C682-BEC4-220DFC784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8" y="2768189"/>
                <a:ext cx="2018501" cy="325923"/>
              </a:xfrm>
              <a:prstGeom prst="rect">
                <a:avLst/>
              </a:prstGeom>
              <a:blipFill>
                <a:blip r:embed="rId4"/>
                <a:stretch>
                  <a:fillRect l="-604" t="-1852" r="-906" b="-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D050E6B6-6AE1-2037-D033-E18A529FA63E}"/>
                  </a:ext>
                </a:extLst>
              </p:cNvPr>
              <p:cNvSpPr txBox="1"/>
              <p:nvPr/>
            </p:nvSpPr>
            <p:spPr>
              <a:xfrm>
                <a:off x="494204" y="849335"/>
                <a:ext cx="3619709" cy="540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altLang="zh-CN" sz="11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1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𝐵𝑢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𝐶𝑥</m:t>
                              </m:r>
                            </m:e>
                          </m:eqAr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         </m:t>
                          </m:r>
                          <m:groupChr>
                            <m:groupChrPr>
                              <m:chr m:val="⇒"/>
                              <m:vertJc m:val="bot"/>
                              <m:ctrlPr>
                                <a:rPr lang="en-US" altLang="zh-CN" sz="11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brk m:alnAt="2"/>
                                </m:r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groupCh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         </m:t>
                          </m:r>
                        </m:e>
                      </m:d>
                      <m:d>
                        <m:dPr>
                          <m:begChr m:val="{"/>
                          <m:endChr m:val=""/>
                          <m:ctrlPr>
                            <a:rPr lang="en-US" altLang="zh-CN" sz="11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1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𝑅𝐴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e>
                                  </m:groupCh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lim>
                              </m:limLow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𝑅𝐵</m:t>
                                      </m:r>
                                    </m:e>
                                  </m:groupCh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lim>
                              </m:limLow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D050E6B6-6AE1-2037-D033-E18A529FA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04" y="849335"/>
                <a:ext cx="3619709" cy="5404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50" dirty="0"/>
              <a:t>General</a:t>
            </a:r>
            <a:r>
              <a:rPr spc="60" dirty="0"/>
              <a:t> </a:t>
            </a:r>
            <a:r>
              <a:rPr spc="-140" dirty="0"/>
              <a:t>observer</a:t>
            </a:r>
            <a:r>
              <a:rPr spc="60" dirty="0"/>
              <a:t> </a:t>
            </a:r>
            <a:r>
              <a:rPr spc="-145" dirty="0"/>
              <a:t>eigenvalue</a:t>
            </a:r>
            <a:r>
              <a:rPr spc="60" dirty="0"/>
              <a:t> </a:t>
            </a:r>
            <a:r>
              <a:rPr spc="-90" dirty="0"/>
              <a:t>placement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5442" y="1442311"/>
            <a:ext cx="41744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3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Powerful</a:t>
            </a:r>
            <a:r>
              <a:rPr sz="1200" b="1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fact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1200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0" dirty="0">
                <a:solidFill>
                  <a:srgbClr val="FFFFFF"/>
                </a:solidFill>
                <a:latin typeface="Arial"/>
                <a:cs typeface="Arial"/>
              </a:rPr>
              <a:t>Σ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observable,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then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arbitrarily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place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eigenvalues.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12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355600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40" dirty="0">
                <a:solidFill>
                  <a:srgbClr val="E5E5E5"/>
                </a:solidFill>
                <a:latin typeface="Arial"/>
                <a:cs typeface="Arial"/>
              </a:rPr>
              <a:t>Observer</a:t>
            </a:r>
            <a:r>
              <a:rPr sz="1700" spc="2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45" dirty="0">
                <a:solidFill>
                  <a:srgbClr val="E5E5E5"/>
                </a:solidFill>
                <a:latin typeface="Arial"/>
                <a:cs typeface="Arial"/>
              </a:rPr>
              <a:t>design</a:t>
            </a:r>
            <a:r>
              <a:rPr sz="1700" spc="2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E5E5E5"/>
                </a:solidFill>
                <a:latin typeface="Arial"/>
                <a:cs typeface="Arial"/>
              </a:rPr>
              <a:t>in</a:t>
            </a:r>
            <a:r>
              <a:rPr sz="1700" spc="-45" dirty="0">
                <a:solidFill>
                  <a:srgbClr val="E5E5E5"/>
                </a:solidFill>
                <a:latin typeface="Arial"/>
                <a:cs typeface="Arial"/>
              </a:rPr>
              <a:t> MATLAB</a:t>
            </a:r>
            <a:r>
              <a:rPr sz="1700" spc="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30" dirty="0">
                <a:solidFill>
                  <a:srgbClr val="E5E5E5"/>
                </a:solidFill>
                <a:latin typeface="Arial"/>
                <a:cs typeface="Arial"/>
              </a:rPr>
              <a:t>and</a:t>
            </a:r>
            <a:r>
              <a:rPr sz="1700" spc="1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45" dirty="0">
                <a:solidFill>
                  <a:srgbClr val="E5E5E5"/>
                </a:solidFill>
                <a:latin typeface="Arial"/>
                <a:cs typeface="Arial"/>
              </a:rPr>
              <a:t>Python</a:t>
            </a:r>
            <a:endParaRPr sz="17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13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  <p:graphicFrame>
        <p:nvGraphicFramePr>
          <p:cNvPr id="18" name="object 3">
            <a:extLst>
              <a:ext uri="{FF2B5EF4-FFF2-40B4-BE49-F238E27FC236}">
                <a16:creationId xmlns:a16="http://schemas.microsoft.com/office/drawing/2014/main" id="{155BBE3B-E1E6-6795-ACC1-187B920A2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882729"/>
              </p:ext>
            </p:extLst>
          </p:nvPr>
        </p:nvGraphicFramePr>
        <p:xfrm>
          <a:off x="148628" y="1056468"/>
          <a:ext cx="4262120" cy="13284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0660"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%MATLAB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#Python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-7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[0</a:t>
                      </a:r>
                      <a:r>
                        <a:rPr sz="1200" spc="-4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1;-</a:t>
                      </a:r>
                      <a:r>
                        <a:rPr sz="1200" spc="-6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1200" spc="-4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3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0.2];</a:t>
                      </a:r>
                      <a:r>
                        <a:rPr sz="1200" spc="-2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B</a:t>
                      </a:r>
                      <a:r>
                        <a:rPr sz="1200" spc="-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[0</a:t>
                      </a:r>
                      <a:r>
                        <a:rPr sz="1200" spc="-4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1]’;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import</a:t>
                      </a:r>
                      <a:r>
                        <a:rPr sz="1200" spc="-4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control</a:t>
                      </a:r>
                      <a:r>
                        <a:rPr sz="1200" spc="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as</a:t>
                      </a:r>
                      <a:r>
                        <a:rPr sz="1200" spc="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ct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200" spc="-1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[1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0];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import</a:t>
                      </a:r>
                      <a:r>
                        <a:rPr sz="1200" spc="-2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6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numpy</a:t>
                      </a:r>
                      <a:r>
                        <a:rPr sz="1200" spc="1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as</a:t>
                      </a:r>
                      <a:r>
                        <a:rPr sz="1200" spc="5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np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12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sys</a:t>
                      </a:r>
                      <a:r>
                        <a:rPr sz="1200" spc="5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5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ss(A,B,C,0);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np.array([[0,</a:t>
                      </a:r>
                      <a:r>
                        <a:rPr sz="1200" spc="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1],[-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4,</a:t>
                      </a:r>
                      <a:r>
                        <a:rPr sz="1200" spc="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3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0.2]])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eig(A)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200" spc="-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np.array([[1],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[0]]).T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L</a:t>
                      </a:r>
                      <a:r>
                        <a:rPr sz="1200" spc="8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9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3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place(A’,C’,[-2,-</a:t>
                      </a:r>
                      <a:r>
                        <a:rPr sz="1200" spc="-2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3])’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L</a:t>
                      </a:r>
                      <a:r>
                        <a:rPr sz="1200" spc="8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85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ct.place(A.T,C.T,[-</a:t>
                      </a:r>
                      <a:r>
                        <a:rPr sz="12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2,</a:t>
                      </a:r>
                      <a:r>
                        <a:rPr sz="1200" spc="9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-3]).T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3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eig(A-</a:t>
                      </a:r>
                      <a:r>
                        <a:rPr sz="1200" spc="-2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L*C)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print(L)</a:t>
                      </a:r>
                      <a:endParaRPr sz="12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矩形 18">
            <a:extLst>
              <a:ext uri="{FF2B5EF4-FFF2-40B4-BE49-F238E27FC236}">
                <a16:creationId xmlns:a16="http://schemas.microsoft.com/office/drawing/2014/main" id="{3854AF50-1BB0-3265-C85D-87D9DC72257E}"/>
              </a:ext>
            </a:extLst>
          </p:cNvPr>
          <p:cNvSpPr/>
          <p:nvPr/>
        </p:nvSpPr>
        <p:spPr>
          <a:xfrm>
            <a:off x="139807" y="1031471"/>
            <a:ext cx="4222643" cy="1353417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8DAEF80-049B-4FF9-6331-412CA72D8332}"/>
              </a:ext>
            </a:extLst>
          </p:cNvPr>
          <p:cNvCxnSpPr>
            <a:cxnSpLocks/>
          </p:cNvCxnSpPr>
          <p:nvPr/>
        </p:nvCxnSpPr>
        <p:spPr>
          <a:xfrm>
            <a:off x="1924050" y="1031471"/>
            <a:ext cx="0" cy="135341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197485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20" dirty="0">
                <a:solidFill>
                  <a:srgbClr val="E5E5E5"/>
                </a:solidFill>
                <a:latin typeface="Arial"/>
                <a:cs typeface="Arial"/>
              </a:rPr>
              <a:t>Motor</a:t>
            </a:r>
            <a:r>
              <a:rPr sz="1700" spc="-5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E5E5E5"/>
                </a:solidFill>
                <a:latin typeface="Arial"/>
                <a:cs typeface="Arial"/>
              </a:rPr>
              <a:t>control</a:t>
            </a:r>
            <a:r>
              <a:rPr sz="1700" spc="-4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25" dirty="0">
                <a:solidFill>
                  <a:srgbClr val="E5E5E5"/>
                </a:solidFill>
                <a:latin typeface="Arial"/>
                <a:cs typeface="Arial"/>
              </a:rPr>
              <a:t>example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90061"/>
            <a:ext cx="4608195" cy="2966085"/>
            <a:chOff x="0" y="490061"/>
            <a:chExt cx="4608195" cy="29660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437" y="490110"/>
              <a:ext cx="1524510" cy="296588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18030" y="490061"/>
              <a:ext cx="1466005" cy="296593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333572" y="2222236"/>
              <a:ext cx="1079687" cy="107968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19191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14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30" dirty="0">
                <a:solidFill>
                  <a:srgbClr val="E5E5E5"/>
                </a:solidFill>
                <a:latin typeface="Arial"/>
                <a:cs typeface="Arial"/>
              </a:rPr>
              <a:t>Luenberger</a:t>
            </a:r>
            <a:r>
              <a:rPr sz="1700" spc="7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40" dirty="0">
                <a:solidFill>
                  <a:srgbClr val="E5E5E5"/>
                </a:solidFill>
                <a:latin typeface="Arial"/>
                <a:cs typeface="Arial"/>
              </a:rPr>
              <a:t>observer</a:t>
            </a:r>
            <a:r>
              <a:rPr sz="1700" spc="7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20" dirty="0">
                <a:solidFill>
                  <a:srgbClr val="E5E5E5"/>
                </a:solidFill>
                <a:latin typeface="Arial"/>
                <a:cs typeface="Arial"/>
              </a:rPr>
              <a:t>summary</a:t>
            </a:r>
            <a:endParaRPr sz="17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15442" y="608673"/>
                <a:ext cx="3885565" cy="471796"/>
              </a:xfrm>
              <a:prstGeom prst="rect">
                <a:avLst/>
              </a:prstGeom>
            </p:spPr>
            <p:txBody>
              <a:bodyPr vert="horz" wrap="square" lIns="0" tIns="5143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0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3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r>
                  <a:rPr lang="en-US" sz="1200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:</a:t>
                </a:r>
                <a:r>
                  <a:rPr lang="ar-AE" sz="1200" spc="18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i="1" spc="2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sz="1200" i="1" spc="2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sz="1200" i="1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44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sz="1200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sz="1200" i="1" spc="28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sz="1200" i="1" spc="-484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endParaRPr sz="12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30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7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block</a:t>
                </a:r>
                <a:r>
                  <a:rPr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diagram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608673"/>
                <a:ext cx="3885565" cy="471796"/>
              </a:xfrm>
              <a:prstGeom prst="rect">
                <a:avLst/>
              </a:prstGeom>
              <a:blipFill>
                <a:blip r:embed="rId2"/>
                <a:stretch>
                  <a:fillRect l="-1411" r="-157" b="-194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767" y="1202532"/>
            <a:ext cx="2586548" cy="1720321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15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70" dirty="0"/>
              <a:t> </a:t>
            </a:r>
            <a:r>
              <a:rPr spc="-140" dirty="0"/>
              <a:t>observer</a:t>
            </a:r>
            <a:r>
              <a:rPr spc="70" dirty="0"/>
              <a:t> </a:t>
            </a:r>
            <a:r>
              <a:rPr spc="-12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02742" y="518563"/>
                <a:ext cx="3747135" cy="207633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5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78803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85495">
                  <a:lnSpc>
                    <a:spcPct val="100000"/>
                  </a:lnSpc>
                  <a:spcBef>
                    <a:spcPts val="40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spc="3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R</a:t>
                </a:r>
                <a:r>
                  <a:rPr lang="en-US" sz="1200" i="1" spc="44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m</a:t>
                </a:r>
                <a:r>
                  <a:rPr lang="en-US" sz="1200" i="1" spc="44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×</a:t>
                </a:r>
                <a:r>
                  <a:rPr lang="en-US" sz="1200" spc="44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120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6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05727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i="1" spc="2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sz="1200" i="1" spc="2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18173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LCx</a:t>
                </a:r>
                <a:r>
                  <a:rPr lang="en-US" sz="1200" i="1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2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0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augmented</a:t>
                </a:r>
                <a:r>
                  <a:rPr lang="en-US"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518563"/>
                <a:ext cx="3747135" cy="2076338"/>
              </a:xfrm>
              <a:prstGeom prst="rect">
                <a:avLst/>
              </a:prstGeom>
              <a:blipFill>
                <a:blip r:embed="rId2"/>
                <a:stretch>
                  <a:fillRect l="-1138" t="-2346" b="-29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bject 1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16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A40F743-F86A-8642-46B3-D53E71857941}"/>
                  </a:ext>
                </a:extLst>
              </p:cNvPr>
              <p:cNvSpPr txBox="1"/>
              <p:nvPr/>
            </p:nvSpPr>
            <p:spPr>
              <a:xfrm>
                <a:off x="1249988" y="2720975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A40F743-F86A-8642-46B3-D53E71857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988" y="2720975"/>
                <a:ext cx="2108141" cy="328680"/>
              </a:xfrm>
              <a:prstGeom prst="rect">
                <a:avLst/>
              </a:prstGeom>
              <a:blipFill>
                <a:blip r:embed="rId4"/>
                <a:stretch>
                  <a:fillRect t="-3704" r="-289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70" dirty="0"/>
              <a:t> </a:t>
            </a:r>
            <a:r>
              <a:rPr spc="-140" dirty="0"/>
              <a:t>observer</a:t>
            </a:r>
            <a:r>
              <a:rPr spc="70" dirty="0"/>
              <a:t> </a:t>
            </a:r>
            <a:r>
              <a:rPr spc="-120" dirty="0"/>
              <a:t>summary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81200"/>
            <a:ext cx="20134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augmented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13"/>
              <p:cNvSpPr txBox="1"/>
              <p:nvPr/>
            </p:nvSpPr>
            <p:spPr>
              <a:xfrm>
                <a:off x="202742" y="1226538"/>
                <a:ext cx="4350551" cy="773417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16586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4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5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50" dirty="0">
                    <a:solidFill>
                      <a:srgbClr val="FFFFFF"/>
                    </a:solidFill>
                    <a:latin typeface="Arial"/>
                    <a:cs typeface="Arial"/>
                  </a:rPr>
                  <a:t>see</a:t>
                </a:r>
                <a:r>
                  <a:rPr lang="en-US"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distribution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eigenvalues,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note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the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43204">
                  <a:lnSpc>
                    <a:spcPct val="10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60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60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e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9" dirty="0">
                    <a:solidFill>
                      <a:srgbClr val="FFFFFF"/>
                    </a:solidFill>
                    <a:latin typeface="Menlo"/>
                    <a:cs typeface="Menlo"/>
                  </a:rPr>
                  <a:t>⇒</a:t>
                </a:r>
                <a:endParaRPr sz="1200" dirty="0">
                  <a:latin typeface="Menlo"/>
                  <a:cs typeface="Menlo"/>
                </a:endParaRPr>
              </a:p>
            </p:txBody>
          </p:sp>
        </mc:Choice>
        <mc:Fallback xmlns="">
          <p:sp>
            <p:nvSpPr>
              <p:cNvPr id="13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1226538"/>
                <a:ext cx="4350551" cy="773417"/>
              </a:xfrm>
              <a:prstGeom prst="rect">
                <a:avLst/>
              </a:prstGeom>
              <a:blipFill>
                <a:blip r:embed="rId2"/>
                <a:stretch>
                  <a:fillRect l="-980" t="-5512" b="-94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object 24"/>
          <p:cNvSpPr txBox="1"/>
          <p:nvPr/>
        </p:nvSpPr>
        <p:spPr>
          <a:xfrm>
            <a:off x="433260" y="2607282"/>
            <a:ext cx="431019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35" dirty="0">
                <a:solidFill>
                  <a:srgbClr val="FFFFFF"/>
                </a:solidFill>
                <a:latin typeface="Menlo"/>
                <a:cs typeface="Menlo"/>
              </a:rPr>
              <a:t>⇒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separated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into:</a:t>
            </a:r>
            <a:r>
              <a:rPr sz="1200" spc="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55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200" i="1" spc="-1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40842" y="293438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33260" y="2950194"/>
            <a:ext cx="19418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underlying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transform:</a:t>
            </a:r>
            <a:endParaRPr sz="1200">
              <a:latin typeface="Arial"/>
              <a:cs typeface="Arial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17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04AED9F-C614-9FBF-1F3B-0550753F4318}"/>
                  </a:ext>
                </a:extLst>
              </p:cNvPr>
              <p:cNvSpPr txBox="1"/>
              <p:nvPr/>
            </p:nvSpPr>
            <p:spPr>
              <a:xfrm>
                <a:off x="1211785" y="871926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04AED9F-C614-9FBF-1F3B-0550753F4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785" y="871926"/>
                <a:ext cx="2108141" cy="328680"/>
              </a:xfrm>
              <a:prstGeom prst="rect">
                <a:avLst/>
              </a:prstGeom>
              <a:blipFill>
                <a:blip r:embed="rId4"/>
                <a:stretch>
                  <a:fillRect t="-3704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6D2E6E1B-9AD5-92E3-5A17-AA78E54F5F80}"/>
                  </a:ext>
                </a:extLst>
              </p:cNvPr>
              <p:cNvSpPr txBox="1"/>
              <p:nvPr/>
            </p:nvSpPr>
            <p:spPr>
              <a:xfrm>
                <a:off x="1213086" y="2073804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6D2E6E1B-9AD5-92E3-5A17-AA78E54F5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086" y="2073804"/>
                <a:ext cx="2108141" cy="328680"/>
              </a:xfrm>
              <a:prstGeom prst="rect">
                <a:avLst/>
              </a:prstGeom>
              <a:blipFill>
                <a:blip r:embed="rId5"/>
                <a:stretch>
                  <a:fillRect t="-1852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8A7040EE-3E72-F21A-9A31-82AA5AB151B0}"/>
                  </a:ext>
                </a:extLst>
              </p:cNvPr>
              <p:cNvSpPr txBox="1"/>
              <p:nvPr/>
            </p:nvSpPr>
            <p:spPr>
              <a:xfrm>
                <a:off x="2423998" y="2882559"/>
                <a:ext cx="1315040" cy="3429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8A7040EE-3E72-F21A-9A31-82AA5AB15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998" y="2882559"/>
                <a:ext cx="1315040" cy="342914"/>
              </a:xfrm>
              <a:prstGeom prst="rect">
                <a:avLst/>
              </a:prstGeom>
              <a:blipFill>
                <a:blip r:embed="rId6"/>
                <a:stretch>
                  <a:fillRect t="-1786" r="-13953" b="-89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95" dirty="0"/>
              <a:t>Discrete-</a:t>
            </a:r>
            <a:r>
              <a:rPr spc="-65" dirty="0"/>
              <a:t>time</a:t>
            </a:r>
            <a:r>
              <a:rPr spc="-45" dirty="0"/>
              <a:t> </a:t>
            </a:r>
            <a:r>
              <a:rPr spc="-114" dirty="0"/>
              <a:t>observers:</a:t>
            </a:r>
            <a:r>
              <a:rPr spc="110" dirty="0"/>
              <a:t> </a:t>
            </a:r>
            <a:r>
              <a:rPr spc="-45" dirty="0"/>
              <a:t>Introduction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42001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4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full</a:t>
            </a:r>
            <a:r>
              <a:rPr sz="1200" spc="5" dirty="0"/>
              <a:t> </a:t>
            </a:r>
            <a:r>
              <a:rPr sz="1200" spc="-25" dirty="0"/>
              <a:t>state</a:t>
            </a:r>
            <a:r>
              <a:rPr sz="1200" spc="10" dirty="0"/>
              <a:t> </a:t>
            </a:r>
            <a:r>
              <a:rPr sz="1200" spc="-80" dirty="0"/>
              <a:t>feedback</a:t>
            </a:r>
            <a:r>
              <a:rPr sz="1200" spc="5" dirty="0"/>
              <a:t> </a:t>
            </a:r>
            <a:r>
              <a:rPr sz="1200" spc="-10" dirty="0"/>
              <a:t>is</a:t>
            </a:r>
            <a:r>
              <a:rPr sz="1200" spc="10" dirty="0"/>
              <a:t> </a:t>
            </a:r>
            <a:r>
              <a:rPr sz="1200" spc="-65" dirty="0"/>
              <a:t>usually</a:t>
            </a:r>
            <a:r>
              <a:rPr sz="1200" spc="10" dirty="0"/>
              <a:t> </a:t>
            </a:r>
            <a:r>
              <a:rPr sz="1200" dirty="0"/>
              <a:t>not</a:t>
            </a:r>
            <a:r>
              <a:rPr sz="1200" spc="5" dirty="0"/>
              <a:t> </a:t>
            </a:r>
            <a:r>
              <a:rPr sz="1200" spc="-10" dirty="0"/>
              <a:t>available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/>
              <a:t>often</a:t>
            </a:r>
            <a:r>
              <a:rPr sz="1200" spc="10" dirty="0"/>
              <a:t> </a:t>
            </a:r>
            <a:r>
              <a:rPr sz="1200" spc="-95" dirty="0"/>
              <a:t>observers</a:t>
            </a:r>
            <a:r>
              <a:rPr sz="1200" spc="10" dirty="0"/>
              <a:t> </a:t>
            </a:r>
            <a:r>
              <a:rPr sz="1200" spc="-85" dirty="0"/>
              <a:t>are</a:t>
            </a:r>
            <a:r>
              <a:rPr sz="1200" spc="10" dirty="0"/>
              <a:t> </a:t>
            </a:r>
            <a:r>
              <a:rPr sz="1200" spc="-55" dirty="0"/>
              <a:t>implemented</a:t>
            </a:r>
            <a:r>
              <a:rPr sz="1200" spc="10" dirty="0"/>
              <a:t> </a:t>
            </a:r>
            <a:r>
              <a:rPr sz="1200" dirty="0"/>
              <a:t>in</a:t>
            </a:r>
            <a:r>
              <a:rPr sz="1200" spc="10" dirty="0"/>
              <a:t> </a:t>
            </a:r>
            <a:r>
              <a:rPr sz="1200" dirty="0"/>
              <a:t>the</a:t>
            </a:r>
            <a:r>
              <a:rPr sz="1200" spc="5" dirty="0"/>
              <a:t> </a:t>
            </a:r>
            <a:r>
              <a:rPr sz="1200" spc="-55" dirty="0"/>
              <a:t>discrete-</a:t>
            </a:r>
            <a:r>
              <a:rPr sz="1200" spc="-25" dirty="0"/>
              <a:t>time</a:t>
            </a:r>
            <a:r>
              <a:rPr sz="1200" spc="10" dirty="0"/>
              <a:t> </a:t>
            </a:r>
            <a:r>
              <a:rPr sz="1200" spc="-10" dirty="0"/>
              <a:t>domain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5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the</a:t>
            </a:r>
            <a:r>
              <a:rPr sz="1200" spc="20" dirty="0"/>
              <a:t> </a:t>
            </a:r>
            <a:r>
              <a:rPr sz="1200" spc="-55" dirty="0"/>
              <a:t>discrete-</a:t>
            </a:r>
            <a:r>
              <a:rPr sz="1200" spc="-25" dirty="0"/>
              <a:t>time</a:t>
            </a:r>
            <a:r>
              <a:rPr sz="1200" spc="20" dirty="0"/>
              <a:t> </a:t>
            </a:r>
            <a:r>
              <a:rPr sz="1200" spc="-85" dirty="0"/>
              <a:t>observer</a:t>
            </a:r>
            <a:r>
              <a:rPr sz="1200" spc="20" dirty="0"/>
              <a:t> </a:t>
            </a:r>
            <a:r>
              <a:rPr sz="1200" spc="-10" dirty="0"/>
              <a:t>design</a:t>
            </a:r>
            <a:endParaRPr sz="1200">
              <a:latin typeface="Arial Unicode MS"/>
              <a:cs typeface="Arial Unicode MS"/>
            </a:endParaRPr>
          </a:p>
          <a:p>
            <a:pPr marL="540385" marR="188595" indent="-182245">
              <a:lnSpc>
                <a:spcPct val="102600"/>
              </a:lnSpc>
              <a:spcBef>
                <a:spcPts val="18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70" dirty="0"/>
              <a:t>basic</a:t>
            </a:r>
            <a:r>
              <a:rPr sz="1100" spc="20" dirty="0"/>
              <a:t> </a:t>
            </a:r>
            <a:r>
              <a:rPr sz="1100" dirty="0"/>
              <a:t>form:</a:t>
            </a:r>
            <a:r>
              <a:rPr sz="1100" spc="125" dirty="0"/>
              <a:t> </a:t>
            </a:r>
            <a:r>
              <a:rPr sz="1100" spc="-80" dirty="0"/>
              <a:t>analogous</a:t>
            </a:r>
            <a:r>
              <a:rPr sz="1100" spc="25" dirty="0"/>
              <a:t> </a:t>
            </a:r>
            <a:r>
              <a:rPr sz="1100" dirty="0"/>
              <a:t>to</a:t>
            </a:r>
            <a:r>
              <a:rPr sz="1100" spc="25" dirty="0"/>
              <a:t> </a:t>
            </a:r>
            <a:r>
              <a:rPr sz="1100" dirty="0"/>
              <a:t>the</a:t>
            </a:r>
            <a:r>
              <a:rPr sz="1100" spc="25" dirty="0"/>
              <a:t> </a:t>
            </a:r>
            <a:r>
              <a:rPr sz="1100" spc="-55" dirty="0"/>
              <a:t>continuous-</a:t>
            </a:r>
            <a:r>
              <a:rPr sz="1100" spc="-20" dirty="0"/>
              <a:t>time</a:t>
            </a:r>
            <a:r>
              <a:rPr sz="1100" spc="20" dirty="0"/>
              <a:t> </a:t>
            </a:r>
            <a:r>
              <a:rPr sz="1100" spc="-35" dirty="0"/>
              <a:t>Luenberger </a:t>
            </a:r>
            <a:r>
              <a:rPr sz="1100" spc="-10" dirty="0"/>
              <a:t>observer</a:t>
            </a:r>
            <a:endParaRPr sz="1100">
              <a:latin typeface="Arial Unicode MS"/>
              <a:cs typeface="Arial Unicode MS"/>
            </a:endParaRPr>
          </a:p>
          <a:p>
            <a:pPr marL="358140">
              <a:lnSpc>
                <a:spcPts val="1195"/>
              </a:lnSpc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0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30" dirty="0"/>
              <a:t>predict</a:t>
            </a:r>
            <a:r>
              <a:rPr sz="1100" spc="15" dirty="0"/>
              <a:t> </a:t>
            </a:r>
            <a:r>
              <a:rPr sz="1100" spc="-55" dirty="0"/>
              <a:t>and</a:t>
            </a:r>
            <a:r>
              <a:rPr sz="1100" spc="10" dirty="0"/>
              <a:t> </a:t>
            </a:r>
            <a:r>
              <a:rPr sz="1100" spc="-35" dirty="0"/>
              <a:t>correct</a:t>
            </a:r>
            <a:r>
              <a:rPr sz="1100" spc="15" dirty="0"/>
              <a:t> </a:t>
            </a:r>
            <a:r>
              <a:rPr sz="1100" spc="-10" dirty="0"/>
              <a:t>form:</a:t>
            </a:r>
            <a:endParaRPr sz="1100">
              <a:latin typeface="Arial Unicode MS"/>
              <a:cs typeface="Arial Unicode MS"/>
            </a:endParaRPr>
          </a:p>
          <a:p>
            <a:pPr marL="664845">
              <a:lnSpc>
                <a:spcPts val="1200"/>
              </a:lnSpc>
              <a:spcBef>
                <a:spcPts val="175"/>
              </a:spcBef>
            </a:pPr>
            <a:r>
              <a:rPr sz="1500" spc="25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500" spc="450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000" spc="-10" dirty="0"/>
              <a:t>direct</a:t>
            </a:r>
            <a:r>
              <a:rPr sz="1000" spc="50" dirty="0"/>
              <a:t> </a:t>
            </a:r>
            <a:r>
              <a:rPr sz="1000" dirty="0"/>
              <a:t>DT</a:t>
            </a:r>
            <a:r>
              <a:rPr sz="1000" spc="55" dirty="0"/>
              <a:t> </a:t>
            </a:r>
            <a:r>
              <a:rPr sz="1000" spc="-10" dirty="0"/>
              <a:t>design</a:t>
            </a:r>
            <a:endParaRPr sz="1000">
              <a:latin typeface="Arial Unicode MS"/>
              <a:cs typeface="Arial Unicode MS"/>
            </a:endParaRPr>
          </a:p>
          <a:p>
            <a:pPr marL="664845">
              <a:lnSpc>
                <a:spcPts val="1200"/>
              </a:lnSpc>
            </a:pPr>
            <a:r>
              <a:rPr sz="1500" spc="25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500" spc="43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000" spc="-70" dirty="0"/>
              <a:t>leverages</a:t>
            </a:r>
            <a:r>
              <a:rPr sz="1000" spc="45" dirty="0"/>
              <a:t> </a:t>
            </a:r>
            <a:r>
              <a:rPr sz="1000" spc="-40" dirty="0"/>
              <a:t>discrete-</a:t>
            </a:r>
            <a:r>
              <a:rPr sz="1000" spc="-20" dirty="0"/>
              <a:t>time</a:t>
            </a:r>
            <a:r>
              <a:rPr sz="1000" spc="45" dirty="0"/>
              <a:t> </a:t>
            </a:r>
            <a:r>
              <a:rPr sz="1000" spc="-35" dirty="0"/>
              <a:t>signal</a:t>
            </a:r>
            <a:r>
              <a:rPr sz="1000" spc="45" dirty="0"/>
              <a:t> </a:t>
            </a:r>
            <a:r>
              <a:rPr sz="1000" spc="-10" dirty="0"/>
              <a:t>properties</a:t>
            </a:r>
            <a:endParaRPr sz="1000">
              <a:latin typeface="Arial Unicode MS"/>
              <a:cs typeface="Arial Unicode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18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75844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95" dirty="0"/>
              <a:t>Discrete-</a:t>
            </a:r>
            <a:r>
              <a:rPr spc="-65" dirty="0"/>
              <a:t>time</a:t>
            </a:r>
            <a:r>
              <a:rPr spc="-15" dirty="0"/>
              <a:t> </a:t>
            </a:r>
            <a:r>
              <a:rPr dirty="0"/>
              <a:t>full</a:t>
            </a:r>
            <a:r>
              <a:rPr spc="-15" dirty="0"/>
              <a:t> </a:t>
            </a:r>
            <a:r>
              <a:rPr spc="-75" dirty="0"/>
              <a:t>state</a:t>
            </a:r>
            <a:r>
              <a:rPr spc="-15" dirty="0"/>
              <a:t> </a:t>
            </a:r>
            <a:r>
              <a:rPr spc="-110" dirty="0"/>
              <a:t>observer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381826"/>
            <a:ext cx="3816985" cy="163068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standard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discrete-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observer:</a:t>
            </a:r>
            <a:endParaRPr sz="1200">
              <a:latin typeface="Arial"/>
              <a:cs typeface="Arial"/>
            </a:endParaRPr>
          </a:p>
          <a:p>
            <a:pPr marL="695325">
              <a:lnSpc>
                <a:spcPct val="100000"/>
              </a:lnSpc>
              <a:spcBef>
                <a:spcPts val="575"/>
              </a:spcBef>
            </a:pP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Ax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95325">
              <a:lnSpc>
                <a:spcPct val="100000"/>
              </a:lnSpc>
              <a:spcBef>
                <a:spcPts val="305"/>
              </a:spcBef>
            </a:pPr>
            <a:r>
              <a:rPr sz="1200" i="1" spc="-4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45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1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L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1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endParaRPr sz="1200">
              <a:latin typeface="Arial"/>
              <a:cs typeface="Arial"/>
            </a:endParaRPr>
          </a:p>
          <a:p>
            <a:pPr marL="950594">
              <a:lnSpc>
                <a:spcPct val="100000"/>
              </a:lnSpc>
              <a:spcBef>
                <a:spcPts val="300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5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error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dynamics:</a:t>
            </a:r>
            <a:r>
              <a:rPr sz="1200" i="1" spc="-90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1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),</a:t>
            </a:r>
            <a:endParaRPr sz="1200">
              <a:latin typeface="Arial"/>
              <a:cs typeface="Arial"/>
            </a:endParaRPr>
          </a:p>
          <a:p>
            <a:pPr marL="230504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95" dirty="0">
                <a:solidFill>
                  <a:srgbClr val="FFFFFF"/>
                </a:solidFill>
                <a:latin typeface="Arial"/>
                <a:cs typeface="Arial"/>
              </a:rPr>
              <a:t>Ae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spc="-110" dirty="0">
                <a:solidFill>
                  <a:srgbClr val="FFFFFF"/>
                </a:solidFill>
                <a:latin typeface="Arial"/>
                <a:cs typeface="Arial"/>
              </a:rPr>
              <a:t>LCe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overall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5442" y="2908653"/>
            <a:ext cx="425640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Powerful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fact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1200" spc="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error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arbitrarily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assigned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if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observable.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19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4">
            <a:extLst>
              <a:ext uri="{FF2B5EF4-FFF2-40B4-BE49-F238E27FC236}">
                <a16:creationId xmlns:a16="http://schemas.microsoft.com/office/drawing/2014/main" id="{F6B94CEF-FFB0-77FD-8F5F-16ABDCB4DE17}"/>
              </a:ext>
            </a:extLst>
          </p:cNvPr>
          <p:cNvSpPr txBox="1"/>
          <p:nvPr/>
        </p:nvSpPr>
        <p:spPr>
          <a:xfrm>
            <a:off x="795375" y="2047593"/>
            <a:ext cx="590550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solidFill>
                  <a:schemeClr val="bg1"/>
                </a:solidFill>
                <a:latin typeface="Arial"/>
                <a:cs typeface="Arial"/>
              </a:rPr>
              <a:t>e</a:t>
            </a: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1" name="object 5">
            <a:extLst>
              <a:ext uri="{FF2B5EF4-FFF2-40B4-BE49-F238E27FC236}">
                <a16:creationId xmlns:a16="http://schemas.microsoft.com/office/drawing/2014/main" id="{2F467978-5299-CD9F-6453-FFD5DA677AD7}"/>
              </a:ext>
            </a:extLst>
          </p:cNvPr>
          <p:cNvSpPr txBox="1"/>
          <p:nvPr/>
        </p:nvSpPr>
        <p:spPr>
          <a:xfrm>
            <a:off x="1502321" y="2140595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2" name="object 6">
            <a:extLst>
              <a:ext uri="{FF2B5EF4-FFF2-40B4-BE49-F238E27FC236}">
                <a16:creationId xmlns:a16="http://schemas.microsoft.com/office/drawing/2014/main" id="{2BDD909E-F16B-91DE-54ED-E21BEB9F77FE}"/>
              </a:ext>
            </a:extLst>
          </p:cNvPr>
          <p:cNvSpPr txBox="1"/>
          <p:nvPr/>
        </p:nvSpPr>
        <p:spPr>
          <a:xfrm>
            <a:off x="1727327" y="2047593"/>
            <a:ext cx="709295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38784" algn="l"/>
              </a:tabLst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24130">
              <a:lnSpc>
                <a:spcPct val="100000"/>
              </a:lnSpc>
              <a:spcBef>
                <a:spcPts val="5"/>
              </a:spcBef>
              <a:tabLst>
                <a:tab pos="236854" algn="l"/>
              </a:tabLst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200" i="1" spc="-4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3" name="object 7">
            <a:extLst>
              <a:ext uri="{FF2B5EF4-FFF2-40B4-BE49-F238E27FC236}">
                <a16:creationId xmlns:a16="http://schemas.microsoft.com/office/drawing/2014/main" id="{EF38CC00-E251-B888-ED81-9841E4FC55F7}"/>
              </a:ext>
            </a:extLst>
          </p:cNvPr>
          <p:cNvSpPr txBox="1"/>
          <p:nvPr/>
        </p:nvSpPr>
        <p:spPr>
          <a:xfrm>
            <a:off x="2990850" y="2157387"/>
            <a:ext cx="140970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4" name="object 8">
            <a:extLst>
              <a:ext uri="{FF2B5EF4-FFF2-40B4-BE49-F238E27FC236}">
                <a16:creationId xmlns:a16="http://schemas.microsoft.com/office/drawing/2014/main" id="{050B88E6-AB92-5E9E-99E5-80970B9C7D26}"/>
              </a:ext>
            </a:extLst>
          </p:cNvPr>
          <p:cNvSpPr txBox="1"/>
          <p:nvPr/>
        </p:nvSpPr>
        <p:spPr>
          <a:xfrm>
            <a:off x="3200907" y="2064385"/>
            <a:ext cx="124460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5" name="object 10">
            <a:extLst>
              <a:ext uri="{FF2B5EF4-FFF2-40B4-BE49-F238E27FC236}">
                <a16:creationId xmlns:a16="http://schemas.microsoft.com/office/drawing/2014/main" id="{0249E2ED-5117-DD37-4AE1-313FD13E1F8A}"/>
              </a:ext>
            </a:extLst>
          </p:cNvPr>
          <p:cNvSpPr txBox="1"/>
          <p:nvPr/>
        </p:nvSpPr>
        <p:spPr>
          <a:xfrm>
            <a:off x="3448050" y="2157387"/>
            <a:ext cx="33464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5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sz="1200" i="1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6" name="object 11">
            <a:extLst>
              <a:ext uri="{FF2B5EF4-FFF2-40B4-BE49-F238E27FC236}">
                <a16:creationId xmlns:a16="http://schemas.microsoft.com/office/drawing/2014/main" id="{1E120AE1-98E4-5371-3C40-3F3E50E30973}"/>
              </a:ext>
            </a:extLst>
          </p:cNvPr>
          <p:cNvSpPr txBox="1"/>
          <p:nvPr/>
        </p:nvSpPr>
        <p:spPr>
          <a:xfrm>
            <a:off x="936294" y="2585364"/>
            <a:ext cx="1183005" cy="196849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[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200" i="1" dirty="0">
                <a:solidFill>
                  <a:schemeClr val="bg1"/>
                </a:solidFill>
                <a:latin typeface="Times New Roman"/>
                <a:cs typeface="Times New Roman"/>
              </a:rPr>
              <a:t>,</a:t>
            </a:r>
            <a:r>
              <a:rPr sz="1200" i="1" spc="28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0]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7" name="object 13">
            <a:extLst>
              <a:ext uri="{FF2B5EF4-FFF2-40B4-BE49-F238E27FC236}">
                <a16:creationId xmlns:a16="http://schemas.microsoft.com/office/drawing/2014/main" id="{608C49E5-5689-1263-6102-6952AF1184C6}"/>
              </a:ext>
            </a:extLst>
          </p:cNvPr>
          <p:cNvSpPr txBox="1"/>
          <p:nvPr/>
        </p:nvSpPr>
        <p:spPr>
          <a:xfrm>
            <a:off x="2589149" y="2064385"/>
            <a:ext cx="333375" cy="50419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5240">
              <a:lnSpc>
                <a:spcPts val="1165"/>
              </a:lnSpc>
              <a:spcBef>
                <a:spcPts val="5"/>
              </a:spcBef>
            </a:pPr>
            <a:r>
              <a:rPr sz="1200" i="1" spc="-155" dirty="0">
                <a:solidFill>
                  <a:schemeClr val="bg1"/>
                </a:solidFill>
                <a:latin typeface="Arial"/>
                <a:cs typeface="Arial"/>
              </a:rPr>
              <a:t>e</a:t>
            </a: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41275">
              <a:lnSpc>
                <a:spcPts val="1165"/>
              </a:lnSpc>
            </a:pP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</a:p>
        </p:txBody>
      </p:sp>
      <p:sp>
        <p:nvSpPr>
          <p:cNvPr id="28" name="object 14">
            <a:extLst>
              <a:ext uri="{FF2B5EF4-FFF2-40B4-BE49-F238E27FC236}">
                <a16:creationId xmlns:a16="http://schemas.microsoft.com/office/drawing/2014/main" id="{EDAF7028-02CF-B1A2-B182-0521DC373C0D}"/>
              </a:ext>
            </a:extLst>
          </p:cNvPr>
          <p:cNvSpPr txBox="1"/>
          <p:nvPr/>
        </p:nvSpPr>
        <p:spPr>
          <a:xfrm>
            <a:off x="2202181" y="2492375"/>
            <a:ext cx="590550" cy="391160"/>
          </a:xfrm>
          <a:prstGeom prst="rect">
            <a:avLst/>
          </a:prstGeom>
          <a:ln>
            <a:noFill/>
          </a:ln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solidFill>
                  <a:schemeClr val="bg1"/>
                </a:solidFill>
                <a:latin typeface="Arial"/>
                <a:cs typeface="Arial"/>
              </a:rPr>
              <a:t>e</a:t>
            </a:r>
            <a:r>
              <a:rPr sz="1200" i="1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9" name="左中括号 28">
            <a:extLst>
              <a:ext uri="{FF2B5EF4-FFF2-40B4-BE49-F238E27FC236}">
                <a16:creationId xmlns:a16="http://schemas.microsoft.com/office/drawing/2014/main" id="{16A3C611-9372-B6A2-A4C3-42395619435A}"/>
              </a:ext>
            </a:extLst>
          </p:cNvPr>
          <p:cNvSpPr/>
          <p:nvPr/>
        </p:nvSpPr>
        <p:spPr>
          <a:xfrm>
            <a:off x="749656" y="2066892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0" name="左中括号 29">
            <a:extLst>
              <a:ext uri="{FF2B5EF4-FFF2-40B4-BE49-F238E27FC236}">
                <a16:creationId xmlns:a16="http://schemas.microsoft.com/office/drawing/2014/main" id="{36FCED01-8890-9A5A-A5A3-92A63F000141}"/>
              </a:ext>
            </a:extLst>
          </p:cNvPr>
          <p:cNvSpPr/>
          <p:nvPr/>
        </p:nvSpPr>
        <p:spPr>
          <a:xfrm rot="10800000">
            <a:off x="1387328" y="2066892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左中括号 30">
            <a:extLst>
              <a:ext uri="{FF2B5EF4-FFF2-40B4-BE49-F238E27FC236}">
                <a16:creationId xmlns:a16="http://schemas.microsoft.com/office/drawing/2014/main" id="{B86C8B05-2F5C-79AF-DA67-C8B94CCC9C0C}"/>
              </a:ext>
            </a:extLst>
          </p:cNvPr>
          <p:cNvSpPr/>
          <p:nvPr/>
        </p:nvSpPr>
        <p:spPr>
          <a:xfrm>
            <a:off x="1686287" y="2066892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2" name="左中括号 31">
            <a:extLst>
              <a:ext uri="{FF2B5EF4-FFF2-40B4-BE49-F238E27FC236}">
                <a16:creationId xmlns:a16="http://schemas.microsoft.com/office/drawing/2014/main" id="{03AC0B36-8B12-B37D-F479-A1BAE5ACAF96}"/>
              </a:ext>
            </a:extLst>
          </p:cNvPr>
          <p:cNvSpPr/>
          <p:nvPr/>
        </p:nvSpPr>
        <p:spPr>
          <a:xfrm rot="10800000">
            <a:off x="2395259" y="2070101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左中括号 32">
            <a:extLst>
              <a:ext uri="{FF2B5EF4-FFF2-40B4-BE49-F238E27FC236}">
                <a16:creationId xmlns:a16="http://schemas.microsoft.com/office/drawing/2014/main" id="{7BB80299-F5E1-D116-2880-E6CEF95FB031}"/>
              </a:ext>
            </a:extLst>
          </p:cNvPr>
          <p:cNvSpPr/>
          <p:nvPr/>
        </p:nvSpPr>
        <p:spPr>
          <a:xfrm>
            <a:off x="2543919" y="2067895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左中括号 33">
            <a:extLst>
              <a:ext uri="{FF2B5EF4-FFF2-40B4-BE49-F238E27FC236}">
                <a16:creationId xmlns:a16="http://schemas.microsoft.com/office/drawing/2014/main" id="{0B2B3415-D9EE-4568-2372-A4F01272CAE2}"/>
              </a:ext>
            </a:extLst>
          </p:cNvPr>
          <p:cNvSpPr/>
          <p:nvPr/>
        </p:nvSpPr>
        <p:spPr>
          <a:xfrm rot="10800000">
            <a:off x="2908376" y="2067895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5" name="左中括号 34">
            <a:extLst>
              <a:ext uri="{FF2B5EF4-FFF2-40B4-BE49-F238E27FC236}">
                <a16:creationId xmlns:a16="http://schemas.microsoft.com/office/drawing/2014/main" id="{2CDEA352-8630-6F9A-F3FF-8F887F42DBAB}"/>
              </a:ext>
            </a:extLst>
          </p:cNvPr>
          <p:cNvSpPr/>
          <p:nvPr/>
        </p:nvSpPr>
        <p:spPr>
          <a:xfrm>
            <a:off x="3143250" y="2067895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6" name="左中括号 35">
            <a:extLst>
              <a:ext uri="{FF2B5EF4-FFF2-40B4-BE49-F238E27FC236}">
                <a16:creationId xmlns:a16="http://schemas.microsoft.com/office/drawing/2014/main" id="{5BE43A68-2FD2-A960-16C8-E7AF41104281}"/>
              </a:ext>
            </a:extLst>
          </p:cNvPr>
          <p:cNvSpPr/>
          <p:nvPr/>
        </p:nvSpPr>
        <p:spPr>
          <a:xfrm rot="10800000">
            <a:off x="3353689" y="2070462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7" name="左中括号 36">
            <a:extLst>
              <a:ext uri="{FF2B5EF4-FFF2-40B4-BE49-F238E27FC236}">
                <a16:creationId xmlns:a16="http://schemas.microsoft.com/office/drawing/2014/main" id="{A67C2F53-0F26-45C6-15EC-D6CB6F71555F}"/>
              </a:ext>
            </a:extLst>
          </p:cNvPr>
          <p:cNvSpPr/>
          <p:nvPr/>
        </p:nvSpPr>
        <p:spPr>
          <a:xfrm>
            <a:off x="2155059" y="2508104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8" name="左中括号 37">
            <a:extLst>
              <a:ext uri="{FF2B5EF4-FFF2-40B4-BE49-F238E27FC236}">
                <a16:creationId xmlns:a16="http://schemas.microsoft.com/office/drawing/2014/main" id="{827EADB4-2400-E234-4433-C7874D2DCA19}"/>
              </a:ext>
            </a:extLst>
          </p:cNvPr>
          <p:cNvSpPr/>
          <p:nvPr/>
        </p:nvSpPr>
        <p:spPr>
          <a:xfrm rot="10800000">
            <a:off x="2792731" y="2508104"/>
            <a:ext cx="45719" cy="391160"/>
          </a:xfrm>
          <a:prstGeom prst="leftBracket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16166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DT</a:t>
            </a:r>
            <a:r>
              <a:rPr spc="-25" dirty="0"/>
              <a:t> </a:t>
            </a:r>
            <a:r>
              <a:rPr dirty="0"/>
              <a:t>full</a:t>
            </a:r>
            <a:r>
              <a:rPr spc="-5" dirty="0"/>
              <a:t> </a:t>
            </a:r>
            <a:r>
              <a:rPr spc="-75" dirty="0"/>
              <a:t>state</a:t>
            </a:r>
            <a:r>
              <a:rPr dirty="0"/>
              <a:t> </a:t>
            </a:r>
            <a:r>
              <a:rPr spc="-140" dirty="0"/>
              <a:t>observer</a:t>
            </a:r>
            <a:r>
              <a:rPr spc="20" dirty="0"/>
              <a:t> </a:t>
            </a:r>
            <a:r>
              <a:rPr dirty="0"/>
              <a:t>with </a:t>
            </a:r>
            <a:r>
              <a:rPr spc="-65" dirty="0"/>
              <a:t>predictor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550" y="461972"/>
            <a:ext cx="4566920" cy="27355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7025" algn="r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motivation:</a:t>
            </a:r>
            <a:r>
              <a:rPr sz="1200" spc="1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45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1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Bu</a:t>
            </a:r>
            <a:r>
              <a:rPr sz="1200" i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L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200" i="1" spc="-459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9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spc="210" dirty="0">
                <a:solidFill>
                  <a:srgbClr val="FFFFFF"/>
                </a:solidFill>
                <a:latin typeface="Arial"/>
                <a:cs typeface="Arial"/>
              </a:rPr>
              <a:t>ˆ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3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endParaRPr sz="1200" dirty="0">
              <a:latin typeface="Arial"/>
              <a:cs typeface="Arial"/>
            </a:endParaRPr>
          </a:p>
          <a:p>
            <a:pPr marR="379095" algn="r">
              <a:lnSpc>
                <a:spcPct val="100000"/>
              </a:lnSpc>
              <a:spcBef>
                <a:spcPts val="5"/>
              </a:spcBef>
            </a:pP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doesn’t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20" dirty="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most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recent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measurement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5" dirty="0">
                <a:solidFill>
                  <a:srgbClr val="FFFFFF"/>
                </a:solidFill>
                <a:latin typeface="Arial"/>
                <a:cs typeface="Arial"/>
              </a:rPr>
              <a:t>Cx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1)</a:t>
            </a:r>
            <a:endParaRPr sz="1200" dirty="0">
              <a:latin typeface="Arial"/>
              <a:cs typeface="Arial"/>
            </a:endParaRPr>
          </a:p>
          <a:p>
            <a:pPr marR="1743710" algn="r">
              <a:lnSpc>
                <a:spcPct val="100000"/>
              </a:lnSpc>
              <a:spcBef>
                <a:spcPts val="1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3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discrete-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b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predictor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1200" dirty="0">
              <a:latin typeface="Arial"/>
              <a:cs typeface="Arial"/>
            </a:endParaRPr>
          </a:p>
          <a:p>
            <a:pPr marR="1699895" algn="r">
              <a:lnSpc>
                <a:spcPct val="100000"/>
              </a:lnSpc>
              <a:spcBef>
                <a:spcPts val="700"/>
              </a:spcBef>
            </a:pPr>
            <a:r>
              <a:rPr lang="en-US" altLang="zh-CN" sz="1100" spc="-30" dirty="0">
                <a:solidFill>
                  <a:schemeClr val="bg1"/>
                </a:solidFill>
                <a:latin typeface="Arial"/>
                <a:cs typeface="Arial"/>
              </a:rPr>
              <a:t>predictor:</a:t>
            </a:r>
            <a:r>
              <a:rPr lang="en-US" altLang="zh-CN" sz="1100" spc="1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7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85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8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25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lang="en-US" altLang="zh-CN" sz="1100" i="1" spc="-50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6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25" dirty="0" err="1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6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" dirty="0">
                <a:solidFill>
                  <a:schemeClr val="bg1"/>
                </a:solidFill>
                <a:latin typeface="Arial"/>
                <a:cs typeface="Arial"/>
              </a:rPr>
              <a:t>Bu</a:t>
            </a:r>
            <a:r>
              <a:rPr lang="en-US" altLang="zh-CN" sz="1100" i="1" spc="-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3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3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3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382270">
              <a:lnSpc>
                <a:spcPct val="100000"/>
              </a:lnSpc>
              <a:spcBef>
                <a:spcPts val="334"/>
              </a:spcBef>
            </a:pPr>
            <a:r>
              <a:rPr lang="en-US" altLang="zh-CN" sz="1100" spc="-30" dirty="0">
                <a:solidFill>
                  <a:schemeClr val="bg1"/>
                </a:solidFill>
                <a:latin typeface="Arial"/>
                <a:cs typeface="Arial"/>
              </a:rPr>
              <a:t>corrector:</a:t>
            </a:r>
            <a:r>
              <a:rPr lang="en-US" altLang="zh-CN" sz="1100" spc="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7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15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155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1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-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7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85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8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30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lang="en-US" altLang="zh-CN" sz="1100" i="1" spc="-1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lang="en-US" altLang="zh-CN" sz="1100" i="1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2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2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11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lang="en-US" altLang="zh-CN" sz="1100" i="1" spc="-1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7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10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))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69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90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dirty="0" err="1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90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):</a:t>
            </a:r>
            <a:r>
              <a:rPr lang="en-US" altLang="zh-CN" sz="1100" spc="1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chemeClr val="bg1"/>
                </a:solidFill>
                <a:latin typeface="Arial"/>
                <a:cs typeface="Arial"/>
              </a:rPr>
              <a:t>estimate</a:t>
            </a:r>
            <a:r>
              <a:rPr sz="11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bg1"/>
                </a:solidFill>
                <a:latin typeface="Arial"/>
                <a:cs typeface="Arial"/>
              </a:rPr>
              <a:t>of</a:t>
            </a:r>
            <a:r>
              <a:rPr sz="11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100" i="1" spc="-2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6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100" i="1" spc="6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100" spc="6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1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chemeClr val="bg1"/>
                </a:solidFill>
                <a:latin typeface="Arial"/>
                <a:cs typeface="Arial"/>
              </a:rPr>
              <a:t>based</a:t>
            </a:r>
            <a:r>
              <a:rPr sz="1100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measurements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up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time 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sz="1100" dirty="0"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0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-3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5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35" dirty="0" err="1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3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2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1):</a:t>
            </a:r>
            <a:r>
              <a:rPr lang="en-US" altLang="zh-CN" sz="1100" spc="1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chemeClr val="bg1"/>
                </a:solidFill>
                <a:latin typeface="Arial"/>
                <a:cs typeface="Arial"/>
              </a:rPr>
              <a:t>estimate</a:t>
            </a:r>
            <a:r>
              <a:rPr sz="1100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based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measurements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up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1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100" i="1" spc="-42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100" dirty="0"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5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 Unicode MS"/>
                <a:cs typeface="Arial Unicode MS"/>
              </a:rPr>
              <a:t>≜</a:t>
            </a:r>
            <a:r>
              <a:rPr sz="1100" spc="-20" dirty="0">
                <a:solidFill>
                  <a:srgbClr val="FFFFFF"/>
                </a:solidFill>
                <a:latin typeface="Arial Unicode MS"/>
                <a:cs typeface="Arial Unicode MS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6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60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100" spc="6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100" i="1" spc="-42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9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100" spc="5" dirty="0">
                <a:solidFill>
                  <a:srgbClr val="FFFFFF"/>
                </a:solidFill>
                <a:latin typeface="Menlo"/>
                <a:cs typeface="Menlo"/>
              </a:rPr>
              <a:t>|</a:t>
            </a:r>
            <a:r>
              <a:rPr sz="1100" i="1" spc="9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):</a:t>
            </a:r>
            <a:r>
              <a:rPr sz="1100" spc="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estimation</a:t>
            </a:r>
            <a:r>
              <a:rPr sz="11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error</a:t>
            </a:r>
            <a:endParaRPr sz="1100" dirty="0">
              <a:latin typeface="Arial"/>
              <a:cs typeface="Arial"/>
            </a:endParaRPr>
          </a:p>
          <a:p>
            <a:pPr marL="189865">
              <a:lnSpc>
                <a:spcPct val="100000"/>
              </a:lnSpc>
              <a:spcBef>
                <a:spcPts val="3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error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700"/>
              </a:spcBef>
            </a:pP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ˆ(</a:t>
            </a:r>
            <a:r>
              <a:rPr lang="en-US" altLang="zh-CN" sz="1100" i="1" spc="-6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15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155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1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2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75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r>
              <a:rPr lang="en-US" altLang="zh-CN" sz="1100" i="1" spc="-1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1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7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100" spc="-85" dirty="0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-8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8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Ly</a:t>
            </a:r>
            <a:r>
              <a:rPr lang="en-US" altLang="zh-CN" sz="1100" i="1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934085">
              <a:lnSpc>
                <a:spcPct val="100000"/>
              </a:lnSpc>
              <a:spcBef>
                <a:spcPts val="330"/>
              </a:spcBef>
            </a:pP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lang="en-US" altLang="zh-CN" sz="1100" i="1" spc="1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75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r>
              <a:rPr lang="en-US" altLang="zh-CN" sz="1100" i="1" spc="-1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11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25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 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6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25" dirty="0" err="1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6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lang="en-US" altLang="zh-CN" sz="1100" i="1" spc="1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75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r>
              <a:rPr lang="en-US" altLang="zh-CN" sz="1100" i="1" spc="-1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11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40" dirty="0">
                <a:solidFill>
                  <a:schemeClr val="bg1"/>
                </a:solidFill>
                <a:latin typeface="Arial"/>
                <a:cs typeface="Arial"/>
              </a:rPr>
              <a:t>Bu</a:t>
            </a:r>
            <a:r>
              <a:rPr lang="en-US" altLang="zh-CN" sz="1100" i="1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6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6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6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Ly</a:t>
            </a:r>
            <a:r>
              <a:rPr lang="en-US" altLang="zh-CN" sz="11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99390">
              <a:lnSpc>
                <a:spcPct val="100000"/>
              </a:lnSpc>
              <a:spcBef>
                <a:spcPts val="335"/>
              </a:spcBef>
            </a:pPr>
            <a:r>
              <a:rPr lang="en-US" altLang="zh-CN" sz="1100" i="1" spc="420" dirty="0">
                <a:solidFill>
                  <a:schemeClr val="bg1"/>
                </a:solidFill>
                <a:latin typeface="Menlo"/>
                <a:cs typeface="Menlo"/>
              </a:rPr>
              <a:t>⇒</a:t>
            </a:r>
            <a:r>
              <a:rPr lang="en-US" altLang="zh-CN" sz="1100" i="1" spc="-34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135" dirty="0">
                <a:solidFill>
                  <a:schemeClr val="bg1"/>
                </a:solidFill>
                <a:latin typeface="Arial"/>
                <a:cs typeface="Arial"/>
              </a:rPr>
              <a:t>e</a:t>
            </a:r>
            <a:r>
              <a:rPr lang="en-US" altLang="zh-CN" sz="1100" i="1" spc="-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55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100" i="1" spc="-20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2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40" dirty="0">
                <a:solidFill>
                  <a:schemeClr val="bg1"/>
                </a:solidFill>
                <a:latin typeface="Arial"/>
                <a:cs typeface="Arial"/>
              </a:rPr>
              <a:t>Ly</a:t>
            </a:r>
            <a:r>
              <a:rPr lang="en-US" altLang="zh-CN" sz="1100" i="1" spc="-1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2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lang="en-US" altLang="zh-CN" sz="1100" i="1" spc="10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75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r>
              <a:rPr lang="en-US" altLang="zh-CN" sz="1100" i="1" spc="-1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1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i="1" spc="-15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lang="en-US" altLang="zh-CN" sz="1100" i="1" spc="-405" dirty="0">
                <a:solidFill>
                  <a:schemeClr val="bg1"/>
                </a:solidFill>
                <a:latin typeface="Arial"/>
                <a:cs typeface="Arial"/>
              </a:rPr>
              <a:t> x</a:t>
            </a:r>
            <a:r>
              <a:rPr lang="en-US" altLang="zh-CN" sz="1100" spc="240" dirty="0">
                <a:solidFill>
                  <a:schemeClr val="bg1"/>
                </a:solidFill>
                <a:latin typeface="Arial"/>
                <a:cs typeface="Arial"/>
              </a:rPr>
              <a:t>ˆ</a:t>
            </a:r>
            <a:r>
              <a:rPr lang="en-US" altLang="zh-CN" sz="1100" spc="-1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7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15" dirty="0" err="1">
                <a:solidFill>
                  <a:schemeClr val="bg1"/>
                </a:solidFill>
                <a:latin typeface="Menlo"/>
                <a:cs typeface="Menlo"/>
              </a:rPr>
              <a:t>|</a:t>
            </a:r>
            <a:r>
              <a:rPr lang="en-US" altLang="zh-CN" sz="1100" i="1" spc="75" dirty="0" err="1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1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lang="en-US" altLang="zh-CN" sz="1100" i="1" spc="10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75" dirty="0">
                <a:solidFill>
                  <a:schemeClr val="bg1"/>
                </a:solidFill>
                <a:latin typeface="Arial"/>
                <a:cs typeface="Arial"/>
              </a:rPr>
              <a:t>LC</a:t>
            </a:r>
            <a:r>
              <a:rPr lang="en-US" altLang="zh-CN" sz="1100" i="1" spc="-1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i="1" spc="-10" dirty="0">
                <a:solidFill>
                  <a:schemeClr val="bg1"/>
                </a:solidFill>
                <a:latin typeface="Arial"/>
                <a:cs typeface="Arial"/>
              </a:rPr>
              <a:t>Bu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-10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-1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934085">
              <a:lnSpc>
                <a:spcPct val="100000"/>
              </a:lnSpc>
              <a:spcBef>
                <a:spcPts val="335"/>
              </a:spcBef>
            </a:pPr>
            <a:r>
              <a:rPr lang="en-US" altLang="zh-CN" sz="11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100" dirty="0">
                <a:solidFill>
                  <a:schemeClr val="bg1"/>
                </a:solidFill>
                <a:latin typeface="Arial"/>
                <a:cs typeface="Arial"/>
              </a:rPr>
              <a:t> (</a:t>
            </a:r>
            <a:r>
              <a:rPr lang="en-US" altLang="zh-CN" sz="11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lang="en-US" altLang="zh-CN" sz="1100" i="1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175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lang="en-US" altLang="zh-CN" sz="1100" i="1" spc="-40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lang="en-US" altLang="zh-CN" sz="1100" i="1" spc="-30" dirty="0">
                <a:solidFill>
                  <a:schemeClr val="bg1"/>
                </a:solidFill>
                <a:latin typeface="Arial"/>
                <a:cs typeface="Arial"/>
              </a:rPr>
              <a:t>LCA</a:t>
            </a:r>
            <a:r>
              <a:rPr lang="en-US" altLang="zh-CN" sz="1100" spc="-3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100" spc="-11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i="1" spc="-135" dirty="0">
                <a:solidFill>
                  <a:schemeClr val="bg1"/>
                </a:solidFill>
                <a:latin typeface="Arial"/>
                <a:cs typeface="Arial"/>
              </a:rPr>
              <a:t>e</a:t>
            </a:r>
            <a:r>
              <a:rPr lang="en-US" altLang="zh-CN" sz="1100" i="1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100" spc="3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100" i="1" spc="3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lang="en-US" altLang="zh-CN" sz="1100" spc="3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lang="en-US" altLang="zh-CN" sz="11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20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16166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DT</a:t>
            </a:r>
            <a:r>
              <a:rPr spc="-25" dirty="0"/>
              <a:t> </a:t>
            </a:r>
            <a:r>
              <a:rPr dirty="0"/>
              <a:t>full</a:t>
            </a:r>
            <a:r>
              <a:rPr spc="-5" dirty="0"/>
              <a:t> </a:t>
            </a:r>
            <a:r>
              <a:rPr spc="-75" dirty="0"/>
              <a:t>state</a:t>
            </a:r>
            <a:r>
              <a:rPr dirty="0"/>
              <a:t> </a:t>
            </a:r>
            <a:r>
              <a:rPr spc="-140" dirty="0"/>
              <a:t>observer</a:t>
            </a:r>
            <a:r>
              <a:rPr spc="20" dirty="0"/>
              <a:t> </a:t>
            </a:r>
            <a:r>
              <a:rPr dirty="0"/>
              <a:t>with </a:t>
            </a:r>
            <a:r>
              <a:rPr spc="-65" dirty="0"/>
              <a:t>predictor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15442" y="1182164"/>
            <a:ext cx="37363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error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arbitrarily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assigned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 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pair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7860" y="1398940"/>
            <a:ext cx="21399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z="1200" spc="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100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2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-36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800" spc="270" baseline="13888" dirty="0">
                <a:solidFill>
                  <a:srgbClr val="FFFFFF"/>
                </a:solidFill>
                <a:latin typeface="Arial"/>
                <a:cs typeface="Arial"/>
              </a:rPr>
              <a:t>˜</a:t>
            </a:r>
            <a:r>
              <a:rPr lang="en-US" sz="1200" spc="200" dirty="0">
                <a:solidFill>
                  <a:srgbClr val="FFFFFF"/>
                </a:solidFill>
                <a:latin typeface="Arial"/>
                <a:cs typeface="Arial"/>
              </a:rPr>
              <a:t>)=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2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CA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15442" y="1636532"/>
            <a:ext cx="167322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observability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matrix</a:t>
            </a:r>
            <a:r>
              <a:rPr sz="1200" spc="3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sz="1800" baseline="13888" dirty="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90042" y="2618842"/>
            <a:ext cx="3819525" cy="67437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32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invertible,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9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800" spc="112" baseline="13888" dirty="0">
                <a:solidFill>
                  <a:srgbClr val="FFFFFF"/>
                </a:solidFill>
                <a:latin typeface="Arial"/>
                <a:cs typeface="Arial"/>
              </a:rPr>
              <a:t>˜</a:t>
            </a:r>
            <a:r>
              <a:rPr sz="1200" i="1" spc="150" baseline="-13888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r>
              <a:rPr sz="1200" i="1" spc="33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2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rank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i="1" spc="-37" baseline="-13888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endParaRPr sz="1200" baseline="-13888" dirty="0">
              <a:latin typeface="Arial"/>
              <a:cs typeface="Arial"/>
            </a:endParaRPr>
          </a:p>
          <a:p>
            <a:pPr marL="255904" marR="17780" indent="-193040">
              <a:lnSpc>
                <a:spcPts val="1770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1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200" spc="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lang="en-US" altLang="zh-CN" sz="1200" i="1" spc="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lang="en-US" altLang="zh-CN" sz="1200" i="1" spc="100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lang="en-US" altLang="zh-CN" sz="1200" i="1" spc="2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en-US" altLang="zh-CN" sz="1200" i="1" spc="-36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lang="en-US" altLang="zh-CN" sz="1800" spc="270" baseline="13888" dirty="0">
                <a:solidFill>
                  <a:srgbClr val="FFFFFF"/>
                </a:solidFill>
                <a:latin typeface="Arial"/>
                <a:cs typeface="Arial"/>
              </a:rPr>
              <a:t>˜</a:t>
            </a:r>
            <a:r>
              <a:rPr lang="en-US" altLang="zh-CN" sz="1200" spc="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200" i="1" spc="26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nonsingular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(guaranteed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discretized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from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CT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system)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21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B324F48C-CF3C-1A10-8989-9B60C5B56B0D}"/>
                  </a:ext>
                </a:extLst>
              </p:cNvPr>
              <p:cNvSpPr txBox="1"/>
              <p:nvPr/>
            </p:nvSpPr>
            <p:spPr>
              <a:xfrm>
                <a:off x="558506" y="1697958"/>
                <a:ext cx="3150010" cy="9663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𝐶𝐴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e>
                                    </m:mr>
                                  </m:m>
                                </m:e>
                              </m:d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lim>
                      </m:limUp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B324F48C-CF3C-1A10-8989-9B60C5B56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06" y="1697958"/>
                <a:ext cx="3150010" cy="9663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442088C7-1B52-74C7-69A8-E12D73D2F2C8}"/>
                  </a:ext>
                </a:extLst>
              </p:cNvPr>
              <p:cNvSpPr txBox="1"/>
              <p:nvPr/>
            </p:nvSpPr>
            <p:spPr>
              <a:xfrm>
                <a:off x="599466" y="662969"/>
                <a:ext cx="3410101" cy="342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limLow>
                            <m:limLow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𝐶𝐴</m:t>
                                  </m:r>
                                </m:e>
                              </m:groupChr>
                            </m:e>
                            <m:lim>
                              <m:acc>
                                <m:accPr>
                                  <m:chr m:val="̃"/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lim>
                          </m:limLow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𝐿𝐶</m:t>
                          </m:r>
                        </m:e>
                      </m:d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442088C7-1B52-74C7-69A8-E12D73D2F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66" y="662969"/>
                <a:ext cx="3410101" cy="342081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97827" y="129374"/>
            <a:ext cx="4412615" cy="229235"/>
          </a:xfrm>
          <a:custGeom>
            <a:avLst/>
            <a:gdLst/>
            <a:ahLst/>
            <a:cxnLst/>
            <a:rect l="l" t="t" r="r" b="b"/>
            <a:pathLst>
              <a:path w="4412615" h="229235">
                <a:moveTo>
                  <a:pt x="4361594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28728"/>
                </a:lnTo>
                <a:lnTo>
                  <a:pt x="4412395" y="228728"/>
                </a:lnTo>
                <a:lnTo>
                  <a:pt x="4412395" y="50800"/>
                </a:lnTo>
                <a:lnTo>
                  <a:pt x="4408386" y="31075"/>
                </a:lnTo>
                <a:lnTo>
                  <a:pt x="4397472" y="14922"/>
                </a:lnTo>
                <a:lnTo>
                  <a:pt x="4381319" y="4008"/>
                </a:lnTo>
                <a:lnTo>
                  <a:pt x="43615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35928" y="102461"/>
            <a:ext cx="639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85" dirty="0">
                <a:solidFill>
                  <a:srgbClr val="FFFFFF"/>
                </a:solidFill>
              </a:rPr>
              <a:t>Example</a:t>
            </a:r>
            <a:endParaRPr sz="1400"/>
          </a:p>
        </p:txBody>
      </p:sp>
      <p:sp>
        <p:nvSpPr>
          <p:cNvPr id="39" name="object 39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22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  <p:sp>
        <p:nvSpPr>
          <p:cNvPr id="43" name="object 13">
            <a:extLst>
              <a:ext uri="{FF2B5EF4-FFF2-40B4-BE49-F238E27FC236}">
                <a16:creationId xmlns:a16="http://schemas.microsoft.com/office/drawing/2014/main" id="{8B964864-3A3F-6D99-96A5-F5C1B12647AC}"/>
              </a:ext>
            </a:extLst>
          </p:cNvPr>
          <p:cNvSpPr txBox="1"/>
          <p:nvPr/>
        </p:nvSpPr>
        <p:spPr>
          <a:xfrm>
            <a:off x="124104" y="994901"/>
            <a:ext cx="4359910" cy="371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1390"/>
              </a:lnSpc>
            </a:pP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y</a:t>
            </a:r>
            <a:r>
              <a:rPr sz="1200" i="1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k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).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chemeClr val="bg1"/>
                </a:solidFill>
                <a:latin typeface="Arial"/>
                <a:cs typeface="Arial"/>
              </a:rPr>
              <a:t>Place</a:t>
            </a:r>
            <a:r>
              <a:rPr sz="1200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all</a:t>
            </a:r>
            <a:r>
              <a:rPr sz="1200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chemeClr val="bg1"/>
                </a:solidFill>
                <a:latin typeface="Arial"/>
                <a:cs typeface="Arial"/>
              </a:rPr>
              <a:t>eigenvalues</a:t>
            </a:r>
            <a:r>
              <a:rPr sz="1200" spc="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of</a:t>
            </a:r>
            <a:r>
              <a:rPr sz="1200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an</a:t>
            </a:r>
            <a:r>
              <a:rPr sz="1200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b="1" spc="-45" dirty="0">
                <a:solidFill>
                  <a:schemeClr val="bg1"/>
                </a:solidFill>
                <a:latin typeface="Arial"/>
                <a:cs typeface="Arial"/>
              </a:rPr>
              <a:t>observer</a:t>
            </a:r>
            <a:r>
              <a:rPr sz="1200" b="1" spc="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chemeClr val="bg1"/>
                </a:solidFill>
                <a:latin typeface="Arial"/>
                <a:cs typeface="Arial"/>
              </a:rPr>
              <a:t>with</a:t>
            </a:r>
            <a:r>
              <a:rPr sz="1200" b="1" spc="7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chemeClr val="bg1"/>
                </a:solidFill>
                <a:latin typeface="Arial"/>
                <a:cs typeface="Arial"/>
              </a:rPr>
              <a:t>predictor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50800">
              <a:lnSpc>
                <a:spcPts val="1395"/>
              </a:lnSpc>
            </a:pP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at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origin.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4" name="object 34">
            <a:extLst>
              <a:ext uri="{FF2B5EF4-FFF2-40B4-BE49-F238E27FC236}">
                <a16:creationId xmlns:a16="http://schemas.microsoft.com/office/drawing/2014/main" id="{866AE151-36AC-FB0C-56F4-8C0BA3AC81C5}"/>
              </a:ext>
            </a:extLst>
          </p:cNvPr>
          <p:cNvSpPr txBox="1"/>
          <p:nvPr/>
        </p:nvSpPr>
        <p:spPr>
          <a:xfrm>
            <a:off x="110528" y="2629596"/>
            <a:ext cx="3997960" cy="574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det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-65" dirty="0">
                <a:solidFill>
                  <a:schemeClr val="bg1"/>
                </a:solidFill>
                <a:latin typeface="Arial"/>
                <a:cs typeface="Arial"/>
              </a:rPr>
              <a:t>LCA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65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i="1" spc="65" dirty="0">
                <a:solidFill>
                  <a:schemeClr val="bg1"/>
                </a:solidFill>
                <a:latin typeface="Arial"/>
                <a:cs typeface="Arial"/>
              </a:rPr>
              <a:t>I</a:t>
            </a:r>
            <a:r>
              <a:rPr sz="1200" i="1" spc="-1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150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spc="-3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spc="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0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100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spc="1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spc="150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100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spc="1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155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i="1" spc="-2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sz="1200" spc="15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(1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3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baseline="-13888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spc="157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spc="-30" baseline="-13888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3</a:t>
            </a:r>
            <a:r>
              <a:rPr sz="1200" spc="5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1)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20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spc="-3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spc="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100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spc="1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155" dirty="0">
                <a:solidFill>
                  <a:schemeClr val="bg1"/>
                </a:solidFill>
                <a:latin typeface="Times New Roman"/>
                <a:cs typeface="Times New Roman"/>
              </a:rPr>
              <a:t>λ</a:t>
            </a:r>
            <a:r>
              <a:rPr sz="1200" i="1" spc="-10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(1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200" spc="-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spc="14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200" dirty="0">
                <a:solidFill>
                  <a:schemeClr val="bg1"/>
                </a:solidFill>
                <a:latin typeface="Menlo"/>
                <a:cs typeface="Menlo"/>
              </a:rPr>
              <a:t>−</a:t>
            </a:r>
            <a:r>
              <a:rPr sz="1200" i="1" spc="-455" dirty="0">
                <a:solidFill>
                  <a:schemeClr val="bg1"/>
                </a:solidFill>
                <a:latin typeface="Menlo"/>
                <a:cs typeface="Menlo"/>
              </a:rPr>
              <a:t> </a:t>
            </a:r>
            <a:r>
              <a:rPr sz="1200" i="1" spc="-25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spc="-37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spc="-20" dirty="0">
                <a:solidFill>
                  <a:schemeClr val="bg1"/>
                </a:solidFill>
                <a:latin typeface="Arial"/>
                <a:cs typeface="Arial"/>
              </a:rPr>
              <a:t>roots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chemeClr val="bg1"/>
                </a:solidFill>
                <a:latin typeface="Arial"/>
                <a:cs typeface="Arial"/>
              </a:rPr>
              <a:t>must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chemeClr val="bg1"/>
                </a:solidFill>
                <a:latin typeface="Arial"/>
                <a:cs typeface="Arial"/>
              </a:rPr>
              <a:t>be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all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145" dirty="0">
                <a:solidFill>
                  <a:schemeClr val="bg1"/>
                </a:solidFill>
                <a:latin typeface="Menlo"/>
                <a:cs typeface="Menlo"/>
              </a:rPr>
              <a:t>⇒</a:t>
            </a:r>
            <a:r>
              <a:rPr sz="1200" i="1" spc="145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spc="217" baseline="-13888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200" spc="172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1,</a:t>
            </a:r>
            <a:r>
              <a:rPr sz="12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2</a:t>
            </a:r>
            <a:r>
              <a:rPr sz="1200" spc="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r>
              <a:rPr sz="1200" baseline="-13888" dirty="0">
                <a:solidFill>
                  <a:schemeClr val="bg1"/>
                </a:solidFill>
                <a:latin typeface="Arial"/>
                <a:cs typeface="Arial"/>
              </a:rPr>
              <a:t>3</a:t>
            </a:r>
            <a:r>
              <a:rPr sz="1200" spc="165" baseline="-13888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0.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AF5369E6-9893-0D7E-8F1B-2336F8DC6ED0}"/>
                  </a:ext>
                </a:extLst>
              </p:cNvPr>
              <p:cNvSpPr txBox="1"/>
              <p:nvPr/>
            </p:nvSpPr>
            <p:spPr>
              <a:xfrm>
                <a:off x="437159" y="321568"/>
                <a:ext cx="3733800" cy="68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+1)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+1)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+1)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AF5369E6-9893-0D7E-8F1B-2336F8DC6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59" y="321568"/>
                <a:ext cx="3733800" cy="688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14EAC6BD-4EE6-634F-615D-B8A243B84962}"/>
                  </a:ext>
                </a:extLst>
              </p:cNvPr>
              <p:cNvSpPr txBox="1"/>
              <p:nvPr/>
            </p:nvSpPr>
            <p:spPr>
              <a:xfrm>
                <a:off x="437159" y="1380873"/>
                <a:ext cx="3733800" cy="12662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𝐿𝐶𝐴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 algn="l"/>
                <a:r>
                  <a:rPr lang="en-US" altLang="zh-CN" sz="1200" b="0" dirty="0">
                    <a:solidFill>
                      <a:schemeClr val="bg1"/>
                    </a:solidFill>
                  </a:rPr>
                  <a:t>                    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1)</m:t>
                              </m:r>
                              <m:sSub>
                                <m:sSubPr>
                                  <m:ctrlPr>
                                    <a:rPr lang="en-US" altLang="zh-CN" sz="12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2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14EAC6BD-4EE6-634F-615D-B8A243B84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59" y="1380873"/>
                <a:ext cx="3733800" cy="12662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5928" y="549742"/>
            <a:ext cx="7721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191919"/>
                </a:solidFill>
              </a:rPr>
              <a:t>1.</a:t>
            </a:r>
            <a:r>
              <a:rPr sz="1200" spc="80" dirty="0">
                <a:solidFill>
                  <a:srgbClr val="191919"/>
                </a:solidFill>
              </a:rPr>
              <a:t> </a:t>
            </a:r>
            <a:r>
              <a:rPr sz="1200" spc="-75" dirty="0">
                <a:solidFill>
                  <a:srgbClr val="191919"/>
                </a:solidFill>
                <a:hlinkClick r:id="rId2" action="ppaction://hlinksldjump"/>
              </a:rPr>
              <a:t>Concepts</a:t>
            </a:r>
            <a:endParaRPr sz="1200"/>
          </a:p>
        </p:txBody>
      </p:sp>
      <p:sp>
        <p:nvSpPr>
          <p:cNvPr id="4" name="object 4"/>
          <p:cNvSpPr txBox="1"/>
          <p:nvPr/>
        </p:nvSpPr>
        <p:spPr>
          <a:xfrm>
            <a:off x="135928" y="1035758"/>
            <a:ext cx="2661920" cy="154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AutoNum type="arabicPeriod" startAt="2"/>
              <a:tabLst>
                <a:tab pos="1936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Continuous-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time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7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Luenberger</a:t>
            </a:r>
            <a:r>
              <a:rPr sz="1200" spc="2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5"/>
              </a:spcBef>
              <a:buAutoNum type="arabicPeriod" startAt="2"/>
            </a:pPr>
            <a:endParaRPr sz="1200">
              <a:latin typeface="Arial"/>
              <a:cs typeface="Arial"/>
            </a:endParaRPr>
          </a:p>
          <a:p>
            <a:pPr marL="193040" marR="910590" indent="-180975">
              <a:lnSpc>
                <a:spcPct val="100000"/>
              </a:lnSpc>
              <a:buAutoNum type="arabicPeriod" startAt="2"/>
              <a:tabLst>
                <a:tab pos="384175" algn="l"/>
              </a:tabLst>
            </a:pPr>
            <a:r>
              <a:rPr sz="1200" spc="-55" dirty="0">
                <a:solidFill>
                  <a:srgbClr val="191919"/>
                </a:solidFill>
                <a:latin typeface="Arial"/>
                <a:cs typeface="Arial"/>
                <a:hlinkClick r:id="" action="ppaction://noaction"/>
              </a:rPr>
              <a:t>Discrete-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" action="ppaction://noaction"/>
              </a:rPr>
              <a:t>time</a:t>
            </a:r>
            <a:r>
              <a:rPr sz="1200" spc="15" dirty="0">
                <a:solidFill>
                  <a:srgbClr val="191919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" action="ppaction://noaction"/>
              </a:rPr>
              <a:t>observers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</a:rPr>
              <a:t> 	</a:t>
            </a:r>
            <a:r>
              <a:rPr sz="120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DT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full</a:t>
            </a:r>
            <a:r>
              <a:rPr sz="1200" spc="2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state</a:t>
            </a:r>
            <a:r>
              <a:rPr sz="1200" spc="1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9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observer</a:t>
            </a:r>
            <a:endParaRPr sz="1200">
              <a:latin typeface="Arial"/>
              <a:cs typeface="Arial"/>
            </a:endParaRPr>
          </a:p>
          <a:p>
            <a:pPr marL="384175">
              <a:lnSpc>
                <a:spcPct val="100000"/>
              </a:lnSpc>
              <a:spcBef>
                <a:spcPts val="10"/>
              </a:spcBef>
            </a:pPr>
            <a:r>
              <a:rPr sz="120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DT</a:t>
            </a:r>
            <a:r>
              <a:rPr sz="1200" spc="2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full</a:t>
            </a:r>
            <a:r>
              <a:rPr sz="1200" spc="2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2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state</a:t>
            </a:r>
            <a:r>
              <a:rPr sz="1200" spc="2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8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observer</a:t>
            </a:r>
            <a:r>
              <a:rPr sz="1200" spc="2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with</a:t>
            </a:r>
            <a:r>
              <a:rPr sz="1200" spc="20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35" dirty="0">
                <a:solidFill>
                  <a:srgbClr val="333333"/>
                </a:solidFill>
                <a:latin typeface="Arial"/>
                <a:cs typeface="Arial"/>
                <a:hlinkClick r:id="" action="ppaction://noaction"/>
              </a:rPr>
              <a:t>predictor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5"/>
              </a:spcBef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 startAt="4"/>
              <a:tabLst>
                <a:tab pos="193675" algn="l"/>
              </a:tabLst>
            </a:pPr>
            <a:r>
              <a:rPr sz="1200" spc="-9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feedback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23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75" dirty="0"/>
              <a:t>state</a:t>
            </a:r>
            <a:r>
              <a:rPr spc="20" dirty="0"/>
              <a:t> </a:t>
            </a:r>
            <a:r>
              <a:rPr spc="-120" dirty="0"/>
              <a:t>feedback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123228" y="608924"/>
                <a:ext cx="4385310" cy="2430537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254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given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dynamics: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765935" marR="1788160" indent="1905">
                  <a:lnSpc>
                    <a:spcPct val="121100"/>
                  </a:lnSpc>
                  <a:spcBef>
                    <a:spcPts val="894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Bu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2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322580" marR="43180" indent="-19304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7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state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feedback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control:</a:t>
                </a:r>
                <a:r>
                  <a:rPr lang="en-US" sz="1200" spc="1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arbitrary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eigenvalue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assignment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system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controllable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22580" marR="296545" indent="-193040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9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design:</a:t>
                </a:r>
                <a:r>
                  <a:rPr lang="en-US" sz="1200" spc="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arbitrary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observer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eigenvalue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assignment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for state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estimation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observable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22580" marR="130810" indent="-193040">
                  <a:lnSpc>
                    <a:spcPct val="100000"/>
                  </a:lnSpc>
                  <a:spcBef>
                    <a:spcPts val="61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6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when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full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states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are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not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available,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what’s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performance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we 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combine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both?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7175" algn="ctr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Arial"/>
                    <a:cs typeface="Arial"/>
                  </a:rPr>
                  <a:t>K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28" y="608924"/>
                <a:ext cx="4385310" cy="2430537"/>
              </a:xfrm>
              <a:prstGeom prst="rect">
                <a:avLst/>
              </a:prstGeom>
              <a:blipFill>
                <a:blip r:embed="rId2"/>
                <a:stretch>
                  <a:fillRect l="-1528" t="-1754"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24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5" dirty="0"/>
              <a:t>Closed-</a:t>
            </a:r>
            <a:r>
              <a:rPr spc="-85" dirty="0"/>
              <a:t>loop</a:t>
            </a:r>
            <a:r>
              <a:rPr spc="40" dirty="0"/>
              <a:t> </a:t>
            </a:r>
            <a:r>
              <a:rPr spc="-120" dirty="0"/>
              <a:t>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3"/>
              <p:cNvSpPr txBox="1"/>
              <p:nvPr/>
            </p:nvSpPr>
            <p:spPr>
              <a:xfrm>
                <a:off x="215442" y="365011"/>
                <a:ext cx="3461208" cy="1307794"/>
              </a:xfrm>
              <a:prstGeom prst="rect">
                <a:avLst/>
              </a:prstGeom>
            </p:spPr>
            <p:txBody>
              <a:bodyPr vert="horz" wrap="square" lIns="0" tIns="1117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88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4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full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closed-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loop</a:t>
                </a:r>
                <a:r>
                  <a:rPr lang="en-US" sz="1200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87475" marR="906144" indent="1905">
                  <a:lnSpc>
                    <a:spcPct val="121100"/>
                  </a:lnSpc>
                  <a:spcBef>
                    <a:spcPts val="47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Bu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90015">
                  <a:lnSpc>
                    <a:spcPct val="100000"/>
                  </a:lnSpc>
                  <a:spcBef>
                    <a:spcPts val="5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200" b="0" i="1" spc="-58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sz="1200" b="0" i="1" spc="-585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200" b="0" i="1" spc="-585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 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7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3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8874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lang="en-US" sz="1200" i="1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Arial"/>
                    <a:cs typeface="Arial"/>
                  </a:rPr>
                  <a:t>K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365011"/>
                <a:ext cx="3461208" cy="1307794"/>
              </a:xfrm>
              <a:prstGeom prst="rect">
                <a:avLst/>
              </a:prstGeom>
              <a:blipFill>
                <a:blip r:embed="rId2"/>
                <a:stretch>
                  <a:fillRect l="-1460" b="-4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bject 14"/>
          <p:cNvSpPr txBox="1"/>
          <p:nvPr/>
        </p:nvSpPr>
        <p:spPr>
          <a:xfrm>
            <a:off x="240842" y="2393566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3260" y="2409378"/>
            <a:ext cx="194818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using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again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similarity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transform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25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49A523CE-FEBA-81DB-548D-34B8AE5EB560}"/>
              </a:ext>
            </a:extLst>
          </p:cNvPr>
          <p:cNvSpPr txBox="1"/>
          <p:nvPr/>
        </p:nvSpPr>
        <p:spPr>
          <a:xfrm>
            <a:off x="524535" y="1951632"/>
            <a:ext cx="17716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409" dirty="0">
                <a:solidFill>
                  <a:schemeClr val="bg1"/>
                </a:solidFill>
                <a:latin typeface="Menlo"/>
                <a:cs typeface="Menlo"/>
              </a:rPr>
              <a:t>⇒</a:t>
            </a:r>
            <a:endParaRPr sz="1200">
              <a:solidFill>
                <a:schemeClr val="bg1"/>
              </a:solidFill>
              <a:latin typeface="Menlo"/>
              <a:cs typeface="Menlo"/>
            </a:endParaRPr>
          </a:p>
        </p:txBody>
      </p:sp>
      <p:sp>
        <p:nvSpPr>
          <p:cNvPr id="40" name="object 25">
            <a:extLst>
              <a:ext uri="{FF2B5EF4-FFF2-40B4-BE49-F238E27FC236}">
                <a16:creationId xmlns:a16="http://schemas.microsoft.com/office/drawing/2014/main" id="{A0D83AA8-F720-8253-EA85-BDFF3E843F54}"/>
              </a:ext>
            </a:extLst>
          </p:cNvPr>
          <p:cNvSpPr txBox="1"/>
          <p:nvPr/>
        </p:nvSpPr>
        <p:spPr>
          <a:xfrm>
            <a:off x="3794296" y="2413705"/>
            <a:ext cx="32639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chemeClr val="bg1"/>
                </a:solidFill>
                <a:latin typeface="Arial"/>
                <a:cs typeface="Arial"/>
              </a:rPr>
              <a:t>gives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729098C6-BD7C-6E95-1967-F7E333ECA731}"/>
                  </a:ext>
                </a:extLst>
              </p:cNvPr>
              <p:cNvSpPr txBox="1"/>
              <p:nvPr/>
            </p:nvSpPr>
            <p:spPr>
              <a:xfrm>
                <a:off x="767994" y="1860945"/>
                <a:ext cx="2676758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729098C6-BD7C-6E95-1967-F7E333ECA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94" y="1860945"/>
                <a:ext cx="2676758" cy="355547"/>
              </a:xfrm>
              <a:prstGeom prst="rect">
                <a:avLst/>
              </a:prstGeom>
              <a:blipFill>
                <a:blip r:embed="rId4"/>
                <a:stretch>
                  <a:fillRect l="-911" t="-3390" b="-135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B3DBE16-1B60-F168-21B6-8C6820024BAD}"/>
                  </a:ext>
                </a:extLst>
              </p:cNvPr>
              <p:cNvSpPr txBox="1"/>
              <p:nvPr/>
            </p:nvSpPr>
            <p:spPr>
              <a:xfrm>
                <a:off x="2430348" y="2339975"/>
                <a:ext cx="1315040" cy="3429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B3DBE16-1B60-F168-21B6-8C6820024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348" y="2339975"/>
                <a:ext cx="1315040" cy="342914"/>
              </a:xfrm>
              <a:prstGeom prst="rect">
                <a:avLst/>
              </a:prstGeom>
              <a:blipFill>
                <a:blip r:embed="rId5"/>
                <a:stretch>
                  <a:fillRect t="-1786" r="-13953" b="-89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0523C91-7D5F-71B9-A974-D77B5D1ECC20}"/>
                  </a:ext>
                </a:extLst>
              </p:cNvPr>
              <p:cNvSpPr txBox="1"/>
              <p:nvPr/>
            </p:nvSpPr>
            <p:spPr>
              <a:xfrm>
                <a:off x="1009650" y="2768577"/>
                <a:ext cx="2596160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0523C91-7D5F-71B9-A974-D77B5D1ECC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650" y="2768577"/>
                <a:ext cx="2596160" cy="355547"/>
              </a:xfrm>
              <a:prstGeom prst="rect">
                <a:avLst/>
              </a:prstGeom>
              <a:blipFill>
                <a:blip r:embed="rId6"/>
                <a:stretch>
                  <a:fillRect l="-939" t="-3448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2"/>
              <p:cNvSpPr txBox="1"/>
              <p:nvPr/>
            </p:nvSpPr>
            <p:spPr>
              <a:xfrm>
                <a:off x="82600" y="60916"/>
                <a:ext cx="3056255" cy="824649"/>
              </a:xfrm>
              <a:prstGeom prst="rect">
                <a:avLst/>
              </a:prstGeom>
            </p:spPr>
            <p:txBody>
              <a:bodyPr vert="horz" wrap="square" lIns="0" tIns="15240" rIns="0" bIns="0" rtlCol="0">
                <a:spAutoFit/>
              </a:bodyPr>
              <a:lstStyle/>
              <a:p>
                <a:pPr marL="25400">
                  <a:lnSpc>
                    <a:spcPct val="100000"/>
                  </a:lnSpc>
                  <a:spcBef>
                    <a:spcPts val="120"/>
                  </a:spcBef>
                </a:pPr>
                <a:r>
                  <a:rPr lang="en-US" sz="1700" spc="-55" dirty="0">
                    <a:solidFill>
                      <a:srgbClr val="E5E5E5"/>
                    </a:solidFill>
                    <a:latin typeface="Arial"/>
                    <a:cs typeface="Arial"/>
                  </a:rPr>
                  <a:t>Block</a:t>
                </a:r>
                <a:r>
                  <a:rPr lang="en-US" sz="1700" spc="-30" dirty="0">
                    <a:solidFill>
                      <a:srgbClr val="E5E5E5"/>
                    </a:solidFill>
                    <a:latin typeface="Arial"/>
                    <a:cs typeface="Arial"/>
                  </a:rPr>
                  <a:t> </a:t>
                </a:r>
                <a:r>
                  <a:rPr lang="en-US" sz="1700" spc="-10" dirty="0">
                    <a:solidFill>
                      <a:srgbClr val="E5E5E5"/>
                    </a:solidFill>
                    <a:latin typeface="Arial"/>
                    <a:cs typeface="Arial"/>
                  </a:rPr>
                  <a:t>diagram</a:t>
                </a:r>
                <a:endParaRPr lang="en-US" sz="17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715"/>
                  </a:spcBef>
                </a:pPr>
                <a:endParaRPr lang="en-US" sz="1700" dirty="0">
                  <a:latin typeface="Arial"/>
                  <a:cs typeface="Arial"/>
                </a:endParaRPr>
              </a:p>
              <a:p>
                <a:pPr marL="170815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 </a:t>
                </a:r>
                <a:r>
                  <a:rPr lang="en-US" altLang="zh-CN" sz="1200" b="0" spc="-585" dirty="0">
                    <a:solidFill>
                      <a:srgbClr val="FFFFFF"/>
                    </a:solidFill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58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altLang="zh-CN" sz="1200" b="0" i="1" spc="-585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altLang="zh-CN" sz="1200" b="0" i="1" spc="-585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altLang="zh-CN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Bu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solidFill>
                      <a:srgbClr val="FFFFFF"/>
                    </a:solidFill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5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70" dirty="0">
                    <a:solidFill>
                      <a:srgbClr val="FFFFFF"/>
                    </a:solidFill>
                    <a:latin typeface="Arial"/>
                    <a:cs typeface="Arial"/>
                  </a:rPr>
                  <a:t>),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Menlo"/>
                    <a:cs typeface="Menlo"/>
                  </a:rPr>
                  <a:t>−</a:t>
                </a:r>
                <a:r>
                  <a:rPr lang="en-US" sz="1200" i="1" spc="100" dirty="0">
                    <a:solidFill>
                      <a:srgbClr val="FFFFFF"/>
                    </a:solidFill>
                    <a:latin typeface="Arial"/>
                    <a:cs typeface="Arial"/>
                  </a:rPr>
                  <a:t>K</a:t>
                </a:r>
                <a:r>
                  <a:rPr lang="en-US" sz="1200" i="1" spc="-19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" name="objec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0" y="60916"/>
                <a:ext cx="3056255" cy="824649"/>
              </a:xfrm>
              <a:prstGeom prst="rect">
                <a:avLst/>
              </a:prstGeom>
              <a:blipFill>
                <a:blip r:embed="rId2"/>
                <a:stretch>
                  <a:fillRect l="-3593" t="-6667" r="-1198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5248" y="1003945"/>
            <a:ext cx="3017604" cy="189735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26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60" dirty="0"/>
              <a:t>The</a:t>
            </a:r>
            <a:r>
              <a:rPr spc="-5" dirty="0"/>
              <a:t> </a:t>
            </a:r>
            <a:r>
              <a:rPr spc="-120" dirty="0"/>
              <a:t>separation</a:t>
            </a:r>
            <a:r>
              <a:rPr dirty="0"/>
              <a:t> </a:t>
            </a:r>
            <a:r>
              <a:rPr spc="-100" dirty="0"/>
              <a:t>theorem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521802"/>
            <a:ext cx="18610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15442" y="1357894"/>
            <a:ext cx="4337851" cy="1856739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230504" marR="698500" indent="-193040">
              <a:lnSpc>
                <a:spcPts val="1350"/>
              </a:lnSpc>
              <a:spcBef>
                <a:spcPts val="2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30" dirty="0">
                <a:solidFill>
                  <a:srgbClr val="FFFFFF"/>
                </a:solidFill>
                <a:latin typeface="Arial"/>
                <a:cs typeface="Arial"/>
              </a:rPr>
              <a:t>powerful</a:t>
            </a:r>
            <a:r>
              <a:rPr sz="1200" b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result:</a:t>
            </a:r>
            <a:r>
              <a:rPr sz="1200" b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separation</a:t>
            </a:r>
            <a:r>
              <a:rPr sz="1200" b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theorem:</a:t>
            </a:r>
            <a:r>
              <a:rPr sz="1200" b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loop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consist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endParaRPr sz="1200" dirty="0">
              <a:latin typeface="Arial"/>
              <a:cs typeface="Arial"/>
            </a:endParaRPr>
          </a:p>
          <a:p>
            <a:pPr marL="345440">
              <a:lnSpc>
                <a:spcPct val="100000"/>
              </a:lnSpc>
              <a:spcBef>
                <a:spcPts val="1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i="1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100" i="1" spc="-42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BK</a:t>
            </a:r>
            <a:r>
              <a:rPr sz="1100" i="1" spc="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design</a:t>
            </a:r>
            <a:endParaRPr sz="1100" dirty="0">
              <a:latin typeface="Arial"/>
              <a:cs typeface="Arial"/>
            </a:endParaRPr>
          </a:p>
          <a:p>
            <a:pPr marL="3454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i="1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175" dirty="0">
                <a:solidFill>
                  <a:srgbClr val="FFFFFF"/>
                </a:solidFill>
                <a:latin typeface="Menlo"/>
                <a:cs typeface="Menlo"/>
              </a:rPr>
              <a:t>−</a:t>
            </a:r>
            <a:r>
              <a:rPr sz="1100" i="1" spc="-42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LC</a:t>
            </a:r>
            <a:r>
              <a:rPr sz="1100" i="1" spc="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design</a:t>
            </a:r>
            <a:endParaRPr sz="11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2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design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1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</a:t>
            </a:r>
            <a:r>
              <a:rPr sz="12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separately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based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discussed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tools</a:t>
            </a:r>
            <a:endParaRPr sz="1200" dirty="0">
              <a:latin typeface="Arial"/>
              <a:cs typeface="Arial"/>
            </a:endParaRPr>
          </a:p>
          <a:p>
            <a:pPr marL="230504" marR="30480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observable,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arbitrarily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assign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endParaRPr sz="1200" dirty="0">
              <a:latin typeface="Arial"/>
              <a:cs typeface="Arial"/>
            </a:endParaRPr>
          </a:p>
          <a:p>
            <a:pPr marL="230504" marR="428625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rule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thumb:</a:t>
            </a:r>
            <a:r>
              <a:rPr sz="1200" spc="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assign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observer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faster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than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state-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E453982-9D23-9A58-2159-6AA3A9340882}"/>
                  </a:ext>
                </a:extLst>
              </p:cNvPr>
              <p:cNvSpPr txBox="1"/>
              <p:nvPr/>
            </p:nvSpPr>
            <p:spPr>
              <a:xfrm>
                <a:off x="1005979" y="785684"/>
                <a:ext cx="2596160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E453982-9D23-9A58-2159-6AA3A9340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79" y="785684"/>
                <a:ext cx="2596160" cy="355547"/>
              </a:xfrm>
              <a:prstGeom prst="rect">
                <a:avLst/>
              </a:prstGeom>
              <a:blipFill>
                <a:blip r:embed="rId3"/>
                <a:stretch>
                  <a:fillRect l="-704" t="-3448" r="-235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</TotalTime>
  <Words>2825</Words>
  <Application>Microsoft Macintosh PowerPoint</Application>
  <PresentationFormat>Custom</PresentationFormat>
  <Paragraphs>316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 Unicode MS</vt:lpstr>
      <vt:lpstr>Arial</vt:lpstr>
      <vt:lpstr>Cambria Math</vt:lpstr>
      <vt:lpstr>Hack</vt:lpstr>
      <vt:lpstr>Menlo</vt:lpstr>
      <vt:lpstr>Times New Roman</vt:lpstr>
      <vt:lpstr>Office Theme</vt:lpstr>
      <vt:lpstr>Observer and Observer State Feedback</vt:lpstr>
      <vt:lpstr>Introduction</vt:lpstr>
      <vt:lpstr>Open-loop observer</vt:lpstr>
      <vt:lpstr>Luenberger (closed-loop) observer concept</vt:lpstr>
      <vt:lpstr>Luenberger (closed-loop) observer algorithm</vt:lpstr>
      <vt:lpstr>Luenberger (closed-loop) observer error dynamics</vt:lpstr>
      <vt:lpstr>Luenberger (closed-loop) observer</vt:lpstr>
      <vt:lpstr>Observer eigenvalue placement: o.c.f.</vt:lpstr>
      <vt:lpstr>Observer eigenvalue placement: o.c.f.</vt:lpstr>
      <vt:lpstr>Observer eigenvalue placement: o.c.f.</vt:lpstr>
      <vt:lpstr>General observer eigenvalue placement</vt:lpstr>
      <vt:lpstr>General observer eigenvalue placement</vt:lpstr>
      <vt:lpstr>PowerPoint Presentation</vt:lpstr>
      <vt:lpstr>PowerPoint Presentation</vt:lpstr>
      <vt:lpstr>PowerPoint Presentation</vt:lpstr>
      <vt:lpstr>Luenberger observer summary</vt:lpstr>
      <vt:lpstr>Luenberger observer summary</vt:lpstr>
      <vt:lpstr>Discrete-time observers: Introduction</vt:lpstr>
      <vt:lpstr>Discrete-time full state observer</vt:lpstr>
      <vt:lpstr>DT full state observer with predictor</vt:lpstr>
      <vt:lpstr>DT full state observer with predictor</vt:lpstr>
      <vt:lpstr>Example</vt:lpstr>
      <vt:lpstr>1. Concepts</vt:lpstr>
      <vt:lpstr>Observer state feedback</vt:lpstr>
      <vt:lpstr>Closed-loop dynamics</vt:lpstr>
      <vt:lpstr>PowerPoint Presentation</vt:lpstr>
      <vt:lpstr>The separation theorem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Xu Chen</cp:lastModifiedBy>
  <cp:revision>2</cp:revision>
  <dcterms:created xsi:type="dcterms:W3CDTF">2025-07-12T07:57:55Z</dcterms:created>
  <dcterms:modified xsi:type="dcterms:W3CDTF">2025-11-24T07:43:09Z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2025-01-17T00:00:00Z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