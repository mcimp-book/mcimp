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2" r:id="rId4"/>
    <p:sldId id="264" r:id="rId5"/>
    <p:sldId id="266" r:id="rId6"/>
    <p:sldId id="270" r:id="rId7"/>
    <p:sldId id="274" r:id="rId8"/>
    <p:sldId id="276" r:id="rId9"/>
    <p:sldId id="278" r:id="rId10"/>
    <p:sldId id="281" r:id="rId11"/>
    <p:sldId id="286" r:id="rId12"/>
    <p:sldId id="287" r:id="rId13"/>
    <p:sldId id="288" r:id="rId14"/>
    <p:sldId id="289" r:id="rId15"/>
    <p:sldId id="290" r:id="rId16"/>
    <p:sldId id="292" r:id="rId17"/>
    <p:sldId id="295" r:id="rId18"/>
    <p:sldId id="297" r:id="rId19"/>
    <p:sldId id="301" r:id="rId20"/>
    <p:sldId id="304" r:id="rId21"/>
    <p:sldId id="307" r:id="rId22"/>
    <p:sldId id="308" r:id="rId23"/>
    <p:sldId id="309" r:id="rId24"/>
    <p:sldId id="312" r:id="rId25"/>
    <p:sldId id="315" r:id="rId26"/>
    <p:sldId id="316" r:id="rId27"/>
    <p:sldId id="320" r:id="rId2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6EDC5-4FC6-4BC7-A614-26FCB73D2EC2}" v="1792" dt="2025-11-22T05:56:49.37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240" d="100"/>
          <a:sy n="240" d="100"/>
        </p:scale>
        <p:origin x="192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an Cheng" userId="b14087c0-bac9-44dd-b3f8-5d50e1ee75e5" providerId="ADAL" clId="{75A9BF88-81BC-4677-82BB-DF96F3D360A6}"/>
    <pc:docChg chg="undo redo custSel addSld delSld modSld">
      <pc:chgData name="Shuan Cheng" userId="b14087c0-bac9-44dd-b3f8-5d50e1ee75e5" providerId="ADAL" clId="{75A9BF88-81BC-4677-82BB-DF96F3D360A6}" dt="2025-11-22T05:56:51.496" v="2187" actId="114"/>
      <pc:docMkLst>
        <pc:docMk/>
      </pc:docMkLst>
      <pc:sldChg chg="modSp add del mod">
        <pc:chgData name="Shuan Cheng" userId="b14087c0-bac9-44dd-b3f8-5d50e1ee75e5" providerId="ADAL" clId="{75A9BF88-81BC-4677-82BB-DF96F3D360A6}" dt="2025-11-21T02:20:27.099" v="96" actId="14100"/>
        <pc:sldMkLst>
          <pc:docMk/>
          <pc:sldMk cId="0" sldId="262"/>
        </pc:sldMkLst>
        <pc:spChg chg="mod">
          <ac:chgData name="Shuan Cheng" userId="b14087c0-bac9-44dd-b3f8-5d50e1ee75e5" providerId="ADAL" clId="{75A9BF88-81BC-4677-82BB-DF96F3D360A6}" dt="2025-11-21T02:19:28.275" v="80" actId="103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1T02:20:27.099" v="96" actId="14100"/>
          <ac:spMkLst>
            <pc:docMk/>
            <pc:sldMk cId="0" sldId="262"/>
            <ac:spMk id="11" creationId="{00000000-0000-0000-0000-000000000000}"/>
          </ac:spMkLst>
        </pc:spChg>
      </pc:sldChg>
      <pc:sldChg chg="modSp add del mod">
        <pc:chgData name="Shuan Cheng" userId="b14087c0-bac9-44dd-b3f8-5d50e1ee75e5" providerId="ADAL" clId="{75A9BF88-81BC-4677-82BB-DF96F3D360A6}" dt="2025-11-22T05:56:20.755" v="2184" actId="114"/>
        <pc:sldMkLst>
          <pc:docMk/>
          <pc:sldMk cId="0" sldId="264"/>
        </pc:sldMkLst>
        <pc:spChg chg="mod">
          <ac:chgData name="Shuan Cheng" userId="b14087c0-bac9-44dd-b3f8-5d50e1ee75e5" providerId="ADAL" clId="{75A9BF88-81BC-4677-82BB-DF96F3D360A6}" dt="2025-11-22T05:56:20.755" v="2184" actId="11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Shuan Cheng" userId="b14087c0-bac9-44dd-b3f8-5d50e1ee75e5" providerId="ADAL" clId="{75A9BF88-81BC-4677-82BB-DF96F3D360A6}" dt="2025-11-21T02:24:20.885" v="187" actId="20577"/>
        <pc:sldMkLst>
          <pc:docMk/>
          <pc:sldMk cId="0" sldId="266"/>
        </pc:sldMkLst>
        <pc:spChg chg="mod">
          <ac:chgData name="Shuan Cheng" userId="b14087c0-bac9-44dd-b3f8-5d50e1ee75e5" providerId="ADAL" clId="{75A9BF88-81BC-4677-82BB-DF96F3D360A6}" dt="2025-11-21T02:24:20.885" v="187" actId="20577"/>
          <ac:spMkLst>
            <pc:docMk/>
            <pc:sldMk cId="0" sldId="266"/>
            <ac:spMk id="7" creationId="{00000000-0000-0000-0000-000000000000}"/>
          </ac:spMkLst>
        </pc:spChg>
      </pc:sldChg>
      <pc:sldChg chg="modSp add del mod">
        <pc:chgData name="Shuan Cheng" userId="b14087c0-bac9-44dd-b3f8-5d50e1ee75e5" providerId="ADAL" clId="{75A9BF88-81BC-4677-82BB-DF96F3D360A6}" dt="2025-11-22T05:56:51.496" v="2187" actId="114"/>
        <pc:sldMkLst>
          <pc:docMk/>
          <pc:sldMk cId="0" sldId="270"/>
        </pc:sldMkLst>
        <pc:spChg chg="mod">
          <ac:chgData name="Shuan Cheng" userId="b14087c0-bac9-44dd-b3f8-5d50e1ee75e5" providerId="ADAL" clId="{75A9BF88-81BC-4677-82BB-DF96F3D360A6}" dt="2025-11-22T05:56:51.496" v="2187" actId="114"/>
          <ac:spMkLst>
            <pc:docMk/>
            <pc:sldMk cId="0" sldId="270"/>
            <ac:spMk id="3" creationId="{00000000-0000-0000-0000-000000000000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1T02:32:17.212" v="466" actId="20577"/>
        <pc:sldMkLst>
          <pc:docMk/>
          <pc:sldMk cId="0" sldId="274"/>
        </pc:sldMkLst>
        <pc:spChg chg="del">
          <ac:chgData name="Shuan Cheng" userId="b14087c0-bac9-44dd-b3f8-5d50e1ee75e5" providerId="ADAL" clId="{75A9BF88-81BC-4677-82BB-DF96F3D360A6}" dt="2025-11-21T02:27:44.520" v="201" actId="478"/>
          <ac:spMkLst>
            <pc:docMk/>
            <pc:sldMk cId="0" sldId="274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27:44.520" v="201" actId="478"/>
          <ac:spMkLst>
            <pc:docMk/>
            <pc:sldMk cId="0" sldId="274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27:44.520" v="201" actId="478"/>
          <ac:spMkLst>
            <pc:docMk/>
            <pc:sldMk cId="0" sldId="274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27:44.520" v="201" actId="478"/>
          <ac:spMkLst>
            <pc:docMk/>
            <pc:sldMk cId="0" sldId="274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27:44.520" v="201" actId="478"/>
          <ac:spMkLst>
            <pc:docMk/>
            <pc:sldMk cId="0" sldId="274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27:44.520" v="201" actId="478"/>
          <ac:spMkLst>
            <pc:docMk/>
            <pc:sldMk cId="0" sldId="274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27:44.520" v="201" actId="478"/>
          <ac:spMkLst>
            <pc:docMk/>
            <pc:sldMk cId="0" sldId="274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27:44.520" v="201" actId="478"/>
          <ac:spMkLst>
            <pc:docMk/>
            <pc:sldMk cId="0" sldId="274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27:44.520" v="201" actId="478"/>
          <ac:spMkLst>
            <pc:docMk/>
            <pc:sldMk cId="0" sldId="274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27:44.520" v="201" actId="478"/>
          <ac:spMkLst>
            <pc:docMk/>
            <pc:sldMk cId="0" sldId="274"/>
            <ac:spMk id="2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1T02:32:17.212" v="466" actId="20577"/>
          <ac:spMkLst>
            <pc:docMk/>
            <pc:sldMk cId="0" sldId="274"/>
            <ac:spMk id="26" creationId="{F228574C-2E93-7966-EA8E-A05CAF254E46}"/>
          </ac:spMkLst>
        </pc:spChg>
      </pc:sldChg>
      <pc:sldChg chg="delSp modSp add del mod">
        <pc:chgData name="Shuan Cheng" userId="b14087c0-bac9-44dd-b3f8-5d50e1ee75e5" providerId="ADAL" clId="{75A9BF88-81BC-4677-82BB-DF96F3D360A6}" dt="2025-11-21T02:37:39.102" v="489"/>
        <pc:sldMkLst>
          <pc:docMk/>
          <pc:sldMk cId="0" sldId="276"/>
        </pc:sldMkLst>
        <pc:spChg chg="del">
          <ac:chgData name="Shuan Cheng" userId="b14087c0-bac9-44dd-b3f8-5d50e1ee75e5" providerId="ADAL" clId="{75A9BF88-81BC-4677-82BB-DF96F3D360A6}" dt="2025-11-21T02:33:14.919" v="468" actId="478"/>
          <ac:spMkLst>
            <pc:docMk/>
            <pc:sldMk cId="0" sldId="276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3:14.919" v="468" actId="478"/>
          <ac:spMkLst>
            <pc:docMk/>
            <pc:sldMk cId="0" sldId="276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3:14.919" v="468" actId="478"/>
          <ac:spMkLst>
            <pc:docMk/>
            <pc:sldMk cId="0" sldId="276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3:14.919" v="468" actId="478"/>
          <ac:spMkLst>
            <pc:docMk/>
            <pc:sldMk cId="0" sldId="276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3:14.919" v="468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3:14.919" v="468" actId="478"/>
          <ac:spMkLst>
            <pc:docMk/>
            <pc:sldMk cId="0" sldId="276"/>
            <ac:spMk id="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1T02:37:39.102" v="489"/>
          <ac:spMkLst>
            <pc:docMk/>
            <pc:sldMk cId="0" sldId="276"/>
            <ac:spMk id="9" creationId="{00000000-0000-0000-0000-000000000000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1T02:45:36.252" v="618" actId="1076"/>
        <pc:sldMkLst>
          <pc:docMk/>
          <pc:sldMk cId="0" sldId="278"/>
        </pc:sldMkLst>
        <pc:spChg chg="del">
          <ac:chgData name="Shuan Cheng" userId="b14087c0-bac9-44dd-b3f8-5d50e1ee75e5" providerId="ADAL" clId="{75A9BF88-81BC-4677-82BB-DF96F3D360A6}" dt="2025-11-21T02:38:43.838" v="491" actId="478"/>
          <ac:spMkLst>
            <pc:docMk/>
            <pc:sldMk cId="0" sldId="278"/>
            <ac:spMk id="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1T02:38:53.064" v="492" actId="20577"/>
          <ac:spMkLst>
            <pc:docMk/>
            <pc:sldMk cId="0" sldId="278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8:43.838" v="491" actId="478"/>
          <ac:spMkLst>
            <pc:docMk/>
            <pc:sldMk cId="0" sldId="278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8:43.838" v="491" actId="478"/>
          <ac:spMkLst>
            <pc:docMk/>
            <pc:sldMk cId="0" sldId="278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8:43.838" v="491" actId="478"/>
          <ac:spMkLst>
            <pc:docMk/>
            <pc:sldMk cId="0" sldId="278"/>
            <ac:spMk id="3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8:43.838" v="491" actId="478"/>
          <ac:spMkLst>
            <pc:docMk/>
            <pc:sldMk cId="0" sldId="278"/>
            <ac:spMk id="3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8:43.838" v="491" actId="478"/>
          <ac:spMkLst>
            <pc:docMk/>
            <pc:sldMk cId="0" sldId="278"/>
            <ac:spMk id="3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8:43.838" v="491" actId="478"/>
          <ac:spMkLst>
            <pc:docMk/>
            <pc:sldMk cId="0" sldId="278"/>
            <ac:spMk id="4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8:43.838" v="491" actId="478"/>
          <ac:spMkLst>
            <pc:docMk/>
            <pc:sldMk cId="0" sldId="278"/>
            <ac:spMk id="4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8:43.838" v="491" actId="478"/>
          <ac:spMkLst>
            <pc:docMk/>
            <pc:sldMk cId="0" sldId="278"/>
            <ac:spMk id="5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8:43.838" v="491" actId="478"/>
          <ac:spMkLst>
            <pc:docMk/>
            <pc:sldMk cId="0" sldId="278"/>
            <ac:spMk id="55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1T02:45:36.252" v="618" actId="1076"/>
          <ac:spMkLst>
            <pc:docMk/>
            <pc:sldMk cId="0" sldId="278"/>
            <ac:spMk id="61" creationId="{3F7B8469-0A8E-D86C-4321-912BF96AB158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1T02:51:29.544" v="884" actId="20577"/>
        <pc:sldMkLst>
          <pc:docMk/>
          <pc:sldMk cId="0" sldId="281"/>
        </pc:sldMkLst>
        <pc:spChg chg="del">
          <ac:chgData name="Shuan Cheng" userId="b14087c0-bac9-44dd-b3f8-5d50e1ee75e5" providerId="ADAL" clId="{75A9BF88-81BC-4677-82BB-DF96F3D360A6}" dt="2025-11-21T02:45:26.582" v="614" actId="478"/>
          <ac:spMkLst>
            <pc:docMk/>
            <pc:sldMk cId="0" sldId="281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5:26.582" v="614" actId="478"/>
          <ac:spMkLst>
            <pc:docMk/>
            <pc:sldMk cId="0" sldId="281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5:26.582" v="614" actId="478"/>
          <ac:spMkLst>
            <pc:docMk/>
            <pc:sldMk cId="0" sldId="281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5:26.582" v="614" actId="478"/>
          <ac:spMkLst>
            <pc:docMk/>
            <pc:sldMk cId="0" sldId="281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5:26.582" v="614" actId="478"/>
          <ac:spMkLst>
            <pc:docMk/>
            <pc:sldMk cId="0" sldId="281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5:26.582" v="614" actId="478"/>
          <ac:spMkLst>
            <pc:docMk/>
            <pc:sldMk cId="0" sldId="281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5:26.582" v="614" actId="478"/>
          <ac:spMkLst>
            <pc:docMk/>
            <pc:sldMk cId="0" sldId="281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5:26.582" v="614" actId="478"/>
          <ac:spMkLst>
            <pc:docMk/>
            <pc:sldMk cId="0" sldId="281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5:26.582" v="614" actId="478"/>
          <ac:spMkLst>
            <pc:docMk/>
            <pc:sldMk cId="0" sldId="281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5:26.582" v="614" actId="478"/>
          <ac:spMkLst>
            <pc:docMk/>
            <pc:sldMk cId="0" sldId="281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6:48.334" v="654" actId="478"/>
          <ac:spMkLst>
            <pc:docMk/>
            <pc:sldMk cId="0" sldId="281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6:48.334" v="654" actId="478"/>
          <ac:spMkLst>
            <pc:docMk/>
            <pc:sldMk cId="0" sldId="281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6:48.334" v="654" actId="478"/>
          <ac:spMkLst>
            <pc:docMk/>
            <pc:sldMk cId="0" sldId="281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6:48.334" v="654" actId="478"/>
          <ac:spMkLst>
            <pc:docMk/>
            <pc:sldMk cId="0" sldId="281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6:48.334" v="654" actId="478"/>
          <ac:spMkLst>
            <pc:docMk/>
            <pc:sldMk cId="0" sldId="281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6:48.334" v="654" actId="478"/>
          <ac:spMkLst>
            <pc:docMk/>
            <pc:sldMk cId="0" sldId="281"/>
            <ac:spMk id="3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1T02:51:29.544" v="884" actId="20577"/>
          <ac:spMkLst>
            <pc:docMk/>
            <pc:sldMk cId="0" sldId="281"/>
            <ac:spMk id="34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1T02:47:51.418" v="742" actId="20577"/>
          <ac:spMkLst>
            <pc:docMk/>
            <pc:sldMk cId="0" sldId="281"/>
            <ac:spMk id="3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6:48.334" v="654" actId="478"/>
          <ac:spMkLst>
            <pc:docMk/>
            <pc:sldMk cId="0" sldId="281"/>
            <ac:spMk id="36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1T02:47:07.612" v="662" actId="478"/>
          <ac:spMkLst>
            <pc:docMk/>
            <pc:sldMk cId="0" sldId="281"/>
            <ac:spMk id="37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1T02:47:07.612" v="662" actId="478"/>
          <ac:spMkLst>
            <pc:docMk/>
            <pc:sldMk cId="0" sldId="281"/>
            <ac:spMk id="38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1T02:47:07.612" v="662" actId="478"/>
          <ac:spMkLst>
            <pc:docMk/>
            <pc:sldMk cId="0" sldId="281"/>
            <ac:spMk id="3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7:07.612" v="662" actId="478"/>
          <ac:spMkLst>
            <pc:docMk/>
            <pc:sldMk cId="0" sldId="281"/>
            <ac:spMk id="4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7:07.612" v="662" actId="478"/>
          <ac:spMkLst>
            <pc:docMk/>
            <pc:sldMk cId="0" sldId="281"/>
            <ac:spMk id="4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47:07.612" v="662" actId="478"/>
          <ac:spMkLst>
            <pc:docMk/>
            <pc:sldMk cId="0" sldId="281"/>
            <ac:spMk id="42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1T02:46:19.719" v="629" actId="1076"/>
          <ac:spMkLst>
            <pc:docMk/>
            <pc:sldMk cId="0" sldId="281"/>
            <ac:spMk id="48" creationId="{1091B57C-41D9-41A2-63DE-DA5C205D2A36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1T03:02:10.805" v="1256" actId="1076"/>
        <pc:sldMkLst>
          <pc:docMk/>
          <pc:sldMk cId="0" sldId="286"/>
        </pc:sldMkLst>
        <pc:spChg chg="mod">
          <ac:chgData name="Shuan Cheng" userId="b14087c0-bac9-44dd-b3f8-5d50e1ee75e5" providerId="ADAL" clId="{75A9BF88-81BC-4677-82BB-DF96F3D360A6}" dt="2025-11-21T02:55:22.402" v="1001" actId="14100"/>
          <ac:spMkLst>
            <pc:docMk/>
            <pc:sldMk cId="0" sldId="286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5:18.775" v="1000" actId="478"/>
          <ac:spMkLst>
            <pc:docMk/>
            <pc:sldMk cId="0" sldId="286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5:18.775" v="1000" actId="478"/>
          <ac:spMkLst>
            <pc:docMk/>
            <pc:sldMk cId="0" sldId="286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5:18.775" v="1000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5:18.775" v="1000" actId="478"/>
          <ac:spMkLst>
            <pc:docMk/>
            <pc:sldMk cId="0" sldId="286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5:18.775" v="1000" actId="478"/>
          <ac:spMkLst>
            <pc:docMk/>
            <pc:sldMk cId="0" sldId="286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5:18.775" v="1000" actId="478"/>
          <ac:spMkLst>
            <pc:docMk/>
            <pc:sldMk cId="0" sldId="286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5:18.775" v="1000" actId="478"/>
          <ac:spMkLst>
            <pc:docMk/>
            <pc:sldMk cId="0" sldId="286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5:18.775" v="1000" actId="478"/>
          <ac:spMkLst>
            <pc:docMk/>
            <pc:sldMk cId="0" sldId="286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5:18.775" v="1000" actId="478"/>
          <ac:spMkLst>
            <pc:docMk/>
            <pc:sldMk cId="0" sldId="286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5:18.775" v="1000" actId="478"/>
          <ac:spMkLst>
            <pc:docMk/>
            <pc:sldMk cId="0" sldId="286"/>
            <ac:spMk id="1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1T02:56:11.484" v="1008" actId="20577"/>
          <ac:spMkLst>
            <pc:docMk/>
            <pc:sldMk cId="0" sldId="286"/>
            <ac:spMk id="16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1T02:56:40.781" v="1049" actId="478"/>
          <ac:spMkLst>
            <pc:docMk/>
            <pc:sldMk cId="0" sldId="286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6:06.467" v="1007" actId="478"/>
          <ac:spMkLst>
            <pc:docMk/>
            <pc:sldMk cId="0" sldId="286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6:06.467" v="1007" actId="478"/>
          <ac:spMkLst>
            <pc:docMk/>
            <pc:sldMk cId="0" sldId="286"/>
            <ac:spMk id="19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1T03:02:10.805" v="1256" actId="1076"/>
          <ac:spMkLst>
            <pc:docMk/>
            <pc:sldMk cId="0" sldId="286"/>
            <ac:spMk id="25" creationId="{993BFED1-BF8B-0878-B100-5B530DE707A9}"/>
          </ac:spMkLst>
        </pc:spChg>
        <pc:spChg chg="add mod">
          <ac:chgData name="Shuan Cheng" userId="b14087c0-bac9-44dd-b3f8-5d50e1ee75e5" providerId="ADAL" clId="{75A9BF88-81BC-4677-82BB-DF96F3D360A6}" dt="2025-11-21T03:00:07.096" v="1237" actId="1076"/>
          <ac:spMkLst>
            <pc:docMk/>
            <pc:sldMk cId="0" sldId="286"/>
            <ac:spMk id="26" creationId="{5F1E9F88-0759-4038-3681-3F8D9747511A}"/>
          </ac:spMkLst>
        </pc:spChg>
      </pc:sldChg>
      <pc:sldChg chg="modSp mod">
        <pc:chgData name="Shuan Cheng" userId="b14087c0-bac9-44dd-b3f8-5d50e1ee75e5" providerId="ADAL" clId="{75A9BF88-81BC-4677-82BB-DF96F3D360A6}" dt="2025-11-21T03:07:53.006" v="1272" actId="6549"/>
        <pc:sldMkLst>
          <pc:docMk/>
          <pc:sldMk cId="0" sldId="290"/>
        </pc:sldMkLst>
        <pc:spChg chg="mod">
          <ac:chgData name="Shuan Cheng" userId="b14087c0-bac9-44dd-b3f8-5d50e1ee75e5" providerId="ADAL" clId="{75A9BF88-81BC-4677-82BB-DF96F3D360A6}" dt="2025-11-21T03:07:53.006" v="1272" actId="6549"/>
          <ac:spMkLst>
            <pc:docMk/>
            <pc:sldMk cId="0" sldId="290"/>
            <ac:spMk id="3" creationId="{00000000-0000-0000-0000-000000000000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2T05:16:44.843" v="1384" actId="114"/>
        <pc:sldMkLst>
          <pc:docMk/>
          <pc:sldMk cId="0" sldId="292"/>
        </pc:sldMkLst>
        <pc:spChg chg="mod">
          <ac:chgData name="Shuan Cheng" userId="b14087c0-bac9-44dd-b3f8-5d50e1ee75e5" providerId="ADAL" clId="{75A9BF88-81BC-4677-82BB-DF96F3D360A6}" dt="2025-11-22T05:16:44.843" v="1384" actId="114"/>
          <ac:spMkLst>
            <pc:docMk/>
            <pc:sldMk cId="0" sldId="292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17.569" v="1298" actId="478"/>
          <ac:spMkLst>
            <pc:docMk/>
            <pc:sldMk cId="0" sldId="292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17.569" v="1298" actId="478"/>
          <ac:spMkLst>
            <pc:docMk/>
            <pc:sldMk cId="0" sldId="292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17.569" v="1298" actId="478"/>
          <ac:spMkLst>
            <pc:docMk/>
            <pc:sldMk cId="0" sldId="292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17.569" v="1298" actId="478"/>
          <ac:spMkLst>
            <pc:docMk/>
            <pc:sldMk cId="0" sldId="292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17.569" v="1298" actId="478"/>
          <ac:spMkLst>
            <pc:docMk/>
            <pc:sldMk cId="0" sldId="292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17.569" v="1298" actId="478"/>
          <ac:spMkLst>
            <pc:docMk/>
            <pc:sldMk cId="0" sldId="292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17.569" v="1298" actId="478"/>
          <ac:spMkLst>
            <pc:docMk/>
            <pc:sldMk cId="0" sldId="292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17.569" v="1298" actId="478"/>
          <ac:spMkLst>
            <pc:docMk/>
            <pc:sldMk cId="0" sldId="292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17.569" v="1298" actId="478"/>
          <ac:spMkLst>
            <pc:docMk/>
            <pc:sldMk cId="0" sldId="292"/>
            <ac:spMk id="12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16:14.785" v="1381" actId="1076"/>
          <ac:spMkLst>
            <pc:docMk/>
            <pc:sldMk cId="0" sldId="292"/>
            <ac:spMk id="17" creationId="{34B05BA7-0639-4ED1-988B-3F382D9DF51A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2T05:19:46.576" v="1456" actId="1076"/>
        <pc:sldMkLst>
          <pc:docMk/>
          <pc:sldMk cId="0" sldId="295"/>
        </pc:sldMkLst>
        <pc:spChg chg="mod">
          <ac:chgData name="Shuan Cheng" userId="b14087c0-bac9-44dd-b3f8-5d50e1ee75e5" providerId="ADAL" clId="{75A9BF88-81BC-4677-82BB-DF96F3D360A6}" dt="2025-11-22T05:17:22.632" v="1388" actId="14100"/>
          <ac:spMkLst>
            <pc:docMk/>
            <pc:sldMk cId="0" sldId="295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09.428" v="1385" actId="478"/>
          <ac:spMkLst>
            <pc:docMk/>
            <pc:sldMk cId="0" sldId="295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09.428" v="1385" actId="478"/>
          <ac:spMkLst>
            <pc:docMk/>
            <pc:sldMk cId="0" sldId="295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09.428" v="1385" actId="478"/>
          <ac:spMkLst>
            <pc:docMk/>
            <pc:sldMk cId="0" sldId="295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09.428" v="1385" actId="478"/>
          <ac:spMkLst>
            <pc:docMk/>
            <pc:sldMk cId="0" sldId="295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09.428" v="1385" actId="478"/>
          <ac:spMkLst>
            <pc:docMk/>
            <pc:sldMk cId="0" sldId="295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09.428" v="1385" actId="478"/>
          <ac:spMkLst>
            <pc:docMk/>
            <pc:sldMk cId="0" sldId="295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09.428" v="1385" actId="478"/>
          <ac:spMkLst>
            <pc:docMk/>
            <pc:sldMk cId="0" sldId="295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09.428" v="1385" actId="478"/>
          <ac:spMkLst>
            <pc:docMk/>
            <pc:sldMk cId="0" sldId="295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09.428" v="1385" actId="478"/>
          <ac:spMkLst>
            <pc:docMk/>
            <pc:sldMk cId="0" sldId="295"/>
            <ac:spMk id="1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18:06.534" v="1401" actId="20577"/>
          <ac:spMkLst>
            <pc:docMk/>
            <pc:sldMk cId="0" sldId="295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59.019" v="1391" actId="478"/>
          <ac:spMkLst>
            <pc:docMk/>
            <pc:sldMk cId="0" sldId="295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59.019" v="1391" actId="478"/>
          <ac:spMkLst>
            <pc:docMk/>
            <pc:sldMk cId="0" sldId="295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59.019" v="1391" actId="478"/>
          <ac:spMkLst>
            <pc:docMk/>
            <pc:sldMk cId="0" sldId="295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59.019" v="1391" actId="478"/>
          <ac:spMkLst>
            <pc:docMk/>
            <pc:sldMk cId="0" sldId="295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59.019" v="1391" actId="478"/>
          <ac:spMkLst>
            <pc:docMk/>
            <pc:sldMk cId="0" sldId="295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59.019" v="1391" actId="478"/>
          <ac:spMkLst>
            <pc:docMk/>
            <pc:sldMk cId="0" sldId="295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59.019" v="1391" actId="478"/>
          <ac:spMkLst>
            <pc:docMk/>
            <pc:sldMk cId="0" sldId="295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59.019" v="1391" actId="478"/>
          <ac:spMkLst>
            <pc:docMk/>
            <pc:sldMk cId="0" sldId="295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59.019" v="1391" actId="478"/>
          <ac:spMkLst>
            <pc:docMk/>
            <pc:sldMk cId="0" sldId="295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59.019" v="1391" actId="478"/>
          <ac:spMkLst>
            <pc:docMk/>
            <pc:sldMk cId="0" sldId="295"/>
            <ac:spMk id="2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17:55.857" v="1390" actId="14100"/>
          <ac:spMkLst>
            <pc:docMk/>
            <pc:sldMk cId="0" sldId="295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40.167" v="1455" actId="478"/>
          <ac:spMkLst>
            <pc:docMk/>
            <pc:sldMk cId="0" sldId="295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40.167" v="1455" actId="478"/>
          <ac:spMkLst>
            <pc:docMk/>
            <pc:sldMk cId="0" sldId="295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40.167" v="1455" actId="478"/>
          <ac:spMkLst>
            <pc:docMk/>
            <pc:sldMk cId="0" sldId="295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40.167" v="1455" actId="478"/>
          <ac:spMkLst>
            <pc:docMk/>
            <pc:sldMk cId="0" sldId="295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40.167" v="1455" actId="478"/>
          <ac:spMkLst>
            <pc:docMk/>
            <pc:sldMk cId="0" sldId="295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40.167" v="1455" actId="478"/>
          <ac:spMkLst>
            <pc:docMk/>
            <pc:sldMk cId="0" sldId="295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40.167" v="1455" actId="478"/>
          <ac:spMkLst>
            <pc:docMk/>
            <pc:sldMk cId="0" sldId="295"/>
            <ac:spMk id="33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17:20.879" v="1387" actId="1076"/>
          <ac:spMkLst>
            <pc:docMk/>
            <pc:sldMk cId="0" sldId="295"/>
            <ac:spMk id="38" creationId="{B84FAE3D-6FC5-7D1A-E323-3A744FCA94FA}"/>
          </ac:spMkLst>
        </pc:spChg>
        <pc:spChg chg="add mod">
          <ac:chgData name="Shuan Cheng" userId="b14087c0-bac9-44dd-b3f8-5d50e1ee75e5" providerId="ADAL" clId="{75A9BF88-81BC-4677-82BB-DF96F3D360A6}" dt="2025-11-22T05:18:40.046" v="1412" actId="1076"/>
          <ac:spMkLst>
            <pc:docMk/>
            <pc:sldMk cId="0" sldId="295"/>
            <ac:spMk id="39" creationId="{A86A6FEB-BC90-3359-EA38-CB0523193AA1}"/>
          </ac:spMkLst>
        </pc:spChg>
        <pc:spChg chg="add mod">
          <ac:chgData name="Shuan Cheng" userId="b14087c0-bac9-44dd-b3f8-5d50e1ee75e5" providerId="ADAL" clId="{75A9BF88-81BC-4677-82BB-DF96F3D360A6}" dt="2025-11-22T05:19:46.576" v="1456" actId="1076"/>
          <ac:spMkLst>
            <pc:docMk/>
            <pc:sldMk cId="0" sldId="295"/>
            <ac:spMk id="40" creationId="{67A249AF-99CB-C097-7EB0-ABB0ED0342A8}"/>
          </ac:spMkLst>
        </pc:spChg>
      </pc:sldChg>
      <pc:sldChg chg="add del">
        <pc:chgData name="Shuan Cheng" userId="b14087c0-bac9-44dd-b3f8-5d50e1ee75e5" providerId="ADAL" clId="{75A9BF88-81BC-4677-82BB-DF96F3D360A6}" dt="2025-11-20T21:56:12.375" v="47" actId="47"/>
        <pc:sldMkLst>
          <pc:docMk/>
          <pc:sldMk cId="0" sldId="297"/>
        </pc:sldMkLst>
      </pc:sldChg>
      <pc:sldChg chg="addSp delSp modSp add del mod">
        <pc:chgData name="Shuan Cheng" userId="b14087c0-bac9-44dd-b3f8-5d50e1ee75e5" providerId="ADAL" clId="{75A9BF88-81BC-4677-82BB-DF96F3D360A6}" dt="2025-11-22T05:23:47.886" v="1506" actId="1038"/>
        <pc:sldMkLst>
          <pc:docMk/>
          <pc:sldMk cId="0" sldId="301"/>
        </pc:sldMkLst>
        <pc:spChg chg="mod">
          <ac:chgData name="Shuan Cheng" userId="b14087c0-bac9-44dd-b3f8-5d50e1ee75e5" providerId="ADAL" clId="{75A9BF88-81BC-4677-82BB-DF96F3D360A6}" dt="2025-11-22T05:23:17.549" v="1486" actId="1038"/>
          <ac:spMkLst>
            <pc:docMk/>
            <pc:sldMk cId="0" sldId="301"/>
            <ac:spMk id="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23:21.908" v="1489" actId="1038"/>
          <ac:spMkLst>
            <pc:docMk/>
            <pc:sldMk cId="0" sldId="301"/>
            <ac:spMk id="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23:30.032" v="1498" actId="1037"/>
          <ac:spMkLst>
            <pc:docMk/>
            <pc:sldMk cId="0" sldId="301"/>
            <ac:spMk id="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23:32.345" v="1500" actId="1037"/>
          <ac:spMkLst>
            <pc:docMk/>
            <pc:sldMk cId="0" sldId="301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1:01.607" v="1458" actId="478"/>
          <ac:spMkLst>
            <pc:docMk/>
            <pc:sldMk cId="0" sldId="301"/>
            <ac:spMk id="9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23:34.356" v="1501" actId="1037"/>
          <ac:spMkLst>
            <pc:docMk/>
            <pc:sldMk cId="0" sldId="301"/>
            <ac:spMk id="1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23:40.374" v="1503" actId="1035"/>
          <ac:spMkLst>
            <pc:docMk/>
            <pc:sldMk cId="0" sldId="301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0:59.702" v="1457" actId="478"/>
          <ac:spMkLst>
            <pc:docMk/>
            <pc:sldMk cId="0" sldId="301"/>
            <ac:spMk id="1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23:26.943" v="1496" actId="1036"/>
          <ac:spMkLst>
            <pc:docMk/>
            <pc:sldMk cId="0" sldId="301"/>
            <ac:spMk id="1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23:47.886" v="1506" actId="1038"/>
          <ac:spMkLst>
            <pc:docMk/>
            <pc:sldMk cId="0" sldId="301"/>
            <ac:spMk id="1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21:31.630" v="1462" actId="1076"/>
          <ac:spMkLst>
            <pc:docMk/>
            <pc:sldMk cId="0" sldId="301"/>
            <ac:spMk id="20" creationId="{4692DDE1-D69B-A661-E643-DE284DF4210E}"/>
          </ac:spMkLst>
        </pc:spChg>
        <pc:spChg chg="add mod">
          <ac:chgData name="Shuan Cheng" userId="b14087c0-bac9-44dd-b3f8-5d50e1ee75e5" providerId="ADAL" clId="{75A9BF88-81BC-4677-82BB-DF96F3D360A6}" dt="2025-11-22T05:21:44.274" v="1466" actId="1076"/>
          <ac:spMkLst>
            <pc:docMk/>
            <pc:sldMk cId="0" sldId="301"/>
            <ac:spMk id="21" creationId="{37CD8477-C1B3-665F-7BE6-393EBCCF8A13}"/>
          </ac:spMkLst>
        </pc:spChg>
        <pc:spChg chg="add mod">
          <ac:chgData name="Shuan Cheng" userId="b14087c0-bac9-44dd-b3f8-5d50e1ee75e5" providerId="ADAL" clId="{75A9BF88-81BC-4677-82BB-DF96F3D360A6}" dt="2025-11-22T05:23:21.908" v="1489" actId="1038"/>
          <ac:spMkLst>
            <pc:docMk/>
            <pc:sldMk cId="0" sldId="301"/>
            <ac:spMk id="22" creationId="{9CEAF8C6-2A80-E166-049A-6F2310A6B74D}"/>
          </ac:spMkLst>
        </pc:spChg>
        <pc:spChg chg="add mod">
          <ac:chgData name="Shuan Cheng" userId="b14087c0-bac9-44dd-b3f8-5d50e1ee75e5" providerId="ADAL" clId="{75A9BF88-81BC-4677-82BB-DF96F3D360A6}" dt="2025-11-22T05:23:21.908" v="1489" actId="1038"/>
          <ac:spMkLst>
            <pc:docMk/>
            <pc:sldMk cId="0" sldId="301"/>
            <ac:spMk id="23" creationId="{AF4A73EE-D454-07A2-9B90-391D6E6578DB}"/>
          </ac:spMkLst>
        </pc:spChg>
        <pc:spChg chg="add mod">
          <ac:chgData name="Shuan Cheng" userId="b14087c0-bac9-44dd-b3f8-5d50e1ee75e5" providerId="ADAL" clId="{75A9BF88-81BC-4677-82BB-DF96F3D360A6}" dt="2025-11-22T05:23:26.943" v="1496" actId="1036"/>
          <ac:spMkLst>
            <pc:docMk/>
            <pc:sldMk cId="0" sldId="301"/>
            <ac:spMk id="24" creationId="{E26A58D1-B861-126E-F013-8C79180E2A14}"/>
          </ac:spMkLst>
        </pc:spChg>
        <pc:spChg chg="add mod">
          <ac:chgData name="Shuan Cheng" userId="b14087c0-bac9-44dd-b3f8-5d50e1ee75e5" providerId="ADAL" clId="{75A9BF88-81BC-4677-82BB-DF96F3D360A6}" dt="2025-11-22T05:23:26.943" v="1496" actId="1036"/>
          <ac:spMkLst>
            <pc:docMk/>
            <pc:sldMk cId="0" sldId="301"/>
            <ac:spMk id="25" creationId="{EF98C4AB-6321-1D53-3B61-2C853DB7FB92}"/>
          </ac:spMkLst>
        </pc:spChg>
        <pc:spChg chg="add mod">
          <ac:chgData name="Shuan Cheng" userId="b14087c0-bac9-44dd-b3f8-5d50e1ee75e5" providerId="ADAL" clId="{75A9BF88-81BC-4677-82BB-DF96F3D360A6}" dt="2025-11-22T05:23:32.345" v="1500" actId="1037"/>
          <ac:spMkLst>
            <pc:docMk/>
            <pc:sldMk cId="0" sldId="301"/>
            <ac:spMk id="26" creationId="{775D2E33-47B0-B6CF-FC4E-3292C8DFFDD1}"/>
          </ac:spMkLst>
        </pc:spChg>
        <pc:spChg chg="add mod">
          <ac:chgData name="Shuan Cheng" userId="b14087c0-bac9-44dd-b3f8-5d50e1ee75e5" providerId="ADAL" clId="{75A9BF88-81BC-4677-82BB-DF96F3D360A6}" dt="2025-11-22T05:23:32.345" v="1500" actId="1037"/>
          <ac:spMkLst>
            <pc:docMk/>
            <pc:sldMk cId="0" sldId="301"/>
            <ac:spMk id="27" creationId="{C023618F-56FC-D858-D5CC-26E460B403AB}"/>
          </ac:spMkLst>
        </pc:spChg>
        <pc:spChg chg="add mod">
          <ac:chgData name="Shuan Cheng" userId="b14087c0-bac9-44dd-b3f8-5d50e1ee75e5" providerId="ADAL" clId="{75A9BF88-81BC-4677-82BB-DF96F3D360A6}" dt="2025-11-22T05:23:47.886" v="1506" actId="1038"/>
          <ac:spMkLst>
            <pc:docMk/>
            <pc:sldMk cId="0" sldId="301"/>
            <ac:spMk id="28" creationId="{4A8F7387-AA68-587C-E430-501645BAEE29}"/>
          </ac:spMkLst>
        </pc:spChg>
        <pc:spChg chg="add mod">
          <ac:chgData name="Shuan Cheng" userId="b14087c0-bac9-44dd-b3f8-5d50e1ee75e5" providerId="ADAL" clId="{75A9BF88-81BC-4677-82BB-DF96F3D360A6}" dt="2025-11-22T05:23:47.886" v="1506" actId="1038"/>
          <ac:spMkLst>
            <pc:docMk/>
            <pc:sldMk cId="0" sldId="301"/>
            <ac:spMk id="29" creationId="{72717680-A36F-CBF7-62EA-48B3C36E93C7}"/>
          </ac:spMkLst>
        </pc:spChg>
      </pc:sldChg>
      <pc:sldChg chg="modSp add del mod">
        <pc:chgData name="Shuan Cheng" userId="b14087c0-bac9-44dd-b3f8-5d50e1ee75e5" providerId="ADAL" clId="{75A9BF88-81BC-4677-82BB-DF96F3D360A6}" dt="2025-11-22T05:32:28.140" v="1588"/>
        <pc:sldMkLst>
          <pc:docMk/>
          <pc:sldMk cId="0" sldId="304"/>
        </pc:sldMkLst>
        <pc:spChg chg="mod">
          <ac:chgData name="Shuan Cheng" userId="b14087c0-bac9-44dd-b3f8-5d50e1ee75e5" providerId="ADAL" clId="{75A9BF88-81BC-4677-82BB-DF96F3D360A6}" dt="2025-11-22T05:32:28.140" v="1588"/>
          <ac:spMkLst>
            <pc:docMk/>
            <pc:sldMk cId="0" sldId="304"/>
            <ac:spMk id="3" creationId="{00000000-0000-0000-0000-000000000000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2T05:37:03.101" v="1739" actId="1076"/>
        <pc:sldMkLst>
          <pc:docMk/>
          <pc:sldMk cId="0" sldId="307"/>
        </pc:sldMkLst>
        <pc:spChg chg="del">
          <ac:chgData name="Shuan Cheng" userId="b14087c0-bac9-44dd-b3f8-5d50e1ee75e5" providerId="ADAL" clId="{75A9BF88-81BC-4677-82BB-DF96F3D360A6}" dt="2025-11-22T05:36:05.590" v="1683" actId="478"/>
          <ac:spMkLst>
            <pc:docMk/>
            <pc:sldMk cId="0" sldId="307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6:05.590" v="1683" actId="478"/>
          <ac:spMkLst>
            <pc:docMk/>
            <pc:sldMk cId="0" sldId="307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6:05.590" v="1683" actId="478"/>
          <ac:spMkLst>
            <pc:docMk/>
            <pc:sldMk cId="0" sldId="307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6:05.590" v="1683" actId="478"/>
          <ac:spMkLst>
            <pc:docMk/>
            <pc:sldMk cId="0" sldId="307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6:05.590" v="1683" actId="478"/>
          <ac:spMkLst>
            <pc:docMk/>
            <pc:sldMk cId="0" sldId="307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6:05.590" v="1683" actId="478"/>
          <ac:spMkLst>
            <pc:docMk/>
            <pc:sldMk cId="0" sldId="307"/>
            <ac:spMk id="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33:49.863" v="1604" actId="20577"/>
          <ac:spMkLst>
            <pc:docMk/>
            <pc:sldMk cId="0" sldId="307"/>
            <ac:spMk id="1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33:22.388" v="1590" actId="20577"/>
          <ac:spMkLst>
            <pc:docMk/>
            <pc:sldMk cId="0" sldId="307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3:20.165" v="1589" actId="478"/>
          <ac:spMkLst>
            <pc:docMk/>
            <pc:sldMk cId="0" sldId="307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3:20.165" v="1589" actId="478"/>
          <ac:spMkLst>
            <pc:docMk/>
            <pc:sldMk cId="0" sldId="307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3:20.165" v="1589" actId="478"/>
          <ac:spMkLst>
            <pc:docMk/>
            <pc:sldMk cId="0" sldId="307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3:20.165" v="1589" actId="478"/>
          <ac:spMkLst>
            <pc:docMk/>
            <pc:sldMk cId="0" sldId="307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3:20.165" v="1589" actId="478"/>
          <ac:spMkLst>
            <pc:docMk/>
            <pc:sldMk cId="0" sldId="307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3:20.165" v="1589" actId="478"/>
          <ac:spMkLst>
            <pc:docMk/>
            <pc:sldMk cId="0" sldId="307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3:20.165" v="1589" actId="478"/>
          <ac:spMkLst>
            <pc:docMk/>
            <pc:sldMk cId="0" sldId="307"/>
            <ac:spMk id="3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3:20.165" v="1589" actId="478"/>
          <ac:spMkLst>
            <pc:docMk/>
            <pc:sldMk cId="0" sldId="307"/>
            <ac:spMk id="3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3:20.165" v="1589" actId="478"/>
          <ac:spMkLst>
            <pc:docMk/>
            <pc:sldMk cId="0" sldId="307"/>
            <ac:spMk id="3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3:20.165" v="1589" actId="478"/>
          <ac:spMkLst>
            <pc:docMk/>
            <pc:sldMk cId="0" sldId="307"/>
            <ac:spMk id="4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34:27.333" v="1610"/>
          <ac:spMkLst>
            <pc:docMk/>
            <pc:sldMk cId="0" sldId="307"/>
            <ac:spMk id="4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35:50.180" v="1682" actId="1076"/>
          <ac:spMkLst>
            <pc:docMk/>
            <pc:sldMk cId="0" sldId="307"/>
            <ac:spMk id="46" creationId="{3BD7DED4-5AD2-8247-1C3A-6F0476C952AF}"/>
          </ac:spMkLst>
        </pc:spChg>
        <pc:spChg chg="add mod">
          <ac:chgData name="Shuan Cheng" userId="b14087c0-bac9-44dd-b3f8-5d50e1ee75e5" providerId="ADAL" clId="{75A9BF88-81BC-4677-82BB-DF96F3D360A6}" dt="2025-11-22T05:37:03.101" v="1739" actId="1076"/>
          <ac:spMkLst>
            <pc:docMk/>
            <pc:sldMk cId="0" sldId="307"/>
            <ac:spMk id="47" creationId="{BDCABCDB-C620-68D7-A38A-7FB028C3B139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2T05:44:22.274" v="2020" actId="1076"/>
        <pc:sldMkLst>
          <pc:docMk/>
          <pc:sldMk cId="0" sldId="308"/>
        </pc:sldMkLst>
        <pc:spChg chg="del">
          <ac:chgData name="Shuan Cheng" userId="b14087c0-bac9-44dd-b3f8-5d50e1ee75e5" providerId="ADAL" clId="{75A9BF88-81BC-4677-82BB-DF96F3D360A6}" dt="2025-11-22T05:38:26.358" v="1742" actId="478"/>
          <ac:spMkLst>
            <pc:docMk/>
            <pc:sldMk cId="0" sldId="308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26.358" v="1742" actId="478"/>
          <ac:spMkLst>
            <pc:docMk/>
            <pc:sldMk cId="0" sldId="308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26.358" v="1742" actId="478"/>
          <ac:spMkLst>
            <pc:docMk/>
            <pc:sldMk cId="0" sldId="308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26.358" v="1742" actId="478"/>
          <ac:spMkLst>
            <pc:docMk/>
            <pc:sldMk cId="0" sldId="308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26.358" v="1742" actId="478"/>
          <ac:spMkLst>
            <pc:docMk/>
            <pc:sldMk cId="0" sldId="308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26.358" v="1742" actId="478"/>
          <ac:spMkLst>
            <pc:docMk/>
            <pc:sldMk cId="0" sldId="308"/>
            <ac:spMk id="9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05:38:26.358" v="1742" actId="478"/>
          <ac:spMkLst>
            <pc:docMk/>
            <pc:sldMk cId="0" sldId="308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26.358" v="1742" actId="478"/>
          <ac:spMkLst>
            <pc:docMk/>
            <pc:sldMk cId="0" sldId="308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26.358" v="1742" actId="478"/>
          <ac:spMkLst>
            <pc:docMk/>
            <pc:sldMk cId="0" sldId="308"/>
            <ac:spMk id="1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44:22.274" v="2020" actId="1076"/>
          <ac:spMkLst>
            <pc:docMk/>
            <pc:sldMk cId="0" sldId="308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37.844" v="1744" actId="478"/>
          <ac:spMkLst>
            <pc:docMk/>
            <pc:sldMk cId="0" sldId="308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37.844" v="1744" actId="478"/>
          <ac:spMkLst>
            <pc:docMk/>
            <pc:sldMk cId="0" sldId="308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37.844" v="1744" actId="478"/>
          <ac:spMkLst>
            <pc:docMk/>
            <pc:sldMk cId="0" sldId="308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37.844" v="1744" actId="478"/>
          <ac:spMkLst>
            <pc:docMk/>
            <pc:sldMk cId="0" sldId="308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37.844" v="1744" actId="478"/>
          <ac:spMkLst>
            <pc:docMk/>
            <pc:sldMk cId="0" sldId="308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37.844" v="1744" actId="478"/>
          <ac:spMkLst>
            <pc:docMk/>
            <pc:sldMk cId="0" sldId="308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37.844" v="1744" actId="478"/>
          <ac:spMkLst>
            <pc:docMk/>
            <pc:sldMk cId="0" sldId="308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37.844" v="1744" actId="478"/>
          <ac:spMkLst>
            <pc:docMk/>
            <pc:sldMk cId="0" sldId="308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37.844" v="1744" actId="478"/>
          <ac:spMkLst>
            <pc:docMk/>
            <pc:sldMk cId="0" sldId="308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8:37.844" v="1744" actId="478"/>
          <ac:spMkLst>
            <pc:docMk/>
            <pc:sldMk cId="0" sldId="308"/>
            <ac:spMk id="33" creationId="{00000000-0000-0000-0000-000000000000}"/>
          </ac:spMkLst>
        </pc:spChg>
        <pc:spChg chg="add del mod">
          <ac:chgData name="Shuan Cheng" userId="b14087c0-bac9-44dd-b3f8-5d50e1ee75e5" providerId="ADAL" clId="{75A9BF88-81BC-4677-82BB-DF96F3D360A6}" dt="2025-11-22T05:39:47.878" v="1747" actId="478"/>
          <ac:spMkLst>
            <pc:docMk/>
            <pc:sldMk cId="0" sldId="308"/>
            <ac:spMk id="39" creationId="{262BFFC2-99AC-9DA3-1ED3-803D35E92ED5}"/>
          </ac:spMkLst>
        </pc:spChg>
        <pc:spChg chg="add mod">
          <ac:chgData name="Shuan Cheng" userId="b14087c0-bac9-44dd-b3f8-5d50e1ee75e5" providerId="ADAL" clId="{75A9BF88-81BC-4677-82BB-DF96F3D360A6}" dt="2025-11-22T05:44:20.108" v="2019" actId="1076"/>
          <ac:spMkLst>
            <pc:docMk/>
            <pc:sldMk cId="0" sldId="308"/>
            <ac:spMk id="41" creationId="{1097AEF8-B32E-EF7B-502A-3A0585FACBF0}"/>
          </ac:spMkLst>
        </pc:spChg>
        <pc:spChg chg="add mod">
          <ac:chgData name="Shuan Cheng" userId="b14087c0-bac9-44dd-b3f8-5d50e1ee75e5" providerId="ADAL" clId="{75A9BF88-81BC-4677-82BB-DF96F3D360A6}" dt="2025-11-22T05:44:17.121" v="2018" actId="1076"/>
          <ac:spMkLst>
            <pc:docMk/>
            <pc:sldMk cId="0" sldId="308"/>
            <ac:spMk id="42" creationId="{9708402D-B55C-81B6-3036-D05075A443C3}"/>
          </ac:spMkLst>
        </pc:spChg>
        <pc:picChg chg="del">
          <ac:chgData name="Shuan Cheng" userId="b14087c0-bac9-44dd-b3f8-5d50e1ee75e5" providerId="ADAL" clId="{75A9BF88-81BC-4677-82BB-DF96F3D360A6}" dt="2025-11-22T05:38:26.358" v="1742" actId="478"/>
          <ac:picMkLst>
            <pc:docMk/>
            <pc:sldMk cId="0" sldId="308"/>
            <ac:picMk id="3" creationId="{00000000-0000-0000-0000-000000000000}"/>
          </ac:picMkLst>
        </pc:picChg>
      </pc:sldChg>
      <pc:sldChg chg="modSp add del">
        <pc:chgData name="Shuan Cheng" userId="b14087c0-bac9-44dd-b3f8-5d50e1ee75e5" providerId="ADAL" clId="{75A9BF88-81BC-4677-82BB-DF96F3D360A6}" dt="2025-11-22T05:45:00.233" v="2029" actId="20577"/>
        <pc:sldMkLst>
          <pc:docMk/>
          <pc:sldMk cId="0" sldId="312"/>
        </pc:sldMkLst>
        <pc:spChg chg="mod">
          <ac:chgData name="Shuan Cheng" userId="b14087c0-bac9-44dd-b3f8-5d50e1ee75e5" providerId="ADAL" clId="{75A9BF88-81BC-4677-82BB-DF96F3D360A6}" dt="2025-11-22T05:45:00.233" v="2029" actId="20577"/>
          <ac:spMkLst>
            <pc:docMk/>
            <pc:sldMk cId="0" sldId="312"/>
            <ac:spMk id="3" creationId="{00000000-0000-0000-0000-000000000000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2T05:50:11.751" v="2174" actId="1076"/>
        <pc:sldMkLst>
          <pc:docMk/>
          <pc:sldMk cId="0" sldId="315"/>
        </pc:sldMkLst>
        <pc:spChg chg="mod">
          <ac:chgData name="Shuan Cheng" userId="b14087c0-bac9-44dd-b3f8-5d50e1ee75e5" providerId="ADAL" clId="{75A9BF88-81BC-4677-82BB-DF96F3D360A6}" dt="2025-11-22T05:46:50.894" v="2077" actId="20577"/>
          <ac:spMkLst>
            <pc:docMk/>
            <pc:sldMk cId="0" sldId="315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1.136" v="2078" actId="478"/>
          <ac:spMkLst>
            <pc:docMk/>
            <pc:sldMk cId="0" sldId="315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1.136" v="2078" actId="478"/>
          <ac:spMkLst>
            <pc:docMk/>
            <pc:sldMk cId="0" sldId="315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1.136" v="2078" actId="478"/>
          <ac:spMkLst>
            <pc:docMk/>
            <pc:sldMk cId="0" sldId="315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1.136" v="2078" actId="478"/>
          <ac:spMkLst>
            <pc:docMk/>
            <pc:sldMk cId="0" sldId="315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1.136" v="2078" actId="478"/>
          <ac:spMkLst>
            <pc:docMk/>
            <pc:sldMk cId="0" sldId="315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1.136" v="2078" actId="478"/>
          <ac:spMkLst>
            <pc:docMk/>
            <pc:sldMk cId="0" sldId="315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1.136" v="2078" actId="478"/>
          <ac:spMkLst>
            <pc:docMk/>
            <pc:sldMk cId="0" sldId="315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1.136" v="2078" actId="478"/>
          <ac:spMkLst>
            <pc:docMk/>
            <pc:sldMk cId="0" sldId="315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6.928" v="2080" actId="478"/>
          <ac:spMkLst>
            <pc:docMk/>
            <pc:sldMk cId="0" sldId="315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1.136" v="2078" actId="478"/>
          <ac:spMkLst>
            <pc:docMk/>
            <pc:sldMk cId="0" sldId="315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6.928" v="2080" actId="478"/>
          <ac:spMkLst>
            <pc:docMk/>
            <pc:sldMk cId="0" sldId="315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6.928" v="2080" actId="478"/>
          <ac:spMkLst>
            <pc:docMk/>
            <pc:sldMk cId="0" sldId="315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6.928" v="2080" actId="478"/>
          <ac:spMkLst>
            <pc:docMk/>
            <pc:sldMk cId="0" sldId="315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6.928" v="2080" actId="478"/>
          <ac:spMkLst>
            <pc:docMk/>
            <pc:sldMk cId="0" sldId="315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6.928" v="2080" actId="478"/>
          <ac:spMkLst>
            <pc:docMk/>
            <pc:sldMk cId="0" sldId="315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6.928" v="2080" actId="478"/>
          <ac:spMkLst>
            <pc:docMk/>
            <pc:sldMk cId="0" sldId="315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1.136" v="2078" actId="478"/>
          <ac:spMkLst>
            <pc:docMk/>
            <pc:sldMk cId="0" sldId="315"/>
            <ac:spMk id="24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49:01.956" v="2124" actId="1076"/>
          <ac:spMkLst>
            <pc:docMk/>
            <pc:sldMk cId="0" sldId="315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3.312" v="2079" actId="478"/>
          <ac:spMkLst>
            <pc:docMk/>
            <pc:sldMk cId="0" sldId="315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3.312" v="2079" actId="478"/>
          <ac:spMkLst>
            <pc:docMk/>
            <pc:sldMk cId="0" sldId="315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3.312" v="2079" actId="478"/>
          <ac:spMkLst>
            <pc:docMk/>
            <pc:sldMk cId="0" sldId="315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3.312" v="2079" actId="478"/>
          <ac:spMkLst>
            <pc:docMk/>
            <pc:sldMk cId="0" sldId="315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3.312" v="2079" actId="478"/>
          <ac:spMkLst>
            <pc:docMk/>
            <pc:sldMk cId="0" sldId="315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3.312" v="2079" actId="478"/>
          <ac:spMkLst>
            <pc:docMk/>
            <pc:sldMk cId="0" sldId="315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3.312" v="2079" actId="478"/>
          <ac:spMkLst>
            <pc:docMk/>
            <pc:sldMk cId="0" sldId="315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3.312" v="2079" actId="478"/>
          <ac:spMkLst>
            <pc:docMk/>
            <pc:sldMk cId="0" sldId="315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7:13.312" v="2079" actId="478"/>
          <ac:spMkLst>
            <pc:docMk/>
            <pc:sldMk cId="0" sldId="315"/>
            <ac:spMk id="34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47:48.228" v="2083" actId="1076"/>
          <ac:spMkLst>
            <pc:docMk/>
            <pc:sldMk cId="0" sldId="315"/>
            <ac:spMk id="35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48:42.692" v="2122" actId="1076"/>
          <ac:spMkLst>
            <pc:docMk/>
            <pc:sldMk cId="0" sldId="315"/>
            <ac:spMk id="39" creationId="{B3551194-ADBB-1384-569E-D90AE72A7E48}"/>
          </ac:spMkLst>
        </pc:spChg>
        <pc:spChg chg="add mod">
          <ac:chgData name="Shuan Cheng" userId="b14087c0-bac9-44dd-b3f8-5d50e1ee75e5" providerId="ADAL" clId="{75A9BF88-81BC-4677-82BB-DF96F3D360A6}" dt="2025-11-22T05:48:58.565" v="2123" actId="1076"/>
          <ac:spMkLst>
            <pc:docMk/>
            <pc:sldMk cId="0" sldId="315"/>
            <ac:spMk id="40" creationId="{AA2BF39E-0318-67A9-FC1E-C13035FA1848}"/>
          </ac:spMkLst>
        </pc:spChg>
        <pc:spChg chg="add del">
          <ac:chgData name="Shuan Cheng" userId="b14087c0-bac9-44dd-b3f8-5d50e1ee75e5" providerId="ADAL" clId="{75A9BF88-81BC-4677-82BB-DF96F3D360A6}" dt="2025-11-22T05:49:16.525" v="2126" actId="22"/>
          <ac:spMkLst>
            <pc:docMk/>
            <pc:sldMk cId="0" sldId="315"/>
            <ac:spMk id="42" creationId="{8D648781-0FA6-1EAB-7202-C43E3A596E5B}"/>
          </ac:spMkLst>
        </pc:spChg>
        <pc:spChg chg="add mod">
          <ac:chgData name="Shuan Cheng" userId="b14087c0-bac9-44dd-b3f8-5d50e1ee75e5" providerId="ADAL" clId="{75A9BF88-81BC-4677-82BB-DF96F3D360A6}" dt="2025-11-22T05:50:11.751" v="2174" actId="1076"/>
          <ac:spMkLst>
            <pc:docMk/>
            <pc:sldMk cId="0" sldId="315"/>
            <ac:spMk id="43" creationId="{56AFDB8D-15C8-1212-78A5-74AA9B1A11AE}"/>
          </ac:spMkLst>
        </pc:spChg>
      </pc:sldChg>
      <pc:sldChg chg="modSp add del">
        <pc:chgData name="Shuan Cheng" userId="b14087c0-bac9-44dd-b3f8-5d50e1ee75e5" providerId="ADAL" clId="{75A9BF88-81BC-4677-82BB-DF96F3D360A6}" dt="2025-11-22T05:52:08.583" v="2176" actId="20577"/>
        <pc:sldMkLst>
          <pc:docMk/>
          <pc:sldMk cId="0" sldId="316"/>
        </pc:sldMkLst>
        <pc:spChg chg="mod">
          <ac:chgData name="Shuan Cheng" userId="b14087c0-bac9-44dd-b3f8-5d50e1ee75e5" providerId="ADAL" clId="{75A9BF88-81BC-4677-82BB-DF96F3D360A6}" dt="2025-11-22T05:52:08.583" v="2176" actId="20577"/>
          <ac:spMkLst>
            <pc:docMk/>
            <pc:sldMk cId="0" sldId="316"/>
            <ac:spMk id="2" creationId="{00000000-0000-0000-0000-000000000000}"/>
          </ac:spMkLst>
        </pc:spChg>
      </pc:sldChg>
      <pc:sldChg chg="addSp delSp modSp mod">
        <pc:chgData name="Shuan Cheng" userId="b14087c0-bac9-44dd-b3f8-5d50e1ee75e5" providerId="ADAL" clId="{75A9BF88-81BC-4677-82BB-DF96F3D360A6}" dt="2025-11-22T05:53:11.430" v="2181" actId="14100"/>
        <pc:sldMkLst>
          <pc:docMk/>
          <pc:sldMk cId="0" sldId="320"/>
        </pc:sldMkLst>
        <pc:spChg chg="mod">
          <ac:chgData name="Shuan Cheng" userId="b14087c0-bac9-44dd-b3f8-5d50e1ee75e5" providerId="ADAL" clId="{75A9BF88-81BC-4677-82BB-DF96F3D360A6}" dt="2025-11-22T05:52:39.147" v="2178" actId="14100"/>
          <ac:spMkLst>
            <pc:docMk/>
            <pc:sldMk cId="0" sldId="320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36.927" v="2177" actId="478"/>
          <ac:spMkLst>
            <pc:docMk/>
            <pc:sldMk cId="0" sldId="320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36.927" v="2177" actId="478"/>
          <ac:spMkLst>
            <pc:docMk/>
            <pc:sldMk cId="0" sldId="320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36.927" v="2177" actId="478"/>
          <ac:spMkLst>
            <pc:docMk/>
            <pc:sldMk cId="0" sldId="320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36.927" v="2177" actId="478"/>
          <ac:spMkLst>
            <pc:docMk/>
            <pc:sldMk cId="0" sldId="320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36.927" v="2177" actId="478"/>
          <ac:spMkLst>
            <pc:docMk/>
            <pc:sldMk cId="0" sldId="320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36.927" v="2177" actId="478"/>
          <ac:spMkLst>
            <pc:docMk/>
            <pc:sldMk cId="0" sldId="320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36.927" v="2177" actId="478"/>
          <ac:spMkLst>
            <pc:docMk/>
            <pc:sldMk cId="0" sldId="320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36.927" v="2177" actId="478"/>
          <ac:spMkLst>
            <pc:docMk/>
            <pc:sldMk cId="0" sldId="320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36.927" v="2177" actId="478"/>
          <ac:spMkLst>
            <pc:docMk/>
            <pc:sldMk cId="0" sldId="320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36.927" v="2177" actId="478"/>
          <ac:spMkLst>
            <pc:docMk/>
            <pc:sldMk cId="0" sldId="320"/>
            <ac:spMk id="1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53:11.430" v="2181" actId="14100"/>
          <ac:spMkLst>
            <pc:docMk/>
            <pc:sldMk cId="0" sldId="320"/>
            <ac:spMk id="16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52:46.589" v="2180" actId="1076"/>
          <ac:spMkLst>
            <pc:docMk/>
            <pc:sldMk cId="0" sldId="320"/>
            <ac:spMk id="21" creationId="{E62EC337-5010-24C9-ABCC-B58DFDE78E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60916"/>
            <a:ext cx="324294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89890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74"/>
                </a:lnTo>
                <a:lnTo>
                  <a:pt x="4608004" y="389674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916"/>
            <a:ext cx="4254500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2742" y="860003"/>
            <a:ext cx="4244975" cy="1733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094" y="3338410"/>
            <a:ext cx="1447800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49763" y="3338410"/>
            <a:ext cx="303643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slide" Target="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9818" y="215336"/>
            <a:ext cx="13093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10" dirty="0">
                <a:latin typeface="Arial"/>
                <a:cs typeface="Arial"/>
              </a:rPr>
              <a:t>Linear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Systems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8084" y="539261"/>
            <a:ext cx="397256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80" dirty="0">
                <a:solidFill>
                  <a:srgbClr val="000000"/>
                </a:solidFill>
              </a:rPr>
              <a:t>Observer</a:t>
            </a:r>
            <a:r>
              <a:rPr sz="2050" spc="25" dirty="0">
                <a:solidFill>
                  <a:srgbClr val="000000"/>
                </a:solidFill>
              </a:rPr>
              <a:t> </a:t>
            </a:r>
            <a:r>
              <a:rPr sz="2050" spc="-170" dirty="0">
                <a:solidFill>
                  <a:srgbClr val="000000"/>
                </a:solidFill>
              </a:rPr>
              <a:t>and</a:t>
            </a:r>
            <a:r>
              <a:rPr sz="2050" spc="35" dirty="0">
                <a:solidFill>
                  <a:srgbClr val="000000"/>
                </a:solidFill>
              </a:rPr>
              <a:t> </a:t>
            </a:r>
            <a:r>
              <a:rPr sz="2050" spc="-185" dirty="0">
                <a:solidFill>
                  <a:srgbClr val="000000"/>
                </a:solidFill>
              </a:rPr>
              <a:t>Observer</a:t>
            </a:r>
            <a:r>
              <a:rPr sz="2050" spc="40" dirty="0">
                <a:solidFill>
                  <a:srgbClr val="000000"/>
                </a:solidFill>
              </a:rPr>
              <a:t> </a:t>
            </a:r>
            <a:r>
              <a:rPr sz="2050" spc="-110" dirty="0">
                <a:solidFill>
                  <a:srgbClr val="000000"/>
                </a:solidFill>
              </a:rPr>
              <a:t>State</a:t>
            </a:r>
            <a:r>
              <a:rPr sz="2050" spc="40" dirty="0">
                <a:solidFill>
                  <a:srgbClr val="000000"/>
                </a:solidFill>
              </a:rPr>
              <a:t> </a:t>
            </a:r>
            <a:r>
              <a:rPr sz="2050" spc="-185" dirty="0">
                <a:solidFill>
                  <a:srgbClr val="000000"/>
                </a:solidFill>
              </a:rPr>
              <a:t>Feedback</a:t>
            </a:r>
            <a:endParaRPr sz="2050"/>
          </a:p>
        </p:txBody>
      </p:sp>
      <p:grpSp>
        <p:nvGrpSpPr>
          <p:cNvPr id="4" name="object 4"/>
          <p:cNvGrpSpPr/>
          <p:nvPr/>
        </p:nvGrpSpPr>
        <p:grpSpPr>
          <a:xfrm>
            <a:off x="0" y="1796456"/>
            <a:ext cx="4608195" cy="1659889"/>
            <a:chOff x="0" y="1796456"/>
            <a:chExt cx="4608195" cy="165988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248" y="1796456"/>
              <a:ext cx="3017267" cy="16595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6272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3071952" y="109728"/>
                  </a:lnTo>
                  <a:lnTo>
                    <a:pt x="4607928" y="109728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20378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22907708-BE28-3D9D-C9F0-EA8B65ED0E4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-61405" y="3322038"/>
            <a:ext cx="2152650" cy="11669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</a:t>
            </a:r>
            <a:r>
              <a:rPr lang="en-US" dirty="0"/>
              <a:t>o</a:t>
            </a:r>
            <a:r>
              <a:rPr lang="en-US" spc="320" dirty="0"/>
              <a:t> </a:t>
            </a:r>
            <a:r>
              <a:rPr lang="en-US" dirty="0"/>
              <a:t>(</a:t>
            </a:r>
            <a:r>
              <a:rPr dirty="0"/>
              <a:t>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  <a:r>
              <a:rPr lang="en-US" spc="-10" dirty="0"/>
              <a:t>, Chen &amp; </a:t>
            </a:r>
            <a:r>
              <a:rPr lang="en-US" spc="-10" dirty="0" err="1"/>
              <a:t>Tomizuka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5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2141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1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/>
              <a:t>full</a:t>
            </a:r>
            <a:r>
              <a:rPr sz="1200" spc="5" dirty="0"/>
              <a:t> </a:t>
            </a:r>
            <a:r>
              <a:rPr sz="1200" spc="-25" dirty="0"/>
              <a:t>state</a:t>
            </a:r>
            <a:r>
              <a:rPr sz="1200" spc="10" dirty="0"/>
              <a:t> </a:t>
            </a:r>
            <a:r>
              <a:rPr sz="1200" spc="-80" dirty="0"/>
              <a:t>feedback</a:t>
            </a:r>
            <a:r>
              <a:rPr sz="1200" spc="5" dirty="0"/>
              <a:t> </a:t>
            </a:r>
            <a:r>
              <a:rPr sz="1200" spc="-10" dirty="0"/>
              <a:t>is</a:t>
            </a:r>
            <a:r>
              <a:rPr sz="1200" spc="10" dirty="0"/>
              <a:t> </a:t>
            </a:r>
            <a:r>
              <a:rPr sz="1200" spc="-65" dirty="0"/>
              <a:t>usually</a:t>
            </a:r>
            <a:r>
              <a:rPr sz="1200" spc="10" dirty="0"/>
              <a:t> </a:t>
            </a:r>
            <a:r>
              <a:rPr sz="1200" dirty="0"/>
              <a:t>not</a:t>
            </a:r>
            <a:r>
              <a:rPr sz="1200" spc="5" dirty="0"/>
              <a:t> </a:t>
            </a:r>
            <a:r>
              <a:rPr sz="1200" spc="-10" dirty="0"/>
              <a:t>available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51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2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/>
              <a:t>the</a:t>
            </a:r>
            <a:r>
              <a:rPr sz="1200" spc="-10" dirty="0"/>
              <a:t> </a:t>
            </a:r>
            <a:r>
              <a:rPr sz="1200" spc="-25" dirty="0"/>
              <a:t>state</a:t>
            </a:r>
            <a:r>
              <a:rPr sz="1200" spc="-10" dirty="0"/>
              <a:t> </a:t>
            </a:r>
            <a:r>
              <a:rPr sz="1200" spc="-40" dirty="0"/>
              <a:t>estimation</a:t>
            </a:r>
            <a:r>
              <a:rPr sz="1200" spc="-10" dirty="0"/>
              <a:t> problem</a:t>
            </a:r>
            <a:endParaRPr sz="1200">
              <a:latin typeface="Arial Unicode MS"/>
              <a:cs typeface="Arial Unicode MS"/>
            </a:endParaRPr>
          </a:p>
          <a:p>
            <a:pPr marL="358140">
              <a:lnSpc>
                <a:spcPct val="100000"/>
              </a:lnSpc>
              <a:spcBef>
                <a:spcPts val="21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3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35" dirty="0"/>
              <a:t>deterministic</a:t>
            </a:r>
            <a:r>
              <a:rPr sz="1100" spc="20" dirty="0"/>
              <a:t> </a:t>
            </a:r>
            <a:r>
              <a:rPr sz="1100" spc="-65" dirty="0"/>
              <a:t>case:</a:t>
            </a:r>
            <a:r>
              <a:rPr sz="1100" spc="130" dirty="0"/>
              <a:t> </a:t>
            </a:r>
            <a:r>
              <a:rPr sz="1100" spc="-75" dirty="0"/>
              <a:t>observer</a:t>
            </a:r>
            <a:r>
              <a:rPr sz="1100" spc="25" dirty="0"/>
              <a:t> </a:t>
            </a:r>
            <a:r>
              <a:rPr sz="1100" spc="-10" dirty="0"/>
              <a:t>design</a:t>
            </a:r>
            <a:endParaRPr sz="1100">
              <a:latin typeface="Arial Unicode MS"/>
              <a:cs typeface="Arial Unicode MS"/>
            </a:endParaRPr>
          </a:p>
          <a:p>
            <a:pPr marL="358140">
              <a:lnSpc>
                <a:spcPct val="100000"/>
              </a:lnSpc>
              <a:spcBef>
                <a:spcPts val="3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17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40" dirty="0"/>
              <a:t>stochastic</a:t>
            </a:r>
            <a:r>
              <a:rPr sz="1100" spc="-20" dirty="0"/>
              <a:t> </a:t>
            </a:r>
            <a:r>
              <a:rPr sz="1100" spc="-65" dirty="0"/>
              <a:t>case:</a:t>
            </a:r>
            <a:r>
              <a:rPr sz="1100" spc="65" dirty="0"/>
              <a:t> </a:t>
            </a:r>
            <a:r>
              <a:rPr sz="1100" dirty="0"/>
              <a:t>the</a:t>
            </a:r>
            <a:r>
              <a:rPr sz="1100" spc="-20" dirty="0"/>
              <a:t> </a:t>
            </a:r>
            <a:r>
              <a:rPr sz="1100" spc="-30" dirty="0"/>
              <a:t>most</a:t>
            </a:r>
            <a:r>
              <a:rPr sz="1100" spc="-20" dirty="0"/>
              <a:t> </a:t>
            </a:r>
            <a:r>
              <a:rPr sz="1100" spc="-35" dirty="0"/>
              <a:t>frequent</a:t>
            </a:r>
            <a:r>
              <a:rPr sz="1100" spc="-20" dirty="0"/>
              <a:t> option </a:t>
            </a:r>
            <a:r>
              <a:rPr sz="1100" spc="-10" dirty="0"/>
              <a:t>is</a:t>
            </a:r>
            <a:r>
              <a:rPr sz="1100" spc="-20" dirty="0"/>
              <a:t> </a:t>
            </a:r>
            <a:r>
              <a:rPr sz="1100" spc="-40" dirty="0"/>
              <a:t>Kalman</a:t>
            </a:r>
            <a:r>
              <a:rPr sz="1100" spc="-20" dirty="0"/>
              <a:t> </a:t>
            </a:r>
            <a:r>
              <a:rPr sz="1100" spc="-10" dirty="0"/>
              <a:t>filter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2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Open-</a:t>
            </a:r>
            <a:r>
              <a:rPr spc="-80" dirty="0"/>
              <a:t>loop</a:t>
            </a:r>
            <a:r>
              <a:rPr spc="5" dirty="0"/>
              <a:t> </a:t>
            </a:r>
            <a:r>
              <a:rPr spc="-130" dirty="0"/>
              <a:t>observer</a:t>
            </a:r>
          </a:p>
        </p:txBody>
      </p:sp>
      <p:sp>
        <p:nvSpPr>
          <p:cNvPr id="3" name="object 3"/>
          <p:cNvSpPr/>
          <p:nvPr/>
        </p:nvSpPr>
        <p:spPr>
          <a:xfrm>
            <a:off x="648588" y="793140"/>
            <a:ext cx="141605" cy="0"/>
          </a:xfrm>
          <a:custGeom>
            <a:avLst/>
            <a:gdLst/>
            <a:ahLst/>
            <a:cxnLst/>
            <a:rect l="l" t="t" r="r" b="b"/>
            <a:pathLst>
              <a:path w="141604">
                <a:moveTo>
                  <a:pt x="0" y="0"/>
                </a:moveTo>
                <a:lnTo>
                  <a:pt x="140995" y="0"/>
                </a:lnTo>
              </a:path>
            </a:pathLst>
          </a:custGeom>
          <a:ln w="6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5888" y="539191"/>
            <a:ext cx="155575" cy="43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765">
              <a:lnSpc>
                <a:spcPct val="113100"/>
              </a:lnSpc>
              <a:spcBef>
                <a:spcPts val="100"/>
              </a:spcBef>
            </a:pPr>
            <a:r>
              <a:rPr sz="1200" i="1" spc="-50" dirty="0">
                <a:latin typeface="Arial"/>
                <a:cs typeface="Arial"/>
              </a:rPr>
              <a:t>d </a:t>
            </a:r>
            <a:r>
              <a:rPr sz="1200" i="1" spc="-25" dirty="0">
                <a:latin typeface="Arial"/>
                <a:cs typeface="Arial"/>
              </a:rPr>
              <a:t>dt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060" y="666556"/>
            <a:ext cx="31953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75" dirty="0">
                <a:latin typeface="Arial"/>
                <a:cs typeface="Arial"/>
              </a:rPr>
              <a:t>x</a:t>
            </a:r>
            <a:r>
              <a:rPr sz="1200" i="1" spc="-220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i="1" spc="-55" dirty="0">
                <a:latin typeface="Arial"/>
                <a:cs typeface="Arial"/>
              </a:rPr>
              <a:t>Ax</a:t>
            </a:r>
            <a:r>
              <a:rPr sz="1200" i="1" spc="-21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Bu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)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335" dirty="0">
                <a:latin typeface="Times New Roman"/>
                <a:cs typeface="Times New Roman"/>
              </a:rPr>
              <a:t> </a:t>
            </a:r>
            <a:r>
              <a:rPr sz="1200" i="1" spc="-75" dirty="0">
                <a:latin typeface="Arial"/>
                <a:cs typeface="Arial"/>
              </a:rPr>
              <a:t>x</a:t>
            </a:r>
            <a:r>
              <a:rPr sz="1200" i="1" spc="-2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6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1)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i="1" spc="-55" dirty="0">
                <a:latin typeface="Arial"/>
                <a:cs typeface="Arial"/>
              </a:rPr>
              <a:t>Ax</a:t>
            </a:r>
            <a:r>
              <a:rPr sz="1200" i="1" spc="-21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i="1" spc="-20" dirty="0">
                <a:latin typeface="Arial"/>
                <a:cs typeface="Arial"/>
              </a:rPr>
              <a:t>Bu</a:t>
            </a:r>
            <a:r>
              <a:rPr sz="1200" spc="-20" dirty="0">
                <a:latin typeface="Arial"/>
                <a:cs typeface="Arial"/>
              </a:rPr>
              <a:t>(</a:t>
            </a:r>
            <a:r>
              <a:rPr sz="1200" i="1" spc="-20" dirty="0">
                <a:latin typeface="Arial"/>
                <a:cs typeface="Arial"/>
              </a:rPr>
              <a:t>k</a:t>
            </a:r>
            <a:r>
              <a:rPr sz="1200" spc="-2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5442" y="1001011"/>
            <a:ext cx="2998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5" dirty="0">
                <a:latin typeface="Arial"/>
                <a:cs typeface="Arial"/>
              </a:rPr>
              <a:t>conceptually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simplest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scheme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estimate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i="1" spc="-75" dirty="0">
                <a:latin typeface="Arial"/>
                <a:cs typeface="Arial"/>
              </a:rPr>
              <a:t>x</a:t>
            </a:r>
            <a:r>
              <a:rPr sz="1200" i="1" spc="-22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7255" y="1512887"/>
            <a:ext cx="141605" cy="0"/>
          </a:xfrm>
          <a:custGeom>
            <a:avLst/>
            <a:gdLst/>
            <a:ahLst/>
            <a:cxnLst/>
            <a:rect l="l" t="t" r="r" b="b"/>
            <a:pathLst>
              <a:path w="141605">
                <a:moveTo>
                  <a:pt x="0" y="0"/>
                </a:moveTo>
                <a:lnTo>
                  <a:pt x="140995" y="0"/>
                </a:lnTo>
              </a:path>
            </a:pathLst>
          </a:custGeom>
          <a:ln w="6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4555" y="1258938"/>
            <a:ext cx="155575" cy="43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765">
              <a:lnSpc>
                <a:spcPct val="113100"/>
              </a:lnSpc>
              <a:spcBef>
                <a:spcPts val="100"/>
              </a:spcBef>
            </a:pPr>
            <a:r>
              <a:rPr sz="1200" i="1" spc="-50" dirty="0">
                <a:latin typeface="Arial"/>
                <a:cs typeface="Arial"/>
              </a:rPr>
              <a:t>d </a:t>
            </a:r>
            <a:r>
              <a:rPr sz="1200" i="1" spc="-25" dirty="0">
                <a:latin typeface="Arial"/>
                <a:cs typeface="Arial"/>
              </a:rPr>
              <a:t>dt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727" y="1386316"/>
            <a:ext cx="31953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440" dirty="0">
                <a:latin typeface="Arial"/>
                <a:cs typeface="Arial"/>
              </a:rPr>
              <a:t>x</a:t>
            </a:r>
            <a:r>
              <a:rPr sz="1200" spc="65" dirty="0">
                <a:latin typeface="Arial"/>
                <a:cs typeface="Arial"/>
              </a:rPr>
              <a:t>ˆ</a:t>
            </a:r>
            <a:r>
              <a:rPr sz="1200" spc="80" dirty="0">
                <a:latin typeface="Arial"/>
                <a:cs typeface="Arial"/>
              </a:rPr>
              <a:t>(</a:t>
            </a:r>
            <a:r>
              <a:rPr sz="1200" i="1" spc="165" dirty="0">
                <a:latin typeface="Arial"/>
                <a:cs typeface="Arial"/>
              </a:rPr>
              <a:t>t</a:t>
            </a:r>
            <a:r>
              <a:rPr sz="1200" spc="80" dirty="0">
                <a:latin typeface="Arial"/>
                <a:cs typeface="Arial"/>
              </a:rPr>
              <a:t>)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i="1" spc="50" dirty="0">
                <a:latin typeface="Arial"/>
                <a:cs typeface="Arial"/>
              </a:rPr>
              <a:t>A</a:t>
            </a:r>
            <a:r>
              <a:rPr sz="1200" i="1" spc="-470" dirty="0">
                <a:latin typeface="Arial"/>
                <a:cs typeface="Arial"/>
              </a:rPr>
              <a:t>x</a:t>
            </a:r>
            <a:r>
              <a:rPr sz="1200" spc="35" dirty="0">
                <a:latin typeface="Arial"/>
                <a:cs typeface="Arial"/>
              </a:rPr>
              <a:t>ˆ</a:t>
            </a:r>
            <a:r>
              <a:rPr sz="1200" spc="50" dirty="0">
                <a:latin typeface="Arial"/>
                <a:cs typeface="Arial"/>
              </a:rPr>
              <a:t>(</a:t>
            </a:r>
            <a:r>
              <a:rPr sz="1200" i="1" spc="135" dirty="0">
                <a:latin typeface="Arial"/>
                <a:cs typeface="Arial"/>
              </a:rPr>
              <a:t>t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Bu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)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330" dirty="0">
                <a:latin typeface="Times New Roman"/>
                <a:cs typeface="Times New Roman"/>
              </a:rPr>
              <a:t> </a:t>
            </a:r>
            <a:r>
              <a:rPr sz="1200" i="1" spc="-465" dirty="0">
                <a:latin typeface="Arial"/>
                <a:cs typeface="Arial"/>
              </a:rPr>
              <a:t>x</a:t>
            </a:r>
            <a:r>
              <a:rPr sz="1200" spc="40" dirty="0">
                <a:latin typeface="Arial"/>
                <a:cs typeface="Arial"/>
              </a:rPr>
              <a:t>ˆ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i="1" spc="5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1)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i="1" spc="30" dirty="0">
                <a:latin typeface="Arial"/>
                <a:cs typeface="Arial"/>
              </a:rPr>
              <a:t>A</a:t>
            </a:r>
            <a:r>
              <a:rPr sz="1200" i="1" spc="-490" dirty="0">
                <a:latin typeface="Arial"/>
                <a:cs typeface="Arial"/>
              </a:rPr>
              <a:t>x</a:t>
            </a:r>
            <a:r>
              <a:rPr sz="1200" spc="15" dirty="0">
                <a:latin typeface="Arial"/>
                <a:cs typeface="Arial"/>
              </a:rPr>
              <a:t>ˆ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1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i="1" spc="-20" dirty="0">
                <a:latin typeface="Arial"/>
                <a:cs typeface="Arial"/>
              </a:rPr>
              <a:t>Bu</a:t>
            </a:r>
            <a:r>
              <a:rPr sz="1200" spc="-20" dirty="0">
                <a:latin typeface="Arial"/>
                <a:cs typeface="Arial"/>
              </a:rPr>
              <a:t>(</a:t>
            </a:r>
            <a:r>
              <a:rPr sz="1200" i="1" spc="-20" dirty="0">
                <a:latin typeface="Arial"/>
                <a:cs typeface="Arial"/>
              </a:rPr>
              <a:t>k</a:t>
            </a:r>
            <a:r>
              <a:rPr sz="1200" spc="-2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9574" y="1730375"/>
            <a:ext cx="20510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0" dirty="0">
                <a:latin typeface="Arial"/>
                <a:cs typeface="Arial"/>
              </a:rPr>
              <a:t>e.g.</a:t>
            </a:r>
            <a:endParaRPr sz="8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215442" y="1724914"/>
                <a:ext cx="4223208" cy="1552348"/>
              </a:xfrm>
              <a:prstGeom prst="rect">
                <a:avLst/>
              </a:prstGeom>
            </p:spPr>
            <p:txBody>
              <a:bodyPr vert="horz" wrap="square" lIns="0" tIns="76835" rIns="0" bIns="0" rtlCol="0">
                <a:spAutoFit/>
              </a:bodyPr>
              <a:lstStyle/>
              <a:p>
                <a:pPr marL="230504">
                  <a:lnSpc>
                    <a:spcPct val="100000"/>
                  </a:lnSpc>
                  <a:spcBef>
                    <a:spcPts val="605"/>
                  </a:spcBef>
                </a:pPr>
                <a:r>
                  <a:rPr lang="en-US" sz="1200" dirty="0">
                    <a:latin typeface="Arial"/>
                    <a:cs typeface="Arial"/>
                  </a:rPr>
                  <a:t>with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a </a:t>
                </a:r>
                <a:r>
                  <a:rPr lang="en-US" sz="1200" spc="-50" dirty="0">
                    <a:latin typeface="Arial"/>
                    <a:cs typeface="Arial"/>
                  </a:rPr>
                  <a:t>best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120" dirty="0">
                    <a:latin typeface="Arial"/>
                    <a:cs typeface="Arial"/>
                  </a:rPr>
                  <a:t>guess</a:t>
                </a:r>
                <a:r>
                  <a:rPr lang="en-US" sz="1200" spc="3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of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initial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55" dirty="0">
                    <a:latin typeface="Arial"/>
                    <a:cs typeface="Arial"/>
                  </a:rPr>
                  <a:t>estimate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i="1" spc="-445" dirty="0">
                    <a:latin typeface="Arial"/>
                    <a:cs typeface="Arial"/>
                  </a:rPr>
                  <a:t>x</a:t>
                </a:r>
                <a:r>
                  <a:rPr lang="en-US" sz="1200" spc="60" dirty="0"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latin typeface="Arial"/>
                    <a:cs typeface="Arial"/>
                  </a:rPr>
                  <a:t>(0)</a:t>
                </a:r>
                <a:r>
                  <a:rPr lang="en-US" sz="1200" spc="17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175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0.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509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9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35" dirty="0">
                    <a:latin typeface="Arial"/>
                    <a:cs typeface="Arial"/>
                  </a:rPr>
                  <a:t>error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dynamics:</a:t>
                </a:r>
                <a:r>
                  <a:rPr lang="en-US" sz="1200" spc="11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e</a:t>
                </a:r>
                <a:r>
                  <a:rPr lang="en-US" sz="1200" i="1" spc="2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5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i="1" spc="-15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370" dirty="0">
                    <a:latin typeface="Arial"/>
                    <a:cs typeface="Arial"/>
                  </a:rPr>
                  <a:t>x</a:t>
                </a:r>
                <a:r>
                  <a:rPr lang="en-US" sz="1200" spc="135" dirty="0">
                    <a:latin typeface="Arial"/>
                    <a:cs typeface="Arial"/>
                  </a:rPr>
                  <a:t>ˆ</a:t>
                </a:r>
                <a:r>
                  <a:rPr lang="en-US" sz="1200" spc="150" dirty="0">
                    <a:latin typeface="Arial"/>
                    <a:cs typeface="Arial"/>
                  </a:rPr>
                  <a:t>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634365">
                  <a:lnSpc>
                    <a:spcPct val="100000"/>
                  </a:lnSpc>
                  <a:spcBef>
                    <a:spcPts val="106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4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40" smtClean="0">
                            <a:latin typeface="Cambria Math" panose="02040503050406030204" pitchFamily="18" charset="0"/>
                            <a:cs typeface="Arial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sz="1200" spc="-40" dirty="0">
                    <a:latin typeface="Arial"/>
                    <a:cs typeface="Arial"/>
                  </a:rPr>
                  <a:t>(</a:t>
                </a:r>
                <a:r>
                  <a:rPr lang="en-US" sz="1200" i="1" spc="-40" dirty="0">
                    <a:latin typeface="Arial"/>
                    <a:cs typeface="Arial"/>
                  </a:rPr>
                  <a:t>t</a:t>
                </a:r>
                <a:r>
                  <a:rPr lang="en-US" sz="1200" spc="-40" dirty="0">
                    <a:latin typeface="Arial"/>
                    <a:cs typeface="Arial"/>
                  </a:rPr>
                  <a:t>)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Ae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t</a:t>
                </a:r>
                <a:r>
                  <a:rPr lang="en-US" sz="1200" dirty="0">
                    <a:latin typeface="Arial"/>
                    <a:cs typeface="Arial"/>
                  </a:rPr>
                  <a:t>)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30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e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k</a:t>
                </a:r>
                <a:r>
                  <a:rPr lang="en-US" sz="1200" i="1" spc="3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6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1)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Ae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k</a:t>
                </a:r>
                <a:r>
                  <a:rPr lang="en-US" sz="1200" dirty="0">
                    <a:latin typeface="Arial"/>
                    <a:cs typeface="Arial"/>
                  </a:rPr>
                  <a:t>)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30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e</a:t>
                </a:r>
                <a:r>
                  <a:rPr lang="en-US" sz="1200" dirty="0">
                    <a:latin typeface="Arial"/>
                    <a:cs typeface="Arial"/>
                  </a:rPr>
                  <a:t>(0)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latin typeface="Arial"/>
                    <a:cs typeface="Arial"/>
                  </a:rPr>
                  <a:t>0</a:t>
                </a:r>
                <a:r>
                  <a:rPr lang="en-US" sz="1200" spc="142" baseline="-13888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5" dirty="0">
                    <a:latin typeface="Menlo"/>
                    <a:cs typeface="Menlo"/>
                  </a:rPr>
                  <a:t> </a:t>
                </a:r>
                <a:r>
                  <a:rPr lang="en-US" sz="1200" i="1" spc="-425" dirty="0"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latin typeface="Arial"/>
                    <a:cs typeface="Arial"/>
                  </a:rPr>
                  <a:t>ˆ</a:t>
                </a:r>
                <a:r>
                  <a:rPr lang="en-US" sz="1200" spc="95" dirty="0">
                    <a:latin typeface="Arial"/>
                    <a:cs typeface="Arial"/>
                  </a:rPr>
                  <a:t>(0)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45440">
                  <a:lnSpc>
                    <a:spcPct val="100000"/>
                  </a:lnSpc>
                  <a:spcBef>
                    <a:spcPts val="1240"/>
                  </a:spcBef>
                </a:pPr>
                <a:r>
                  <a:rPr lang="en-US" sz="1650" spc="262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650" spc="330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100" spc="-60" dirty="0">
                    <a:latin typeface="Arial"/>
                    <a:cs typeface="Arial"/>
                  </a:rPr>
                  <a:t>sensitive</a:t>
                </a:r>
                <a:r>
                  <a:rPr lang="en-US" sz="1100" spc="30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Arial"/>
                    <a:cs typeface="Arial"/>
                  </a:rPr>
                  <a:t>to</a:t>
                </a:r>
                <a:r>
                  <a:rPr lang="en-US" sz="1100" spc="25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Arial"/>
                    <a:cs typeface="Arial"/>
                  </a:rPr>
                  <a:t>input</a:t>
                </a:r>
                <a:r>
                  <a:rPr lang="en-US" sz="1100" spc="25" dirty="0"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latin typeface="Arial"/>
                    <a:cs typeface="Arial"/>
                  </a:rPr>
                  <a:t>disturbances</a:t>
                </a:r>
                <a:endParaRPr lang="en-US" sz="1100" dirty="0">
                  <a:latin typeface="Arial"/>
                  <a:cs typeface="Arial"/>
                </a:endParaRPr>
              </a:p>
              <a:p>
                <a:pPr marL="345440">
                  <a:lnSpc>
                    <a:spcPct val="100000"/>
                  </a:lnSpc>
                  <a:spcBef>
                    <a:spcPts val="35"/>
                  </a:spcBef>
                </a:pPr>
                <a:r>
                  <a:rPr lang="en-US" sz="1650" spc="262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650" spc="270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100" dirty="0">
                    <a:latin typeface="Arial"/>
                    <a:cs typeface="Arial"/>
                  </a:rPr>
                  <a:t>if</a:t>
                </a:r>
                <a:r>
                  <a:rPr lang="en-US" sz="1100" spc="5" dirty="0">
                    <a:latin typeface="Arial"/>
                    <a:cs typeface="Arial"/>
                  </a:rPr>
                  <a:t> </a:t>
                </a:r>
                <a:r>
                  <a:rPr lang="en-US" sz="1100" i="1" dirty="0">
                    <a:latin typeface="Arial"/>
                    <a:cs typeface="Arial"/>
                  </a:rPr>
                  <a:t>A </a:t>
                </a:r>
                <a:r>
                  <a:rPr lang="en-US" sz="1100" spc="-10" dirty="0">
                    <a:latin typeface="Arial"/>
                    <a:cs typeface="Arial"/>
                  </a:rPr>
                  <a:t>is</a:t>
                </a:r>
                <a:r>
                  <a:rPr lang="en-US" sz="1100" dirty="0">
                    <a:latin typeface="Arial"/>
                    <a:cs typeface="Arial"/>
                  </a:rPr>
                  <a:t> not</a:t>
                </a:r>
                <a:r>
                  <a:rPr lang="en-US" sz="1100" spc="5" dirty="0"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latin typeface="Arial"/>
                    <a:cs typeface="Arial"/>
                  </a:rPr>
                  <a:t>Hurwitz/Schur</a:t>
                </a:r>
                <a:r>
                  <a:rPr lang="en-US" sz="1100" dirty="0">
                    <a:latin typeface="Arial"/>
                    <a:cs typeface="Arial"/>
                  </a:rPr>
                  <a:t> </a:t>
                </a:r>
                <a:r>
                  <a:rPr lang="en-US" sz="1100" spc="-35" dirty="0">
                    <a:latin typeface="Arial"/>
                    <a:cs typeface="Arial"/>
                  </a:rPr>
                  <a:t>stable,</a:t>
                </a:r>
                <a:r>
                  <a:rPr lang="en-US" sz="1100" dirty="0">
                    <a:latin typeface="Arial"/>
                    <a:cs typeface="Arial"/>
                  </a:rPr>
                  <a:t> the </a:t>
                </a:r>
                <a:r>
                  <a:rPr lang="en-US" sz="1100" spc="-30" dirty="0">
                    <a:latin typeface="Arial"/>
                    <a:cs typeface="Arial"/>
                  </a:rPr>
                  <a:t>error</a:t>
                </a:r>
                <a:r>
                  <a:rPr lang="en-US" sz="1100" spc="5" dirty="0"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latin typeface="Arial"/>
                    <a:cs typeface="Arial"/>
                  </a:rPr>
                  <a:t>diverges</a:t>
                </a:r>
                <a:endParaRPr lang="en-US" sz="1100" dirty="0"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27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9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70" dirty="0">
                    <a:latin typeface="Arial"/>
                    <a:cs typeface="Arial"/>
                  </a:rPr>
                  <a:t>open-</a:t>
                </a:r>
                <a:r>
                  <a:rPr lang="en-US" sz="1200" spc="-30" dirty="0">
                    <a:latin typeface="Arial"/>
                    <a:cs typeface="Arial"/>
                  </a:rPr>
                  <a:t>loop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observers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look </a:t>
                </a:r>
                <a:r>
                  <a:rPr lang="en-US" sz="1200" spc="-55" dirty="0">
                    <a:latin typeface="Arial"/>
                    <a:cs typeface="Arial"/>
                  </a:rPr>
                  <a:t>simple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but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do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not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spc="-40" dirty="0">
                    <a:latin typeface="Arial"/>
                    <a:cs typeface="Arial"/>
                  </a:rPr>
                  <a:t>work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in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practice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1724914"/>
                <a:ext cx="4223208" cy="1552348"/>
              </a:xfrm>
              <a:prstGeom prst="rect">
                <a:avLst/>
              </a:prstGeom>
              <a:blipFill>
                <a:blip r:embed="rId2"/>
                <a:stretch>
                  <a:fillRect l="-1299" b="-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2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3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662679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40" dirty="0"/>
              <a:t> </a:t>
            </a:r>
            <a:r>
              <a:rPr spc="-105" dirty="0"/>
              <a:t>(closed-</a:t>
            </a:r>
            <a:r>
              <a:rPr spc="-40" dirty="0"/>
              <a:t>loop)</a:t>
            </a:r>
            <a:r>
              <a:rPr spc="40" dirty="0"/>
              <a:t> </a:t>
            </a:r>
            <a:r>
              <a:rPr spc="-140" dirty="0"/>
              <a:t>observer</a:t>
            </a:r>
            <a:r>
              <a:rPr spc="40" dirty="0"/>
              <a:t> </a:t>
            </a:r>
            <a:r>
              <a:rPr spc="-85" dirty="0"/>
              <a:t>concept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02742" y="533930"/>
                <a:ext cx="4307205" cy="134793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3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60" dirty="0">
                    <a:latin typeface="Arial"/>
                    <a:cs typeface="Arial"/>
                  </a:rPr>
                  <a:t>given</a:t>
                </a:r>
                <a:r>
                  <a:rPr lang="en-US" sz="1200" spc="40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system</a:t>
                </a:r>
                <a:r>
                  <a:rPr lang="en-US" sz="1200" spc="3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dynamics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788035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20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20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5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Ax</a:t>
                </a:r>
                <a:r>
                  <a:rPr lang="en-US" sz="1200" i="1" spc="3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Bu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spc="-75" dirty="0">
                    <a:latin typeface="Arial"/>
                    <a:cs typeface="Arial"/>
                  </a:rPr>
                  <a:t>x</a:t>
                </a:r>
                <a:r>
                  <a:rPr lang="en-US" sz="1200" i="1" spc="-22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(0)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latin typeface="Arial"/>
                    <a:cs typeface="Arial"/>
                  </a:rPr>
                  <a:t>0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</a:t>
                </a:r>
                <a:r>
                  <a:rPr lang="en-US" sz="1200" i="1" spc="-15" dirty="0"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latin typeface="Menlo"/>
                    <a:cs typeface="Menlo"/>
                  </a:rPr>
                  <a:t> </a:t>
                </a:r>
                <a:r>
                  <a:rPr lang="en-US" sz="1200" spc="55" dirty="0">
                    <a:latin typeface="Times New Roman"/>
                    <a:cs typeface="Times New Roman"/>
                  </a:rPr>
                  <a:t>R</a:t>
                </a:r>
                <a:r>
                  <a:rPr lang="en-US" sz="1200" i="1" spc="82" baseline="34722" dirty="0">
                    <a:latin typeface="Arial"/>
                    <a:cs typeface="Arial"/>
                  </a:rPr>
                  <a:t>n</a:t>
                </a:r>
                <a:r>
                  <a:rPr lang="en-US" sz="1200" i="1" spc="82" baseline="34722" dirty="0">
                    <a:latin typeface="Hack"/>
                    <a:cs typeface="Hack"/>
                  </a:rPr>
                  <a:t>×</a:t>
                </a:r>
                <a:r>
                  <a:rPr lang="en-US" sz="1200" i="1" spc="82" baseline="34722" dirty="0">
                    <a:latin typeface="Arial"/>
                    <a:cs typeface="Arial"/>
                  </a:rPr>
                  <a:t>n</a:t>
                </a:r>
                <a:r>
                  <a:rPr lang="en-US" sz="1200" i="1" spc="55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-100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B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latin typeface="Menlo"/>
                    <a:cs typeface="Menlo"/>
                  </a:rPr>
                  <a:t> </a:t>
                </a:r>
                <a:r>
                  <a:rPr lang="en-US" sz="1200" spc="40" dirty="0">
                    <a:latin typeface="Times New Roman"/>
                    <a:cs typeface="Times New Roman"/>
                  </a:rPr>
                  <a:t>R</a:t>
                </a:r>
                <a:r>
                  <a:rPr lang="en-US" sz="1200" i="1" spc="60" baseline="34722" dirty="0">
                    <a:latin typeface="Arial"/>
                    <a:cs typeface="Arial"/>
                  </a:rPr>
                  <a:t>n</a:t>
                </a:r>
                <a:r>
                  <a:rPr lang="en-US" sz="1200" i="1" spc="60" baseline="34722" dirty="0">
                    <a:latin typeface="Hack"/>
                    <a:cs typeface="Hack"/>
                  </a:rPr>
                  <a:t>×</a:t>
                </a:r>
                <a:r>
                  <a:rPr lang="en-US" sz="1200" i="1" spc="60" baseline="34722" dirty="0">
                    <a:latin typeface="Arial"/>
                    <a:cs typeface="Arial"/>
                  </a:rPr>
                  <a:t>r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 marL="78549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5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Cx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3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latin typeface="Menlo"/>
                    <a:cs typeface="Menlo"/>
                  </a:rPr>
                  <a:t>∈</a:t>
                </a:r>
                <a:r>
                  <a:rPr lang="en-US" sz="1200" spc="-390" dirty="0">
                    <a:latin typeface="Menlo"/>
                    <a:cs typeface="Menlo"/>
                  </a:rPr>
                  <a:t> </a:t>
                </a:r>
                <a:r>
                  <a:rPr lang="en-US" sz="1200" spc="35" dirty="0">
                    <a:latin typeface="Times New Roman"/>
                    <a:cs typeface="Times New Roman"/>
                  </a:rPr>
                  <a:t>R</a:t>
                </a:r>
                <a:r>
                  <a:rPr lang="en-US" sz="1200" i="1" spc="52" baseline="34722" dirty="0">
                    <a:latin typeface="Arial"/>
                    <a:cs typeface="Arial"/>
                  </a:rPr>
                  <a:t>m</a:t>
                </a:r>
                <a:r>
                  <a:rPr lang="en-US" sz="1200" i="1" spc="52" baseline="34722" dirty="0">
                    <a:latin typeface="Hack"/>
                    <a:cs typeface="Hack"/>
                  </a:rPr>
                  <a:t>×</a:t>
                </a:r>
                <a:r>
                  <a:rPr lang="en-US" sz="1200" i="1" spc="52" baseline="34722" dirty="0">
                    <a:latin typeface="Arial"/>
                    <a:cs typeface="Arial"/>
                  </a:rPr>
                  <a:t>n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14"/>
                  </a:spcBef>
                </a:pPr>
                <a:endParaRPr lang="en-US" sz="1200" dirty="0">
                  <a:latin typeface="Arial"/>
                  <a:cs typeface="Arial"/>
                </a:endParaRPr>
              </a:p>
              <a:p>
                <a:pPr marL="243204" marR="43180" indent="-193040">
                  <a:lnSpc>
                    <a:spcPct val="100000"/>
                  </a:lnSpc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0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in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40" dirty="0">
                    <a:latin typeface="Arial"/>
                    <a:cs typeface="Arial"/>
                  </a:rPr>
                  <a:t>contrast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to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70" dirty="0">
                    <a:latin typeface="Arial"/>
                    <a:cs typeface="Arial"/>
                  </a:rPr>
                  <a:t>open-</a:t>
                </a:r>
                <a:r>
                  <a:rPr lang="en-US" sz="1200" spc="-40" dirty="0">
                    <a:latin typeface="Arial"/>
                    <a:cs typeface="Arial"/>
                  </a:rPr>
                  <a:t>loop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observers,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the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70" dirty="0">
                    <a:latin typeface="Arial"/>
                    <a:cs typeface="Arial"/>
                  </a:rPr>
                  <a:t>Luenberger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spc="-90" dirty="0">
                    <a:latin typeface="Arial"/>
                    <a:cs typeface="Arial"/>
                  </a:rPr>
                  <a:t>observer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45" dirty="0">
                    <a:latin typeface="Arial"/>
                    <a:cs typeface="Arial"/>
                  </a:rPr>
                  <a:t>adds </a:t>
                </a:r>
                <a:r>
                  <a:rPr lang="en-US" sz="1200" spc="-40" dirty="0">
                    <a:latin typeface="Arial"/>
                    <a:cs typeface="Arial"/>
                  </a:rPr>
                  <a:t>correction</a:t>
                </a:r>
                <a:r>
                  <a:rPr lang="en-US" sz="1200" spc="-45" dirty="0">
                    <a:latin typeface="Arial"/>
                    <a:cs typeface="Arial"/>
                  </a:rPr>
                  <a:t> </a:t>
                </a:r>
                <a:r>
                  <a:rPr lang="en-US" sz="1200" spc="-105" dirty="0">
                    <a:latin typeface="Arial"/>
                    <a:cs typeface="Arial"/>
                  </a:rPr>
                  <a:t>based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on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output</a:t>
                </a:r>
                <a:r>
                  <a:rPr lang="en-US" sz="1200" spc="-4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differences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2" y="533930"/>
                <a:ext cx="4307205" cy="1347933"/>
              </a:xfrm>
              <a:prstGeom prst="rect">
                <a:avLst/>
              </a:prstGeom>
              <a:blipFill>
                <a:blip r:embed="rId2"/>
                <a:stretch>
                  <a:fillRect l="-990" t="-3620" b="-4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274" y="2015815"/>
            <a:ext cx="2443603" cy="107800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4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40" dirty="0"/>
              <a:t> </a:t>
            </a:r>
            <a:r>
              <a:rPr spc="-105" dirty="0"/>
              <a:t>(closed-</a:t>
            </a:r>
            <a:r>
              <a:rPr spc="-40" dirty="0"/>
              <a:t>loop)</a:t>
            </a:r>
            <a:r>
              <a:rPr spc="40" dirty="0"/>
              <a:t> </a:t>
            </a:r>
            <a:r>
              <a:rPr spc="-140" dirty="0"/>
              <a:t>observer</a:t>
            </a:r>
            <a:r>
              <a:rPr spc="40" dirty="0"/>
              <a:t> </a:t>
            </a:r>
            <a:r>
              <a:rPr spc="-55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77" y="1159903"/>
            <a:ext cx="1825892" cy="506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24722" y="703298"/>
            <a:ext cx="12388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95" dirty="0">
                <a:latin typeface="Arial"/>
                <a:cs typeface="Arial"/>
              </a:rPr>
              <a:t>observer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concept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6622" y="946277"/>
            <a:ext cx="2515635" cy="506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03227" y="1048773"/>
            <a:ext cx="2280636" cy="1006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118478" y="916924"/>
                <a:ext cx="4329430" cy="2007729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35"/>
                  </a:spcBef>
                </a:pPr>
                <a:r>
                  <a:rPr lang="en-US" sz="1400" spc="-10" dirty="0">
                    <a:latin typeface="Arial"/>
                    <a:cs typeface="Arial"/>
                  </a:rPr>
                  <a:t>plant:</a:t>
                </a:r>
                <a:endParaRPr lang="en-US" sz="14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70"/>
                  </a:spcBef>
                </a:pPr>
                <a:endParaRPr lang="en-US" sz="1400" dirty="0">
                  <a:latin typeface="Arial"/>
                  <a:cs typeface="Arial"/>
                </a:endParaRPr>
              </a:p>
              <a:p>
                <a:pPr marL="127000" marR="2654300" indent="1905">
                  <a:lnSpc>
                    <a:spcPct val="1211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11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11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11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Ax</a:t>
                </a:r>
                <a:r>
                  <a:rPr lang="en-US" sz="1200" i="1" spc="3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Bu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80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spc="-75" dirty="0">
                    <a:latin typeface="Arial"/>
                    <a:cs typeface="Arial"/>
                  </a:rPr>
                  <a:t>x</a:t>
                </a:r>
                <a:r>
                  <a:rPr lang="en-US" sz="1200" i="1" spc="-22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(0)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i="1" spc="-40" dirty="0">
                    <a:latin typeface="Arial"/>
                    <a:cs typeface="Arial"/>
                  </a:rPr>
                  <a:t>x</a:t>
                </a:r>
                <a:r>
                  <a:rPr lang="en-US" sz="1200" spc="-60" baseline="-13888" dirty="0">
                    <a:latin typeface="Arial"/>
                    <a:cs typeface="Arial"/>
                  </a:rPr>
                  <a:t>0</a:t>
                </a:r>
                <a:r>
                  <a:rPr lang="en-US" sz="1200" baseline="-13888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Cx</a:t>
                </a:r>
                <a:endParaRPr lang="en-US" sz="12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815"/>
                  </a:spcBef>
                </a:pPr>
                <a:endParaRPr lang="en-US" sz="1200" dirty="0">
                  <a:latin typeface="Arial"/>
                  <a:cs typeface="Arial"/>
                </a:endParaRPr>
              </a:p>
              <a:p>
                <a:pPr marL="134620">
                  <a:lnSpc>
                    <a:spcPct val="100000"/>
                  </a:lnSpc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6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observer</a:t>
                </a:r>
                <a:r>
                  <a:rPr lang="en-US" sz="1200" spc="5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realization: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89890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b="0" i="1" spc="-10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en-US" sz="1200" b="0" i="1" spc="20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200" b="0" i="1" spc="200" smtClean="0"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latin typeface="Arial"/>
                    <a:cs typeface="Arial"/>
                  </a:rPr>
                  <a:t>ˆ</a:t>
                </a:r>
                <a:r>
                  <a:rPr lang="en-US" sz="1200" spc="-8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latin typeface="Arial"/>
                    <a:cs typeface="Arial"/>
                  </a:rPr>
                  <a:t>Bu</a:t>
                </a:r>
                <a:r>
                  <a:rPr lang="en-US" sz="1200" i="1" spc="-1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latin typeface="Arial"/>
                    <a:cs typeface="Arial"/>
                  </a:rPr>
                  <a:t>L</a:t>
                </a:r>
                <a:r>
                  <a:rPr lang="en-US" sz="1200" i="1" spc="-13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60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434" dirty="0">
                    <a:latin typeface="Arial"/>
                    <a:cs typeface="Arial"/>
                  </a:rPr>
                  <a:t>y</a:t>
                </a:r>
                <a:r>
                  <a:rPr lang="en-US" sz="1200" spc="65" dirty="0"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latin typeface="Arial"/>
                    <a:cs typeface="Arial"/>
                  </a:rPr>
                  <a:t>)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latin typeface="Arial"/>
                    <a:cs typeface="Arial"/>
                  </a:rPr>
                  <a:t>Bu</a:t>
                </a:r>
                <a:r>
                  <a:rPr lang="en-US" sz="1200" i="1" spc="-1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latin typeface="Arial"/>
                    <a:cs typeface="Arial"/>
                  </a:rPr>
                  <a:t>L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65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130" dirty="0">
                    <a:latin typeface="Arial"/>
                    <a:cs typeface="Arial"/>
                  </a:rPr>
                  <a:t>C</a:t>
                </a:r>
                <a:r>
                  <a:rPr lang="en-US" sz="1200" i="1" spc="-190" dirty="0">
                    <a:latin typeface="Arial"/>
                    <a:cs typeface="Arial"/>
                  </a:rPr>
                  <a:t> </a:t>
                </a:r>
                <a:r>
                  <a:rPr lang="en-US" sz="1200" i="1" spc="-445" dirty="0">
                    <a:latin typeface="Arial"/>
                    <a:cs typeface="Arial"/>
                  </a:rPr>
                  <a:t>x</a:t>
                </a:r>
                <a:r>
                  <a:rPr lang="en-US" sz="1200" spc="60" dirty="0"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latin typeface="Arial"/>
                    <a:cs typeface="Arial"/>
                  </a:rPr>
                  <a:t>)</a:t>
                </a:r>
                <a:r>
                  <a:rPr lang="en-US" sz="1200" spc="-13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90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spc="-484" dirty="0">
                    <a:latin typeface="Arial"/>
                    <a:cs typeface="Arial"/>
                  </a:rPr>
                  <a:t>x</a:t>
                </a:r>
                <a:r>
                  <a:rPr lang="en-US" sz="1200" spc="20" dirty="0">
                    <a:latin typeface="Arial"/>
                    <a:cs typeface="Arial"/>
                  </a:rPr>
                  <a:t>ˆ</a:t>
                </a:r>
                <a:r>
                  <a:rPr lang="en-US" sz="1200" spc="35" dirty="0">
                    <a:latin typeface="Arial"/>
                    <a:cs typeface="Arial"/>
                  </a:rPr>
                  <a:t>(0)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0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514350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A</a:t>
                </a:r>
                <a:r>
                  <a:rPr lang="en-US" sz="1200" i="1" spc="-75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85" dirty="0">
                    <a:latin typeface="Arial"/>
                    <a:cs typeface="Arial"/>
                  </a:rPr>
                  <a:t>LC</a:t>
                </a:r>
                <a:r>
                  <a:rPr lang="en-US" sz="1200" i="1" spc="-190" dirty="0"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latin typeface="Arial"/>
                    <a:cs typeface="Arial"/>
                  </a:rPr>
                  <a:t>)</a:t>
                </a:r>
                <a:r>
                  <a:rPr lang="en-US" sz="1200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latin typeface="Arial"/>
                    <a:cs typeface="Arial"/>
                  </a:rPr>
                  <a:t>ˆ</a:t>
                </a:r>
                <a:r>
                  <a:rPr lang="en-US" sz="1200" spc="-9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Ly</a:t>
                </a:r>
                <a:r>
                  <a:rPr lang="en-US" sz="1200" i="1" spc="5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Bu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78" y="916924"/>
                <a:ext cx="4329430" cy="2007729"/>
              </a:xfrm>
              <a:prstGeom prst="rect">
                <a:avLst/>
              </a:prstGeom>
              <a:blipFill>
                <a:blip r:embed="rId5"/>
                <a:stretch>
                  <a:fillRect l="-1688" t="-1818" b="-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5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25" dirty="0"/>
              <a:t> </a:t>
            </a:r>
            <a:r>
              <a:rPr spc="-105" dirty="0"/>
              <a:t>(closed-</a:t>
            </a:r>
            <a:r>
              <a:rPr spc="-40" dirty="0"/>
              <a:t>loop)</a:t>
            </a:r>
            <a:r>
              <a:rPr spc="25" dirty="0"/>
              <a:t> </a:t>
            </a:r>
            <a:r>
              <a:rPr spc="-140" dirty="0"/>
              <a:t>observer</a:t>
            </a:r>
            <a:r>
              <a:rPr spc="25" dirty="0"/>
              <a:t> </a:t>
            </a:r>
            <a:r>
              <a:rPr spc="-80" dirty="0"/>
              <a:t>error</a:t>
            </a:r>
            <a:r>
              <a:rPr spc="25" dirty="0"/>
              <a:t> </a:t>
            </a:r>
            <a:r>
              <a:rPr spc="-100" dirty="0"/>
              <a:t>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190042" y="475828"/>
                <a:ext cx="4270375" cy="284693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5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system</a:t>
                </a:r>
                <a:r>
                  <a:rPr lang="en-US" sz="1200" spc="5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dynamics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800735">
                  <a:lnSpc>
                    <a:spcPct val="100000"/>
                  </a:lnSpc>
                  <a:spcBef>
                    <a:spcPts val="102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200" b="0" i="1" spc="11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ar-AE" sz="1200" b="0" i="1" spc="11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altLang="zh-CN" sz="1200" spc="110" dirty="0">
                    <a:latin typeface="Arial"/>
                    <a:cs typeface="Arial"/>
                  </a:rPr>
                  <a:t> </a:t>
                </a:r>
                <a:r>
                  <a:rPr lang="ar-AE" sz="1200" spc="200" dirty="0">
                    <a:latin typeface="Arial"/>
                    <a:cs typeface="Arial"/>
                  </a:rPr>
                  <a:t>=</a:t>
                </a:r>
                <a:r>
                  <a:rPr lang="ar-AE" sz="1200" spc="-5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Ax</a:t>
                </a:r>
                <a:r>
                  <a:rPr lang="en-US" sz="1200" i="1" spc="3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Bu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spc="-75" dirty="0">
                    <a:latin typeface="Arial"/>
                    <a:cs typeface="Arial"/>
                  </a:rPr>
                  <a:t>x</a:t>
                </a:r>
                <a:r>
                  <a:rPr lang="en-US" sz="1200" i="1" spc="-22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(0)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latin typeface="Arial"/>
                    <a:cs typeface="Arial"/>
                  </a:rPr>
                  <a:t>0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</a:t>
                </a:r>
                <a:r>
                  <a:rPr lang="en-US" sz="1200" i="1" spc="-15" dirty="0"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latin typeface="Menlo"/>
                    <a:cs typeface="Menlo"/>
                  </a:rPr>
                  <a:t> </a:t>
                </a:r>
                <a:r>
                  <a:rPr lang="en-US" sz="1200" spc="55" dirty="0">
                    <a:latin typeface="Times New Roman"/>
                    <a:cs typeface="Times New Roman"/>
                  </a:rPr>
                  <a:t>R</a:t>
                </a:r>
                <a:r>
                  <a:rPr lang="en-US" sz="1200" i="1" spc="82" baseline="34722" dirty="0">
                    <a:latin typeface="Arial"/>
                    <a:cs typeface="Arial"/>
                  </a:rPr>
                  <a:t>n</a:t>
                </a:r>
                <a:r>
                  <a:rPr lang="en-US" sz="1200" i="1" spc="82" baseline="34722" dirty="0">
                    <a:latin typeface="Hack"/>
                    <a:cs typeface="Hack"/>
                  </a:rPr>
                  <a:t>×</a:t>
                </a:r>
                <a:r>
                  <a:rPr lang="en-US" sz="1200" i="1" spc="82" baseline="34722" dirty="0">
                    <a:latin typeface="Arial"/>
                    <a:cs typeface="Arial"/>
                  </a:rPr>
                  <a:t>n</a:t>
                </a:r>
                <a:r>
                  <a:rPr lang="en-US" sz="1200" i="1" spc="55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-100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B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latin typeface="Menlo"/>
                    <a:cs typeface="Menlo"/>
                  </a:rPr>
                  <a:t> </a:t>
                </a:r>
                <a:r>
                  <a:rPr lang="en-US" sz="1200" spc="40" dirty="0">
                    <a:latin typeface="Times New Roman"/>
                    <a:cs typeface="Times New Roman"/>
                  </a:rPr>
                  <a:t>R</a:t>
                </a:r>
                <a:r>
                  <a:rPr lang="en-US" sz="1200" i="1" spc="60" baseline="34722" dirty="0">
                    <a:latin typeface="Arial"/>
                    <a:cs typeface="Arial"/>
                  </a:rPr>
                  <a:t>n</a:t>
                </a:r>
                <a:r>
                  <a:rPr lang="en-US" sz="1200" i="1" spc="60" baseline="34722" dirty="0">
                    <a:latin typeface="Hack"/>
                    <a:cs typeface="Hack"/>
                  </a:rPr>
                  <a:t>×</a:t>
                </a:r>
                <a:r>
                  <a:rPr lang="en-US" sz="1200" i="1" spc="60" baseline="34722" dirty="0">
                    <a:latin typeface="Arial"/>
                    <a:cs typeface="Arial"/>
                  </a:rPr>
                  <a:t>r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 marL="79819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5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Cx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3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latin typeface="Menlo"/>
                    <a:cs typeface="Menlo"/>
                  </a:rPr>
                  <a:t>∈</a:t>
                </a:r>
                <a:r>
                  <a:rPr lang="en-US" sz="1200" spc="-390" dirty="0">
                    <a:latin typeface="Menlo"/>
                    <a:cs typeface="Menlo"/>
                  </a:rPr>
                  <a:t> </a:t>
                </a:r>
                <a:r>
                  <a:rPr lang="en-US" sz="1200" spc="35" dirty="0">
                    <a:latin typeface="Times New Roman"/>
                    <a:cs typeface="Times New Roman"/>
                  </a:rPr>
                  <a:t>R</a:t>
                </a:r>
                <a:r>
                  <a:rPr lang="en-US" sz="1200" i="1" spc="52" baseline="34722" dirty="0">
                    <a:latin typeface="Arial"/>
                    <a:cs typeface="Arial"/>
                  </a:rPr>
                  <a:t>m</a:t>
                </a:r>
                <a:r>
                  <a:rPr lang="en-US" sz="1200" i="1" spc="52" baseline="34722" dirty="0">
                    <a:latin typeface="Hack"/>
                    <a:cs typeface="Hack"/>
                  </a:rPr>
                  <a:t>×</a:t>
                </a:r>
                <a:r>
                  <a:rPr lang="en-US" sz="1200" i="1" spc="52" baseline="34722" dirty="0">
                    <a:latin typeface="Arial"/>
                    <a:cs typeface="Arial"/>
                  </a:rPr>
                  <a:t>n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126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2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70" dirty="0">
                    <a:latin typeface="Arial"/>
                    <a:cs typeface="Arial"/>
                  </a:rPr>
                  <a:t>Luenberger</a:t>
                </a:r>
                <a:r>
                  <a:rPr lang="en-US" sz="1200" spc="35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observer</a:t>
                </a:r>
                <a:r>
                  <a:rPr lang="en-US" sz="1200" spc="3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with</a:t>
                </a:r>
                <a:r>
                  <a:rPr lang="en-US" sz="1200" spc="3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correction: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54635" algn="ctr">
                  <a:lnSpc>
                    <a:spcPct val="100000"/>
                  </a:lnSpc>
                  <a:spcBef>
                    <a:spcPts val="103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400" b="0" i="1" spc="-10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sz="1200" b="0" i="1" spc="20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zh-CN" altLang="ar-AE" sz="1200" b="0" i="1" spc="200" smtClean="0"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ar-AE" sz="1200" spc="200" dirty="0">
                    <a:latin typeface="Arial"/>
                    <a:cs typeface="Arial"/>
                  </a:rPr>
                  <a:t>=</a:t>
                </a:r>
                <a:r>
                  <a:rPr lang="ar-AE" sz="1200" spc="-5" dirty="0"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latin typeface="Arial"/>
                    <a:cs typeface="Arial"/>
                  </a:rPr>
                  <a:t>ˆ</a:t>
                </a:r>
                <a:r>
                  <a:rPr lang="en-US" sz="1200" spc="-8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latin typeface="Arial"/>
                    <a:cs typeface="Arial"/>
                  </a:rPr>
                  <a:t>Bu</a:t>
                </a:r>
                <a:r>
                  <a:rPr lang="en-US" sz="1200" i="1" spc="-1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latin typeface="Arial"/>
                    <a:cs typeface="Arial"/>
                  </a:rPr>
                  <a:t>L</a:t>
                </a:r>
                <a:r>
                  <a:rPr lang="en-US" sz="1200" i="1" spc="-13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60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434" dirty="0">
                    <a:latin typeface="Arial"/>
                    <a:cs typeface="Arial"/>
                  </a:rPr>
                  <a:t>y</a:t>
                </a:r>
                <a:r>
                  <a:rPr lang="en-US" sz="1200" spc="65" dirty="0"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latin typeface="Arial"/>
                    <a:cs typeface="Arial"/>
                  </a:rPr>
                  <a:t>)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latin typeface="Arial"/>
                    <a:cs typeface="Arial"/>
                  </a:rPr>
                  <a:t>Bu</a:t>
                </a:r>
                <a:r>
                  <a:rPr lang="en-US" sz="1200" i="1" spc="-1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latin typeface="Arial"/>
                    <a:cs typeface="Arial"/>
                  </a:rPr>
                  <a:t>L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65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130" dirty="0">
                    <a:latin typeface="Arial"/>
                    <a:cs typeface="Arial"/>
                  </a:rPr>
                  <a:t>C</a:t>
                </a:r>
                <a:r>
                  <a:rPr lang="en-US" sz="1200" i="1" spc="-190" dirty="0">
                    <a:latin typeface="Arial"/>
                    <a:cs typeface="Arial"/>
                  </a:rPr>
                  <a:t> </a:t>
                </a:r>
                <a:r>
                  <a:rPr lang="en-US" sz="1200" i="1" spc="-445" dirty="0">
                    <a:latin typeface="Arial"/>
                    <a:cs typeface="Arial"/>
                  </a:rPr>
                  <a:t>x</a:t>
                </a:r>
                <a:r>
                  <a:rPr lang="en-US" sz="1200" spc="60" dirty="0"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latin typeface="Arial"/>
                    <a:cs typeface="Arial"/>
                  </a:rPr>
                  <a:t>)</a:t>
                </a:r>
                <a:r>
                  <a:rPr lang="en-US" sz="1200" spc="-13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90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spc="-484" dirty="0">
                    <a:latin typeface="Arial"/>
                    <a:cs typeface="Arial"/>
                  </a:rPr>
                  <a:t>x</a:t>
                </a:r>
                <a:r>
                  <a:rPr lang="en-US" sz="1200" spc="20" dirty="0">
                    <a:latin typeface="Arial"/>
                    <a:cs typeface="Arial"/>
                  </a:rPr>
                  <a:t>ˆ</a:t>
                </a:r>
                <a:r>
                  <a:rPr lang="en-US" sz="1200" spc="35" dirty="0">
                    <a:latin typeface="Arial"/>
                    <a:cs typeface="Arial"/>
                  </a:rPr>
                  <a:t>(0)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0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442595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A</a:t>
                </a:r>
                <a:r>
                  <a:rPr lang="en-US" sz="1200" i="1" spc="-75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85" dirty="0">
                    <a:latin typeface="Arial"/>
                    <a:cs typeface="Arial"/>
                  </a:rPr>
                  <a:t>LC</a:t>
                </a:r>
                <a:r>
                  <a:rPr lang="en-US" sz="1200" i="1" spc="-190" dirty="0"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latin typeface="Arial"/>
                    <a:cs typeface="Arial"/>
                  </a:rPr>
                  <a:t>)</a:t>
                </a:r>
                <a:r>
                  <a:rPr lang="en-US" sz="1200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latin typeface="Arial"/>
                    <a:cs typeface="Arial"/>
                  </a:rPr>
                  <a:t>ˆ</a:t>
                </a:r>
                <a:r>
                  <a:rPr lang="en-US" sz="1200" spc="-9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Ly</a:t>
                </a:r>
                <a:r>
                  <a:rPr lang="en-US" sz="1200" i="1" spc="5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Bu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126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9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35" dirty="0">
                    <a:latin typeface="Arial"/>
                    <a:cs typeface="Arial"/>
                  </a:rPr>
                  <a:t>error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dynamics:</a:t>
                </a:r>
                <a:r>
                  <a:rPr lang="en-US" sz="1200" spc="11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e</a:t>
                </a:r>
                <a:r>
                  <a:rPr lang="en-US" sz="1200" i="1" spc="2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5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i="1" spc="-15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370" dirty="0">
                    <a:latin typeface="Arial"/>
                    <a:cs typeface="Arial"/>
                  </a:rPr>
                  <a:t>x</a:t>
                </a:r>
                <a:r>
                  <a:rPr lang="en-US" sz="1200" spc="135" dirty="0">
                    <a:latin typeface="Arial"/>
                    <a:cs typeface="Arial"/>
                  </a:rPr>
                  <a:t>ˆ</a:t>
                </a:r>
                <a:r>
                  <a:rPr lang="en-US" sz="1200" spc="150" dirty="0">
                    <a:latin typeface="Arial"/>
                    <a:cs typeface="Arial"/>
                  </a:rPr>
                  <a:t>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54635" algn="ctr">
                  <a:lnSpc>
                    <a:spcPct val="100000"/>
                  </a:lnSpc>
                  <a:spcBef>
                    <a:spcPts val="102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20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200" smtClean="0">
                            <a:latin typeface="Cambria Math" panose="02040503050406030204" pitchFamily="18" charset="0"/>
                            <a:cs typeface="Arial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20" dirty="0">
                    <a:latin typeface="Arial"/>
                    <a:cs typeface="Arial"/>
                  </a:rPr>
                  <a:t> </a:t>
                </a:r>
                <a:r>
                  <a:rPr lang="en-US" sz="1200" i="1" spc="-90" dirty="0">
                    <a:latin typeface="Arial"/>
                    <a:cs typeface="Arial"/>
                  </a:rPr>
                  <a:t>Ae</a:t>
                </a:r>
                <a:r>
                  <a:rPr lang="en-US" sz="1200" i="1" spc="5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80" dirty="0">
                    <a:latin typeface="Arial"/>
                    <a:cs typeface="Arial"/>
                  </a:rPr>
                  <a:t>LCe</a:t>
                </a:r>
                <a:r>
                  <a:rPr lang="en-US" sz="1200" i="1" spc="8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A</a:t>
                </a:r>
                <a:r>
                  <a:rPr lang="en-US" sz="1200" i="1" spc="-70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85" dirty="0">
                    <a:latin typeface="Arial"/>
                    <a:cs typeface="Arial"/>
                  </a:rPr>
                  <a:t>LC</a:t>
                </a:r>
                <a:r>
                  <a:rPr lang="en-US" sz="1200" i="1" spc="-19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)</a:t>
                </a:r>
                <a:r>
                  <a:rPr lang="en-US" sz="1200" i="1" dirty="0">
                    <a:latin typeface="Arial"/>
                    <a:cs typeface="Arial"/>
                  </a:rPr>
                  <a:t>e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8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e</a:t>
                </a:r>
                <a:r>
                  <a:rPr lang="en-US" sz="1200" dirty="0">
                    <a:latin typeface="Arial"/>
                    <a:cs typeface="Arial"/>
                  </a:rPr>
                  <a:t>(0)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i="1" spc="-75" dirty="0">
                    <a:latin typeface="Arial"/>
                    <a:cs typeface="Arial"/>
                  </a:rPr>
                  <a:t>x</a:t>
                </a:r>
                <a:r>
                  <a:rPr lang="en-US" sz="1200" i="1" spc="-225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(0)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55904" marR="109855" indent="-193040">
                  <a:lnSpc>
                    <a:spcPct val="100000"/>
                  </a:lnSpc>
                  <a:spcBef>
                    <a:spcPts val="126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2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if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all </a:t>
                </a:r>
                <a:r>
                  <a:rPr lang="en-US" sz="1200" spc="-95" dirty="0">
                    <a:latin typeface="Arial"/>
                    <a:cs typeface="Arial"/>
                  </a:rPr>
                  <a:t>eigenvalues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of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latin typeface="Arial"/>
                    <a:cs typeface="Arial"/>
                  </a:rPr>
                  <a:t>A</a:t>
                </a:r>
                <a:r>
                  <a:rPr lang="en-US" sz="1200" i="1" spc="-70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LC</a:t>
                </a:r>
                <a:r>
                  <a:rPr lang="en-US" sz="1200" i="1" spc="125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are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on</a:t>
                </a:r>
                <a:r>
                  <a:rPr lang="en-US" sz="1200" dirty="0">
                    <a:latin typeface="Arial"/>
                    <a:cs typeface="Arial"/>
                  </a:rPr>
                  <a:t> the left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half </a:t>
                </a:r>
                <a:r>
                  <a:rPr lang="en-US" sz="1200" spc="-65" dirty="0">
                    <a:latin typeface="Arial"/>
                    <a:cs typeface="Arial"/>
                  </a:rPr>
                  <a:t>plane,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latin typeface="Arial"/>
                    <a:cs typeface="Arial"/>
                  </a:rPr>
                  <a:t>then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the </a:t>
                </a:r>
                <a:r>
                  <a:rPr lang="en-US" sz="1200" spc="-35" dirty="0">
                    <a:latin typeface="Arial"/>
                    <a:cs typeface="Arial"/>
                  </a:rPr>
                  <a:t>error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latin typeface="Arial"/>
                    <a:cs typeface="Arial"/>
                  </a:rPr>
                  <a:t>dynamics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can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be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made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45" dirty="0">
                    <a:latin typeface="Arial"/>
                    <a:cs typeface="Arial"/>
                  </a:rPr>
                  <a:t>asymptotically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stable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42" y="475828"/>
                <a:ext cx="4270375" cy="2846933"/>
              </a:xfrm>
              <a:prstGeom prst="rect">
                <a:avLst/>
              </a:prstGeom>
              <a:blipFill>
                <a:blip r:embed="rId2"/>
                <a:stretch>
                  <a:fillRect l="-713" t="-1713" b="-2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6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30" dirty="0"/>
              <a:t> </a:t>
            </a:r>
            <a:r>
              <a:rPr spc="-105" dirty="0"/>
              <a:t>(closed-</a:t>
            </a:r>
            <a:r>
              <a:rPr spc="-40" dirty="0"/>
              <a:t>loop)</a:t>
            </a:r>
            <a:r>
              <a:rPr spc="30" dirty="0"/>
              <a:t> </a:t>
            </a:r>
            <a:r>
              <a:rPr spc="-125" dirty="0"/>
              <a:t>observer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27" y="710488"/>
            <a:ext cx="4412395" cy="506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828" y="451789"/>
            <a:ext cx="4387215" cy="13265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85"/>
              </a:spcBef>
            </a:pPr>
            <a:r>
              <a:rPr sz="1400" spc="-10" dirty="0">
                <a:latin typeface="Arial"/>
                <a:cs typeface="Arial"/>
              </a:rPr>
              <a:t>Theorem</a:t>
            </a:r>
            <a:endParaRPr sz="1400" dirty="0">
              <a:latin typeface="Arial"/>
              <a:cs typeface="Arial"/>
            </a:endParaRPr>
          </a:p>
          <a:p>
            <a:pPr marL="50800" marR="17780">
              <a:lnSpc>
                <a:spcPct val="100000"/>
              </a:lnSpc>
              <a:spcBef>
                <a:spcPts val="215"/>
              </a:spcBef>
            </a:pPr>
            <a:r>
              <a:rPr sz="1200" i="1" dirty="0">
                <a:latin typeface="Arial"/>
                <a:cs typeface="Arial"/>
              </a:rPr>
              <a:t>If</a:t>
            </a:r>
            <a:r>
              <a:rPr sz="1200" i="1" spc="-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i="1" spc="-130" dirty="0">
                <a:latin typeface="Arial"/>
                <a:cs typeface="Arial"/>
              </a:rPr>
              <a:t>C</a:t>
            </a:r>
            <a:r>
              <a:rPr sz="1200" i="1" spc="-190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i="1" spc="-30" dirty="0">
                <a:latin typeface="Arial"/>
                <a:cs typeface="Arial"/>
              </a:rPr>
              <a:t>is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an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spc="-85" dirty="0">
                <a:latin typeface="Arial"/>
                <a:cs typeface="Arial"/>
              </a:rPr>
              <a:t>observable</a:t>
            </a:r>
            <a:r>
              <a:rPr sz="1200" i="1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pair,</a:t>
            </a:r>
            <a:r>
              <a:rPr sz="1200" i="1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then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all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the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spc="-85" dirty="0">
                <a:latin typeface="Arial"/>
                <a:cs typeface="Arial"/>
              </a:rPr>
              <a:t>eigenvalues</a:t>
            </a:r>
            <a:r>
              <a:rPr sz="1200" i="1" dirty="0">
                <a:latin typeface="Arial"/>
                <a:cs typeface="Arial"/>
              </a:rPr>
              <a:t> of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spc="-40" dirty="0">
                <a:latin typeface="Arial"/>
                <a:cs typeface="Arial"/>
              </a:rPr>
              <a:t>A</a:t>
            </a:r>
            <a:r>
              <a:rPr sz="1200" i="1" spc="-100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84" dirty="0">
                <a:latin typeface="Menlo"/>
                <a:cs typeface="Menlo"/>
              </a:rPr>
              <a:t> </a:t>
            </a:r>
            <a:r>
              <a:rPr sz="1200" i="1" dirty="0">
                <a:latin typeface="Arial"/>
                <a:cs typeface="Arial"/>
              </a:rPr>
              <a:t>LC</a:t>
            </a:r>
            <a:r>
              <a:rPr sz="1200" i="1" spc="12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can be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arbitrarily</a:t>
            </a:r>
            <a:r>
              <a:rPr sz="1200" i="1" dirty="0">
                <a:latin typeface="Arial"/>
                <a:cs typeface="Arial"/>
              </a:rPr>
              <a:t> </a:t>
            </a:r>
            <a:r>
              <a:rPr sz="1200" i="1" spc="-80" dirty="0">
                <a:latin typeface="Arial"/>
                <a:cs typeface="Arial"/>
              </a:rPr>
              <a:t>assigned,</a:t>
            </a:r>
            <a:r>
              <a:rPr sz="1200" i="1" dirty="0">
                <a:latin typeface="Arial"/>
                <a:cs typeface="Arial"/>
              </a:rPr>
              <a:t> </a:t>
            </a:r>
            <a:r>
              <a:rPr sz="1200" i="1" spc="-65" dirty="0">
                <a:latin typeface="Arial"/>
                <a:cs typeface="Arial"/>
              </a:rPr>
              <a:t>provided</a:t>
            </a:r>
            <a:r>
              <a:rPr sz="1200" i="1" dirty="0">
                <a:latin typeface="Arial"/>
                <a:cs typeface="Arial"/>
              </a:rPr>
              <a:t> that </a:t>
            </a:r>
            <a:r>
              <a:rPr sz="1200" i="1" spc="-30" dirty="0">
                <a:latin typeface="Arial"/>
                <a:cs typeface="Arial"/>
              </a:rPr>
              <a:t>they</a:t>
            </a:r>
            <a:r>
              <a:rPr sz="1200" i="1" dirty="0">
                <a:latin typeface="Arial"/>
                <a:cs typeface="Arial"/>
              </a:rPr>
              <a:t> </a:t>
            </a:r>
            <a:r>
              <a:rPr sz="1200" i="1" spc="-85" dirty="0">
                <a:latin typeface="Arial"/>
                <a:cs typeface="Arial"/>
              </a:rPr>
              <a:t>are</a:t>
            </a:r>
            <a:r>
              <a:rPr sz="1200" i="1" dirty="0">
                <a:latin typeface="Arial"/>
                <a:cs typeface="Arial"/>
              </a:rPr>
              <a:t> </a:t>
            </a:r>
            <a:r>
              <a:rPr sz="1200" i="1" spc="-45" dirty="0">
                <a:latin typeface="Arial"/>
                <a:cs typeface="Arial"/>
              </a:rPr>
              <a:t>symmetric</a:t>
            </a:r>
            <a:r>
              <a:rPr sz="1200" i="1" dirty="0">
                <a:latin typeface="Arial"/>
                <a:cs typeface="Arial"/>
              </a:rPr>
              <a:t> with </a:t>
            </a:r>
            <a:r>
              <a:rPr sz="1200" i="1" spc="-10" dirty="0">
                <a:latin typeface="Arial"/>
                <a:cs typeface="Arial"/>
              </a:rPr>
              <a:t>respct </a:t>
            </a:r>
            <a:r>
              <a:rPr sz="1200" i="1" dirty="0">
                <a:latin typeface="Arial"/>
                <a:cs typeface="Arial"/>
              </a:rPr>
              <a:t>to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35" dirty="0">
                <a:latin typeface="Arial"/>
                <a:cs typeface="Arial"/>
              </a:rPr>
              <a:t>real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spc="-65" dirty="0">
                <a:latin typeface="Arial"/>
                <a:cs typeface="Arial"/>
              </a:rPr>
              <a:t>axis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of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complex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plane.</a:t>
            </a:r>
            <a:endParaRPr sz="1200" dirty="0">
              <a:latin typeface="Arial"/>
              <a:cs typeface="Arial"/>
            </a:endParaRPr>
          </a:p>
          <a:p>
            <a:pPr marL="347980" marR="363855" indent="-193040">
              <a:lnSpc>
                <a:spcPct val="100000"/>
              </a:lnSpc>
              <a:spcBef>
                <a:spcPts val="85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7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14" dirty="0">
                <a:latin typeface="Arial"/>
                <a:cs typeface="Arial"/>
              </a:rPr>
              <a:t>we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show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SISO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case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when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</a:t>
            </a:r>
            <a:r>
              <a:rPr sz="1200" i="1" spc="13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are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observable </a:t>
            </a:r>
            <a:r>
              <a:rPr sz="1200" spc="-55" dirty="0">
                <a:latin typeface="Arial"/>
                <a:cs typeface="Arial"/>
              </a:rPr>
              <a:t>canonical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form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(if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not,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similarity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transform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can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help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out):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15" y="109715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7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228574C-2E93-7966-EA8E-A05CAF254E46}"/>
                  </a:ext>
                </a:extLst>
              </p:cNvPr>
              <p:cNvSpPr txBox="1"/>
              <p:nvPr/>
            </p:nvSpPr>
            <p:spPr>
              <a:xfrm>
                <a:off x="753022" y="1836711"/>
                <a:ext cx="3102003" cy="14511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200" b="0" dirty="0"/>
              </a:p>
              <a:p>
                <a:endParaRPr lang="en-US" altLang="zh-CN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altLang="zh-CN" sz="1200" b="0" dirty="0"/>
              </a:p>
              <a:p>
                <a:endParaRPr lang="en-US" altLang="zh-CN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228574C-2E93-7966-EA8E-A05CAF254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22" y="1836711"/>
                <a:ext cx="3102003" cy="1451166"/>
              </a:xfrm>
              <a:prstGeom prst="rect">
                <a:avLst/>
              </a:prstGeom>
              <a:blipFill>
                <a:blip r:embed="rId4"/>
                <a:stretch>
                  <a:fillRect b="-1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24294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40" dirty="0"/>
              <a:t>Observer</a:t>
            </a:r>
            <a:r>
              <a:rPr spc="20" dirty="0"/>
              <a:t> </a:t>
            </a:r>
            <a:r>
              <a:rPr spc="-145" dirty="0"/>
              <a:t>eigenvalue</a:t>
            </a:r>
            <a:r>
              <a:rPr spc="25" dirty="0"/>
              <a:t> </a:t>
            </a:r>
            <a:r>
              <a:rPr spc="-90" dirty="0"/>
              <a:t>placement:</a:t>
            </a:r>
            <a:r>
              <a:rPr spc="145" dirty="0"/>
              <a:t> </a:t>
            </a:r>
            <a:r>
              <a:rPr spc="-10" dirty="0"/>
              <a:t>o.c.f.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2742" y="860003"/>
                <a:ext cx="4244975" cy="186185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32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70" dirty="0"/>
                  <a:t>Luenberger</a:t>
                </a:r>
                <a:r>
                  <a:rPr sz="1200" spc="35" dirty="0"/>
                  <a:t> </a:t>
                </a:r>
                <a:r>
                  <a:rPr sz="1200" spc="-85" dirty="0"/>
                  <a:t>observer</a:t>
                </a:r>
                <a:r>
                  <a:rPr sz="1200" spc="35" dirty="0"/>
                  <a:t> </a:t>
                </a:r>
                <a:r>
                  <a:rPr sz="1200" dirty="0"/>
                  <a:t>with</a:t>
                </a:r>
                <a:r>
                  <a:rPr sz="1200" spc="35" dirty="0"/>
                  <a:t> </a:t>
                </a:r>
                <a:r>
                  <a:rPr sz="1200" spc="-10" dirty="0"/>
                  <a:t>correction:</a:t>
                </a:r>
                <a:endParaRPr sz="1200" dirty="0">
                  <a:latin typeface="Arial Unicode MS"/>
                  <a:cs typeface="Arial Unicode MS"/>
                </a:endParaRPr>
              </a:p>
              <a:p>
                <a:pPr marR="43180" algn="r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400" i="1" spc="-1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i="1" spc="2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i="1" spc="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ar-AE" altLang="zh-CN" spc="200" dirty="0"/>
                  <a:t>=</a:t>
                </a:r>
                <a:r>
                  <a:rPr lang="ar-AE" altLang="zh-CN" spc="-5" dirty="0"/>
                  <a:t> </a:t>
                </a:r>
                <a:r>
                  <a:rPr sz="1200" i="1" spc="40" dirty="0">
                    <a:latin typeface="Arial"/>
                    <a:cs typeface="Arial"/>
                  </a:rPr>
                  <a:t>A</a:t>
                </a:r>
                <a:r>
                  <a:rPr sz="1200" i="1" spc="-480" dirty="0">
                    <a:latin typeface="Arial"/>
                    <a:cs typeface="Arial"/>
                  </a:rPr>
                  <a:t>x</a:t>
                </a:r>
                <a:r>
                  <a:rPr sz="1200" spc="40" dirty="0"/>
                  <a:t>ˆ</a:t>
                </a:r>
                <a:r>
                  <a:rPr sz="1200" spc="-80" dirty="0"/>
                  <a:t> </a:t>
                </a:r>
                <a:r>
                  <a:rPr sz="1200" spc="200" dirty="0"/>
                  <a:t>+</a:t>
                </a:r>
                <a:r>
                  <a:rPr sz="1200" spc="-70" dirty="0"/>
                  <a:t> </a:t>
                </a:r>
                <a:r>
                  <a:rPr sz="1200" i="1" spc="-20" dirty="0">
                    <a:latin typeface="Arial"/>
                    <a:cs typeface="Arial"/>
                  </a:rPr>
                  <a:t>Bu</a:t>
                </a:r>
                <a:r>
                  <a:rPr sz="1200" i="1" spc="-15" dirty="0">
                    <a:latin typeface="Arial"/>
                    <a:cs typeface="Arial"/>
                  </a:rPr>
                  <a:t> </a:t>
                </a:r>
                <a:r>
                  <a:rPr sz="1200" spc="200" dirty="0"/>
                  <a:t>+</a:t>
                </a:r>
                <a:r>
                  <a:rPr sz="1200" spc="-70" dirty="0"/>
                  <a:t> </a:t>
                </a:r>
                <a:r>
                  <a:rPr sz="1200" i="1" spc="-40" dirty="0">
                    <a:latin typeface="Arial"/>
                    <a:cs typeface="Arial"/>
                  </a:rPr>
                  <a:t>L</a:t>
                </a:r>
                <a:r>
                  <a:rPr sz="1200" i="1" spc="-130" dirty="0">
                    <a:latin typeface="Arial"/>
                    <a:cs typeface="Arial"/>
                  </a:rPr>
                  <a:t> </a:t>
                </a:r>
                <a:r>
                  <a:rPr sz="1200" dirty="0"/>
                  <a:t>(</a:t>
                </a:r>
                <a:r>
                  <a:rPr sz="1200" i="1" dirty="0">
                    <a:latin typeface="Arial"/>
                    <a:cs typeface="Arial"/>
                  </a:rPr>
                  <a:t>y</a:t>
                </a:r>
                <a:r>
                  <a:rPr sz="1200" i="1" spc="60" dirty="0">
                    <a:latin typeface="Arial"/>
                    <a:cs typeface="Arial"/>
                  </a:rPr>
                  <a:t> </a:t>
                </a:r>
                <a:r>
                  <a:rPr sz="1200" i="1" spc="200" dirty="0">
                    <a:latin typeface="Menlo"/>
                    <a:cs typeface="Menlo"/>
                  </a:rPr>
                  <a:t>−</a:t>
                </a:r>
                <a:r>
                  <a:rPr sz="1200" i="1" spc="-459" dirty="0">
                    <a:latin typeface="Menlo"/>
                    <a:cs typeface="Menlo"/>
                  </a:rPr>
                  <a:t> </a:t>
                </a:r>
                <a:r>
                  <a:rPr sz="1200" i="1" spc="-434" dirty="0">
                    <a:latin typeface="Arial"/>
                    <a:cs typeface="Arial"/>
                  </a:rPr>
                  <a:t>y</a:t>
                </a:r>
                <a:r>
                  <a:rPr sz="1200" spc="65" dirty="0"/>
                  <a:t>ˆ</a:t>
                </a:r>
                <a:r>
                  <a:rPr sz="1200" spc="75" dirty="0"/>
                  <a:t>)</a:t>
                </a:r>
                <a:r>
                  <a:rPr sz="1200" dirty="0"/>
                  <a:t> </a:t>
                </a:r>
                <a:r>
                  <a:rPr sz="1200" spc="200" dirty="0"/>
                  <a:t>=</a:t>
                </a:r>
                <a:r>
                  <a:rPr sz="1200" spc="-5" dirty="0"/>
                  <a:t> </a:t>
                </a:r>
                <a:r>
                  <a:rPr sz="1200" i="1" spc="40" dirty="0">
                    <a:latin typeface="Arial"/>
                    <a:cs typeface="Arial"/>
                  </a:rPr>
                  <a:t>A</a:t>
                </a:r>
                <a:r>
                  <a:rPr sz="1200" i="1" spc="-480" dirty="0">
                    <a:latin typeface="Arial"/>
                    <a:cs typeface="Arial"/>
                  </a:rPr>
                  <a:t>x</a:t>
                </a:r>
                <a:r>
                  <a:rPr sz="1200" spc="40" dirty="0"/>
                  <a:t>ˆ</a:t>
                </a:r>
                <a:r>
                  <a:rPr sz="1200" spc="-85" dirty="0"/>
                  <a:t> </a:t>
                </a:r>
                <a:r>
                  <a:rPr sz="1200" spc="200" dirty="0"/>
                  <a:t>+</a:t>
                </a:r>
                <a:r>
                  <a:rPr sz="1200" spc="-70" dirty="0"/>
                  <a:t> </a:t>
                </a:r>
                <a:r>
                  <a:rPr sz="1200" i="1" spc="-20" dirty="0">
                    <a:latin typeface="Arial"/>
                    <a:cs typeface="Arial"/>
                  </a:rPr>
                  <a:t>Bu</a:t>
                </a:r>
                <a:r>
                  <a:rPr sz="1200" i="1" spc="-10" dirty="0">
                    <a:latin typeface="Arial"/>
                    <a:cs typeface="Arial"/>
                  </a:rPr>
                  <a:t> </a:t>
                </a:r>
                <a:r>
                  <a:rPr sz="1200" spc="200" dirty="0"/>
                  <a:t>+</a:t>
                </a:r>
                <a:r>
                  <a:rPr sz="1200" spc="-70" dirty="0"/>
                  <a:t> </a:t>
                </a:r>
                <a:r>
                  <a:rPr sz="1200" i="1" spc="-40" dirty="0">
                    <a:latin typeface="Arial"/>
                    <a:cs typeface="Arial"/>
                  </a:rPr>
                  <a:t>L</a:t>
                </a:r>
                <a:r>
                  <a:rPr sz="1200" i="1" spc="-135" dirty="0">
                    <a:latin typeface="Arial"/>
                    <a:cs typeface="Arial"/>
                  </a:rPr>
                  <a:t> </a:t>
                </a:r>
                <a:r>
                  <a:rPr sz="1200" dirty="0"/>
                  <a:t>(</a:t>
                </a:r>
                <a:r>
                  <a:rPr sz="1200" i="1" dirty="0">
                    <a:latin typeface="Arial"/>
                    <a:cs typeface="Arial"/>
                  </a:rPr>
                  <a:t>y</a:t>
                </a:r>
                <a:r>
                  <a:rPr sz="1200" i="1" spc="65" dirty="0">
                    <a:latin typeface="Arial"/>
                    <a:cs typeface="Arial"/>
                  </a:rPr>
                  <a:t> </a:t>
                </a:r>
                <a:r>
                  <a:rPr sz="1200" i="1" spc="200" dirty="0">
                    <a:latin typeface="Menlo"/>
                    <a:cs typeface="Menlo"/>
                  </a:rPr>
                  <a:t>−</a:t>
                </a:r>
                <a:r>
                  <a:rPr sz="1200" i="1" spc="-459" dirty="0">
                    <a:latin typeface="Menlo"/>
                    <a:cs typeface="Menlo"/>
                  </a:rPr>
                  <a:t> </a:t>
                </a:r>
                <a:r>
                  <a:rPr sz="1200" i="1" spc="-130" dirty="0">
                    <a:latin typeface="Arial"/>
                    <a:cs typeface="Arial"/>
                  </a:rPr>
                  <a:t>C</a:t>
                </a:r>
                <a:r>
                  <a:rPr sz="1200" i="1" spc="-190" dirty="0">
                    <a:latin typeface="Arial"/>
                    <a:cs typeface="Arial"/>
                  </a:rPr>
                  <a:t> </a:t>
                </a:r>
                <a:r>
                  <a:rPr sz="1200" i="1" spc="-445" dirty="0">
                    <a:latin typeface="Arial"/>
                    <a:cs typeface="Arial"/>
                  </a:rPr>
                  <a:t>x</a:t>
                </a:r>
                <a:r>
                  <a:rPr sz="1200" spc="60" dirty="0"/>
                  <a:t>ˆ</a:t>
                </a:r>
                <a:r>
                  <a:rPr sz="1200" spc="75" dirty="0"/>
                  <a:t>)</a:t>
                </a:r>
                <a:r>
                  <a:rPr sz="1200" spc="-130" dirty="0"/>
                  <a:t> </a:t>
                </a:r>
                <a:r>
                  <a:rPr sz="1200" i="1" dirty="0">
                    <a:latin typeface="Times New Roman"/>
                    <a:cs typeface="Times New Roman"/>
                  </a:rPr>
                  <a:t>,</a:t>
                </a:r>
                <a:r>
                  <a:rPr sz="1200" i="1" spc="290" dirty="0">
                    <a:latin typeface="Times New Roman"/>
                    <a:cs typeface="Times New Roman"/>
                  </a:rPr>
                  <a:t> </a:t>
                </a:r>
                <a:r>
                  <a:rPr sz="1200" i="1" spc="-484" dirty="0">
                    <a:latin typeface="Arial"/>
                    <a:cs typeface="Arial"/>
                  </a:rPr>
                  <a:t>x</a:t>
                </a:r>
                <a:r>
                  <a:rPr sz="1200" spc="20" dirty="0"/>
                  <a:t>ˆ</a:t>
                </a:r>
                <a:r>
                  <a:rPr sz="1200" spc="35" dirty="0"/>
                  <a:t>(0)</a:t>
                </a:r>
                <a:r>
                  <a:rPr sz="1200" spc="-5" dirty="0"/>
                  <a:t> </a:t>
                </a:r>
                <a:r>
                  <a:rPr sz="1200" spc="200" dirty="0"/>
                  <a:t>=</a:t>
                </a:r>
                <a:r>
                  <a:rPr sz="1200" dirty="0"/>
                  <a:t> </a:t>
                </a:r>
                <a:r>
                  <a:rPr sz="1200" spc="-50" dirty="0"/>
                  <a:t>0</a:t>
                </a:r>
                <a:endParaRPr sz="1200" dirty="0">
                  <a:latin typeface="Arial"/>
                  <a:cs typeface="Arial"/>
                </a:endParaRPr>
              </a:p>
              <a:p>
                <a:pPr marL="429895">
                  <a:lnSpc>
                    <a:spcPct val="100000"/>
                  </a:lnSpc>
                  <a:spcBef>
                    <a:spcPts val="305"/>
                  </a:spcBef>
                </a:pPr>
                <a:r>
                  <a:rPr spc="200" dirty="0"/>
                  <a:t>=</a:t>
                </a:r>
                <a:r>
                  <a:rPr spc="-25" dirty="0"/>
                  <a:t> </a:t>
                </a:r>
                <a:r>
                  <a:rPr dirty="0"/>
                  <a:t>(</a:t>
                </a:r>
                <a:r>
                  <a:rPr i="1" dirty="0">
                    <a:latin typeface="Arial"/>
                    <a:cs typeface="Arial"/>
                  </a:rPr>
                  <a:t>A</a:t>
                </a:r>
                <a:r>
                  <a:rPr i="1" spc="-75" dirty="0">
                    <a:latin typeface="Arial"/>
                    <a:cs typeface="Arial"/>
                  </a:rPr>
                  <a:t> </a:t>
                </a:r>
                <a:r>
                  <a:rPr i="1" spc="200" dirty="0">
                    <a:latin typeface="Menlo"/>
                    <a:cs typeface="Menlo"/>
                  </a:rPr>
                  <a:t>−</a:t>
                </a:r>
                <a:r>
                  <a:rPr i="1" spc="-459" dirty="0">
                    <a:latin typeface="Menlo"/>
                    <a:cs typeface="Menlo"/>
                  </a:rPr>
                  <a:t> </a:t>
                </a:r>
                <a:r>
                  <a:rPr i="1" spc="-85" dirty="0">
                    <a:latin typeface="Arial"/>
                    <a:cs typeface="Arial"/>
                  </a:rPr>
                  <a:t>LC</a:t>
                </a:r>
                <a:r>
                  <a:rPr i="1" spc="-190" dirty="0">
                    <a:latin typeface="Arial"/>
                    <a:cs typeface="Arial"/>
                  </a:rPr>
                  <a:t> </a:t>
                </a:r>
                <a:r>
                  <a:rPr spc="50" dirty="0"/>
                  <a:t>)</a:t>
                </a:r>
                <a:r>
                  <a:rPr spc="-135" dirty="0"/>
                  <a:t> </a:t>
                </a:r>
                <a:r>
                  <a:rPr i="1" spc="-440" dirty="0">
                    <a:latin typeface="Arial"/>
                    <a:cs typeface="Arial"/>
                  </a:rPr>
                  <a:t>x</a:t>
                </a:r>
                <a:r>
                  <a:rPr spc="80" dirty="0"/>
                  <a:t>ˆ</a:t>
                </a:r>
                <a:r>
                  <a:rPr spc="-90" dirty="0"/>
                  <a:t> </a:t>
                </a:r>
                <a:r>
                  <a:rPr spc="200" dirty="0"/>
                  <a:t>+</a:t>
                </a:r>
                <a:r>
                  <a:rPr spc="-75" dirty="0"/>
                  <a:t> </a:t>
                </a:r>
                <a:r>
                  <a:rPr i="1" dirty="0">
                    <a:latin typeface="Arial"/>
                    <a:cs typeface="Arial"/>
                  </a:rPr>
                  <a:t>Ly</a:t>
                </a:r>
                <a:r>
                  <a:rPr i="1" spc="55" dirty="0">
                    <a:latin typeface="Arial"/>
                    <a:cs typeface="Arial"/>
                  </a:rPr>
                  <a:t> </a:t>
                </a:r>
                <a:r>
                  <a:rPr spc="200" dirty="0"/>
                  <a:t>+</a:t>
                </a:r>
                <a:r>
                  <a:rPr spc="-75" dirty="0"/>
                  <a:t> </a:t>
                </a:r>
                <a:r>
                  <a:rPr i="1" spc="-25" dirty="0">
                    <a:latin typeface="Arial"/>
                    <a:cs typeface="Arial"/>
                  </a:rPr>
                  <a:t>Bu</a:t>
                </a:r>
              </a:p>
              <a:p>
                <a:pPr>
                  <a:lnSpc>
                    <a:spcPct val="100000"/>
                  </a:lnSpc>
                  <a:spcBef>
                    <a:spcPts val="114"/>
                  </a:spcBef>
                </a:pPr>
                <a:endParaRPr i="1" spc="-25" dirty="0">
                  <a:latin typeface="Arial"/>
                  <a:cs typeface="Arial"/>
                </a:endParaRPr>
              </a:p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:r>
                  <a:rPr lang="zh-CN" alt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altLang="zh-CN" spc="32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altLang="zh-CN" spc="-45" dirty="0"/>
                  <a:t>Goal:</a:t>
                </a:r>
                <a:r>
                  <a:rPr lang="en-US" altLang="zh-CN" spc="145" dirty="0"/>
                  <a:t> </a:t>
                </a:r>
                <a:r>
                  <a:rPr lang="en-US" altLang="zh-CN" spc="-70" dirty="0"/>
                  <a:t>place</a:t>
                </a:r>
                <a:r>
                  <a:rPr lang="en-US" altLang="zh-CN" spc="25" dirty="0"/>
                  <a:t> </a:t>
                </a:r>
                <a:r>
                  <a:rPr lang="en-US" altLang="zh-CN" spc="-90" dirty="0"/>
                  <a:t>eigenvalues</a:t>
                </a:r>
                <a:r>
                  <a:rPr lang="en-US" altLang="zh-CN" spc="25" dirty="0"/>
                  <a:t> </a:t>
                </a:r>
                <a:r>
                  <a:rPr lang="en-US" altLang="zh-CN" dirty="0"/>
                  <a:t>of</a:t>
                </a:r>
                <a:r>
                  <a:rPr lang="en-US" altLang="zh-CN" spc="25" dirty="0"/>
                  <a:t> </a:t>
                </a:r>
                <a:r>
                  <a:rPr lang="en-US" altLang="zh-CN" dirty="0"/>
                  <a:t>the</a:t>
                </a:r>
                <a:r>
                  <a:rPr lang="en-US" altLang="zh-CN" spc="25" dirty="0"/>
                  <a:t> </a:t>
                </a:r>
                <a:r>
                  <a:rPr lang="en-US" altLang="zh-CN" spc="-85" dirty="0"/>
                  <a:t>observer</a:t>
                </a:r>
                <a:r>
                  <a:rPr lang="en-US" altLang="zh-CN" spc="25" dirty="0"/>
                  <a:t> </a:t>
                </a:r>
                <a:r>
                  <a:rPr lang="en-US" altLang="zh-CN" dirty="0"/>
                  <a:t>at</a:t>
                </a:r>
                <a:r>
                  <a:rPr lang="en-US" altLang="zh-CN" spc="25" dirty="0"/>
                  <a:t> </a:t>
                </a:r>
                <a:r>
                  <a:rPr lang="en-US" altLang="zh-CN" spc="-40" dirty="0"/>
                  <a:t>locations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pc="-4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spc="-4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spc="-4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i="1" spc="-4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spc="-40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i="1" spc="-4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spc="-4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spc="-4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i="1" spc="-4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pc="-40" dirty="0"/>
                  <a:t>:</a:t>
                </a:r>
              </a:p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pc="-4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pc="-4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i="1" spc="-4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spc="-4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i="1" spc="-4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 spc="-40">
                                      <a:latin typeface="Cambria Math" panose="02040503050406030204" pitchFamily="18" charset="0"/>
                                    </a:rPr>
                                    <m:t>𝐿𝐶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i="1" spc="-4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spc="-4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spc="-4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spc="-4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i="1" spc="-4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spc="-4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spc="-4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 spc="-40"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i="1" spc="-4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spc="-4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spc="-4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i="1" spc="-40" dirty="0">
                  <a:latin typeface="Cambria Math" panose="02040503050406030204" pitchFamily="18" charset="0"/>
                </a:endParaRPr>
              </a:p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pc="-4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=</m:t>
                      </m:r>
                      <m:sSup>
                        <m:sSupPr>
                          <m:ctrlPr>
                            <a:rPr lang="en-US" altLang="zh-CN" i="1" spc="-4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i="1" spc="-4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spc="-4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zh-CN" i="1" spc="-4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i="1" spc="-4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i="1" spc="-4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spc="-4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 spc="-4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spc="-4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spc="-4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i="1" spc="-4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pc="-40" dirty="0"/>
              </a:p>
            </p:txBody>
          </p:sp>
        </mc:Choice>
        <mc:Fallback xmlns="">
          <p:sp>
            <p:nvSpPr>
              <p:cNvPr id="9" name="object 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2742" y="860003"/>
                <a:ext cx="4244975" cy="1861856"/>
              </a:xfrm>
              <a:prstGeom prst="rect">
                <a:avLst/>
              </a:prstGeom>
              <a:blipFill>
                <a:blip r:embed="rId2"/>
                <a:stretch>
                  <a:fillRect l="-1004" t="-2623" r="-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8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24294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40" dirty="0"/>
              <a:t>Observer</a:t>
            </a:r>
            <a:r>
              <a:rPr spc="20" dirty="0"/>
              <a:t> </a:t>
            </a:r>
            <a:r>
              <a:rPr spc="-145" dirty="0"/>
              <a:t>eigenvalue</a:t>
            </a:r>
            <a:r>
              <a:rPr spc="25" dirty="0"/>
              <a:t> </a:t>
            </a:r>
            <a:r>
              <a:rPr spc="-90" dirty="0"/>
              <a:t>placement:</a:t>
            </a:r>
            <a:r>
              <a:rPr spc="145" dirty="0"/>
              <a:t> </a:t>
            </a:r>
            <a:r>
              <a:rPr spc="-10" dirty="0"/>
              <a:t>o.c.f.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/>
              <p:nvPr/>
            </p:nvSpPr>
            <p:spPr>
              <a:xfrm>
                <a:off x="215442" y="376339"/>
                <a:ext cx="4282440" cy="1273169"/>
              </a:xfrm>
              <a:prstGeom prst="rect">
                <a:avLst/>
              </a:prstGeom>
            </p:spPr>
            <p:txBody>
              <a:bodyPr vert="horz" wrap="square" lIns="0" tIns="93980" rIns="0" bIns="0" rtlCol="0">
                <a:spAutoFit/>
              </a:bodyPr>
              <a:lstStyle/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16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altLang="zh-CN" sz="1200" spc="-45" dirty="0"/>
                  <a:t>Goal:</a:t>
                </a:r>
                <a:r>
                  <a:rPr lang="en-US" altLang="zh-CN" sz="1200" spc="145" dirty="0"/>
                  <a:t> </a:t>
                </a:r>
                <a:r>
                  <a:rPr lang="en-US" altLang="zh-CN" sz="1200" spc="-70" dirty="0"/>
                  <a:t>place</a:t>
                </a:r>
                <a:r>
                  <a:rPr lang="en-US" altLang="zh-CN" sz="1200" spc="25" dirty="0"/>
                  <a:t> </a:t>
                </a:r>
                <a:r>
                  <a:rPr lang="en-US" altLang="zh-CN" sz="1200" spc="-90" dirty="0"/>
                  <a:t>eigenvalues</a:t>
                </a:r>
                <a:r>
                  <a:rPr lang="en-US" altLang="zh-CN" sz="1200" spc="25" dirty="0"/>
                  <a:t> </a:t>
                </a:r>
                <a:r>
                  <a:rPr lang="en-US" altLang="zh-CN" sz="1200" dirty="0"/>
                  <a:t>of</a:t>
                </a:r>
                <a:r>
                  <a:rPr lang="en-US" altLang="zh-CN" sz="1200" spc="25" dirty="0"/>
                  <a:t> </a:t>
                </a:r>
                <a:r>
                  <a:rPr lang="en-US" altLang="zh-CN" sz="1200" dirty="0"/>
                  <a:t>the</a:t>
                </a:r>
                <a:r>
                  <a:rPr lang="en-US" altLang="zh-CN" sz="1200" spc="25" dirty="0"/>
                  <a:t> </a:t>
                </a:r>
                <a:r>
                  <a:rPr lang="en-US" altLang="zh-CN" sz="1200" spc="-85" dirty="0"/>
                  <a:t>observer</a:t>
                </a:r>
                <a:r>
                  <a:rPr lang="en-US" altLang="zh-CN" sz="1200" spc="25" dirty="0"/>
                  <a:t> </a:t>
                </a:r>
                <a:r>
                  <a:rPr lang="en-US" altLang="zh-CN" sz="1200" dirty="0"/>
                  <a:t>at</a:t>
                </a:r>
                <a:r>
                  <a:rPr lang="en-US" altLang="zh-CN" sz="1200" spc="25" dirty="0"/>
                  <a:t> </a:t>
                </a:r>
                <a:r>
                  <a:rPr lang="en-US" altLang="zh-CN" sz="1200" spc="-40" dirty="0"/>
                  <a:t>locations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pc="-4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200" i="1" spc="-4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1200" i="1" spc="-4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sz="1200" i="1" spc="-4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200" i="1" spc="-40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1200" i="1" spc="-4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200" i="1" spc="-4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i="1" spc="-4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sz="1200" i="1" spc="-4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200" spc="-40" dirty="0"/>
                  <a:t>:</a:t>
                </a:r>
              </a:p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00" spc="-4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  <m:t>𝐿𝐶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1200" i="1" spc="-4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200" i="1" spc="-40"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200" i="1" spc="-40" dirty="0">
                  <a:latin typeface="Cambria Math" panose="02040503050406030204" pitchFamily="18" charset="0"/>
                </a:endParaRPr>
              </a:p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pc="-4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=</m:t>
                      </m:r>
                      <m:sSup>
                        <m:sSup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200" i="1" spc="-4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200" i="1" spc="-4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200" i="1" spc="-4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1200" i="1" spc="-4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200" baseline="-20833" dirty="0">
                  <a:latin typeface="Arial"/>
                  <a:cs typeface="Arial"/>
                </a:endParaRPr>
              </a:p>
              <a:p>
                <a:pPr algn="ctr">
                  <a:lnSpc>
                    <a:spcPct val="100000"/>
                  </a:lnSpc>
                  <a:spcBef>
                    <a:spcPts val="960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359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10" dirty="0">
                    <a:latin typeface="Arial"/>
                    <a:cs typeface="Arial"/>
                  </a:rPr>
                  <a:t>Let</a:t>
                </a:r>
                <a:r>
                  <a:rPr sz="1200" spc="25" dirty="0">
                    <a:latin typeface="Arial"/>
                    <a:cs typeface="Arial"/>
                  </a:rPr>
                  <a:t> </a:t>
                </a:r>
                <a:r>
                  <a:rPr sz="1200" i="1" dirty="0">
                    <a:latin typeface="Arial"/>
                    <a:cs typeface="Arial"/>
                  </a:rPr>
                  <a:t>L</a:t>
                </a:r>
                <a:r>
                  <a:rPr sz="1200" i="1" spc="-5" dirty="0">
                    <a:latin typeface="Arial"/>
                    <a:cs typeface="Arial"/>
                  </a:rPr>
                  <a:t> </a:t>
                </a:r>
                <a:r>
                  <a:rPr sz="1200" spc="200" dirty="0">
                    <a:latin typeface="Arial"/>
                    <a:cs typeface="Arial"/>
                  </a:rPr>
                  <a:t>=</a:t>
                </a:r>
                <a:r>
                  <a:rPr sz="1200" spc="-5" dirty="0">
                    <a:latin typeface="Arial"/>
                    <a:cs typeface="Arial"/>
                  </a:rPr>
                  <a:t> </a:t>
                </a:r>
                <a:r>
                  <a:rPr sz="1200" dirty="0">
                    <a:latin typeface="Arial"/>
                    <a:cs typeface="Arial"/>
                  </a:rPr>
                  <a:t>[</a:t>
                </a:r>
                <a:r>
                  <a:rPr sz="1200" i="1" dirty="0">
                    <a:latin typeface="Arial"/>
                    <a:cs typeface="Arial"/>
                  </a:rPr>
                  <a:t>l</a:t>
                </a:r>
                <a:r>
                  <a:rPr sz="1200" baseline="-13888" dirty="0">
                    <a:latin typeface="Arial"/>
                    <a:cs typeface="Arial"/>
                  </a:rPr>
                  <a:t>0</a:t>
                </a:r>
                <a:r>
                  <a:rPr sz="1200" i="1" dirty="0">
                    <a:latin typeface="Times New Roman"/>
                    <a:cs typeface="Times New Roman"/>
                  </a:rPr>
                  <a:t>,</a:t>
                </a:r>
                <a:r>
                  <a:rPr sz="1200" i="1" spc="-100" dirty="0"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latin typeface="Arial"/>
                    <a:cs typeface="Arial"/>
                  </a:rPr>
                  <a:t>l</a:t>
                </a:r>
                <a:r>
                  <a:rPr sz="1200" baseline="-13888" dirty="0">
                    <a:latin typeface="Arial"/>
                    <a:cs typeface="Arial"/>
                  </a:rPr>
                  <a:t>1</a:t>
                </a:r>
                <a:r>
                  <a:rPr sz="1200" i="1" dirty="0">
                    <a:latin typeface="Times New Roman"/>
                    <a:cs typeface="Times New Roman"/>
                  </a:rPr>
                  <a:t>,</a:t>
                </a:r>
                <a:r>
                  <a:rPr sz="1200" i="1" spc="-100" dirty="0"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latin typeface="Times New Roman"/>
                    <a:cs typeface="Times New Roman"/>
                  </a:rPr>
                  <a:t>.</a:t>
                </a:r>
                <a:r>
                  <a:rPr sz="1200" i="1" spc="-105" dirty="0"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latin typeface="Times New Roman"/>
                    <a:cs typeface="Times New Roman"/>
                  </a:rPr>
                  <a:t>.</a:t>
                </a:r>
                <a:r>
                  <a:rPr sz="1200" i="1" spc="-100" dirty="0"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latin typeface="Times New Roman"/>
                    <a:cs typeface="Times New Roman"/>
                  </a:rPr>
                  <a:t>.</a:t>
                </a:r>
                <a:r>
                  <a:rPr sz="1200" i="1" spc="-100" dirty="0"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latin typeface="Times New Roman"/>
                    <a:cs typeface="Times New Roman"/>
                  </a:rPr>
                  <a:t>,</a:t>
                </a:r>
                <a:r>
                  <a:rPr sz="1200" i="1" spc="-100" dirty="0"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latin typeface="Arial"/>
                    <a:cs typeface="Arial"/>
                  </a:rPr>
                  <a:t>l</a:t>
                </a:r>
                <a:r>
                  <a:rPr sz="1200" i="1" baseline="-13888" dirty="0">
                    <a:latin typeface="Arial"/>
                    <a:cs typeface="Arial"/>
                  </a:rPr>
                  <a:t>n</a:t>
                </a:r>
                <a:r>
                  <a:rPr sz="1200" i="1" baseline="-13888" dirty="0">
                    <a:latin typeface="Hack"/>
                    <a:cs typeface="Hack"/>
                  </a:rPr>
                  <a:t>−</a:t>
                </a:r>
                <a:r>
                  <a:rPr sz="1200" baseline="-13888" dirty="0">
                    <a:latin typeface="Arial"/>
                    <a:cs typeface="Arial"/>
                  </a:rPr>
                  <a:t>1</a:t>
                </a:r>
                <a:r>
                  <a:rPr sz="1200" dirty="0">
                    <a:latin typeface="Arial"/>
                    <a:cs typeface="Arial"/>
                  </a:rPr>
                  <a:t>]</a:t>
                </a:r>
                <a:r>
                  <a:rPr sz="1200" i="1" baseline="41666" dirty="0">
                    <a:latin typeface="Arial"/>
                    <a:cs typeface="Arial"/>
                  </a:rPr>
                  <a:t>T</a:t>
                </a:r>
                <a:r>
                  <a:rPr sz="1200" i="1" spc="-104" baseline="41666" dirty="0">
                    <a:latin typeface="Arial"/>
                    <a:cs typeface="Arial"/>
                  </a:rPr>
                  <a:t> </a:t>
                </a:r>
                <a:r>
                  <a:rPr sz="1200" dirty="0">
                    <a:latin typeface="Arial"/>
                    <a:cs typeface="Arial"/>
                  </a:rPr>
                  <a:t>.</a:t>
                </a:r>
                <a:r>
                  <a:rPr sz="1200" spc="170" dirty="0">
                    <a:latin typeface="Arial"/>
                    <a:cs typeface="Arial"/>
                  </a:rPr>
                  <a:t> </a:t>
                </a:r>
                <a:r>
                  <a:rPr sz="1200" spc="-20" dirty="0">
                    <a:latin typeface="Arial"/>
                    <a:cs typeface="Arial"/>
                  </a:rPr>
                  <a:t>The</a:t>
                </a:r>
                <a:r>
                  <a:rPr sz="1200" spc="25" dirty="0">
                    <a:latin typeface="Arial"/>
                    <a:cs typeface="Arial"/>
                  </a:rPr>
                  <a:t> </a:t>
                </a:r>
                <a:r>
                  <a:rPr sz="1200" spc="-70" dirty="0">
                    <a:latin typeface="Arial"/>
                    <a:cs typeface="Arial"/>
                  </a:rPr>
                  <a:t>unique</a:t>
                </a:r>
                <a:r>
                  <a:rPr sz="1200" spc="25" dirty="0">
                    <a:latin typeface="Arial"/>
                    <a:cs typeface="Arial"/>
                  </a:rPr>
                  <a:t> </a:t>
                </a:r>
                <a:r>
                  <a:rPr sz="1200" spc="-50" dirty="0">
                    <a:latin typeface="Arial"/>
                    <a:cs typeface="Arial"/>
                  </a:rPr>
                  <a:t>structures</a:t>
                </a:r>
                <a:r>
                  <a:rPr sz="1200" spc="25" dirty="0">
                    <a:latin typeface="Arial"/>
                    <a:cs typeface="Arial"/>
                  </a:rPr>
                  <a:t> </a:t>
                </a:r>
                <a:r>
                  <a:rPr sz="1200" dirty="0">
                    <a:latin typeface="Arial"/>
                    <a:cs typeface="Arial"/>
                  </a:rPr>
                  <a:t>of</a:t>
                </a:r>
                <a:r>
                  <a:rPr sz="1200" spc="20" dirty="0">
                    <a:latin typeface="Arial"/>
                    <a:cs typeface="Arial"/>
                  </a:rPr>
                  <a:t> </a:t>
                </a:r>
                <a:r>
                  <a:rPr sz="1200" i="1" dirty="0">
                    <a:latin typeface="Arial"/>
                    <a:cs typeface="Arial"/>
                  </a:rPr>
                  <a:t>A</a:t>
                </a:r>
                <a:r>
                  <a:rPr sz="1200" i="1" spc="20" dirty="0">
                    <a:latin typeface="Arial"/>
                    <a:cs typeface="Arial"/>
                  </a:rPr>
                  <a:t> </a:t>
                </a:r>
                <a:r>
                  <a:rPr sz="1200" spc="-65" dirty="0">
                    <a:latin typeface="Arial"/>
                    <a:cs typeface="Arial"/>
                  </a:rPr>
                  <a:t>and</a:t>
                </a:r>
                <a:r>
                  <a:rPr sz="1200" spc="25" dirty="0">
                    <a:latin typeface="Arial"/>
                    <a:cs typeface="Arial"/>
                  </a:rPr>
                  <a:t> </a:t>
                </a:r>
                <a:r>
                  <a:rPr sz="1200" i="1" dirty="0">
                    <a:latin typeface="Arial"/>
                    <a:cs typeface="Arial"/>
                  </a:rPr>
                  <a:t>C</a:t>
                </a:r>
                <a:r>
                  <a:rPr sz="1200" i="1" spc="170" dirty="0">
                    <a:latin typeface="Arial"/>
                    <a:cs typeface="Arial"/>
                  </a:rPr>
                  <a:t> </a:t>
                </a:r>
                <a:r>
                  <a:rPr sz="1200" spc="-20" dirty="0">
                    <a:latin typeface="Arial"/>
                    <a:cs typeface="Arial"/>
                  </a:rPr>
                  <a:t>give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376339"/>
                <a:ext cx="4282440" cy="1273169"/>
              </a:xfrm>
              <a:prstGeom prst="rect">
                <a:avLst/>
              </a:prstGeom>
              <a:blipFill>
                <a:blip r:embed="rId2"/>
                <a:stretch>
                  <a:fillRect l="-1707" r="-1565" b="-6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bject 57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9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F7B8469-0A8E-D86C-4321-912BF96AB158}"/>
                  </a:ext>
                </a:extLst>
              </p:cNvPr>
              <p:cNvSpPr txBox="1"/>
              <p:nvPr/>
            </p:nvSpPr>
            <p:spPr>
              <a:xfrm>
                <a:off x="931752" y="1693711"/>
                <a:ext cx="2849819" cy="1639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𝐿𝐶</m:t>
                    </m:r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100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1100" dirty="0"/>
              </a:p>
              <a:p>
                <a:endParaRPr lang="en-US" altLang="zh-CN" sz="1100" dirty="0"/>
              </a:p>
              <a:p>
                <a14:m>
                  <m:oMath xmlns:m="http://schemas.openxmlformats.org/officeDocument/2006/math"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𝐿𝐶</m:t>
                    </m:r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100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F7B8469-0A8E-D86C-4321-912BF96AB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52" y="1693711"/>
                <a:ext cx="2849819" cy="1639873"/>
              </a:xfrm>
              <a:prstGeom prst="rect">
                <a:avLst/>
              </a:prstGeom>
              <a:blipFill>
                <a:blip r:embed="rId4"/>
                <a:stretch>
                  <a:fillRect l="-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24294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40" dirty="0"/>
              <a:t>Observer</a:t>
            </a:r>
            <a:r>
              <a:rPr spc="20" dirty="0"/>
              <a:t> </a:t>
            </a:r>
            <a:r>
              <a:rPr spc="-145" dirty="0"/>
              <a:t>eigenvalue</a:t>
            </a:r>
            <a:r>
              <a:rPr spc="25" dirty="0"/>
              <a:t> </a:t>
            </a:r>
            <a:r>
              <a:rPr spc="-90" dirty="0"/>
              <a:t>placement:</a:t>
            </a:r>
            <a:r>
              <a:rPr spc="145" dirty="0"/>
              <a:t> </a:t>
            </a:r>
            <a:r>
              <a:rPr spc="-10" dirty="0"/>
              <a:t>o.c.f.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425117"/>
            <a:ext cx="27463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1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i="1" spc="-40" dirty="0">
                <a:latin typeface="Arial"/>
                <a:cs typeface="Arial"/>
              </a:rPr>
              <a:t>A</a:t>
            </a:r>
            <a:r>
              <a:rPr sz="1200" i="1" spc="-70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9" dirty="0">
                <a:latin typeface="Menlo"/>
                <a:cs typeface="Menlo"/>
              </a:rPr>
              <a:t> </a:t>
            </a:r>
            <a:r>
              <a:rPr sz="1200" i="1" dirty="0">
                <a:latin typeface="Arial"/>
                <a:cs typeface="Arial"/>
              </a:rPr>
              <a:t>LC</a:t>
            </a:r>
            <a:r>
              <a:rPr sz="1200" i="1" spc="13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have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same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structure: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4"/>
              <p:cNvSpPr txBox="1"/>
              <p:nvPr/>
            </p:nvSpPr>
            <p:spPr>
              <a:xfrm>
                <a:off x="202742" y="1510738"/>
                <a:ext cx="4309110" cy="76283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3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Recall:</a:t>
                </a:r>
                <a:r>
                  <a:rPr lang="en-US" sz="1200" spc="160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det</a:t>
                </a:r>
                <a:r>
                  <a:rPr lang="en-US" sz="1200" spc="-13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sI</a:t>
                </a:r>
                <a:r>
                  <a:rPr lang="en-US" sz="1200" i="1" spc="65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</a:t>
                </a:r>
                <a:r>
                  <a:rPr lang="en-US" sz="1200" dirty="0">
                    <a:latin typeface="Arial"/>
                    <a:cs typeface="Arial"/>
                  </a:rPr>
                  <a:t>)</a:t>
                </a:r>
                <a:r>
                  <a:rPr lang="en-US" sz="1200" spc="-2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s</a:t>
                </a:r>
                <a:r>
                  <a:rPr lang="en-US" sz="1200" i="1" baseline="31250" dirty="0">
                    <a:latin typeface="Arial"/>
                    <a:cs typeface="Arial"/>
                  </a:rPr>
                  <a:t>n</a:t>
                </a:r>
                <a:r>
                  <a:rPr lang="en-US" sz="1200" i="1" spc="135" baseline="3125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l-GR" sz="1200" i="1" spc="45" dirty="0">
                    <a:latin typeface="Times New Roman"/>
                    <a:cs typeface="Times New Roman"/>
                  </a:rPr>
                  <a:t>α</a:t>
                </a:r>
                <a:r>
                  <a:rPr lang="en-US" sz="1200" i="1" spc="67" baseline="-13888" dirty="0">
                    <a:latin typeface="Arial"/>
                    <a:cs typeface="Arial"/>
                  </a:rPr>
                  <a:t>n</a:t>
                </a:r>
                <a:r>
                  <a:rPr lang="en-US" sz="1200" i="1" spc="67" baseline="-13888" dirty="0">
                    <a:latin typeface="Hack"/>
                    <a:cs typeface="Hack"/>
                  </a:rPr>
                  <a:t>−</a:t>
                </a:r>
                <a:r>
                  <a:rPr lang="en-US" sz="1200" spc="67" baseline="-13888" dirty="0">
                    <a:latin typeface="Arial"/>
                    <a:cs typeface="Arial"/>
                  </a:rPr>
                  <a:t>1</a:t>
                </a:r>
                <a:r>
                  <a:rPr lang="en-US" sz="1200" i="1" spc="45" dirty="0">
                    <a:latin typeface="Arial"/>
                    <a:cs typeface="Arial"/>
                  </a:rPr>
                  <a:t>s</a:t>
                </a:r>
                <a:r>
                  <a:rPr lang="en-US" sz="1200" i="1" spc="67" baseline="31250" dirty="0">
                    <a:latin typeface="Arial"/>
                    <a:cs typeface="Arial"/>
                  </a:rPr>
                  <a:t>n</a:t>
                </a:r>
                <a:r>
                  <a:rPr lang="en-US" sz="1200" i="1" spc="67" baseline="31250" dirty="0">
                    <a:latin typeface="Hack"/>
                    <a:cs typeface="Hack"/>
                  </a:rPr>
                  <a:t>−</a:t>
                </a:r>
                <a:r>
                  <a:rPr lang="en-US" sz="1200" spc="67" baseline="31250" dirty="0">
                    <a:latin typeface="Arial"/>
                    <a:cs typeface="Arial"/>
                  </a:rPr>
                  <a:t>1</a:t>
                </a:r>
                <a:r>
                  <a:rPr lang="en-US" sz="1200" spc="112" baseline="3125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14:m>
                  <m:oMath xmlns:m="http://schemas.openxmlformats.org/officeDocument/2006/math">
                    <m:r>
                      <a:rPr lang="en-US" sz="1200" b="0" i="1" spc="200" smtClean="0">
                        <a:latin typeface="Cambria Math" panose="02040503050406030204" pitchFamily="18" charset="0"/>
                        <a:cs typeface="Arial"/>
                      </a:rPr>
                      <m:t>⋯</m:t>
                    </m:r>
                  </m:oMath>
                </a14:m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l-GR" sz="1200" i="1" dirty="0">
                    <a:latin typeface="Times New Roman"/>
                    <a:cs typeface="Times New Roman"/>
                  </a:rPr>
                  <a:t>α</a:t>
                </a:r>
                <a:r>
                  <a:rPr lang="el-GR" sz="1200" baseline="-13888" dirty="0">
                    <a:latin typeface="Arial"/>
                    <a:cs typeface="Arial"/>
                  </a:rPr>
                  <a:t>1</a:t>
                </a:r>
                <a:r>
                  <a:rPr lang="en-US" sz="1200" i="1" dirty="0">
                    <a:latin typeface="Arial"/>
                    <a:cs typeface="Arial"/>
                  </a:rPr>
                  <a:t>s</a:t>
                </a:r>
                <a:r>
                  <a:rPr lang="en-US" sz="1200" i="1" spc="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l-GR" sz="1200" i="1" spc="-25" dirty="0">
                    <a:latin typeface="Times New Roman"/>
                    <a:cs typeface="Times New Roman"/>
                  </a:rPr>
                  <a:t>α</a:t>
                </a:r>
                <a:r>
                  <a:rPr lang="el-GR" sz="1200" spc="-37" baseline="-13888" dirty="0">
                    <a:latin typeface="Arial"/>
                    <a:cs typeface="Arial"/>
                  </a:rPr>
                  <a:t>0</a:t>
                </a:r>
                <a:r>
                  <a:rPr lang="el-GR" sz="1200" spc="-25" dirty="0">
                    <a:latin typeface="Arial"/>
                    <a:cs typeface="Arial"/>
                  </a:rPr>
                  <a:t>.</a:t>
                </a:r>
                <a:endParaRPr lang="el-GR" sz="1200" dirty="0">
                  <a:latin typeface="Arial"/>
                  <a:cs typeface="Arial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50"/>
                  </a:spcBef>
                </a:pPr>
                <a:r>
                  <a:rPr lang="el-GR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l-GR" sz="1800" spc="37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20" dirty="0">
                    <a:latin typeface="Arial"/>
                    <a:cs typeface="Arial"/>
                  </a:rPr>
                  <a:t>Thus</a:t>
                </a:r>
              </a:p>
              <a:p>
                <a:pPr marL="50800">
                  <a:lnSpc>
                    <a:spcPct val="100000"/>
                  </a:lnSpc>
                  <a:spcBef>
                    <a:spcPts val="5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200" i="1" spc="-4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00" spc="-4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US" altLang="zh-CN" sz="1200" i="1" spc="-4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200" i="1" spc="-40">
                                      <a:latin typeface="Cambria Math" panose="02040503050406030204" pitchFamily="18" charset="0"/>
                                    </a:rPr>
                                    <m:t>𝐿𝐶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1200" i="1" spc="-4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200" i="1" spc="-4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altLang="zh-CN" sz="1200" i="1" spc="-4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CN" sz="1200" i="1" spc="-4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altLang="zh-CN" sz="1200" b="0" i="1" spc="-4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 spc="-4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1200" i="1" spc="-4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1200" i="1" spc="-4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CN" sz="1200" b="0" i="1" spc="-4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altLang="zh-CN" sz="1200" b="0" i="0" spc="-40" smtClean="0">
                              <a:latin typeface="Cambria Math" panose="02040503050406030204" pitchFamily="18" charset="0"/>
                            </a:rPr>
                            <m:t>target</m:t>
                          </m:r>
                          <m:r>
                            <a:rPr lang="en-US" altLang="zh-CN" sz="1200" b="0" i="0" spc="-4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CN" sz="1200" b="0" i="1" spc="-4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200" b="0" i="1" spc="-4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b="0" i="1" spc="-4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pc="-40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spc="-4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200" b="0" i="1" spc="-4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lim>
                      </m:limLow>
                      <m:sSup>
                        <m:sSupPr>
                          <m:ctrlP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i="1" spc="-4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200" i="1" spc="-40">
                          <a:latin typeface="Cambria Math" panose="02040503050406030204" pitchFamily="18" charset="0"/>
                        </a:rPr>
                        <m:t>+⋯+</m:t>
                      </m:r>
                      <m:limLow>
                        <m:limLowPr>
                          <m:ctrlPr>
                            <a:rPr lang="en-US" altLang="zh-CN" sz="1200" i="1" spc="-4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CN" sz="1200" i="1" spc="-4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altLang="zh-CN" sz="1200" b="0" i="1" spc="-4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sz="1200" b="0" i="1" spc="-4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1200" b="0" i="1" spc="-4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altLang="zh-CN" sz="1200" b="0" i="0" spc="-40" smtClean="0">
                              <a:latin typeface="Cambria Math" panose="02040503050406030204" pitchFamily="18" charset="0"/>
                            </a:rPr>
                            <m:t>target</m:t>
                          </m:r>
                          <m:r>
                            <a:rPr lang="en-US" altLang="zh-CN" sz="1200" b="0" i="0" spc="-4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CN" sz="1200" b="0" i="1" spc="-4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200" b="0" i="1" spc="-4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b="0" i="1" spc="-4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pc="-40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spc="-4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lim>
                      </m:limLow>
                    </m:oMath>
                  </m:oMathPara>
                </a14:m>
                <a:endParaRPr sz="1800" baseline="46296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4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2" y="1510738"/>
                <a:ext cx="4309110" cy="762838"/>
              </a:xfrm>
              <a:prstGeom prst="rect">
                <a:avLst/>
              </a:prstGeom>
              <a:blipFill>
                <a:blip r:embed="rId2"/>
                <a:stretch>
                  <a:fillRect l="-990" t="-6400" b="-5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5"/>
              <p:cNvSpPr txBox="1"/>
              <p:nvPr/>
            </p:nvSpPr>
            <p:spPr>
              <a:xfrm>
                <a:off x="215441" y="2440505"/>
                <a:ext cx="4059721" cy="76367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7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Hence</a:t>
                </a:r>
              </a:p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zh-CN" altLang="en-US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−1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  <a:cs typeface="Arial"/>
                        </a:rPr>
                        <m:t>⋮</m:t>
                      </m:r>
                    </m:oMath>
                  </m:oMathPara>
                </a14:m>
                <a:endParaRPr lang="en-US" altLang="zh-CN" sz="1200" dirty="0"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−1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5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1" y="2440505"/>
                <a:ext cx="4059721" cy="763671"/>
              </a:xfrm>
              <a:prstGeom prst="rect">
                <a:avLst/>
              </a:prstGeom>
              <a:blipFill>
                <a:blip r:embed="rId3"/>
                <a:stretch>
                  <a:fillRect l="-1351" t="-6349"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bject 4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10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1091B57C-41D9-41A2-63DE-DA5C205D2A36}"/>
                  </a:ext>
                </a:extLst>
              </p:cNvPr>
              <p:cNvSpPr txBox="1"/>
              <p:nvPr/>
            </p:nvSpPr>
            <p:spPr>
              <a:xfrm>
                <a:off x="71840" y="587365"/>
                <a:ext cx="4464438" cy="912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𝐿𝐶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100" b="0" dirty="0"/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1091B57C-41D9-41A2-63DE-DA5C205D2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0" y="587365"/>
                <a:ext cx="4464438" cy="912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50" dirty="0"/>
              <a:t>General</a:t>
            </a:r>
            <a:r>
              <a:rPr spc="60" dirty="0"/>
              <a:t> </a:t>
            </a:r>
            <a:r>
              <a:rPr spc="-140" dirty="0"/>
              <a:t>observer</a:t>
            </a:r>
            <a:r>
              <a:rPr spc="60" dirty="0"/>
              <a:t> </a:t>
            </a:r>
            <a:r>
              <a:rPr spc="-145" dirty="0"/>
              <a:t>eigenvalue</a:t>
            </a:r>
            <a:r>
              <a:rPr spc="60" dirty="0"/>
              <a:t> </a:t>
            </a:r>
            <a:r>
              <a:rPr spc="-90" dirty="0"/>
              <a:t>placement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455724"/>
            <a:ext cx="4134358" cy="371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435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0" dirty="0">
                <a:latin typeface="Arial"/>
                <a:cs typeface="Arial"/>
              </a:rPr>
              <a:t>What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Arial"/>
                <a:cs typeface="Arial"/>
              </a:rPr>
              <a:t>B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Arial"/>
                <a:cs typeface="Arial"/>
              </a:rPr>
              <a:t>C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i="1" spc="55" dirty="0">
                <a:latin typeface="Arial"/>
                <a:cs typeface="Arial"/>
              </a:rPr>
              <a:t>D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not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observable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canonical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form?</a:t>
            </a:r>
            <a:endParaRPr sz="1200" dirty="0">
              <a:latin typeface="Arial"/>
              <a:cs typeface="Arial"/>
            </a:endParaRPr>
          </a:p>
          <a:p>
            <a:pPr marL="38100">
              <a:lnSpc>
                <a:spcPts val="1435"/>
              </a:lnSpc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90" dirty="0">
                <a:latin typeface="Arial"/>
                <a:cs typeface="Arial"/>
              </a:rPr>
              <a:t>We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can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transform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o.c.f.</a:t>
            </a:r>
            <a:r>
              <a:rPr sz="1200" spc="1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via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similarity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transform:</a:t>
            </a:r>
            <a:endParaRPr sz="12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/>
              <p:cNvSpPr txBox="1"/>
              <p:nvPr/>
            </p:nvSpPr>
            <p:spPr>
              <a:xfrm>
                <a:off x="177342" y="1418816"/>
                <a:ext cx="4044315" cy="135011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762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3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120" dirty="0">
                    <a:latin typeface="Arial"/>
                    <a:cs typeface="Arial"/>
                  </a:rPr>
                  <a:t>use</a:t>
                </a:r>
                <a:r>
                  <a:rPr lang="en-US" sz="1200" spc="45" dirty="0"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latin typeface="Arial"/>
                    <a:cs typeface="Arial"/>
                  </a:rPr>
                  <a:t>previous</a:t>
                </a:r>
                <a:r>
                  <a:rPr lang="en-US" sz="1200" spc="50" dirty="0">
                    <a:latin typeface="Arial"/>
                    <a:cs typeface="Arial"/>
                  </a:rPr>
                  <a:t> </a:t>
                </a:r>
                <a:r>
                  <a:rPr lang="en-US" sz="1200" spc="-60" dirty="0">
                    <a:latin typeface="Arial"/>
                    <a:cs typeface="Arial"/>
                  </a:rPr>
                  <a:t>formulas</a:t>
                </a:r>
                <a:r>
                  <a:rPr lang="en-US" sz="1200" spc="5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to</a:t>
                </a:r>
                <a:r>
                  <a:rPr lang="en-US" sz="1200" spc="50" dirty="0"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latin typeface="Arial"/>
                    <a:cs typeface="Arial"/>
                  </a:rPr>
                  <a:t>design</a:t>
                </a:r>
                <a:r>
                  <a:rPr lang="en-US" sz="1200" spc="45" dirty="0">
                    <a:latin typeface="Arial"/>
                    <a:cs typeface="Arial"/>
                  </a:rPr>
                  <a:t> </a:t>
                </a:r>
                <a:r>
                  <a:rPr lang="en-US" sz="1200" i="1" spc="-495" dirty="0">
                    <a:latin typeface="Arial"/>
                    <a:cs typeface="Arial"/>
                  </a:rPr>
                  <a:t>L</a:t>
                </a:r>
                <a:r>
                  <a:rPr lang="en-US" sz="1800" spc="127" baseline="13888" dirty="0">
                    <a:latin typeface="Arial"/>
                    <a:cs typeface="Arial"/>
                  </a:rPr>
                  <a:t>˜</a:t>
                </a:r>
                <a:r>
                  <a:rPr lang="en-US" sz="1800" spc="30" baseline="13888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in: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506095" algn="ctr">
                  <a:lnSpc>
                    <a:spcPct val="100000"/>
                  </a:lnSpc>
                  <a:spcBef>
                    <a:spcPts val="844"/>
                  </a:spcBef>
                  <a:tabLst>
                    <a:tab pos="297243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pc="20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ar-AE" altLang="zh-CN" sz="1400" b="0" i="1" spc="-10" dirty="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acc>
                              <m:accPr>
                                <m:chr m:val="̂"/>
                                <m:ctrlPr>
                                  <a:rPr lang="ar-AE" altLang="zh-CN" sz="1200" b="0" i="1" spc="200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accPr>
                              <m:e>
                                <m:r>
                                  <a:rPr lang="zh-CN" altLang="ar-AE" sz="1200" b="0" i="1" spc="200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𝑥</m:t>
                                </m:r>
                              </m:e>
                            </m:acc>
                          </m:e>
                        </m:acc>
                      </m:e>
                      <m:sub>
                        <m:r>
                          <a:rPr lang="en-US" altLang="zh-CN" sz="1200" b="0" i="1" spc="200" smtClean="0">
                            <a:latin typeface="Cambria Math" panose="02040503050406030204" pitchFamily="18" charset="0"/>
                            <a:cs typeface="Arial"/>
                          </a:rPr>
                          <m:t>𝑜𝑏</m:t>
                        </m:r>
                      </m:sub>
                    </m:sSub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altLang="zh-CN" sz="1200" spc="-10" dirty="0">
                    <a:latin typeface="Arial"/>
                    <a:cs typeface="Arial"/>
                  </a:rPr>
                  <a:t>(</a:t>
                </a:r>
                <a:r>
                  <a:rPr lang="en-US" sz="1200" i="1" spc="80" dirty="0">
                    <a:latin typeface="Arial"/>
                    <a:cs typeface="Arial"/>
                  </a:rPr>
                  <a:t>A</a:t>
                </a:r>
                <a:r>
                  <a:rPr lang="en-US" sz="1200" i="1" spc="120" baseline="-13888" dirty="0">
                    <a:latin typeface="Arial"/>
                    <a:cs typeface="Arial"/>
                  </a:rPr>
                  <a:t>o</a:t>
                </a:r>
                <a:r>
                  <a:rPr lang="en-US" sz="1200" i="1" spc="217" baseline="-13888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580" dirty="0" err="1">
                    <a:latin typeface="Arial"/>
                    <a:cs typeface="Arial"/>
                  </a:rPr>
                  <a:t>L</a:t>
                </a:r>
                <a:r>
                  <a:rPr lang="en-US" sz="1800" spc="-44" baseline="13888" dirty="0" err="1">
                    <a:latin typeface="Arial"/>
                    <a:cs typeface="Arial"/>
                  </a:rPr>
                  <a:t>˜</a:t>
                </a:r>
                <a:r>
                  <a:rPr lang="en-US" sz="1200" i="1" dirty="0" err="1">
                    <a:latin typeface="Arial"/>
                    <a:cs typeface="Arial"/>
                  </a:rPr>
                  <a:t>C</a:t>
                </a:r>
                <a:r>
                  <a:rPr lang="en-US" sz="1200" i="1" baseline="-13888" dirty="0" err="1">
                    <a:latin typeface="Arial"/>
                    <a:cs typeface="Arial"/>
                  </a:rPr>
                  <a:t>o</a:t>
                </a:r>
                <a:r>
                  <a:rPr lang="en-US" altLang="zh-CN" sz="1200" i="1" spc="-179" baseline="-13888" dirty="0">
                    <a:latin typeface="Arial"/>
                    <a:cs typeface="Arial"/>
                  </a:rPr>
                  <a:t> </a:t>
                </a:r>
                <a:r>
                  <a:rPr lang="en-US" altLang="zh-CN" sz="1200" spc="465" dirty="0">
                    <a:latin typeface="Arial"/>
                    <a:cs typeface="Arial"/>
                  </a:rPr>
                  <a:t>)</a:t>
                </a:r>
                <a:r>
                  <a:rPr lang="en-US" sz="1800" spc="-202" baseline="62500" dirty="0">
                    <a:latin typeface="Arial"/>
                    <a:cs typeface="Arial"/>
                  </a:rPr>
                  <a:t> </a:t>
                </a:r>
                <a:r>
                  <a:rPr lang="en-US" sz="1200" i="1" spc="-484" dirty="0" err="1">
                    <a:latin typeface="Arial"/>
                    <a:cs typeface="Arial"/>
                  </a:rPr>
                  <a:t>x</a:t>
                </a:r>
                <a:r>
                  <a:rPr lang="en-US" sz="1200" spc="-55" dirty="0" err="1">
                    <a:latin typeface="Arial"/>
                    <a:cs typeface="Arial"/>
                  </a:rPr>
                  <a:t>ˆ</a:t>
                </a:r>
                <a:r>
                  <a:rPr lang="en-US" sz="1200" i="1" spc="52" baseline="-13888" dirty="0" err="1">
                    <a:latin typeface="Arial"/>
                    <a:cs typeface="Arial"/>
                  </a:rPr>
                  <a:t>ob</a:t>
                </a:r>
                <a:r>
                  <a:rPr lang="en-US" sz="1200" i="1" spc="172" baseline="-13888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555" dirty="0">
                    <a:latin typeface="Arial"/>
                    <a:cs typeface="Arial"/>
                  </a:rPr>
                  <a:t>L</a:t>
                </a:r>
                <a:r>
                  <a:rPr lang="en-US" sz="1800" spc="-7" baseline="13888" dirty="0">
                    <a:latin typeface="Arial"/>
                    <a:cs typeface="Arial"/>
                  </a:rPr>
                  <a:t>˜</a:t>
                </a:r>
                <a:r>
                  <a:rPr lang="en-US" sz="1200" i="1" spc="25" dirty="0">
                    <a:latin typeface="Arial"/>
                    <a:cs typeface="Arial"/>
                  </a:rPr>
                  <a:t>y</a:t>
                </a:r>
                <a:r>
                  <a:rPr lang="en-US" sz="1200" i="1" spc="6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B</a:t>
                </a:r>
                <a:r>
                  <a:rPr lang="en-US" sz="1200" i="1" spc="-37" baseline="-13888" dirty="0">
                    <a:latin typeface="Arial"/>
                    <a:cs typeface="Arial"/>
                  </a:rPr>
                  <a:t>o</a:t>
                </a:r>
                <a:r>
                  <a:rPr lang="en-US" sz="1200" i="1" spc="-25" dirty="0">
                    <a:latin typeface="Arial"/>
                    <a:cs typeface="Arial"/>
                  </a:rPr>
                  <a:t>u</a:t>
                </a:r>
                <a:r>
                  <a:rPr lang="en-US" sz="1200" i="1" dirty="0">
                    <a:latin typeface="Arial"/>
                    <a:cs typeface="Arial"/>
                  </a:rPr>
                  <a:t>	</a:t>
                </a:r>
                <a:r>
                  <a:rPr lang="en-US" sz="1200" spc="-60" dirty="0">
                    <a:latin typeface="Arial"/>
                    <a:cs typeface="Arial"/>
                  </a:rPr>
                  <a:t>(analysis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form)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76200">
                  <a:lnSpc>
                    <a:spcPct val="100000"/>
                  </a:lnSpc>
                  <a:spcBef>
                    <a:spcPts val="99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79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correspondingly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in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the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spc="-30" dirty="0">
                    <a:latin typeface="Arial"/>
                    <a:cs typeface="Arial"/>
                  </a:rPr>
                  <a:t>original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state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spc="-105" dirty="0">
                    <a:latin typeface="Arial"/>
                    <a:cs typeface="Arial"/>
                  </a:rPr>
                  <a:t>space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(via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i="1" spc="-465" dirty="0">
                    <a:latin typeface="Arial"/>
                    <a:cs typeface="Arial"/>
                  </a:rPr>
                  <a:t>x</a:t>
                </a:r>
                <a:r>
                  <a:rPr lang="en-US" sz="1200" spc="-35" dirty="0">
                    <a:latin typeface="Arial"/>
                    <a:cs typeface="Arial"/>
                  </a:rPr>
                  <a:t>ˆ</a:t>
                </a:r>
                <a:r>
                  <a:rPr lang="en-US" sz="1200" i="1" spc="82" baseline="-13888" dirty="0">
                    <a:latin typeface="Arial"/>
                    <a:cs typeface="Arial"/>
                  </a:rPr>
                  <a:t>ob</a:t>
                </a:r>
                <a:r>
                  <a:rPr lang="en-US" sz="1200" i="1" spc="179" baseline="-13888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60" dirty="0">
                    <a:latin typeface="Arial"/>
                    <a:cs typeface="Arial"/>
                  </a:rPr>
                  <a:t> </a:t>
                </a:r>
                <a:r>
                  <a:rPr lang="en-US" sz="1200" i="1" spc="175" dirty="0">
                    <a:latin typeface="Arial"/>
                    <a:cs typeface="Arial"/>
                  </a:rPr>
                  <a:t>R</a:t>
                </a:r>
                <a:r>
                  <a:rPr lang="en-US" sz="1200" i="1" spc="-445" dirty="0">
                    <a:latin typeface="Arial"/>
                    <a:cs typeface="Arial"/>
                  </a:rPr>
                  <a:t>x</a:t>
                </a:r>
                <a:r>
                  <a:rPr lang="en-US" sz="1200" spc="60" dirty="0">
                    <a:latin typeface="Arial"/>
                    <a:cs typeface="Arial"/>
                  </a:rPr>
                  <a:t>ˆ</a:t>
                </a:r>
                <a:r>
                  <a:rPr lang="en-US" sz="1200" spc="70" dirty="0">
                    <a:latin typeface="Arial"/>
                    <a:cs typeface="Arial"/>
                  </a:rPr>
                  <a:t>):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500380" algn="ctr">
                  <a:lnSpc>
                    <a:spcPct val="100000"/>
                  </a:lnSpc>
                  <a:spcBef>
                    <a:spcPts val="880"/>
                  </a:spcBef>
                </a:pPr>
                <a:r>
                  <a:rPr lang="en-US" sz="1100" i="1" spc="55" dirty="0">
                    <a:latin typeface="Arial"/>
                    <a:cs typeface="Arial"/>
                  </a:rPr>
                  <a:t>R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200" b="0" i="1" spc="-10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sz="1100" b="0" i="1" spc="20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zh-CN" altLang="ar-AE" sz="1100" b="0" i="1" spc="200" smtClean="0"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sz="1100" spc="200" dirty="0">
                    <a:latin typeface="Arial"/>
                    <a:cs typeface="Arial"/>
                  </a:rPr>
                  <a:t>=</a:t>
                </a:r>
                <a:r>
                  <a:rPr lang="en-US" sz="1100" spc="10" dirty="0">
                    <a:latin typeface="Arial"/>
                    <a:cs typeface="Arial"/>
                  </a:rPr>
                  <a:t> (</a:t>
                </a:r>
                <a:r>
                  <a:rPr lang="en-US" sz="1100" i="1" spc="50" dirty="0">
                    <a:latin typeface="Arial"/>
                    <a:cs typeface="Arial"/>
                  </a:rPr>
                  <a:t>RAR</a:t>
                </a:r>
                <a:r>
                  <a:rPr lang="en-US" sz="1200" i="1" spc="75" baseline="31250" dirty="0">
                    <a:latin typeface="Hack"/>
                    <a:cs typeface="Hack"/>
                  </a:rPr>
                  <a:t>−</a:t>
                </a:r>
                <a:r>
                  <a:rPr lang="en-US" sz="1200" spc="75" baseline="31250" dirty="0">
                    <a:latin typeface="Arial"/>
                    <a:cs typeface="Arial"/>
                  </a:rPr>
                  <a:t>1</a:t>
                </a:r>
                <a:r>
                  <a:rPr lang="en-US" sz="1200" spc="120" baseline="31250" dirty="0">
                    <a:latin typeface="Arial"/>
                    <a:cs typeface="Arial"/>
                  </a:rPr>
                  <a:t> </a:t>
                </a:r>
                <a:r>
                  <a:rPr lang="en-US" sz="1100" i="1" spc="175" dirty="0">
                    <a:latin typeface="Menlo"/>
                    <a:cs typeface="Menlo"/>
                  </a:rPr>
                  <a:t>−</a:t>
                </a:r>
                <a:r>
                  <a:rPr lang="en-US" sz="1100" i="1" spc="-409" dirty="0">
                    <a:latin typeface="Menlo"/>
                    <a:cs typeface="Menlo"/>
                  </a:rPr>
                  <a:t> </a:t>
                </a:r>
                <a:r>
                  <a:rPr lang="en-US" sz="1100" i="1" spc="-490" dirty="0">
                    <a:latin typeface="Arial"/>
                    <a:cs typeface="Arial"/>
                  </a:rPr>
                  <a:t>L</a:t>
                </a:r>
                <a:r>
                  <a:rPr lang="en-US" sz="1650" spc="37" baseline="12626" dirty="0">
                    <a:latin typeface="Arial"/>
                    <a:cs typeface="Arial"/>
                  </a:rPr>
                  <a:t>˜</a:t>
                </a:r>
                <a:r>
                  <a:rPr lang="en-US" sz="1100" i="1" spc="50" dirty="0">
                    <a:latin typeface="Arial"/>
                    <a:cs typeface="Arial"/>
                  </a:rPr>
                  <a:t>C</a:t>
                </a:r>
                <a:r>
                  <a:rPr lang="en-US" sz="1100" i="1" spc="140" dirty="0">
                    <a:latin typeface="Arial"/>
                    <a:cs typeface="Arial"/>
                  </a:rPr>
                  <a:t>R</a:t>
                </a:r>
                <a:r>
                  <a:rPr lang="en-US" sz="1200" i="1" spc="75" baseline="31250" dirty="0">
                    <a:latin typeface="Hack"/>
                    <a:cs typeface="Hack"/>
                  </a:rPr>
                  <a:t>−</a:t>
                </a:r>
                <a:r>
                  <a:rPr lang="en-US" sz="1200" spc="142" baseline="30000" dirty="0">
                    <a:latin typeface="Arial"/>
                    <a:cs typeface="Arial"/>
                  </a:rPr>
                  <a:t>1</a:t>
                </a:r>
                <a:r>
                  <a:rPr lang="en-US" sz="1200" spc="142" dirty="0">
                    <a:latin typeface="Arial"/>
                    <a:cs typeface="Arial"/>
                  </a:rPr>
                  <a:t>)</a:t>
                </a:r>
                <a:r>
                  <a:rPr lang="en-US" sz="1100" i="1" spc="105" dirty="0">
                    <a:latin typeface="Arial"/>
                    <a:cs typeface="Arial"/>
                  </a:rPr>
                  <a:t>R</a:t>
                </a:r>
                <a:r>
                  <a:rPr lang="en-US" sz="1100" i="1" spc="-465" dirty="0">
                    <a:latin typeface="Arial"/>
                    <a:cs typeface="Arial"/>
                  </a:rPr>
                  <a:t>x</a:t>
                </a:r>
                <a:r>
                  <a:rPr lang="en-US" sz="1100" spc="15" dirty="0">
                    <a:latin typeface="Arial"/>
                    <a:cs typeface="Arial"/>
                  </a:rPr>
                  <a:t>ˆ</a:t>
                </a:r>
                <a:r>
                  <a:rPr lang="en-US" sz="1100" spc="-70" dirty="0">
                    <a:latin typeface="Arial"/>
                    <a:cs typeface="Arial"/>
                  </a:rPr>
                  <a:t> </a:t>
                </a:r>
                <a:r>
                  <a:rPr lang="en-US" sz="1100" spc="200" dirty="0">
                    <a:latin typeface="Arial"/>
                    <a:cs typeface="Arial"/>
                  </a:rPr>
                  <a:t>+</a:t>
                </a:r>
                <a:r>
                  <a:rPr lang="en-US" sz="1100" spc="-55" dirty="0">
                    <a:latin typeface="Arial"/>
                    <a:cs typeface="Arial"/>
                  </a:rPr>
                  <a:t> </a:t>
                </a:r>
                <a:r>
                  <a:rPr lang="en-US" sz="1100" i="1" spc="-500" dirty="0">
                    <a:latin typeface="Arial"/>
                    <a:cs typeface="Arial"/>
                  </a:rPr>
                  <a:t>L</a:t>
                </a:r>
                <a:r>
                  <a:rPr lang="en-US" sz="1650" spc="22" baseline="12626" dirty="0">
                    <a:latin typeface="Arial"/>
                    <a:cs typeface="Arial"/>
                  </a:rPr>
                  <a:t>˜</a:t>
                </a:r>
                <a:r>
                  <a:rPr lang="en-US" sz="1100" i="1" spc="40" dirty="0">
                    <a:latin typeface="Arial"/>
                    <a:cs typeface="Arial"/>
                  </a:rPr>
                  <a:t>y</a:t>
                </a:r>
                <a:r>
                  <a:rPr lang="en-US" sz="1100" i="1" spc="70" dirty="0">
                    <a:latin typeface="Arial"/>
                    <a:cs typeface="Arial"/>
                  </a:rPr>
                  <a:t> </a:t>
                </a:r>
                <a:r>
                  <a:rPr lang="en-US" sz="1100" spc="200" dirty="0">
                    <a:latin typeface="Arial"/>
                    <a:cs typeface="Arial"/>
                  </a:rPr>
                  <a:t>+</a:t>
                </a:r>
                <a:r>
                  <a:rPr lang="en-US" sz="1100" spc="-55" dirty="0">
                    <a:latin typeface="Arial"/>
                    <a:cs typeface="Arial"/>
                  </a:rPr>
                  <a:t> </a:t>
                </a:r>
                <a:r>
                  <a:rPr lang="en-US" sz="1100" i="1" spc="-25" dirty="0">
                    <a:latin typeface="Arial"/>
                    <a:cs typeface="Arial"/>
                  </a:rPr>
                  <a:t>RBu</a:t>
                </a:r>
                <a:endParaRPr lang="en-US" sz="11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395"/>
                  </a:spcBef>
                </a:pPr>
                <a:endParaRPr lang="en-US" sz="11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42" y="1418816"/>
                <a:ext cx="4044315" cy="1350113"/>
              </a:xfrm>
              <a:prstGeom prst="rect">
                <a:avLst/>
              </a:prstGeom>
              <a:blipFill>
                <a:blip r:embed="rId2"/>
                <a:stretch>
                  <a:fillRect l="-301" t="-5430" r="-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0"/>
          <p:cNvSpPr txBox="1"/>
          <p:nvPr/>
        </p:nvSpPr>
        <p:spPr>
          <a:xfrm>
            <a:off x="2936113" y="2902342"/>
            <a:ext cx="1326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Arial"/>
                <a:cs typeface="Arial"/>
              </a:rPr>
              <a:t>(implementation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form)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11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93BFED1-BF8B-0878-B100-5B530DE707A9}"/>
                  </a:ext>
                </a:extLst>
              </p:cNvPr>
              <p:cNvSpPr txBox="1"/>
              <p:nvPr/>
            </p:nvSpPr>
            <p:spPr>
              <a:xfrm>
                <a:off x="494204" y="849335"/>
                <a:ext cx="3619709" cy="540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1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𝐵𝑢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𝐶𝑥</m:t>
                              </m:r>
                            </m:e>
                          </m:eqAr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groupChr>
                            <m:groupChrPr>
                              <m:chr m:val="⇒"/>
                              <m:vertJc m:val="bot"/>
                              <m:ctrlPr>
                                <a:rPr lang="en-US" altLang="zh-CN" sz="11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m:rPr>
                                      <m:brk m:alnAt="2"/>
                                    </m:r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groupCh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</m:e>
                      </m:d>
                      <m:d>
                        <m:dPr>
                          <m:begChr m:val="{"/>
                          <m:endChr m:val=""/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1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𝑜𝑏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limLow>
                                <m:limLow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𝑅𝐴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</m:groupCh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lim>
                              </m:limLow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𝑜𝑏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limLow>
                                <m:limLow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𝑅𝐵</m:t>
                                      </m:r>
                                    </m:e>
                                  </m:groupCh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lim>
                              </m:limLow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𝑜𝑏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𝑜𝑏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93BFED1-BF8B-0878-B100-5B530DE70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04" y="849335"/>
                <a:ext cx="3619709" cy="5404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F1E9F88-0759-4038-3681-3F8D9747511A}"/>
                  </a:ext>
                </a:extLst>
              </p:cNvPr>
              <p:cNvSpPr txBox="1"/>
              <p:nvPr/>
            </p:nvSpPr>
            <p:spPr>
              <a:xfrm>
                <a:off x="655998" y="2768189"/>
                <a:ext cx="2018501" cy="325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i="1" smtClean="0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̇"/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limUpp>
                        <m:limUpp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acc>
                                <m:accPr>
                                  <m:chr m:val="̃"/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</m:groupChr>
                        </m:e>
                        <m:lim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lim>
                      </m:limUpp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𝐿𝑦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𝐵𝑢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F1E9F88-0759-4038-3681-3F8D97475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98" y="2768189"/>
                <a:ext cx="2018501" cy="325923"/>
              </a:xfrm>
              <a:prstGeom prst="rect">
                <a:avLst/>
              </a:prstGeom>
              <a:blipFill>
                <a:blip r:embed="rId5"/>
                <a:stretch>
                  <a:fillRect l="-604" t="-1852" r="-906" b="-18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50" dirty="0"/>
              <a:t>General</a:t>
            </a:r>
            <a:r>
              <a:rPr spc="60" dirty="0"/>
              <a:t> </a:t>
            </a:r>
            <a:r>
              <a:rPr spc="-140" dirty="0"/>
              <a:t>observer</a:t>
            </a:r>
            <a:r>
              <a:rPr spc="60" dirty="0"/>
              <a:t> </a:t>
            </a:r>
            <a:r>
              <a:rPr spc="-145" dirty="0"/>
              <a:t>eigenvalue</a:t>
            </a:r>
            <a:r>
              <a:rPr spc="60" dirty="0"/>
              <a:t> </a:t>
            </a:r>
            <a:r>
              <a:rPr spc="-90" dirty="0"/>
              <a:t>placement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1442311"/>
            <a:ext cx="417449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 marR="3048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3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1" spc="-25" dirty="0">
                <a:latin typeface="Arial"/>
                <a:cs typeface="Arial"/>
              </a:rPr>
              <a:t>Powerful</a:t>
            </a:r>
            <a:r>
              <a:rPr sz="1200" b="1" spc="1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fact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1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system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spc="100" dirty="0">
                <a:latin typeface="Arial"/>
                <a:cs typeface="Arial"/>
              </a:rPr>
              <a:t>Σ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Arial"/>
                <a:cs typeface="Arial"/>
              </a:rPr>
              <a:t>B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Arial"/>
                <a:cs typeface="Arial"/>
              </a:rPr>
              <a:t>C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i="1" spc="55" dirty="0">
                <a:latin typeface="Arial"/>
                <a:cs typeface="Arial"/>
              </a:rPr>
              <a:t>D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observable,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then </a:t>
            </a:r>
            <a:r>
              <a:rPr sz="1200" spc="-114" dirty="0">
                <a:latin typeface="Arial"/>
                <a:cs typeface="Arial"/>
              </a:rPr>
              <a:t>we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can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arbitrarily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place</a:t>
            </a:r>
            <a:r>
              <a:rPr sz="1200" dirty="0">
                <a:latin typeface="Arial"/>
                <a:cs typeface="Arial"/>
              </a:rPr>
              <a:t> the </a:t>
            </a:r>
            <a:r>
              <a:rPr sz="1200" spc="-85" dirty="0">
                <a:latin typeface="Arial"/>
                <a:cs typeface="Arial"/>
              </a:rPr>
              <a:t>observer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eigenvalues.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12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16"/>
            <a:ext cx="355600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40" dirty="0">
                <a:solidFill>
                  <a:srgbClr val="191919"/>
                </a:solidFill>
                <a:latin typeface="Arial"/>
                <a:cs typeface="Arial"/>
              </a:rPr>
              <a:t>Observer</a:t>
            </a:r>
            <a:r>
              <a:rPr sz="1700" spc="2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145" dirty="0">
                <a:solidFill>
                  <a:srgbClr val="191919"/>
                </a:solidFill>
                <a:latin typeface="Arial"/>
                <a:cs typeface="Arial"/>
              </a:rPr>
              <a:t>design</a:t>
            </a:r>
            <a:r>
              <a:rPr sz="1700" spc="2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191919"/>
                </a:solidFill>
                <a:latin typeface="Arial"/>
                <a:cs typeface="Arial"/>
              </a:rPr>
              <a:t>in</a:t>
            </a:r>
            <a:r>
              <a:rPr sz="1700" spc="-45" dirty="0">
                <a:solidFill>
                  <a:srgbClr val="191919"/>
                </a:solidFill>
                <a:latin typeface="Arial"/>
                <a:cs typeface="Arial"/>
              </a:rPr>
              <a:t> MATLAB</a:t>
            </a:r>
            <a:r>
              <a:rPr sz="1700" spc="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130" dirty="0">
                <a:solidFill>
                  <a:srgbClr val="191919"/>
                </a:solidFill>
                <a:latin typeface="Arial"/>
                <a:cs typeface="Arial"/>
              </a:rPr>
              <a:t>and</a:t>
            </a:r>
            <a:r>
              <a:rPr sz="1700" spc="1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191919"/>
                </a:solidFill>
                <a:latin typeface="Arial"/>
                <a:cs typeface="Arial"/>
              </a:rPr>
              <a:t>Python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8628" y="1056468"/>
          <a:ext cx="4262120" cy="1328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660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%MATLAB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#Python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[0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1;-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0.2];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[0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1]’;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import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control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35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2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ct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[1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0];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import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numpy</a:t>
                      </a:r>
                      <a:r>
                        <a:rPr sz="12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35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2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np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spc="-125" dirty="0">
                          <a:latin typeface="Arial"/>
                          <a:cs typeface="Arial"/>
                        </a:rPr>
                        <a:t>sys</a:t>
                      </a:r>
                      <a:r>
                        <a:rPr sz="12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ss(A,B,C,0);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np.array([[0,</a:t>
                      </a:r>
                      <a:r>
                        <a:rPr sz="12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1],[-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4,</a:t>
                      </a:r>
                      <a:r>
                        <a:rPr sz="12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0.2]])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eig(A)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np.array([[1],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[0]]).T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2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place(A’,C’,[-2,-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3])’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2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ct.place(A.T,C.T,[-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2,</a:t>
                      </a:r>
                      <a:r>
                        <a:rPr sz="12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-3]).T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spc="-30" dirty="0">
                          <a:latin typeface="Arial"/>
                          <a:cs typeface="Arial"/>
                        </a:rPr>
                        <a:t>eig(A-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L*C)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print(L)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13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16"/>
            <a:ext cx="19748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20" dirty="0">
                <a:solidFill>
                  <a:srgbClr val="191919"/>
                </a:solidFill>
                <a:latin typeface="Arial"/>
                <a:cs typeface="Arial"/>
              </a:rPr>
              <a:t>Motor</a:t>
            </a:r>
            <a:r>
              <a:rPr sz="1700" spc="-5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60" dirty="0">
                <a:solidFill>
                  <a:srgbClr val="191919"/>
                </a:solidFill>
                <a:latin typeface="Arial"/>
                <a:cs typeface="Arial"/>
              </a:rPr>
              <a:t>control</a:t>
            </a:r>
            <a:r>
              <a:rPr sz="1700" spc="-4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125" dirty="0">
                <a:solidFill>
                  <a:srgbClr val="191919"/>
                </a:solidFill>
                <a:latin typeface="Arial"/>
                <a:cs typeface="Arial"/>
              </a:rPr>
              <a:t>example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19038"/>
            <a:ext cx="4608195" cy="2937510"/>
            <a:chOff x="0" y="519038"/>
            <a:chExt cx="4608195" cy="29375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191" y="526406"/>
              <a:ext cx="1448457" cy="28898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6781" y="519038"/>
              <a:ext cx="1428502" cy="29130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6272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3071952" y="109728"/>
                  </a:lnTo>
                  <a:lnTo>
                    <a:pt x="4607928" y="109728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64420" y="2253084"/>
            <a:ext cx="1017991" cy="101799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14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16"/>
            <a:ext cx="25857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30" dirty="0">
                <a:solidFill>
                  <a:srgbClr val="191919"/>
                </a:solidFill>
                <a:latin typeface="Arial"/>
                <a:cs typeface="Arial"/>
              </a:rPr>
              <a:t>Luenberger</a:t>
            </a:r>
            <a:r>
              <a:rPr sz="1700" spc="7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140" dirty="0">
                <a:solidFill>
                  <a:srgbClr val="191919"/>
                </a:solidFill>
                <a:latin typeface="Arial"/>
                <a:cs typeface="Arial"/>
              </a:rPr>
              <a:t>observer</a:t>
            </a:r>
            <a:r>
              <a:rPr sz="1700" spc="7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120" dirty="0">
                <a:solidFill>
                  <a:srgbClr val="191919"/>
                </a:solidFill>
                <a:latin typeface="Arial"/>
                <a:cs typeface="Arial"/>
              </a:rPr>
              <a:t>summary</a:t>
            </a:r>
            <a:endParaRPr sz="17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15442" y="608673"/>
                <a:ext cx="3885565" cy="486030"/>
              </a:xfrm>
              <a:prstGeom prst="rect">
                <a:avLst/>
              </a:prstGeom>
            </p:spPr>
            <p:txBody>
              <a:bodyPr vert="horz" wrap="square" lIns="0" tIns="514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405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33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85" dirty="0">
                    <a:latin typeface="Arial"/>
                    <a:cs typeface="Arial"/>
                  </a:rPr>
                  <a:t>observer</a:t>
                </a:r>
                <a:r>
                  <a:rPr sz="1200" spc="55" dirty="0">
                    <a:latin typeface="Arial"/>
                    <a:cs typeface="Arial"/>
                  </a:rPr>
                  <a:t> </a:t>
                </a:r>
                <a:r>
                  <a:rPr sz="1200" spc="-65" dirty="0">
                    <a:latin typeface="Arial"/>
                    <a:cs typeface="Arial"/>
                  </a:rPr>
                  <a:t>dynamics:</a:t>
                </a:r>
                <a:r>
                  <a:rPr sz="1200" spc="185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400" i="1" spc="-1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sz="1200" i="1" spc="2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200" i="1" spc="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sz="1200" spc="200" dirty="0">
                    <a:latin typeface="Arial"/>
                    <a:cs typeface="Arial"/>
                  </a:rPr>
                  <a:t>=</a:t>
                </a:r>
                <a:r>
                  <a:rPr sz="1200" spc="-10" dirty="0">
                    <a:latin typeface="Arial"/>
                    <a:cs typeface="Arial"/>
                  </a:rPr>
                  <a:t> </a:t>
                </a:r>
                <a:r>
                  <a:rPr sz="1200" i="1" spc="40" dirty="0">
                    <a:latin typeface="Arial"/>
                    <a:cs typeface="Arial"/>
                  </a:rPr>
                  <a:t>A</a:t>
                </a:r>
                <a:r>
                  <a:rPr sz="1200" i="1" spc="-480" dirty="0">
                    <a:latin typeface="Arial"/>
                    <a:cs typeface="Arial"/>
                  </a:rPr>
                  <a:t>x</a:t>
                </a:r>
                <a:r>
                  <a:rPr sz="1200" spc="40" dirty="0">
                    <a:latin typeface="Arial"/>
                    <a:cs typeface="Arial"/>
                  </a:rPr>
                  <a:t>ˆ</a:t>
                </a:r>
                <a:r>
                  <a:rPr sz="1200" spc="-85" dirty="0">
                    <a:latin typeface="Arial"/>
                    <a:cs typeface="Arial"/>
                  </a:rPr>
                  <a:t> </a:t>
                </a:r>
                <a:r>
                  <a:rPr sz="1200" spc="200" dirty="0">
                    <a:latin typeface="Arial"/>
                    <a:cs typeface="Arial"/>
                  </a:rPr>
                  <a:t>+</a:t>
                </a:r>
                <a:r>
                  <a:rPr sz="1200" spc="-75" dirty="0">
                    <a:latin typeface="Arial"/>
                    <a:cs typeface="Arial"/>
                  </a:rPr>
                  <a:t> </a:t>
                </a:r>
                <a:r>
                  <a:rPr sz="1200" i="1" spc="-20" dirty="0">
                    <a:latin typeface="Arial"/>
                    <a:cs typeface="Arial"/>
                  </a:rPr>
                  <a:t>Bu</a:t>
                </a:r>
                <a:r>
                  <a:rPr sz="1200" i="1" spc="-15" dirty="0">
                    <a:latin typeface="Arial"/>
                    <a:cs typeface="Arial"/>
                  </a:rPr>
                  <a:t> </a:t>
                </a:r>
                <a:r>
                  <a:rPr sz="1200" spc="200" dirty="0">
                    <a:latin typeface="Arial"/>
                    <a:cs typeface="Arial"/>
                  </a:rPr>
                  <a:t>+</a:t>
                </a:r>
                <a:r>
                  <a:rPr sz="1200" spc="-75" dirty="0">
                    <a:latin typeface="Arial"/>
                    <a:cs typeface="Arial"/>
                  </a:rPr>
                  <a:t> </a:t>
                </a:r>
                <a:r>
                  <a:rPr sz="1200" i="1" spc="-40" dirty="0">
                    <a:latin typeface="Arial"/>
                    <a:cs typeface="Arial"/>
                  </a:rPr>
                  <a:t>L</a:t>
                </a:r>
                <a:r>
                  <a:rPr sz="1200" i="1" spc="-135" dirty="0">
                    <a:latin typeface="Arial"/>
                    <a:cs typeface="Arial"/>
                  </a:rPr>
                  <a:t> </a:t>
                </a:r>
                <a:r>
                  <a:rPr sz="1200" dirty="0">
                    <a:latin typeface="Arial"/>
                    <a:cs typeface="Arial"/>
                  </a:rPr>
                  <a:t>(</a:t>
                </a:r>
                <a:r>
                  <a:rPr sz="1200" i="1" dirty="0">
                    <a:latin typeface="Arial"/>
                    <a:cs typeface="Arial"/>
                  </a:rPr>
                  <a:t>y</a:t>
                </a:r>
                <a:r>
                  <a:rPr sz="1200" i="1" spc="55" dirty="0">
                    <a:latin typeface="Arial"/>
                    <a:cs typeface="Arial"/>
                  </a:rPr>
                  <a:t> </a:t>
                </a:r>
                <a:r>
                  <a:rPr sz="1200" i="1" spc="200" dirty="0">
                    <a:latin typeface="Menlo"/>
                    <a:cs typeface="Menlo"/>
                  </a:rPr>
                  <a:t>−</a:t>
                </a:r>
                <a:r>
                  <a:rPr sz="1200" i="1" spc="-459" dirty="0">
                    <a:latin typeface="Menlo"/>
                    <a:cs typeface="Menlo"/>
                  </a:rPr>
                  <a:t> </a:t>
                </a:r>
                <a:r>
                  <a:rPr sz="1200" i="1" spc="-130" dirty="0">
                    <a:latin typeface="Arial"/>
                    <a:cs typeface="Arial"/>
                  </a:rPr>
                  <a:t>C</a:t>
                </a:r>
                <a:r>
                  <a:rPr sz="1200" i="1" spc="-190" dirty="0">
                    <a:latin typeface="Arial"/>
                    <a:cs typeface="Arial"/>
                  </a:rPr>
                  <a:t> </a:t>
                </a:r>
                <a:r>
                  <a:rPr sz="1200" i="1" spc="-445" dirty="0">
                    <a:latin typeface="Arial"/>
                    <a:cs typeface="Arial"/>
                  </a:rPr>
                  <a:t>x</a:t>
                </a:r>
                <a:r>
                  <a:rPr sz="1200" spc="60" dirty="0">
                    <a:latin typeface="Arial"/>
                    <a:cs typeface="Arial"/>
                  </a:rPr>
                  <a:t>ˆ</a:t>
                </a:r>
                <a:r>
                  <a:rPr sz="1200" spc="75" dirty="0">
                    <a:latin typeface="Arial"/>
                    <a:cs typeface="Arial"/>
                  </a:rPr>
                  <a:t>)</a:t>
                </a:r>
                <a:r>
                  <a:rPr sz="1200" spc="-130" dirty="0">
                    <a:latin typeface="Arial"/>
                    <a:cs typeface="Arial"/>
                  </a:rPr>
                  <a:t> </a:t>
                </a:r>
                <a:r>
                  <a:rPr sz="1200" i="1" dirty="0">
                    <a:latin typeface="Times New Roman"/>
                    <a:cs typeface="Times New Roman"/>
                  </a:rPr>
                  <a:t>,</a:t>
                </a:r>
                <a:r>
                  <a:rPr sz="1200" i="1" spc="280" dirty="0">
                    <a:latin typeface="Times New Roman"/>
                    <a:cs typeface="Times New Roman"/>
                  </a:rPr>
                  <a:t> </a:t>
                </a:r>
                <a:r>
                  <a:rPr sz="1200" i="1" spc="-484" dirty="0">
                    <a:latin typeface="Arial"/>
                    <a:cs typeface="Arial"/>
                  </a:rPr>
                  <a:t>x</a:t>
                </a:r>
                <a:r>
                  <a:rPr sz="1200" spc="20" dirty="0">
                    <a:latin typeface="Arial"/>
                    <a:cs typeface="Arial"/>
                  </a:rPr>
                  <a:t>ˆ</a:t>
                </a:r>
                <a:r>
                  <a:rPr sz="1200" spc="35" dirty="0">
                    <a:latin typeface="Arial"/>
                    <a:cs typeface="Arial"/>
                  </a:rPr>
                  <a:t>(0)</a:t>
                </a:r>
                <a:r>
                  <a:rPr sz="1200" spc="-5" dirty="0">
                    <a:latin typeface="Arial"/>
                    <a:cs typeface="Arial"/>
                  </a:rPr>
                  <a:t> </a:t>
                </a:r>
                <a:r>
                  <a:rPr sz="1200" spc="200" dirty="0">
                    <a:latin typeface="Arial"/>
                    <a:cs typeface="Arial"/>
                  </a:rPr>
                  <a:t>=</a:t>
                </a:r>
                <a:r>
                  <a:rPr sz="1200" spc="-10" dirty="0">
                    <a:latin typeface="Arial"/>
                    <a:cs typeface="Arial"/>
                  </a:rPr>
                  <a:t> </a:t>
                </a:r>
                <a:r>
                  <a:rPr sz="1200" spc="-50" dirty="0">
                    <a:latin typeface="Arial"/>
                    <a:cs typeface="Arial"/>
                  </a:rPr>
                  <a:t>0</a:t>
                </a:r>
                <a:endParaRPr sz="1200" dirty="0"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300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27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25" dirty="0">
                    <a:latin typeface="Arial"/>
                    <a:cs typeface="Arial"/>
                  </a:rPr>
                  <a:t>block</a:t>
                </a:r>
                <a:r>
                  <a:rPr sz="1200" spc="15" dirty="0">
                    <a:latin typeface="Arial"/>
                    <a:cs typeface="Arial"/>
                  </a:rPr>
                  <a:t> </a:t>
                </a:r>
                <a:r>
                  <a:rPr sz="1200" spc="-10" dirty="0">
                    <a:latin typeface="Arial"/>
                    <a:cs typeface="Arial"/>
                  </a:rPr>
                  <a:t>diagram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608673"/>
                <a:ext cx="3885565" cy="486030"/>
              </a:xfrm>
              <a:prstGeom prst="rect">
                <a:avLst/>
              </a:prstGeom>
              <a:blipFill>
                <a:blip r:embed="rId2"/>
                <a:stretch>
                  <a:fillRect l="-1411" r="-157"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620" y="1202532"/>
            <a:ext cx="2487066" cy="172032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15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25857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70" dirty="0"/>
              <a:t> </a:t>
            </a:r>
            <a:r>
              <a:rPr spc="-140" dirty="0"/>
              <a:t>observer</a:t>
            </a:r>
            <a:r>
              <a:rPr spc="70" dirty="0"/>
              <a:t> </a:t>
            </a:r>
            <a:r>
              <a:rPr spc="-120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02742" y="518563"/>
                <a:ext cx="3747135" cy="207633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5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system</a:t>
                </a:r>
                <a:r>
                  <a:rPr lang="en-US" sz="1200" spc="5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dynamics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788035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200" b="0" i="1" spc="20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200" b="0" i="1" spc="20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5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Ax</a:t>
                </a:r>
                <a:r>
                  <a:rPr lang="en-US" sz="1200" i="1" spc="3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Bu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spc="-75" dirty="0">
                    <a:latin typeface="Arial"/>
                    <a:cs typeface="Arial"/>
                  </a:rPr>
                  <a:t>x</a:t>
                </a:r>
                <a:r>
                  <a:rPr lang="en-US" sz="1200" i="1" spc="-22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(0)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latin typeface="Arial"/>
                    <a:cs typeface="Arial"/>
                  </a:rPr>
                  <a:t>0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</a:t>
                </a:r>
                <a:r>
                  <a:rPr lang="en-US" sz="1200" i="1" spc="-15" dirty="0"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latin typeface="Menlo"/>
                    <a:cs typeface="Menlo"/>
                  </a:rPr>
                  <a:t>∈</a:t>
                </a:r>
                <a:r>
                  <a:rPr lang="en-US" sz="1200" spc="-390" dirty="0">
                    <a:latin typeface="Menlo"/>
                    <a:cs typeface="Menlo"/>
                  </a:rPr>
                  <a:t> </a:t>
                </a:r>
                <a:r>
                  <a:rPr lang="en-US" sz="1200" spc="55" dirty="0">
                    <a:latin typeface="Times New Roman"/>
                    <a:cs typeface="Times New Roman"/>
                  </a:rPr>
                  <a:t>R</a:t>
                </a:r>
                <a:r>
                  <a:rPr lang="en-US" sz="1200" i="1" spc="82" baseline="34722" dirty="0">
                    <a:latin typeface="Arial"/>
                    <a:cs typeface="Arial"/>
                  </a:rPr>
                  <a:t>n</a:t>
                </a:r>
                <a:r>
                  <a:rPr lang="en-US" sz="1200" i="1" spc="82" baseline="34722" dirty="0">
                    <a:latin typeface="Hack"/>
                    <a:cs typeface="Hack"/>
                  </a:rPr>
                  <a:t>×</a:t>
                </a:r>
                <a:r>
                  <a:rPr lang="en-US" sz="1200" i="1" spc="82" baseline="34722" dirty="0">
                    <a:latin typeface="Arial"/>
                    <a:cs typeface="Arial"/>
                  </a:rPr>
                  <a:t>n</a:t>
                </a:r>
                <a:r>
                  <a:rPr lang="en-US" sz="1200" i="1" spc="55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-100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B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latin typeface="Menlo"/>
                    <a:cs typeface="Menlo"/>
                  </a:rPr>
                  <a:t> </a:t>
                </a:r>
                <a:r>
                  <a:rPr lang="en-US" sz="1200" spc="40" dirty="0">
                    <a:latin typeface="Times New Roman"/>
                    <a:cs typeface="Times New Roman"/>
                  </a:rPr>
                  <a:t>R</a:t>
                </a:r>
                <a:r>
                  <a:rPr lang="en-US" sz="1200" i="1" spc="60" baseline="34722" dirty="0">
                    <a:latin typeface="Arial"/>
                    <a:cs typeface="Arial"/>
                  </a:rPr>
                  <a:t>n</a:t>
                </a:r>
                <a:r>
                  <a:rPr lang="en-US" sz="1200" i="1" spc="60" baseline="34722" dirty="0">
                    <a:latin typeface="Hack"/>
                    <a:cs typeface="Hack"/>
                  </a:rPr>
                  <a:t>×</a:t>
                </a:r>
                <a:r>
                  <a:rPr lang="en-US" sz="1200" i="1" spc="60" baseline="34722" dirty="0">
                    <a:latin typeface="Arial"/>
                    <a:cs typeface="Arial"/>
                  </a:rPr>
                  <a:t>r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 marL="785495">
                  <a:lnSpc>
                    <a:spcPct val="100000"/>
                  </a:lnSpc>
                  <a:spcBef>
                    <a:spcPts val="405"/>
                  </a:spcBef>
                </a:pP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5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Cx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35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latin typeface="Menlo"/>
                    <a:cs typeface="Menlo"/>
                  </a:rPr>
                  <a:t> </a:t>
                </a:r>
                <a:r>
                  <a:rPr lang="en-US" sz="1200" spc="30" dirty="0">
                    <a:latin typeface="Times New Roman"/>
                    <a:cs typeface="Times New Roman"/>
                  </a:rPr>
                  <a:t>R</a:t>
                </a:r>
                <a:r>
                  <a:rPr lang="en-US" sz="1200" i="1" spc="44" baseline="34722" dirty="0">
                    <a:latin typeface="Arial"/>
                    <a:cs typeface="Arial"/>
                  </a:rPr>
                  <a:t>m</a:t>
                </a:r>
                <a:r>
                  <a:rPr lang="en-US" sz="1200" i="1" spc="44" baseline="34722" dirty="0">
                    <a:latin typeface="Hack"/>
                    <a:cs typeface="Hack"/>
                  </a:rPr>
                  <a:t>×</a:t>
                </a:r>
                <a:r>
                  <a:rPr lang="en-US" sz="1200" spc="44" baseline="34722" dirty="0">
                    <a:latin typeface="Arial"/>
                    <a:cs typeface="Arial"/>
                  </a:rPr>
                  <a:t>1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6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observer</a:t>
                </a:r>
                <a:r>
                  <a:rPr lang="en-US" sz="1200" spc="5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dynamics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057275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400" i="1" spc="-1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sz="1200" i="1" spc="2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200" i="1" spc="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latin typeface="Arial"/>
                    <a:cs typeface="Arial"/>
                  </a:rPr>
                  <a:t>ˆ</a:t>
                </a:r>
                <a:r>
                  <a:rPr lang="en-US" sz="1200" spc="-8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latin typeface="Arial"/>
                    <a:cs typeface="Arial"/>
                  </a:rPr>
                  <a:t>Bu</a:t>
                </a:r>
                <a:r>
                  <a:rPr lang="en-US" sz="1200" i="1" spc="-1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65" dirty="0"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latin typeface="Arial"/>
                    <a:cs typeface="Arial"/>
                  </a:rPr>
                  <a:t>L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65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130" dirty="0">
                    <a:latin typeface="Arial"/>
                    <a:cs typeface="Arial"/>
                  </a:rPr>
                  <a:t>C</a:t>
                </a:r>
                <a:r>
                  <a:rPr lang="en-US" sz="1200" i="1" spc="-185" dirty="0">
                    <a:latin typeface="Arial"/>
                    <a:cs typeface="Arial"/>
                  </a:rPr>
                  <a:t> </a:t>
                </a:r>
                <a:r>
                  <a:rPr lang="en-US" sz="1200" i="1" spc="-445" dirty="0">
                    <a:latin typeface="Arial"/>
                    <a:cs typeface="Arial"/>
                  </a:rPr>
                  <a:t>x</a:t>
                </a:r>
                <a:r>
                  <a:rPr lang="en-US" sz="1200" spc="60" dirty="0"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latin typeface="Arial"/>
                    <a:cs typeface="Arial"/>
                  </a:rPr>
                  <a:t>)</a:t>
                </a:r>
                <a:r>
                  <a:rPr lang="en-US" sz="1200" spc="-13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Times New Roman"/>
                    <a:cs typeface="Times New Roman"/>
                  </a:rPr>
                  <a:t>,</a:t>
                </a:r>
                <a:r>
                  <a:rPr lang="en-US" sz="1200" i="1" spc="290" dirty="0">
                    <a:latin typeface="Times New Roman"/>
                    <a:cs typeface="Times New Roman"/>
                  </a:rPr>
                  <a:t> </a:t>
                </a:r>
                <a:r>
                  <a:rPr lang="en-US" sz="1200" i="1" spc="-484" dirty="0">
                    <a:latin typeface="Arial"/>
                    <a:cs typeface="Arial"/>
                  </a:rPr>
                  <a:t>x</a:t>
                </a:r>
                <a:r>
                  <a:rPr lang="en-US" sz="1200" spc="20" dirty="0">
                    <a:latin typeface="Arial"/>
                    <a:cs typeface="Arial"/>
                  </a:rPr>
                  <a:t>ˆ</a:t>
                </a:r>
                <a:r>
                  <a:rPr lang="en-US" sz="1200" spc="35" dirty="0">
                    <a:latin typeface="Arial"/>
                    <a:cs typeface="Arial"/>
                  </a:rPr>
                  <a:t>(0)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0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18173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A</a:t>
                </a:r>
                <a:r>
                  <a:rPr lang="en-US" sz="1200" i="1" spc="-70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85" dirty="0">
                    <a:latin typeface="Arial"/>
                    <a:cs typeface="Arial"/>
                  </a:rPr>
                  <a:t>LC</a:t>
                </a:r>
                <a:r>
                  <a:rPr lang="en-US" sz="1200" i="1" spc="-190" dirty="0"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latin typeface="Arial"/>
                    <a:cs typeface="Arial"/>
                  </a:rPr>
                  <a:t>)</a:t>
                </a:r>
                <a:r>
                  <a:rPr lang="en-US" sz="1200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latin typeface="Arial"/>
                    <a:cs typeface="Arial"/>
                  </a:rPr>
                  <a:t>ˆ</a:t>
                </a:r>
                <a:r>
                  <a:rPr lang="en-US" sz="1200" spc="-9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45" dirty="0">
                    <a:latin typeface="Arial"/>
                    <a:cs typeface="Arial"/>
                  </a:rPr>
                  <a:t>LCx</a:t>
                </a:r>
                <a:r>
                  <a:rPr lang="en-US" sz="1200" i="1" spc="3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Bu</a:t>
                </a:r>
                <a:endParaRPr lang="en-US" sz="12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20"/>
                  </a:spcBef>
                </a:pPr>
                <a:endParaRPr lang="en-US" sz="1200" dirty="0">
                  <a:latin typeface="Arial"/>
                  <a:cs typeface="Arial"/>
                </a:endParaRPr>
              </a:p>
              <a:p>
                <a:pPr marL="50800">
                  <a:lnSpc>
                    <a:spcPct val="100000"/>
                  </a:lnSpc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0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augmented</a:t>
                </a:r>
                <a:r>
                  <a:rPr lang="en-US" sz="1200" spc="3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system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2" y="518563"/>
                <a:ext cx="3747135" cy="2076338"/>
              </a:xfrm>
              <a:prstGeom prst="rect">
                <a:avLst/>
              </a:prstGeom>
              <a:blipFill>
                <a:blip r:embed="rId2"/>
                <a:stretch>
                  <a:fillRect l="-1138" t="-2346" b="-3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16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4B05BA7-0639-4ED1-988B-3F382D9DF51A}"/>
                  </a:ext>
                </a:extLst>
              </p:cNvPr>
              <p:cNvSpPr txBox="1"/>
              <p:nvPr/>
            </p:nvSpPr>
            <p:spPr>
              <a:xfrm>
                <a:off x="1249988" y="2720975"/>
                <a:ext cx="2108141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4B05BA7-0639-4ED1-988B-3F382D9DF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88" y="2720975"/>
                <a:ext cx="2108141" cy="328680"/>
              </a:xfrm>
              <a:prstGeom prst="rect">
                <a:avLst/>
              </a:prstGeom>
              <a:blipFill>
                <a:blip r:embed="rId4"/>
                <a:stretch>
                  <a:fillRect t="-3704" r="-289" b="-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25857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70" dirty="0"/>
              <a:t> </a:t>
            </a:r>
            <a:r>
              <a:rPr spc="-140" dirty="0"/>
              <a:t>observer</a:t>
            </a:r>
            <a:r>
              <a:rPr spc="70" dirty="0"/>
              <a:t> </a:t>
            </a:r>
            <a:r>
              <a:rPr spc="-12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481200"/>
            <a:ext cx="17848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0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65" dirty="0">
                <a:latin typeface="Arial"/>
                <a:cs typeface="Arial"/>
              </a:rPr>
              <a:t>augmented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system</a:t>
            </a:r>
            <a:endParaRPr sz="12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/>
              <p:cNvSpPr txBox="1"/>
              <p:nvPr/>
            </p:nvSpPr>
            <p:spPr>
              <a:xfrm>
                <a:off x="202742" y="1226538"/>
                <a:ext cx="4350551" cy="77341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16586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Cx</a:t>
                </a:r>
                <a:endParaRPr lang="en-US" sz="12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40"/>
                  </a:spcBef>
                </a:pPr>
                <a:endParaRPr lang="en-US" sz="1200" dirty="0">
                  <a:latin typeface="Arial"/>
                  <a:cs typeface="Arial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5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to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spc="-150" dirty="0">
                    <a:latin typeface="Arial"/>
                    <a:cs typeface="Arial"/>
                  </a:rPr>
                  <a:t>see</a:t>
                </a:r>
                <a:r>
                  <a:rPr lang="en-US" sz="1200" spc="5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the </a:t>
                </a:r>
                <a:r>
                  <a:rPr lang="en-US" sz="1200" spc="-20" dirty="0">
                    <a:latin typeface="Arial"/>
                    <a:cs typeface="Arial"/>
                  </a:rPr>
                  <a:t>distribution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of </a:t>
                </a:r>
                <a:r>
                  <a:rPr lang="en-US" sz="1200" spc="-80" dirty="0">
                    <a:latin typeface="Arial"/>
                    <a:cs typeface="Arial"/>
                  </a:rPr>
                  <a:t>eigenvalues,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note</a:t>
                </a:r>
                <a:r>
                  <a:rPr lang="en-US" sz="1200" dirty="0">
                    <a:latin typeface="Arial"/>
                    <a:cs typeface="Arial"/>
                  </a:rPr>
                  <a:t> the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spc="-35" dirty="0">
                    <a:latin typeface="Arial"/>
                    <a:cs typeface="Arial"/>
                  </a:rPr>
                  <a:t>error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latin typeface="Arial"/>
                    <a:cs typeface="Arial"/>
                  </a:rPr>
                  <a:t>dynamics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43204">
                  <a:lnSpc>
                    <a:spcPct val="10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260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260" dirty="0" smtClean="0">
                            <a:latin typeface="Cambria Math" panose="02040503050406030204" pitchFamily="18" charset="0"/>
                            <a:cs typeface="Arial"/>
                          </a:rPr>
                          <m:t>𝑒</m:t>
                        </m:r>
                      </m:e>
                    </m:acc>
                    <m:r>
                      <a:rPr lang="en-US" altLang="zh-CN" sz="1200" b="0" i="1" spc="-260" dirty="0" smtClean="0"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 =</a:t>
                </a:r>
                <a:r>
                  <a:rPr lang="en-US" sz="1200" spc="-4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A</a:t>
                </a:r>
                <a:r>
                  <a:rPr lang="en-US" sz="1200" i="1" spc="-75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85" dirty="0">
                    <a:latin typeface="Arial"/>
                    <a:cs typeface="Arial"/>
                  </a:rPr>
                  <a:t>LC</a:t>
                </a:r>
                <a:r>
                  <a:rPr lang="en-US" sz="1200" i="1" spc="-19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)</a:t>
                </a:r>
                <a:r>
                  <a:rPr lang="en-US" sz="1200" i="1" dirty="0">
                    <a:latin typeface="Arial"/>
                    <a:cs typeface="Arial"/>
                  </a:rPr>
                  <a:t>e</a:t>
                </a:r>
                <a:r>
                  <a:rPr lang="en-US" sz="1200" i="1" spc="65" dirty="0">
                    <a:latin typeface="Arial"/>
                    <a:cs typeface="Arial"/>
                  </a:rPr>
                  <a:t> </a:t>
                </a:r>
                <a:r>
                  <a:rPr lang="en-US" sz="1200" i="1" spc="409" dirty="0">
                    <a:latin typeface="Menlo"/>
                    <a:cs typeface="Menlo"/>
                  </a:rPr>
                  <a:t>⇒</a:t>
                </a:r>
                <a:endParaRPr sz="1200" dirty="0">
                  <a:latin typeface="Menlo"/>
                  <a:cs typeface="Menlo"/>
                </a:endParaRPr>
              </a:p>
            </p:txBody>
          </p:sp>
        </mc:Choice>
        <mc:Fallback xmlns=""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2" y="1226538"/>
                <a:ext cx="4350551" cy="773417"/>
              </a:xfrm>
              <a:prstGeom prst="rect">
                <a:avLst/>
              </a:prstGeom>
              <a:blipFill>
                <a:blip r:embed="rId2"/>
                <a:stretch>
                  <a:fillRect l="-980" t="-5512" b="-9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bject 24"/>
          <p:cNvSpPr txBox="1"/>
          <p:nvPr/>
        </p:nvSpPr>
        <p:spPr>
          <a:xfrm>
            <a:off x="433260" y="2607282"/>
            <a:ext cx="43101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35" dirty="0">
                <a:latin typeface="Menlo"/>
                <a:cs typeface="Menlo"/>
              </a:rPr>
              <a:t>⇒</a:t>
            </a:r>
            <a:r>
              <a:rPr sz="1200" spc="-35" dirty="0">
                <a:latin typeface="Arial"/>
                <a:cs typeface="Arial"/>
              </a:rPr>
              <a:t>eigenvalues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are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separated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into:</a:t>
            </a:r>
            <a:r>
              <a:rPr sz="1200" spc="150" dirty="0">
                <a:latin typeface="Arial"/>
                <a:cs typeface="Arial"/>
              </a:rPr>
              <a:t> </a:t>
            </a:r>
            <a:r>
              <a:rPr sz="1200" i="1" spc="155" dirty="0">
                <a:latin typeface="Times New Roman"/>
                <a:cs typeface="Times New Roman"/>
              </a:rPr>
              <a:t>λ</a:t>
            </a:r>
            <a:r>
              <a:rPr sz="1200" i="1" spc="-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dirty="0">
                <a:latin typeface="Arial"/>
                <a:cs typeface="Arial"/>
              </a:rPr>
              <a:t>)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observer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eigenvalues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0842" y="2934383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260" y="2950194"/>
            <a:ext cx="19418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Arial"/>
                <a:cs typeface="Arial"/>
              </a:rPr>
              <a:t>underlying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similarity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transform: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17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84FAE3D-6FC5-7D1A-E323-3A744FCA94FA}"/>
                  </a:ext>
                </a:extLst>
              </p:cNvPr>
              <p:cNvSpPr txBox="1"/>
              <p:nvPr/>
            </p:nvSpPr>
            <p:spPr>
              <a:xfrm>
                <a:off x="1211785" y="871926"/>
                <a:ext cx="2108141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84FAE3D-6FC5-7D1A-E323-3A744FCA9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785" y="871926"/>
                <a:ext cx="2108141" cy="328680"/>
              </a:xfrm>
              <a:prstGeom prst="rect">
                <a:avLst/>
              </a:prstGeom>
              <a:blipFill>
                <a:blip r:embed="rId4"/>
                <a:stretch>
                  <a:fillRect t="-3704" b="-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86A6FEB-BC90-3359-EA38-CB0523193AA1}"/>
                  </a:ext>
                </a:extLst>
              </p:cNvPr>
              <p:cNvSpPr txBox="1"/>
              <p:nvPr/>
            </p:nvSpPr>
            <p:spPr>
              <a:xfrm>
                <a:off x="1213086" y="2073804"/>
                <a:ext cx="2108141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86A6FEB-BC90-3359-EA38-CB0523193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086" y="2073804"/>
                <a:ext cx="2108141" cy="328680"/>
              </a:xfrm>
              <a:prstGeom prst="rect">
                <a:avLst/>
              </a:prstGeom>
              <a:blipFill>
                <a:blip r:embed="rId5"/>
                <a:stretch>
                  <a:fillRect t="-1852" b="-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A249AF-99CB-C097-7EB0-ABB0ED0342A8}"/>
                  </a:ext>
                </a:extLst>
              </p:cNvPr>
              <p:cNvSpPr txBox="1"/>
              <p:nvPr/>
            </p:nvSpPr>
            <p:spPr>
              <a:xfrm>
                <a:off x="2423998" y="2882559"/>
                <a:ext cx="1315040" cy="342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A249AF-99CB-C097-7EB0-ABB0ED034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998" y="2882559"/>
                <a:ext cx="1315040" cy="342914"/>
              </a:xfrm>
              <a:prstGeom prst="rect">
                <a:avLst/>
              </a:prstGeom>
              <a:blipFill>
                <a:blip r:embed="rId6"/>
                <a:stretch>
                  <a:fillRect t="-1786" r="-13953"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95" dirty="0"/>
              <a:t>Discrete-</a:t>
            </a:r>
            <a:r>
              <a:rPr spc="-65" dirty="0"/>
              <a:t>time</a:t>
            </a:r>
            <a:r>
              <a:rPr spc="-45" dirty="0"/>
              <a:t> </a:t>
            </a:r>
            <a:r>
              <a:rPr spc="-114" dirty="0"/>
              <a:t>observers:</a:t>
            </a:r>
            <a:r>
              <a:rPr spc="110" dirty="0"/>
              <a:t> </a:t>
            </a:r>
            <a:r>
              <a:rPr spc="-45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2001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/>
              <a:t>full</a:t>
            </a:r>
            <a:r>
              <a:rPr sz="1200" spc="5" dirty="0"/>
              <a:t> </a:t>
            </a:r>
            <a:r>
              <a:rPr sz="1200" spc="-25" dirty="0"/>
              <a:t>state</a:t>
            </a:r>
            <a:r>
              <a:rPr sz="1200" spc="10" dirty="0"/>
              <a:t> </a:t>
            </a:r>
            <a:r>
              <a:rPr sz="1200" spc="-80" dirty="0"/>
              <a:t>feedback</a:t>
            </a:r>
            <a:r>
              <a:rPr sz="1200" spc="5" dirty="0"/>
              <a:t> </a:t>
            </a:r>
            <a:r>
              <a:rPr sz="1200" spc="-10" dirty="0"/>
              <a:t>is</a:t>
            </a:r>
            <a:r>
              <a:rPr sz="1200" spc="10" dirty="0"/>
              <a:t> </a:t>
            </a:r>
            <a:r>
              <a:rPr sz="1200" spc="-65" dirty="0"/>
              <a:t>usually</a:t>
            </a:r>
            <a:r>
              <a:rPr sz="1200" spc="10" dirty="0"/>
              <a:t> </a:t>
            </a:r>
            <a:r>
              <a:rPr sz="1200" dirty="0"/>
              <a:t>not</a:t>
            </a:r>
            <a:r>
              <a:rPr sz="1200" spc="5" dirty="0"/>
              <a:t> </a:t>
            </a:r>
            <a:r>
              <a:rPr sz="1200" spc="-10" dirty="0"/>
              <a:t>available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0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/>
              <a:t>often</a:t>
            </a:r>
            <a:r>
              <a:rPr sz="1200" spc="10" dirty="0"/>
              <a:t> </a:t>
            </a:r>
            <a:r>
              <a:rPr sz="1200" spc="-95" dirty="0"/>
              <a:t>observers</a:t>
            </a:r>
            <a:r>
              <a:rPr sz="1200" spc="10" dirty="0"/>
              <a:t> </a:t>
            </a:r>
            <a:r>
              <a:rPr sz="1200" spc="-85" dirty="0"/>
              <a:t>are</a:t>
            </a:r>
            <a:r>
              <a:rPr sz="1200" spc="10" dirty="0"/>
              <a:t> </a:t>
            </a:r>
            <a:r>
              <a:rPr sz="1200" spc="-55" dirty="0"/>
              <a:t>implemented</a:t>
            </a:r>
            <a:r>
              <a:rPr sz="1200" spc="10" dirty="0"/>
              <a:t> </a:t>
            </a:r>
            <a:r>
              <a:rPr sz="1200" dirty="0"/>
              <a:t>in</a:t>
            </a:r>
            <a:r>
              <a:rPr sz="1200" spc="10" dirty="0"/>
              <a:t> </a:t>
            </a:r>
            <a:r>
              <a:rPr sz="1200" dirty="0"/>
              <a:t>the</a:t>
            </a:r>
            <a:r>
              <a:rPr sz="1200" spc="5" dirty="0"/>
              <a:t> </a:t>
            </a:r>
            <a:r>
              <a:rPr sz="1200" spc="-55" dirty="0"/>
              <a:t>discrete-</a:t>
            </a:r>
            <a:r>
              <a:rPr sz="1200" spc="-25" dirty="0"/>
              <a:t>time</a:t>
            </a:r>
            <a:r>
              <a:rPr sz="1200" spc="10" dirty="0"/>
              <a:t> </a:t>
            </a:r>
            <a:r>
              <a:rPr sz="1200" spc="-10" dirty="0"/>
              <a:t>domain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51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9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/>
              <a:t>the</a:t>
            </a:r>
            <a:r>
              <a:rPr sz="1200" spc="20" dirty="0"/>
              <a:t> </a:t>
            </a:r>
            <a:r>
              <a:rPr sz="1200" spc="-55" dirty="0"/>
              <a:t>discrete-</a:t>
            </a:r>
            <a:r>
              <a:rPr sz="1200" spc="-25" dirty="0"/>
              <a:t>time</a:t>
            </a:r>
            <a:r>
              <a:rPr sz="1200" spc="20" dirty="0"/>
              <a:t> </a:t>
            </a:r>
            <a:r>
              <a:rPr sz="1200" spc="-85" dirty="0"/>
              <a:t>observer</a:t>
            </a:r>
            <a:r>
              <a:rPr sz="1200" spc="20" dirty="0"/>
              <a:t> </a:t>
            </a:r>
            <a:r>
              <a:rPr sz="1200" spc="-10" dirty="0"/>
              <a:t>design</a:t>
            </a:r>
            <a:endParaRPr sz="1200">
              <a:latin typeface="Arial Unicode MS"/>
              <a:cs typeface="Arial Unicode MS"/>
            </a:endParaRPr>
          </a:p>
          <a:p>
            <a:pPr marL="540385" marR="188595" indent="-182245">
              <a:lnSpc>
                <a:spcPct val="102600"/>
              </a:lnSpc>
              <a:spcBef>
                <a:spcPts val="180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3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70" dirty="0"/>
              <a:t>basic</a:t>
            </a:r>
            <a:r>
              <a:rPr sz="1100" spc="20" dirty="0"/>
              <a:t> </a:t>
            </a:r>
            <a:r>
              <a:rPr sz="1100" dirty="0"/>
              <a:t>form:</a:t>
            </a:r>
            <a:r>
              <a:rPr sz="1100" spc="125" dirty="0"/>
              <a:t> </a:t>
            </a:r>
            <a:r>
              <a:rPr sz="1100" spc="-80" dirty="0"/>
              <a:t>analogous</a:t>
            </a:r>
            <a:r>
              <a:rPr sz="1100" spc="25" dirty="0"/>
              <a:t> </a:t>
            </a:r>
            <a:r>
              <a:rPr sz="1100" dirty="0"/>
              <a:t>to</a:t>
            </a:r>
            <a:r>
              <a:rPr sz="1100" spc="25" dirty="0"/>
              <a:t> </a:t>
            </a:r>
            <a:r>
              <a:rPr sz="1100" dirty="0"/>
              <a:t>the</a:t>
            </a:r>
            <a:r>
              <a:rPr sz="1100" spc="25" dirty="0"/>
              <a:t> </a:t>
            </a:r>
            <a:r>
              <a:rPr sz="1100" spc="-55" dirty="0"/>
              <a:t>continuous-</a:t>
            </a:r>
            <a:r>
              <a:rPr sz="1100" spc="-20" dirty="0"/>
              <a:t>time</a:t>
            </a:r>
            <a:r>
              <a:rPr sz="1100" spc="20" dirty="0"/>
              <a:t> </a:t>
            </a:r>
            <a:r>
              <a:rPr sz="1100" spc="-35" dirty="0"/>
              <a:t>Luenberger </a:t>
            </a:r>
            <a:r>
              <a:rPr sz="1100" spc="-10" dirty="0"/>
              <a:t>observer</a:t>
            </a:r>
            <a:endParaRPr sz="1100">
              <a:latin typeface="Arial Unicode MS"/>
              <a:cs typeface="Arial Unicode MS"/>
            </a:endParaRPr>
          </a:p>
          <a:p>
            <a:pPr marL="358140">
              <a:lnSpc>
                <a:spcPts val="1195"/>
              </a:lnSpc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0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30" dirty="0"/>
              <a:t>predict</a:t>
            </a:r>
            <a:r>
              <a:rPr sz="1100" spc="15" dirty="0"/>
              <a:t> </a:t>
            </a:r>
            <a:r>
              <a:rPr sz="1100" spc="-55" dirty="0"/>
              <a:t>and</a:t>
            </a:r>
            <a:r>
              <a:rPr sz="1100" spc="10" dirty="0"/>
              <a:t> </a:t>
            </a:r>
            <a:r>
              <a:rPr sz="1100" spc="-35" dirty="0"/>
              <a:t>correct</a:t>
            </a:r>
            <a:r>
              <a:rPr sz="1100" spc="15" dirty="0"/>
              <a:t> </a:t>
            </a:r>
            <a:r>
              <a:rPr sz="1100" spc="-10" dirty="0"/>
              <a:t>form:</a:t>
            </a:r>
            <a:endParaRPr sz="1100">
              <a:latin typeface="Arial Unicode MS"/>
              <a:cs typeface="Arial Unicode MS"/>
            </a:endParaRPr>
          </a:p>
          <a:p>
            <a:pPr marL="664845">
              <a:lnSpc>
                <a:spcPts val="1200"/>
              </a:lnSpc>
              <a:spcBef>
                <a:spcPts val="175"/>
              </a:spcBef>
            </a:pPr>
            <a:r>
              <a:rPr sz="1500" spc="254" baseline="8333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500" spc="450" baseline="8333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000" spc="-10" dirty="0"/>
              <a:t>direct</a:t>
            </a:r>
            <a:r>
              <a:rPr sz="1000" spc="50" dirty="0"/>
              <a:t> </a:t>
            </a:r>
            <a:r>
              <a:rPr sz="1000" dirty="0"/>
              <a:t>DT</a:t>
            </a:r>
            <a:r>
              <a:rPr sz="1000" spc="55" dirty="0"/>
              <a:t> </a:t>
            </a:r>
            <a:r>
              <a:rPr sz="1000" spc="-10" dirty="0"/>
              <a:t>design</a:t>
            </a:r>
            <a:endParaRPr sz="1000">
              <a:latin typeface="Arial Unicode MS"/>
              <a:cs typeface="Arial Unicode MS"/>
            </a:endParaRPr>
          </a:p>
          <a:p>
            <a:pPr marL="664845">
              <a:lnSpc>
                <a:spcPts val="1200"/>
              </a:lnSpc>
            </a:pPr>
            <a:r>
              <a:rPr sz="1500" spc="254" baseline="8333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500" spc="434" baseline="8333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000" spc="-70" dirty="0"/>
              <a:t>leverages</a:t>
            </a:r>
            <a:r>
              <a:rPr sz="1000" spc="45" dirty="0"/>
              <a:t> </a:t>
            </a:r>
            <a:r>
              <a:rPr sz="1000" spc="-40" dirty="0"/>
              <a:t>discrete-</a:t>
            </a:r>
            <a:r>
              <a:rPr sz="1000" spc="-20" dirty="0"/>
              <a:t>time</a:t>
            </a:r>
            <a:r>
              <a:rPr sz="1000" spc="45" dirty="0"/>
              <a:t> </a:t>
            </a:r>
            <a:r>
              <a:rPr sz="1000" spc="-35" dirty="0"/>
              <a:t>signal</a:t>
            </a:r>
            <a:r>
              <a:rPr sz="1000" spc="45" dirty="0"/>
              <a:t> </a:t>
            </a:r>
            <a:r>
              <a:rPr sz="1000" spc="-10" dirty="0"/>
              <a:t>properties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18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27584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95" dirty="0"/>
              <a:t>Discrete-</a:t>
            </a:r>
            <a:r>
              <a:rPr spc="-65" dirty="0"/>
              <a:t>time</a:t>
            </a:r>
            <a:r>
              <a:rPr spc="-15" dirty="0"/>
              <a:t> </a:t>
            </a:r>
            <a:r>
              <a:rPr dirty="0"/>
              <a:t>full</a:t>
            </a:r>
            <a:r>
              <a:rPr spc="-15" dirty="0"/>
              <a:t> </a:t>
            </a:r>
            <a:r>
              <a:rPr spc="-75" dirty="0"/>
              <a:t>state</a:t>
            </a:r>
            <a:r>
              <a:rPr spc="-15" dirty="0"/>
              <a:t> </a:t>
            </a:r>
            <a:r>
              <a:rPr spc="-110" dirty="0"/>
              <a:t>observer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381826"/>
            <a:ext cx="3816985" cy="16306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5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65" dirty="0">
                <a:latin typeface="Arial"/>
                <a:cs typeface="Arial"/>
              </a:rPr>
              <a:t>standard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discrete-</a:t>
            </a:r>
            <a:r>
              <a:rPr sz="1200" spc="-25" dirty="0">
                <a:latin typeface="Arial"/>
                <a:cs typeface="Arial"/>
              </a:rPr>
              <a:t>time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observer:</a:t>
            </a:r>
            <a:endParaRPr sz="1200">
              <a:latin typeface="Arial"/>
              <a:cs typeface="Arial"/>
            </a:endParaRPr>
          </a:p>
          <a:p>
            <a:pPr marL="695325">
              <a:lnSpc>
                <a:spcPct val="100000"/>
              </a:lnSpc>
              <a:spcBef>
                <a:spcPts val="575"/>
              </a:spcBef>
            </a:pPr>
            <a:r>
              <a:rPr sz="1200" i="1" spc="-70" dirty="0">
                <a:latin typeface="Arial"/>
                <a:cs typeface="Arial"/>
              </a:rPr>
              <a:t>x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3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1)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i="1" spc="-45" dirty="0">
                <a:latin typeface="Arial"/>
                <a:cs typeface="Arial"/>
              </a:rPr>
              <a:t>Ax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Bu</a:t>
            </a:r>
            <a:r>
              <a:rPr sz="1200" i="1" spc="-80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695325">
              <a:lnSpc>
                <a:spcPct val="100000"/>
              </a:lnSpc>
              <a:spcBef>
                <a:spcPts val="305"/>
              </a:spcBef>
            </a:pPr>
            <a:r>
              <a:rPr sz="1200" i="1" spc="-455" dirty="0">
                <a:latin typeface="Arial"/>
                <a:cs typeface="Arial"/>
              </a:rPr>
              <a:t>x</a:t>
            </a:r>
            <a:r>
              <a:rPr sz="1200" spc="245" dirty="0">
                <a:latin typeface="Arial"/>
                <a:cs typeface="Arial"/>
              </a:rPr>
              <a:t>ˆ</a:t>
            </a:r>
            <a:r>
              <a:rPr sz="1200" spc="65" dirty="0">
                <a:latin typeface="Arial"/>
                <a:cs typeface="Arial"/>
              </a:rPr>
              <a:t>(</a:t>
            </a:r>
            <a:r>
              <a:rPr sz="1200" i="1" spc="65" dirty="0">
                <a:latin typeface="Arial"/>
                <a:cs typeface="Arial"/>
              </a:rPr>
              <a:t>k</a:t>
            </a:r>
            <a:r>
              <a:rPr sz="1200" i="1" spc="2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1)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i="1" spc="30" dirty="0">
                <a:latin typeface="Arial"/>
                <a:cs typeface="Arial"/>
              </a:rPr>
              <a:t>A</a:t>
            </a:r>
            <a:r>
              <a:rPr sz="1200" i="1" spc="-490" dirty="0">
                <a:latin typeface="Arial"/>
                <a:cs typeface="Arial"/>
              </a:rPr>
              <a:t>x</a:t>
            </a:r>
            <a:r>
              <a:rPr sz="1200" spc="210" dirty="0">
                <a:latin typeface="Arial"/>
                <a:cs typeface="Arial"/>
              </a:rPr>
              <a:t>ˆ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1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Bu</a:t>
            </a:r>
            <a:r>
              <a:rPr sz="1200" i="1" spc="-80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i="1" spc="-40" dirty="0">
                <a:latin typeface="Arial"/>
                <a:cs typeface="Arial"/>
              </a:rPr>
              <a:t>L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9" dirty="0">
                <a:latin typeface="Menlo"/>
                <a:cs typeface="Menlo"/>
              </a:rPr>
              <a:t> </a:t>
            </a:r>
            <a:r>
              <a:rPr sz="1200" i="1" spc="-130" dirty="0">
                <a:latin typeface="Arial"/>
                <a:cs typeface="Arial"/>
              </a:rPr>
              <a:t>C</a:t>
            </a:r>
            <a:r>
              <a:rPr sz="1200" i="1" spc="-190" dirty="0">
                <a:latin typeface="Arial"/>
                <a:cs typeface="Arial"/>
              </a:rPr>
              <a:t> </a:t>
            </a:r>
            <a:r>
              <a:rPr sz="1200" i="1" spc="-490" dirty="0">
                <a:latin typeface="Arial"/>
                <a:cs typeface="Arial"/>
              </a:rPr>
              <a:t>x</a:t>
            </a:r>
            <a:r>
              <a:rPr sz="1200" spc="210" dirty="0">
                <a:latin typeface="Arial"/>
                <a:cs typeface="Arial"/>
              </a:rPr>
              <a:t>ˆ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1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))</a:t>
            </a:r>
            <a:endParaRPr sz="1200">
              <a:latin typeface="Arial"/>
              <a:cs typeface="Arial"/>
            </a:endParaRPr>
          </a:p>
          <a:p>
            <a:pPr marL="950594">
              <a:lnSpc>
                <a:spcPct val="100000"/>
              </a:lnSpc>
              <a:spcBef>
                <a:spcPts val="300"/>
              </a:spcBef>
            </a:pP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i="1" spc="-105" dirty="0">
                <a:latin typeface="Arial"/>
                <a:cs typeface="Arial"/>
              </a:rPr>
              <a:t>Cx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5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5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35" dirty="0">
                <a:latin typeface="Arial"/>
                <a:cs typeface="Arial"/>
              </a:rPr>
              <a:t>error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dynamics:</a:t>
            </a:r>
            <a:r>
              <a:rPr sz="1200" i="1" spc="-90" dirty="0">
                <a:latin typeface="Arial"/>
                <a:cs typeface="Arial"/>
              </a:rPr>
              <a:t>e</a:t>
            </a:r>
            <a:r>
              <a:rPr sz="1200" i="1" spc="-5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x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9" dirty="0">
                <a:latin typeface="Menlo"/>
                <a:cs typeface="Menlo"/>
              </a:rPr>
              <a:t> </a:t>
            </a:r>
            <a:r>
              <a:rPr sz="1200" i="1" spc="-490" dirty="0">
                <a:latin typeface="Arial"/>
                <a:cs typeface="Arial"/>
              </a:rPr>
              <a:t>x</a:t>
            </a:r>
            <a:r>
              <a:rPr sz="1200" spc="210" dirty="0">
                <a:latin typeface="Arial"/>
                <a:cs typeface="Arial"/>
              </a:rPr>
              <a:t>ˆ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1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),</a:t>
            </a:r>
            <a:endParaRPr sz="1200">
              <a:latin typeface="Arial"/>
              <a:cs typeface="Arial"/>
            </a:endParaRPr>
          </a:p>
          <a:p>
            <a:pPr marL="230504">
              <a:lnSpc>
                <a:spcPct val="100000"/>
              </a:lnSpc>
              <a:spcBef>
                <a:spcPts val="5"/>
              </a:spcBef>
            </a:pPr>
            <a:r>
              <a:rPr sz="1200" i="1" spc="-155" dirty="0">
                <a:latin typeface="Arial"/>
                <a:cs typeface="Arial"/>
              </a:rPr>
              <a:t>e</a:t>
            </a:r>
            <a:r>
              <a:rPr sz="1200" i="1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3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1)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i="1" spc="-95" dirty="0">
                <a:latin typeface="Arial"/>
                <a:cs typeface="Arial"/>
              </a:rPr>
              <a:t>Ae</a:t>
            </a:r>
            <a:r>
              <a:rPr sz="1200" i="1" spc="-50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5" dirty="0">
                <a:latin typeface="Menlo"/>
                <a:cs typeface="Menlo"/>
              </a:rPr>
              <a:t> </a:t>
            </a:r>
            <a:r>
              <a:rPr sz="1200" i="1" spc="-110" dirty="0">
                <a:latin typeface="Arial"/>
                <a:cs typeface="Arial"/>
              </a:rPr>
              <a:t>LCe</a:t>
            </a:r>
            <a:r>
              <a:rPr sz="1200" i="1" spc="-50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5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0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45" dirty="0">
                <a:latin typeface="Arial"/>
                <a:cs typeface="Arial"/>
              </a:rPr>
              <a:t>overall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dynamics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5375" y="2047593"/>
            <a:ext cx="59055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70" dirty="0">
                <a:latin typeface="Arial"/>
                <a:cs typeface="Arial"/>
              </a:rPr>
              <a:t>x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4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200" i="1" spc="-155" dirty="0">
                <a:latin typeface="Arial"/>
                <a:cs typeface="Arial"/>
              </a:rPr>
              <a:t>e</a:t>
            </a:r>
            <a:r>
              <a:rPr sz="1200" i="1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4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2321" y="2140595"/>
            <a:ext cx="1409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latin typeface="Arial"/>
                <a:cs typeface="Arial"/>
              </a:rPr>
              <a:t>=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7327" y="2047593"/>
            <a:ext cx="70929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8784" algn="l"/>
              </a:tabLst>
            </a:pPr>
            <a:r>
              <a:rPr sz="1200" i="1" spc="-50" dirty="0">
                <a:latin typeface="Arial"/>
                <a:cs typeface="Arial"/>
              </a:rPr>
              <a:t>A</a:t>
            </a:r>
            <a:r>
              <a:rPr sz="1200" i="1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5"/>
              </a:spcBef>
              <a:tabLst>
                <a:tab pos="236854" algn="l"/>
              </a:tabLst>
            </a:pPr>
            <a:r>
              <a:rPr sz="1200" spc="-50" dirty="0"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i="1" spc="-40" dirty="0">
                <a:latin typeface="Arial"/>
                <a:cs typeface="Arial"/>
              </a:rPr>
              <a:t>A</a:t>
            </a:r>
            <a:r>
              <a:rPr sz="1200" i="1" spc="-65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5" dirty="0">
                <a:latin typeface="Menlo"/>
                <a:cs typeface="Menlo"/>
              </a:rPr>
              <a:t> </a:t>
            </a:r>
            <a:r>
              <a:rPr sz="1200" i="1" spc="-50" dirty="0">
                <a:latin typeface="Arial"/>
                <a:cs typeface="Arial"/>
              </a:rPr>
              <a:t>LC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90850" y="2157387"/>
            <a:ext cx="1409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latin typeface="Arial"/>
                <a:cs typeface="Arial"/>
              </a:rPr>
              <a:t>+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0907" y="2064385"/>
            <a:ext cx="12446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5"/>
              </a:spcBef>
            </a:pPr>
            <a:r>
              <a:rPr sz="1200" spc="-50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8050" y="2157387"/>
            <a:ext cx="3346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75" dirty="0">
                <a:latin typeface="Arial"/>
                <a:cs typeface="Arial"/>
              </a:rPr>
              <a:t>u</a:t>
            </a:r>
            <a:r>
              <a:rPr sz="1200" i="1" spc="-80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6294" y="2585364"/>
            <a:ext cx="11830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2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1)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[</a:t>
            </a:r>
            <a:r>
              <a:rPr sz="1200" i="1" dirty="0">
                <a:latin typeface="Arial"/>
                <a:cs typeface="Arial"/>
              </a:rPr>
              <a:t>C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2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Arial"/>
                <a:cs typeface="Arial"/>
              </a:rPr>
              <a:t>0]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9149" y="2064385"/>
            <a:ext cx="333375" cy="504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70" dirty="0">
                <a:latin typeface="Arial"/>
                <a:cs typeface="Arial"/>
              </a:rPr>
              <a:t>x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  <a:p>
            <a:pPr marL="15240">
              <a:lnSpc>
                <a:spcPts val="1165"/>
              </a:lnSpc>
              <a:spcBef>
                <a:spcPts val="5"/>
              </a:spcBef>
            </a:pPr>
            <a:r>
              <a:rPr sz="1200" i="1" spc="-155" dirty="0">
                <a:latin typeface="Arial"/>
                <a:cs typeface="Arial"/>
              </a:rPr>
              <a:t>e</a:t>
            </a:r>
            <a:r>
              <a:rPr sz="1200" i="1" spc="-50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  <a:p>
            <a:pPr marL="41275">
              <a:lnSpc>
                <a:spcPts val="1165"/>
              </a:lnSpc>
            </a:pPr>
            <a:r>
              <a:rPr sz="1200" dirty="0">
                <a:latin typeface="Arial"/>
                <a:cs typeface="Arial"/>
              </a:rPr>
              <a:t> 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02181" y="2492375"/>
            <a:ext cx="59055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70" dirty="0">
                <a:latin typeface="Arial"/>
                <a:cs typeface="Arial"/>
              </a:rPr>
              <a:t>x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4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200" i="1" spc="-155" dirty="0">
                <a:latin typeface="Arial"/>
                <a:cs typeface="Arial"/>
              </a:rPr>
              <a:t>e</a:t>
            </a:r>
            <a:r>
              <a:rPr sz="1200" i="1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4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442" y="2908653"/>
            <a:ext cx="425640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 marR="3048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1" spc="-25" dirty="0">
                <a:latin typeface="Arial"/>
                <a:cs typeface="Arial"/>
              </a:rPr>
              <a:t>Powerful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fact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error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dynamics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can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be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arbitrarily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assigned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if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system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observable.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19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左中括号 19">
            <a:extLst>
              <a:ext uri="{FF2B5EF4-FFF2-40B4-BE49-F238E27FC236}">
                <a16:creationId xmlns:a16="http://schemas.microsoft.com/office/drawing/2014/main" id="{4692DDE1-D69B-A661-E643-DE284DF4210E}"/>
              </a:ext>
            </a:extLst>
          </p:cNvPr>
          <p:cNvSpPr/>
          <p:nvPr/>
        </p:nvSpPr>
        <p:spPr>
          <a:xfrm>
            <a:off x="749656" y="2066892"/>
            <a:ext cx="45719" cy="39116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中括号 20">
            <a:extLst>
              <a:ext uri="{FF2B5EF4-FFF2-40B4-BE49-F238E27FC236}">
                <a16:creationId xmlns:a16="http://schemas.microsoft.com/office/drawing/2014/main" id="{37CD8477-C1B3-665F-7BE6-393EBCCF8A13}"/>
              </a:ext>
            </a:extLst>
          </p:cNvPr>
          <p:cNvSpPr/>
          <p:nvPr/>
        </p:nvSpPr>
        <p:spPr>
          <a:xfrm rot="10800000">
            <a:off x="1387328" y="2066892"/>
            <a:ext cx="45719" cy="39116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左中括号 21">
            <a:extLst>
              <a:ext uri="{FF2B5EF4-FFF2-40B4-BE49-F238E27FC236}">
                <a16:creationId xmlns:a16="http://schemas.microsoft.com/office/drawing/2014/main" id="{9CEAF8C6-2A80-E166-049A-6F2310A6B74D}"/>
              </a:ext>
            </a:extLst>
          </p:cNvPr>
          <p:cNvSpPr/>
          <p:nvPr/>
        </p:nvSpPr>
        <p:spPr>
          <a:xfrm>
            <a:off x="1686287" y="2066892"/>
            <a:ext cx="45719" cy="39116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左中括号 22">
            <a:extLst>
              <a:ext uri="{FF2B5EF4-FFF2-40B4-BE49-F238E27FC236}">
                <a16:creationId xmlns:a16="http://schemas.microsoft.com/office/drawing/2014/main" id="{AF4A73EE-D454-07A2-9B90-391D6E6578DB}"/>
              </a:ext>
            </a:extLst>
          </p:cNvPr>
          <p:cNvSpPr/>
          <p:nvPr/>
        </p:nvSpPr>
        <p:spPr>
          <a:xfrm rot="10800000">
            <a:off x="2395259" y="2070101"/>
            <a:ext cx="45719" cy="39116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左中括号 23">
            <a:extLst>
              <a:ext uri="{FF2B5EF4-FFF2-40B4-BE49-F238E27FC236}">
                <a16:creationId xmlns:a16="http://schemas.microsoft.com/office/drawing/2014/main" id="{E26A58D1-B861-126E-F013-8C79180E2A14}"/>
              </a:ext>
            </a:extLst>
          </p:cNvPr>
          <p:cNvSpPr/>
          <p:nvPr/>
        </p:nvSpPr>
        <p:spPr>
          <a:xfrm>
            <a:off x="2543919" y="2067895"/>
            <a:ext cx="45719" cy="39116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左中括号 24">
            <a:extLst>
              <a:ext uri="{FF2B5EF4-FFF2-40B4-BE49-F238E27FC236}">
                <a16:creationId xmlns:a16="http://schemas.microsoft.com/office/drawing/2014/main" id="{EF98C4AB-6321-1D53-3B61-2C853DB7FB92}"/>
              </a:ext>
            </a:extLst>
          </p:cNvPr>
          <p:cNvSpPr/>
          <p:nvPr/>
        </p:nvSpPr>
        <p:spPr>
          <a:xfrm rot="10800000">
            <a:off x="2908376" y="2067895"/>
            <a:ext cx="45719" cy="39116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左中括号 25">
            <a:extLst>
              <a:ext uri="{FF2B5EF4-FFF2-40B4-BE49-F238E27FC236}">
                <a16:creationId xmlns:a16="http://schemas.microsoft.com/office/drawing/2014/main" id="{775D2E33-47B0-B6CF-FC4E-3292C8DFFDD1}"/>
              </a:ext>
            </a:extLst>
          </p:cNvPr>
          <p:cNvSpPr/>
          <p:nvPr/>
        </p:nvSpPr>
        <p:spPr>
          <a:xfrm>
            <a:off x="3143250" y="2067895"/>
            <a:ext cx="45719" cy="39116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中括号 26">
            <a:extLst>
              <a:ext uri="{FF2B5EF4-FFF2-40B4-BE49-F238E27FC236}">
                <a16:creationId xmlns:a16="http://schemas.microsoft.com/office/drawing/2014/main" id="{C023618F-56FC-D858-D5CC-26E460B403AB}"/>
              </a:ext>
            </a:extLst>
          </p:cNvPr>
          <p:cNvSpPr/>
          <p:nvPr/>
        </p:nvSpPr>
        <p:spPr>
          <a:xfrm rot="10800000">
            <a:off x="3353689" y="2070462"/>
            <a:ext cx="45719" cy="39116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左中括号 27">
            <a:extLst>
              <a:ext uri="{FF2B5EF4-FFF2-40B4-BE49-F238E27FC236}">
                <a16:creationId xmlns:a16="http://schemas.microsoft.com/office/drawing/2014/main" id="{4A8F7387-AA68-587C-E430-501645BAEE29}"/>
              </a:ext>
            </a:extLst>
          </p:cNvPr>
          <p:cNvSpPr/>
          <p:nvPr/>
        </p:nvSpPr>
        <p:spPr>
          <a:xfrm>
            <a:off x="2155059" y="2508104"/>
            <a:ext cx="45719" cy="39116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左中括号 28">
            <a:extLst>
              <a:ext uri="{FF2B5EF4-FFF2-40B4-BE49-F238E27FC236}">
                <a16:creationId xmlns:a16="http://schemas.microsoft.com/office/drawing/2014/main" id="{72717680-A36F-CBF7-62EA-48B3C36E93C7}"/>
              </a:ext>
            </a:extLst>
          </p:cNvPr>
          <p:cNvSpPr/>
          <p:nvPr/>
        </p:nvSpPr>
        <p:spPr>
          <a:xfrm rot="10800000">
            <a:off x="2792731" y="2508104"/>
            <a:ext cx="45719" cy="39116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16166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DT</a:t>
            </a:r>
            <a:r>
              <a:rPr spc="-25" dirty="0"/>
              <a:t> </a:t>
            </a:r>
            <a:r>
              <a:rPr dirty="0"/>
              <a:t>full</a:t>
            </a:r>
            <a:r>
              <a:rPr spc="-5" dirty="0"/>
              <a:t> </a:t>
            </a:r>
            <a:r>
              <a:rPr spc="-75" dirty="0"/>
              <a:t>state</a:t>
            </a:r>
            <a:r>
              <a:rPr dirty="0"/>
              <a:t> </a:t>
            </a:r>
            <a:r>
              <a:rPr spc="-140" dirty="0"/>
              <a:t>observer</a:t>
            </a:r>
            <a:r>
              <a:rPr spc="20" dirty="0"/>
              <a:t> </a:t>
            </a:r>
            <a:r>
              <a:rPr dirty="0"/>
              <a:t>with </a:t>
            </a:r>
            <a:r>
              <a:rPr spc="-65" dirty="0"/>
              <a:t>predictor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50" y="461972"/>
            <a:ext cx="4566920" cy="2735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27025" algn="r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0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latin typeface="Arial"/>
                <a:cs typeface="Arial"/>
              </a:rPr>
              <a:t>motivation:</a:t>
            </a:r>
            <a:r>
              <a:rPr sz="1200" spc="170" dirty="0">
                <a:latin typeface="Arial"/>
                <a:cs typeface="Arial"/>
              </a:rPr>
              <a:t> </a:t>
            </a:r>
            <a:r>
              <a:rPr sz="1200" i="1" spc="-455" dirty="0">
                <a:latin typeface="Arial"/>
                <a:cs typeface="Arial"/>
              </a:rPr>
              <a:t>x</a:t>
            </a:r>
            <a:r>
              <a:rPr sz="1200" spc="245" dirty="0">
                <a:latin typeface="Arial"/>
                <a:cs typeface="Arial"/>
              </a:rPr>
              <a:t>ˆ</a:t>
            </a:r>
            <a:r>
              <a:rPr sz="1200" spc="65" dirty="0">
                <a:latin typeface="Arial"/>
                <a:cs typeface="Arial"/>
              </a:rPr>
              <a:t>(</a:t>
            </a:r>
            <a:r>
              <a:rPr sz="1200" i="1" spc="65" dirty="0">
                <a:latin typeface="Arial"/>
                <a:cs typeface="Arial"/>
              </a:rPr>
              <a:t>k</a:t>
            </a:r>
            <a:r>
              <a:rPr sz="1200" i="1" spc="2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1)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i="1" spc="20" dirty="0">
                <a:latin typeface="Arial"/>
                <a:cs typeface="Arial"/>
              </a:rPr>
              <a:t>A</a:t>
            </a:r>
            <a:r>
              <a:rPr sz="1200" i="1" spc="-490" dirty="0">
                <a:latin typeface="Arial"/>
                <a:cs typeface="Arial"/>
              </a:rPr>
              <a:t>x</a:t>
            </a:r>
            <a:r>
              <a:rPr sz="1200" spc="210" dirty="0">
                <a:latin typeface="Arial"/>
                <a:cs typeface="Arial"/>
              </a:rPr>
              <a:t>ˆ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1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Bu</a:t>
            </a:r>
            <a:r>
              <a:rPr sz="1200" i="1" spc="-80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i="1" spc="-40" dirty="0">
                <a:latin typeface="Arial"/>
                <a:cs typeface="Arial"/>
              </a:rPr>
              <a:t>L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9" dirty="0">
                <a:latin typeface="Menlo"/>
                <a:cs typeface="Menlo"/>
              </a:rPr>
              <a:t> </a:t>
            </a:r>
            <a:r>
              <a:rPr sz="1200" i="1" spc="-130" dirty="0">
                <a:latin typeface="Arial"/>
                <a:cs typeface="Arial"/>
              </a:rPr>
              <a:t>C</a:t>
            </a:r>
            <a:r>
              <a:rPr sz="1200" i="1" spc="-190" dirty="0">
                <a:latin typeface="Arial"/>
                <a:cs typeface="Arial"/>
              </a:rPr>
              <a:t> </a:t>
            </a:r>
            <a:r>
              <a:rPr sz="1200" i="1" spc="-490" dirty="0">
                <a:latin typeface="Arial"/>
                <a:cs typeface="Arial"/>
              </a:rPr>
              <a:t>x</a:t>
            </a:r>
            <a:r>
              <a:rPr sz="1200" spc="210" dirty="0">
                <a:latin typeface="Arial"/>
                <a:cs typeface="Arial"/>
              </a:rPr>
              <a:t>ˆ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130" dirty="0">
                <a:latin typeface="Arial"/>
                <a:cs typeface="Arial"/>
              </a:rPr>
              <a:t>k</a:t>
            </a:r>
            <a:r>
              <a:rPr sz="1200" spc="30" dirty="0">
                <a:latin typeface="Arial"/>
                <a:cs typeface="Arial"/>
              </a:rPr>
              <a:t>))</a:t>
            </a:r>
            <a:endParaRPr sz="1200" dirty="0">
              <a:latin typeface="Arial"/>
              <a:cs typeface="Arial"/>
            </a:endParaRPr>
          </a:p>
          <a:p>
            <a:pPr marR="379095" algn="r">
              <a:lnSpc>
                <a:spcPct val="100000"/>
              </a:lnSpc>
              <a:spcBef>
                <a:spcPts val="5"/>
              </a:spcBef>
            </a:pPr>
            <a:r>
              <a:rPr sz="1200" spc="-40" dirty="0">
                <a:latin typeface="Arial"/>
                <a:cs typeface="Arial"/>
              </a:rPr>
              <a:t>doesn’t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use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most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recent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measurement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i="1" spc="-75" dirty="0">
                <a:latin typeface="Arial"/>
                <a:cs typeface="Arial"/>
              </a:rPr>
              <a:t>y</a:t>
            </a:r>
            <a:r>
              <a:rPr sz="1200" i="1" spc="-204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1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1)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i="1" spc="-105" dirty="0">
                <a:latin typeface="Arial"/>
                <a:cs typeface="Arial"/>
              </a:rPr>
              <a:t>Cx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1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1)</a:t>
            </a:r>
            <a:endParaRPr sz="1200" dirty="0">
              <a:latin typeface="Arial"/>
              <a:cs typeface="Arial"/>
            </a:endParaRPr>
          </a:p>
          <a:p>
            <a:pPr marR="1743710" algn="r">
              <a:lnSpc>
                <a:spcPct val="100000"/>
              </a:lnSpc>
              <a:spcBef>
                <a:spcPts val="17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3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5" dirty="0">
                <a:latin typeface="Arial"/>
                <a:cs typeface="Arial"/>
              </a:rPr>
              <a:t>discrete-</a:t>
            </a:r>
            <a:r>
              <a:rPr sz="1200" spc="-25" dirty="0">
                <a:latin typeface="Arial"/>
                <a:cs typeface="Arial"/>
              </a:rPr>
              <a:t>time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observer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with</a:t>
            </a:r>
            <a:r>
              <a:rPr sz="1200" b="1" spc="9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predictor</a:t>
            </a:r>
            <a:r>
              <a:rPr sz="1200" spc="-1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  <a:p>
            <a:pPr marR="1699895" algn="r">
              <a:lnSpc>
                <a:spcPct val="100000"/>
              </a:lnSpc>
              <a:spcBef>
                <a:spcPts val="700"/>
              </a:spcBef>
            </a:pPr>
            <a:r>
              <a:rPr sz="1100" spc="-30" dirty="0">
                <a:latin typeface="Arial"/>
                <a:cs typeface="Arial"/>
              </a:rPr>
              <a:t>predictor:</a:t>
            </a:r>
            <a:r>
              <a:rPr sz="1100" spc="140" dirty="0">
                <a:latin typeface="Arial"/>
                <a:cs typeface="Arial"/>
              </a:rPr>
              <a:t> </a:t>
            </a:r>
            <a:r>
              <a:rPr sz="1100" i="1" spc="-405" dirty="0">
                <a:latin typeface="Arial"/>
                <a:cs typeface="Arial"/>
              </a:rPr>
              <a:t>x</a:t>
            </a:r>
            <a:r>
              <a:rPr sz="1100" spc="240" dirty="0">
                <a:latin typeface="Arial"/>
                <a:cs typeface="Arial"/>
              </a:rPr>
              <a:t>ˆ</a:t>
            </a:r>
            <a:r>
              <a:rPr sz="1100" spc="75" dirty="0">
                <a:latin typeface="Arial"/>
                <a:cs typeface="Arial"/>
              </a:rPr>
              <a:t>(</a:t>
            </a:r>
            <a:r>
              <a:rPr sz="1100" i="1" spc="75" dirty="0">
                <a:latin typeface="Arial"/>
                <a:cs typeface="Arial"/>
              </a:rPr>
              <a:t>k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1</a:t>
            </a:r>
            <a:r>
              <a:rPr sz="1100" spc="-85" dirty="0">
                <a:latin typeface="Menlo"/>
                <a:cs typeface="Menlo"/>
              </a:rPr>
              <a:t>|</a:t>
            </a:r>
            <a:r>
              <a:rPr sz="1100" i="1" spc="-85" dirty="0">
                <a:latin typeface="Arial"/>
                <a:cs typeface="Arial"/>
              </a:rPr>
              <a:t>k</a:t>
            </a:r>
            <a:r>
              <a:rPr sz="1100" spc="-8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lang="en-US" altLang="zh-CN" sz="1100" i="1" spc="-405" dirty="0">
                <a:latin typeface="Arial"/>
                <a:cs typeface="Arial"/>
              </a:rPr>
              <a:t> x</a:t>
            </a:r>
            <a:r>
              <a:rPr lang="en-US" altLang="zh-CN" sz="1100" spc="240" dirty="0">
                <a:latin typeface="Arial"/>
                <a:cs typeface="Arial"/>
              </a:rPr>
              <a:t>ˆ</a:t>
            </a:r>
            <a:r>
              <a:rPr sz="1100" spc="-25" dirty="0">
                <a:latin typeface="Arial"/>
                <a:cs typeface="Arial"/>
              </a:rPr>
              <a:t>(</a:t>
            </a:r>
            <a:r>
              <a:rPr sz="1100" i="1" spc="65" dirty="0">
                <a:latin typeface="Arial"/>
                <a:cs typeface="Arial"/>
              </a:rPr>
              <a:t>k</a:t>
            </a:r>
            <a:r>
              <a:rPr sz="1100" spc="-25" dirty="0">
                <a:latin typeface="Menlo"/>
                <a:cs typeface="Menlo"/>
              </a:rPr>
              <a:t>|</a:t>
            </a:r>
            <a:r>
              <a:rPr sz="1100" i="1" spc="65" dirty="0">
                <a:latin typeface="Arial"/>
                <a:cs typeface="Arial"/>
              </a:rPr>
              <a:t>k</a:t>
            </a:r>
            <a:r>
              <a:rPr sz="1100" spc="-25" dirty="0">
                <a:latin typeface="Arial"/>
                <a:cs typeface="Arial"/>
              </a:rPr>
              <a:t>)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i="1" spc="-40" dirty="0">
                <a:latin typeface="Arial"/>
                <a:cs typeface="Arial"/>
              </a:rPr>
              <a:t>Bu</a:t>
            </a:r>
            <a:r>
              <a:rPr sz="1100" i="1" spc="-80" dirty="0">
                <a:latin typeface="Arial"/>
                <a:cs typeface="Arial"/>
              </a:rPr>
              <a:t> </a:t>
            </a:r>
            <a:r>
              <a:rPr sz="1100" spc="35" dirty="0">
                <a:latin typeface="Arial"/>
                <a:cs typeface="Arial"/>
              </a:rPr>
              <a:t>(</a:t>
            </a:r>
            <a:r>
              <a:rPr sz="1100" i="1" spc="35" dirty="0">
                <a:latin typeface="Arial"/>
                <a:cs typeface="Arial"/>
              </a:rPr>
              <a:t>k</a:t>
            </a:r>
            <a:r>
              <a:rPr sz="1100" spc="35" dirty="0"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L="382270">
              <a:lnSpc>
                <a:spcPct val="100000"/>
              </a:lnSpc>
              <a:spcBef>
                <a:spcPts val="334"/>
              </a:spcBef>
            </a:pPr>
            <a:r>
              <a:rPr sz="1100" spc="-30" dirty="0">
                <a:latin typeface="Arial"/>
                <a:cs typeface="Arial"/>
              </a:rPr>
              <a:t>corrector: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i="1" spc="-405" dirty="0">
                <a:latin typeface="Arial"/>
                <a:cs typeface="Arial"/>
              </a:rPr>
              <a:t>x</a:t>
            </a:r>
            <a:r>
              <a:rPr sz="1100" spc="240" dirty="0">
                <a:latin typeface="Arial"/>
                <a:cs typeface="Arial"/>
              </a:rPr>
              <a:t>ˆ</a:t>
            </a:r>
            <a:r>
              <a:rPr sz="1100" spc="75" dirty="0">
                <a:latin typeface="Arial"/>
                <a:cs typeface="Arial"/>
              </a:rPr>
              <a:t>(</a:t>
            </a:r>
            <a:r>
              <a:rPr sz="1100" i="1" spc="75" dirty="0">
                <a:latin typeface="Arial"/>
                <a:cs typeface="Arial"/>
              </a:rPr>
              <a:t>k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55" dirty="0">
                <a:latin typeface="Arial"/>
                <a:cs typeface="Arial"/>
              </a:rPr>
              <a:t>1</a:t>
            </a:r>
            <a:r>
              <a:rPr sz="1100" spc="-155" dirty="0">
                <a:latin typeface="Menlo"/>
                <a:cs typeface="Menlo"/>
              </a:rPr>
              <a:t>|</a:t>
            </a:r>
            <a:r>
              <a:rPr sz="1100" i="1" spc="-155" dirty="0">
                <a:latin typeface="Arial"/>
                <a:cs typeface="Arial"/>
              </a:rPr>
              <a:t>k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1)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405" dirty="0">
                <a:latin typeface="Arial"/>
                <a:cs typeface="Arial"/>
              </a:rPr>
              <a:t>x</a:t>
            </a:r>
            <a:r>
              <a:rPr sz="1100" spc="240" dirty="0">
                <a:latin typeface="Arial"/>
                <a:cs typeface="Arial"/>
              </a:rPr>
              <a:t>ˆ</a:t>
            </a:r>
            <a:r>
              <a:rPr sz="1100" spc="75" dirty="0">
                <a:latin typeface="Arial"/>
                <a:cs typeface="Arial"/>
              </a:rPr>
              <a:t>(</a:t>
            </a:r>
            <a:r>
              <a:rPr sz="1100" i="1" spc="75" dirty="0">
                <a:latin typeface="Arial"/>
                <a:cs typeface="Arial"/>
              </a:rPr>
              <a:t>k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1</a:t>
            </a:r>
            <a:r>
              <a:rPr sz="1100" spc="-85" dirty="0">
                <a:latin typeface="Menlo"/>
                <a:cs typeface="Menlo"/>
              </a:rPr>
              <a:t>|</a:t>
            </a:r>
            <a:r>
              <a:rPr sz="1100" i="1" spc="-85" dirty="0">
                <a:latin typeface="Arial"/>
                <a:cs typeface="Arial"/>
              </a:rPr>
              <a:t>k</a:t>
            </a:r>
            <a:r>
              <a:rPr sz="1100" spc="-85" dirty="0">
                <a:latin typeface="Arial"/>
                <a:cs typeface="Arial"/>
              </a:rPr>
              <a:t>)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i="1" spc="-30" dirty="0">
                <a:latin typeface="Arial"/>
                <a:cs typeface="Arial"/>
              </a:rPr>
              <a:t>L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1)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20" dirty="0">
                <a:latin typeface="Menlo"/>
                <a:cs typeface="Menlo"/>
              </a:rPr>
              <a:t> </a:t>
            </a:r>
            <a:r>
              <a:rPr sz="1100" i="1" spc="-110" dirty="0">
                <a:latin typeface="Arial"/>
                <a:cs typeface="Arial"/>
              </a:rPr>
              <a:t>C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-405" dirty="0">
                <a:latin typeface="Arial"/>
                <a:cs typeface="Arial"/>
              </a:rPr>
              <a:t>x</a:t>
            </a:r>
            <a:r>
              <a:rPr sz="1100" spc="240" dirty="0">
                <a:latin typeface="Arial"/>
                <a:cs typeface="Arial"/>
              </a:rPr>
              <a:t>ˆ</a:t>
            </a:r>
            <a:r>
              <a:rPr sz="1100" spc="75" dirty="0">
                <a:latin typeface="Arial"/>
                <a:cs typeface="Arial"/>
              </a:rPr>
              <a:t>(</a:t>
            </a:r>
            <a:r>
              <a:rPr sz="1100" i="1" spc="75" dirty="0">
                <a:latin typeface="Arial"/>
                <a:cs typeface="Arial"/>
              </a:rPr>
              <a:t>k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1</a:t>
            </a:r>
            <a:r>
              <a:rPr sz="1100" spc="-10" dirty="0">
                <a:latin typeface="Menlo"/>
                <a:cs typeface="Menlo"/>
              </a:rPr>
              <a:t>|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spc="-10" dirty="0">
                <a:latin typeface="Arial"/>
                <a:cs typeface="Arial"/>
              </a:rPr>
              <a:t>))</a:t>
            </a:r>
            <a:endParaRPr sz="1100" dirty="0">
              <a:latin typeface="Arial"/>
              <a:cs typeface="Arial"/>
            </a:endParaRPr>
          </a:p>
          <a:p>
            <a:pPr marL="497205">
              <a:lnSpc>
                <a:spcPct val="100000"/>
              </a:lnSpc>
              <a:spcBef>
                <a:spcPts val="69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4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100" i="1" spc="-405" dirty="0">
                <a:latin typeface="Arial"/>
                <a:cs typeface="Arial"/>
              </a:rPr>
              <a:t>x</a:t>
            </a:r>
            <a:r>
              <a:rPr lang="en-US" altLang="zh-CN" sz="1100" spc="240" dirty="0">
                <a:latin typeface="Arial"/>
                <a:cs typeface="Arial"/>
              </a:rPr>
              <a:t>ˆ</a:t>
            </a:r>
            <a:r>
              <a:rPr lang="en-US" altLang="zh-CN" sz="1100" dirty="0">
                <a:latin typeface="Arial"/>
                <a:cs typeface="Arial"/>
              </a:rPr>
              <a:t>(</a:t>
            </a:r>
            <a:r>
              <a:rPr lang="en-US" sz="1100" i="1" spc="90" dirty="0" err="1">
                <a:latin typeface="Arial"/>
                <a:cs typeface="Arial"/>
              </a:rPr>
              <a:t>k</a:t>
            </a:r>
            <a:r>
              <a:rPr sz="1100" dirty="0" err="1">
                <a:latin typeface="Menlo"/>
                <a:cs typeface="Menlo"/>
              </a:rPr>
              <a:t>|</a:t>
            </a:r>
            <a:r>
              <a:rPr sz="1100" i="1" spc="90" dirty="0" err="1">
                <a:latin typeface="Arial"/>
                <a:cs typeface="Arial"/>
              </a:rPr>
              <a:t>k</a:t>
            </a:r>
            <a:r>
              <a:rPr sz="1100" dirty="0">
                <a:latin typeface="Arial"/>
                <a:cs typeface="Arial"/>
              </a:rPr>
              <a:t>):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estimate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(</a:t>
            </a:r>
            <a:r>
              <a:rPr sz="1100" i="1" spc="60" dirty="0">
                <a:latin typeface="Arial"/>
                <a:cs typeface="Arial"/>
              </a:rPr>
              <a:t>k</a:t>
            </a:r>
            <a:r>
              <a:rPr sz="1100" spc="60" dirty="0">
                <a:latin typeface="Arial"/>
                <a:cs typeface="Arial"/>
              </a:rPr>
              <a:t>)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based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measurements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up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 </a:t>
            </a:r>
            <a:r>
              <a:rPr sz="1100" i="1" spc="-50" dirty="0">
                <a:latin typeface="Arial"/>
                <a:cs typeface="Arial"/>
              </a:rPr>
              <a:t>k</a:t>
            </a:r>
            <a:endParaRPr sz="1100" dirty="0">
              <a:latin typeface="Arial"/>
              <a:cs typeface="Arial"/>
            </a:endParaRPr>
          </a:p>
          <a:p>
            <a:pPr marL="497205">
              <a:lnSpc>
                <a:spcPct val="100000"/>
              </a:lnSpc>
              <a:spcBef>
                <a:spcPts val="3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0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100" i="1" spc="-405" dirty="0">
                <a:latin typeface="Arial"/>
                <a:cs typeface="Arial"/>
              </a:rPr>
              <a:t>x</a:t>
            </a:r>
            <a:r>
              <a:rPr lang="en-US" altLang="zh-CN" sz="1100" spc="240" dirty="0">
                <a:latin typeface="Arial"/>
                <a:cs typeface="Arial"/>
              </a:rPr>
              <a:t>ˆ</a:t>
            </a:r>
            <a:r>
              <a:rPr sz="1100" spc="-35" dirty="0">
                <a:latin typeface="Arial"/>
                <a:cs typeface="Arial"/>
              </a:rPr>
              <a:t>(</a:t>
            </a:r>
            <a:r>
              <a:rPr sz="1100" i="1" spc="55" dirty="0">
                <a:latin typeface="Arial"/>
                <a:cs typeface="Arial"/>
              </a:rPr>
              <a:t>k</a:t>
            </a:r>
            <a:r>
              <a:rPr sz="1100" spc="-35" dirty="0">
                <a:latin typeface="Menlo"/>
                <a:cs typeface="Menlo"/>
              </a:rPr>
              <a:t>|</a:t>
            </a:r>
            <a:r>
              <a:rPr sz="1100" i="1" spc="-35" dirty="0">
                <a:latin typeface="Arial"/>
                <a:cs typeface="Arial"/>
              </a:rPr>
              <a:t>k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20" dirty="0">
                <a:latin typeface="Menlo"/>
                <a:cs typeface="Menlo"/>
              </a:rPr>
              <a:t> </a:t>
            </a:r>
            <a:r>
              <a:rPr sz="1100" dirty="0">
                <a:latin typeface="Arial"/>
                <a:cs typeface="Arial"/>
              </a:rPr>
              <a:t>1):</a:t>
            </a:r>
            <a:r>
              <a:rPr sz="1100" spc="1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estimate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based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on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measurements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up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20" dirty="0">
                <a:latin typeface="Menlo"/>
                <a:cs typeface="Menlo"/>
              </a:rPr>
              <a:t> </a:t>
            </a:r>
            <a:r>
              <a:rPr sz="1100" spc="-50" dirty="0">
                <a:latin typeface="Arial"/>
                <a:cs typeface="Arial"/>
              </a:rPr>
              <a:t>1</a:t>
            </a:r>
            <a:endParaRPr sz="1100" dirty="0">
              <a:latin typeface="Arial"/>
              <a:cs typeface="Arial"/>
            </a:endParaRPr>
          </a:p>
          <a:p>
            <a:pPr marL="497205">
              <a:lnSpc>
                <a:spcPct val="100000"/>
              </a:lnSpc>
              <a:spcBef>
                <a:spcPts val="3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5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200" dirty="0">
                <a:latin typeface="Arial Unicode MS"/>
                <a:cs typeface="Arial Unicode MS"/>
              </a:rPr>
              <a:t>≜</a:t>
            </a:r>
            <a:r>
              <a:rPr sz="1100" spc="-20" dirty="0">
                <a:latin typeface="Arial Unicode MS"/>
                <a:cs typeface="Arial Unicode MS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(</a:t>
            </a:r>
            <a:r>
              <a:rPr sz="1100" i="1" spc="60" dirty="0">
                <a:latin typeface="Arial"/>
                <a:cs typeface="Arial"/>
              </a:rPr>
              <a:t>k</a:t>
            </a:r>
            <a:r>
              <a:rPr sz="1100" spc="60" dirty="0">
                <a:latin typeface="Arial"/>
                <a:cs typeface="Arial"/>
              </a:rPr>
              <a:t>)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20" dirty="0">
                <a:latin typeface="Menlo"/>
                <a:cs typeface="Menlo"/>
              </a:rPr>
              <a:t> </a:t>
            </a:r>
            <a:r>
              <a:rPr lang="en-US" altLang="zh-CN" sz="1100" i="1" spc="-405" dirty="0">
                <a:latin typeface="Arial"/>
                <a:cs typeface="Arial"/>
              </a:rPr>
              <a:t>x</a:t>
            </a:r>
            <a:r>
              <a:rPr lang="en-US" altLang="zh-CN" sz="1100" spc="240" dirty="0">
                <a:latin typeface="Arial"/>
                <a:cs typeface="Arial"/>
              </a:rPr>
              <a:t>ˆ</a:t>
            </a:r>
            <a:r>
              <a:rPr sz="1100" spc="5" dirty="0">
                <a:latin typeface="Arial"/>
                <a:cs typeface="Arial"/>
              </a:rPr>
              <a:t>(</a:t>
            </a:r>
            <a:r>
              <a:rPr sz="1100" i="1" spc="95" dirty="0">
                <a:latin typeface="Arial"/>
                <a:cs typeface="Arial"/>
              </a:rPr>
              <a:t>k</a:t>
            </a:r>
            <a:r>
              <a:rPr sz="1100" spc="5" dirty="0">
                <a:latin typeface="Menlo"/>
                <a:cs typeface="Menlo"/>
              </a:rPr>
              <a:t>|</a:t>
            </a:r>
            <a:r>
              <a:rPr sz="1100" i="1" spc="95" dirty="0">
                <a:latin typeface="Arial"/>
                <a:cs typeface="Arial"/>
              </a:rPr>
              <a:t>k</a:t>
            </a:r>
            <a:r>
              <a:rPr sz="1100" spc="5" dirty="0">
                <a:latin typeface="Arial"/>
                <a:cs typeface="Arial"/>
              </a:rPr>
              <a:t>):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estimation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error</a:t>
            </a:r>
            <a:endParaRPr sz="1100" dirty="0">
              <a:latin typeface="Arial"/>
              <a:cs typeface="Arial"/>
            </a:endParaRPr>
          </a:p>
          <a:p>
            <a:pPr marL="189865">
              <a:lnSpc>
                <a:spcPct val="100000"/>
              </a:lnSpc>
              <a:spcBef>
                <a:spcPts val="3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8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35" dirty="0">
                <a:latin typeface="Arial"/>
                <a:cs typeface="Arial"/>
              </a:rPr>
              <a:t>error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dynamics</a:t>
            </a:r>
            <a:endParaRPr sz="12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lang="en-US" altLang="zh-CN" sz="1100" i="1" spc="-405" dirty="0">
                <a:latin typeface="Arial"/>
                <a:cs typeface="Arial"/>
              </a:rPr>
              <a:t>x</a:t>
            </a:r>
            <a:r>
              <a:rPr lang="en-US" altLang="zh-CN" sz="1100" spc="240" dirty="0">
                <a:latin typeface="Arial"/>
                <a:cs typeface="Arial"/>
              </a:rPr>
              <a:t>ˆ(</a:t>
            </a:r>
            <a:r>
              <a:rPr sz="1100" i="1" spc="-65" dirty="0">
                <a:latin typeface="Arial"/>
                <a:cs typeface="Arial"/>
              </a:rPr>
              <a:t>k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155" dirty="0">
                <a:latin typeface="Arial"/>
                <a:cs typeface="Arial"/>
              </a:rPr>
              <a:t>1</a:t>
            </a:r>
            <a:r>
              <a:rPr sz="1100" spc="-155" dirty="0">
                <a:latin typeface="Menlo"/>
                <a:cs typeface="Menlo"/>
              </a:rPr>
              <a:t>|</a:t>
            </a:r>
            <a:r>
              <a:rPr sz="1100" i="1" spc="-155" dirty="0">
                <a:latin typeface="Arial"/>
                <a:cs typeface="Arial"/>
              </a:rPr>
              <a:t>k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1)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20" dirty="0">
                <a:latin typeface="Menlo"/>
                <a:cs typeface="Menlo"/>
              </a:rPr>
              <a:t> </a:t>
            </a:r>
            <a:r>
              <a:rPr sz="1100" i="1" spc="-75" dirty="0">
                <a:latin typeface="Arial"/>
                <a:cs typeface="Arial"/>
              </a:rPr>
              <a:t>LC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i="1" spc="-405" dirty="0">
                <a:latin typeface="Arial"/>
                <a:cs typeface="Arial"/>
              </a:rPr>
              <a:t>x</a:t>
            </a:r>
            <a:r>
              <a:rPr sz="1100" spc="240" dirty="0">
                <a:latin typeface="Arial"/>
                <a:cs typeface="Arial"/>
              </a:rPr>
              <a:t>ˆ</a:t>
            </a:r>
            <a:r>
              <a:rPr sz="1100" spc="75" dirty="0">
                <a:latin typeface="Arial"/>
                <a:cs typeface="Arial"/>
              </a:rPr>
              <a:t>(</a:t>
            </a:r>
            <a:r>
              <a:rPr sz="1100" i="1" spc="75" dirty="0">
                <a:latin typeface="Arial"/>
                <a:cs typeface="Arial"/>
              </a:rPr>
              <a:t>k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1</a:t>
            </a:r>
            <a:r>
              <a:rPr sz="1100" spc="-85" dirty="0">
                <a:latin typeface="Menlo"/>
                <a:cs typeface="Menlo"/>
              </a:rPr>
              <a:t>|</a:t>
            </a:r>
            <a:r>
              <a:rPr sz="1100" i="1" spc="-85" dirty="0">
                <a:latin typeface="Arial"/>
                <a:cs typeface="Arial"/>
              </a:rPr>
              <a:t>k</a:t>
            </a:r>
            <a:r>
              <a:rPr sz="1100" spc="-85" dirty="0">
                <a:latin typeface="Arial"/>
                <a:cs typeface="Arial"/>
              </a:rPr>
              <a:t>)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1)</a:t>
            </a:r>
            <a:endParaRPr sz="1100" dirty="0">
              <a:latin typeface="Arial"/>
              <a:cs typeface="Arial"/>
            </a:endParaRPr>
          </a:p>
          <a:p>
            <a:pPr marL="934085">
              <a:lnSpc>
                <a:spcPct val="100000"/>
              </a:lnSpc>
              <a:spcBef>
                <a:spcPts val="330"/>
              </a:spcBef>
            </a:pP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05" dirty="0">
                <a:latin typeface="Menlo"/>
                <a:cs typeface="Menlo"/>
              </a:rPr>
              <a:t> </a:t>
            </a:r>
            <a:r>
              <a:rPr sz="1100" i="1" spc="-75" dirty="0">
                <a:latin typeface="Arial"/>
                <a:cs typeface="Arial"/>
              </a:rPr>
              <a:t>LC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lang="en-US" altLang="zh-CN" sz="1100" i="1" spc="-405" dirty="0">
                <a:latin typeface="Arial"/>
                <a:cs typeface="Arial"/>
              </a:rPr>
              <a:t> x</a:t>
            </a:r>
            <a:r>
              <a:rPr lang="en-US" altLang="zh-CN" sz="1100" spc="240" dirty="0">
                <a:latin typeface="Arial"/>
                <a:cs typeface="Arial"/>
              </a:rPr>
              <a:t>ˆ</a:t>
            </a:r>
            <a:r>
              <a:rPr sz="1100" spc="-25" dirty="0">
                <a:latin typeface="Arial"/>
                <a:cs typeface="Arial"/>
              </a:rPr>
              <a:t>(</a:t>
            </a:r>
            <a:r>
              <a:rPr sz="1100" i="1" spc="65" dirty="0">
                <a:latin typeface="Arial"/>
                <a:cs typeface="Arial"/>
              </a:rPr>
              <a:t>k</a:t>
            </a:r>
            <a:r>
              <a:rPr sz="1100" spc="-25" dirty="0">
                <a:latin typeface="Menlo"/>
                <a:cs typeface="Menlo"/>
              </a:rPr>
              <a:t>|</a:t>
            </a:r>
            <a:r>
              <a:rPr sz="1100" i="1" spc="65" dirty="0">
                <a:latin typeface="Arial"/>
                <a:cs typeface="Arial"/>
              </a:rPr>
              <a:t>k</a:t>
            </a:r>
            <a:r>
              <a:rPr sz="1100" spc="-25" dirty="0">
                <a:latin typeface="Arial"/>
                <a:cs typeface="Arial"/>
              </a:rPr>
              <a:t>)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05" dirty="0">
                <a:latin typeface="Menlo"/>
                <a:cs typeface="Menlo"/>
              </a:rPr>
              <a:t> </a:t>
            </a:r>
            <a:r>
              <a:rPr sz="1100" i="1" spc="-75" dirty="0">
                <a:latin typeface="Arial"/>
                <a:cs typeface="Arial"/>
              </a:rPr>
              <a:t>LC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i="1" spc="-40" dirty="0">
                <a:latin typeface="Arial"/>
                <a:cs typeface="Arial"/>
              </a:rPr>
              <a:t>Bu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(</a:t>
            </a:r>
            <a:r>
              <a:rPr sz="1100" i="1" spc="60" dirty="0">
                <a:latin typeface="Arial"/>
                <a:cs typeface="Arial"/>
              </a:rPr>
              <a:t>k</a:t>
            </a:r>
            <a:r>
              <a:rPr sz="1100" spc="60" dirty="0">
                <a:latin typeface="Arial"/>
                <a:cs typeface="Arial"/>
              </a:rPr>
              <a:t>)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Ly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1)</a:t>
            </a:r>
            <a:endParaRPr sz="1100" dirty="0">
              <a:latin typeface="Arial"/>
              <a:cs typeface="Arial"/>
            </a:endParaRPr>
          </a:p>
          <a:p>
            <a:pPr marL="199390">
              <a:lnSpc>
                <a:spcPct val="100000"/>
              </a:lnSpc>
              <a:spcBef>
                <a:spcPts val="335"/>
              </a:spcBef>
            </a:pPr>
            <a:r>
              <a:rPr sz="1100" i="1" spc="420" dirty="0">
                <a:latin typeface="Menlo"/>
                <a:cs typeface="Menlo"/>
              </a:rPr>
              <a:t>⇒</a:t>
            </a:r>
            <a:r>
              <a:rPr sz="1100" i="1" spc="-340" dirty="0">
                <a:latin typeface="Menlo"/>
                <a:cs typeface="Menlo"/>
              </a:rPr>
              <a:t> </a:t>
            </a:r>
            <a:r>
              <a:rPr sz="1100" i="1" spc="-135" dirty="0">
                <a:latin typeface="Arial"/>
                <a:cs typeface="Arial"/>
              </a:rPr>
              <a:t>e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1)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1)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05" dirty="0">
                <a:latin typeface="Menlo"/>
                <a:cs typeface="Menlo"/>
              </a:rPr>
              <a:t> </a:t>
            </a:r>
            <a:r>
              <a:rPr sz="1100" i="1" spc="-40" dirty="0">
                <a:latin typeface="Arial"/>
                <a:cs typeface="Arial"/>
              </a:rPr>
              <a:t>Ly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1)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00" dirty="0">
                <a:latin typeface="Menlo"/>
                <a:cs typeface="Menlo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05" dirty="0">
                <a:latin typeface="Menlo"/>
                <a:cs typeface="Menlo"/>
              </a:rPr>
              <a:t> </a:t>
            </a:r>
            <a:r>
              <a:rPr sz="1100" i="1" spc="-75" dirty="0">
                <a:latin typeface="Arial"/>
                <a:cs typeface="Arial"/>
              </a:rPr>
              <a:t>LC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spc="-15" dirty="0">
                <a:latin typeface="Arial"/>
                <a:cs typeface="Arial"/>
              </a:rPr>
              <a:t>)</a:t>
            </a:r>
            <a:r>
              <a:rPr sz="1100" i="1" spc="-15" dirty="0">
                <a:latin typeface="Arial"/>
                <a:cs typeface="Arial"/>
              </a:rPr>
              <a:t>A</a:t>
            </a:r>
            <a:r>
              <a:rPr lang="en-US" altLang="zh-CN" sz="1100" i="1" spc="-405" dirty="0">
                <a:latin typeface="Arial"/>
                <a:cs typeface="Arial"/>
              </a:rPr>
              <a:t> x</a:t>
            </a:r>
            <a:r>
              <a:rPr lang="en-US" altLang="zh-CN" sz="1100" spc="240" dirty="0">
                <a:latin typeface="Arial"/>
                <a:cs typeface="Arial"/>
              </a:rPr>
              <a:t>ˆ</a:t>
            </a:r>
            <a:r>
              <a:rPr sz="1100" spc="-15" dirty="0">
                <a:latin typeface="Arial"/>
                <a:cs typeface="Arial"/>
              </a:rPr>
              <a:t>(</a:t>
            </a:r>
            <a:r>
              <a:rPr sz="1100" i="1" spc="75" dirty="0">
                <a:latin typeface="Arial"/>
                <a:cs typeface="Arial"/>
              </a:rPr>
              <a:t>k</a:t>
            </a:r>
            <a:r>
              <a:rPr sz="1100" spc="-15" dirty="0">
                <a:latin typeface="Menlo"/>
                <a:cs typeface="Menlo"/>
              </a:rPr>
              <a:t>|</a:t>
            </a:r>
            <a:r>
              <a:rPr sz="1100" i="1" spc="75" dirty="0">
                <a:latin typeface="Arial"/>
                <a:cs typeface="Arial"/>
              </a:rPr>
              <a:t>k</a:t>
            </a:r>
            <a:r>
              <a:rPr sz="1100" spc="-15" dirty="0">
                <a:latin typeface="Arial"/>
                <a:cs typeface="Arial"/>
              </a:rPr>
              <a:t>)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05" dirty="0">
                <a:latin typeface="Menlo"/>
                <a:cs typeface="Menlo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05" dirty="0">
                <a:latin typeface="Menlo"/>
                <a:cs typeface="Menlo"/>
              </a:rPr>
              <a:t> </a:t>
            </a:r>
            <a:r>
              <a:rPr sz="1100" i="1" spc="-75" dirty="0">
                <a:latin typeface="Arial"/>
                <a:cs typeface="Arial"/>
              </a:rPr>
              <a:t>LC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)</a:t>
            </a:r>
            <a:r>
              <a:rPr sz="1100" i="1" spc="-10" dirty="0">
                <a:latin typeface="Arial"/>
                <a:cs typeface="Arial"/>
              </a:rPr>
              <a:t>Bu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L="934085">
              <a:lnSpc>
                <a:spcPct val="100000"/>
              </a:lnSpc>
              <a:spcBef>
                <a:spcPts val="335"/>
              </a:spcBef>
            </a:pPr>
            <a:r>
              <a:rPr sz="1100" spc="200" dirty="0">
                <a:latin typeface="Arial"/>
                <a:cs typeface="Arial"/>
              </a:rPr>
              <a:t>=</a:t>
            </a:r>
            <a:r>
              <a:rPr sz="1100" dirty="0">
                <a:latin typeface="Arial"/>
                <a:cs typeface="Arial"/>
              </a:rPr>
              <a:t> 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05" dirty="0">
                <a:latin typeface="Menlo"/>
                <a:cs typeface="Menlo"/>
              </a:rPr>
              <a:t> </a:t>
            </a:r>
            <a:r>
              <a:rPr sz="1100" i="1" spc="-30" dirty="0">
                <a:latin typeface="Arial"/>
                <a:cs typeface="Arial"/>
              </a:rPr>
              <a:t>LCA</a:t>
            </a:r>
            <a:r>
              <a:rPr sz="1100" spc="-30" dirty="0">
                <a:latin typeface="Arial"/>
                <a:cs typeface="Arial"/>
              </a:rPr>
              <a:t>)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i="1" spc="-135" dirty="0">
                <a:latin typeface="Arial"/>
                <a:cs typeface="Arial"/>
              </a:rPr>
              <a:t>e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35" dirty="0">
                <a:latin typeface="Arial"/>
                <a:cs typeface="Arial"/>
              </a:rPr>
              <a:t>(</a:t>
            </a:r>
            <a:r>
              <a:rPr sz="1100" i="1" spc="35" dirty="0">
                <a:latin typeface="Arial"/>
                <a:cs typeface="Arial"/>
              </a:rPr>
              <a:t>k</a:t>
            </a:r>
            <a:r>
              <a:rPr sz="1100" spc="35" dirty="0"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20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16166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DT</a:t>
            </a:r>
            <a:r>
              <a:rPr spc="-25" dirty="0"/>
              <a:t> </a:t>
            </a:r>
            <a:r>
              <a:rPr dirty="0"/>
              <a:t>full</a:t>
            </a:r>
            <a:r>
              <a:rPr spc="-5" dirty="0"/>
              <a:t> </a:t>
            </a:r>
            <a:r>
              <a:rPr spc="-75" dirty="0"/>
              <a:t>state</a:t>
            </a:r>
            <a:r>
              <a:rPr dirty="0"/>
              <a:t> </a:t>
            </a:r>
            <a:r>
              <a:rPr spc="-140" dirty="0"/>
              <a:t>observer</a:t>
            </a:r>
            <a:r>
              <a:rPr spc="20" dirty="0"/>
              <a:t> </a:t>
            </a:r>
            <a:r>
              <a:rPr dirty="0"/>
              <a:t>with </a:t>
            </a:r>
            <a:r>
              <a:rPr spc="-65" dirty="0"/>
              <a:t>predictor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5442" y="1182164"/>
            <a:ext cx="37363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the </a:t>
            </a:r>
            <a:r>
              <a:rPr sz="1200" spc="-35" dirty="0">
                <a:latin typeface="Arial"/>
                <a:cs typeface="Arial"/>
              </a:rPr>
              <a:t>error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dynamics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can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be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arbitrarily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assigned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 the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pair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860" y="1398940"/>
            <a:ext cx="213995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n-US" sz="1200" spc="100" dirty="0">
                <a:latin typeface="Arial"/>
                <a:cs typeface="Arial"/>
              </a:rPr>
              <a:t>(</a:t>
            </a:r>
            <a:r>
              <a:rPr sz="1200" i="1" spc="100" dirty="0">
                <a:latin typeface="Arial"/>
                <a:cs typeface="Arial"/>
              </a:rPr>
              <a:t>A</a:t>
            </a:r>
            <a:r>
              <a:rPr sz="1200" i="1" spc="100" dirty="0">
                <a:latin typeface="Times New Roman"/>
                <a:cs typeface="Times New Roman"/>
              </a:rPr>
              <a:t>,</a:t>
            </a:r>
            <a:r>
              <a:rPr sz="1200" i="1" spc="235" dirty="0">
                <a:latin typeface="Times New Roman"/>
                <a:cs typeface="Times New Roman"/>
              </a:rPr>
              <a:t> </a:t>
            </a:r>
            <a:r>
              <a:rPr sz="1200" i="1" spc="-360" dirty="0">
                <a:latin typeface="Arial"/>
                <a:cs typeface="Arial"/>
              </a:rPr>
              <a:t>C</a:t>
            </a:r>
            <a:r>
              <a:rPr sz="1800" spc="270" baseline="13888" dirty="0">
                <a:latin typeface="Arial"/>
                <a:cs typeface="Arial"/>
              </a:rPr>
              <a:t>˜</a:t>
            </a:r>
            <a:r>
              <a:rPr lang="en-US" sz="1200" spc="200" dirty="0">
                <a:latin typeface="Arial"/>
                <a:cs typeface="Arial"/>
              </a:rPr>
              <a:t>)=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2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Arial"/>
                <a:cs typeface="Arial"/>
              </a:rPr>
              <a:t>CA</a:t>
            </a:r>
            <a:r>
              <a:rPr sz="1200" dirty="0">
                <a:latin typeface="Arial"/>
                <a:cs typeface="Arial"/>
              </a:rPr>
              <a:t>)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observable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442" y="1636532"/>
            <a:ext cx="167322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5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0" dirty="0">
                <a:latin typeface="Arial"/>
                <a:cs typeface="Arial"/>
              </a:rPr>
              <a:t>observability</a:t>
            </a:r>
            <a:r>
              <a:rPr sz="1200" dirty="0">
                <a:latin typeface="Arial"/>
                <a:cs typeface="Arial"/>
              </a:rPr>
              <a:t> matrix</a:t>
            </a:r>
            <a:r>
              <a:rPr sz="1200" spc="330" dirty="0">
                <a:latin typeface="Arial"/>
                <a:cs typeface="Arial"/>
              </a:rPr>
              <a:t> </a:t>
            </a:r>
            <a:endParaRPr sz="1800" baseline="13888" dirty="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0042" y="2618842"/>
            <a:ext cx="3819525" cy="66537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32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7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invertible,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then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i="1" spc="-509" dirty="0">
                <a:latin typeface="Arial"/>
                <a:cs typeface="Arial"/>
              </a:rPr>
              <a:t>Q</a:t>
            </a:r>
            <a:r>
              <a:rPr sz="1800" spc="112" baseline="13888" dirty="0">
                <a:latin typeface="Arial"/>
                <a:cs typeface="Arial"/>
              </a:rPr>
              <a:t>˜</a:t>
            </a:r>
            <a:r>
              <a:rPr sz="1200" i="1" spc="150" baseline="-13888" dirty="0">
                <a:latin typeface="Arial"/>
                <a:cs typeface="Arial"/>
              </a:rPr>
              <a:t>d</a:t>
            </a:r>
            <a:r>
              <a:rPr sz="1200" i="1" spc="330" baseline="-13888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has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same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rank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40" dirty="0">
                <a:latin typeface="Arial"/>
                <a:cs typeface="Arial"/>
              </a:rPr>
              <a:t>as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Q</a:t>
            </a:r>
            <a:r>
              <a:rPr sz="1200" i="1" spc="-37" baseline="-13888" dirty="0">
                <a:latin typeface="Arial"/>
                <a:cs typeface="Arial"/>
              </a:rPr>
              <a:t>d</a:t>
            </a:r>
            <a:endParaRPr sz="1200" baseline="-13888" dirty="0">
              <a:latin typeface="Arial"/>
              <a:cs typeface="Arial"/>
            </a:endParaRPr>
          </a:p>
          <a:p>
            <a:pPr marL="255904" marR="17780" indent="-193040">
              <a:lnSpc>
                <a:spcPts val="1770"/>
              </a:lnSpc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200" spc="31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200" spc="100" dirty="0">
                <a:latin typeface="Arial"/>
                <a:cs typeface="Arial"/>
              </a:rPr>
              <a:t>(</a:t>
            </a:r>
            <a:r>
              <a:rPr lang="en-US" altLang="zh-CN" sz="1200" i="1" spc="100" dirty="0">
                <a:latin typeface="Arial"/>
                <a:cs typeface="Arial"/>
              </a:rPr>
              <a:t>A</a:t>
            </a:r>
            <a:r>
              <a:rPr lang="en-US" altLang="zh-CN" sz="1200" i="1" spc="100" dirty="0">
                <a:latin typeface="Times New Roman"/>
                <a:cs typeface="Times New Roman"/>
              </a:rPr>
              <a:t>,</a:t>
            </a:r>
            <a:r>
              <a:rPr lang="en-US" altLang="zh-CN" sz="1200" i="1" spc="235" dirty="0">
                <a:latin typeface="Times New Roman"/>
                <a:cs typeface="Times New Roman"/>
              </a:rPr>
              <a:t> </a:t>
            </a:r>
            <a:r>
              <a:rPr lang="en-US" altLang="zh-CN" sz="1200" i="1" spc="-360" dirty="0">
                <a:latin typeface="Arial"/>
                <a:cs typeface="Arial"/>
              </a:rPr>
              <a:t>C</a:t>
            </a:r>
            <a:r>
              <a:rPr lang="en-US" altLang="zh-CN" sz="1800" spc="270" baseline="13888" dirty="0">
                <a:latin typeface="Arial"/>
                <a:cs typeface="Arial"/>
              </a:rPr>
              <a:t>˜</a:t>
            </a:r>
            <a:r>
              <a:rPr lang="en-US" altLang="zh-CN" sz="1200" spc="200" dirty="0">
                <a:latin typeface="Arial"/>
                <a:cs typeface="Arial"/>
              </a:rPr>
              <a:t>)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observable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260" dirty="0">
                <a:latin typeface="Times New Roman"/>
                <a:cs typeface="Times New Roman"/>
              </a:rPr>
              <a:t> </a:t>
            </a:r>
            <a:r>
              <a:rPr sz="1200" i="1" spc="-130" dirty="0">
                <a:latin typeface="Arial"/>
                <a:cs typeface="Arial"/>
              </a:rPr>
              <a:t>C</a:t>
            </a:r>
            <a:r>
              <a:rPr sz="1200" i="1" spc="-190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observable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3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is </a:t>
            </a:r>
            <a:r>
              <a:rPr sz="1200" spc="-60" dirty="0">
                <a:latin typeface="Arial"/>
                <a:cs typeface="Arial"/>
              </a:rPr>
              <a:t>nonsingular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(guaranteed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discretized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from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system)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21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BD7DED4-5AD2-8247-1C3A-6F0476C952AF}"/>
                  </a:ext>
                </a:extLst>
              </p:cNvPr>
              <p:cNvSpPr txBox="1"/>
              <p:nvPr/>
            </p:nvSpPr>
            <p:spPr>
              <a:xfrm>
                <a:off x="558506" y="1697958"/>
                <a:ext cx="3150010" cy="9663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𝐶𝐴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lim>
                      </m:limUp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BD7DED4-5AD2-8247-1C3A-6F0476C95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06" y="1697958"/>
                <a:ext cx="3150010" cy="9663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DCABCDB-C620-68D7-A38A-7FB028C3B139}"/>
                  </a:ext>
                </a:extLst>
              </p:cNvPr>
              <p:cNvSpPr txBox="1"/>
              <p:nvPr/>
            </p:nvSpPr>
            <p:spPr>
              <a:xfrm>
                <a:off x="599466" y="662969"/>
                <a:ext cx="3410101" cy="342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limLow>
                            <m:limLow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𝐶𝐴</m:t>
                                  </m:r>
                                </m:e>
                              </m:groupChr>
                            </m:e>
                            <m:lim>
                              <m:acc>
                                <m:accPr>
                                  <m:chr m:val="̃"/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lim>
                          </m:limLow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e>
                      </m:d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DCABCDB-C620-68D7-A38A-7FB028C3B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66" y="662969"/>
                <a:ext cx="3410101" cy="342081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28" y="102461"/>
            <a:ext cx="6394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85" dirty="0">
                <a:solidFill>
                  <a:srgbClr val="000000"/>
                </a:solidFill>
              </a:rPr>
              <a:t>Example</a:t>
            </a:r>
            <a:endParaRPr sz="1400"/>
          </a:p>
        </p:txBody>
      </p:sp>
      <p:sp>
        <p:nvSpPr>
          <p:cNvPr id="13" name="object 13"/>
          <p:cNvSpPr txBox="1"/>
          <p:nvPr/>
        </p:nvSpPr>
        <p:spPr>
          <a:xfrm>
            <a:off x="124104" y="994901"/>
            <a:ext cx="4359910" cy="371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390"/>
              </a:lnSpc>
            </a:pP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k</a:t>
            </a:r>
            <a:r>
              <a:rPr sz="1200" spc="55" dirty="0">
                <a:latin typeface="Arial"/>
                <a:cs typeface="Arial"/>
              </a:rPr>
              <a:t>)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dirty="0">
                <a:latin typeface="Arial"/>
                <a:cs typeface="Arial"/>
              </a:rPr>
              <a:t>).</a:t>
            </a:r>
            <a:r>
              <a:rPr sz="1200" spc="15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Place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eigenvalues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an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observer</a:t>
            </a:r>
            <a:r>
              <a:rPr sz="1200" b="1" spc="8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with</a:t>
            </a:r>
            <a:r>
              <a:rPr sz="1200" b="1" spc="7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predictor</a:t>
            </a:r>
            <a:endParaRPr sz="1200" dirty="0">
              <a:latin typeface="Arial"/>
              <a:cs typeface="Arial"/>
            </a:endParaRPr>
          </a:p>
          <a:p>
            <a:pPr marL="50800">
              <a:lnSpc>
                <a:spcPts val="1395"/>
              </a:lnSpc>
            </a:pPr>
            <a:r>
              <a:rPr sz="1200" dirty="0">
                <a:latin typeface="Arial"/>
                <a:cs typeface="Arial"/>
              </a:rPr>
              <a:t>at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origin.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0528" y="2629596"/>
            <a:ext cx="3997960" cy="57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Arial"/>
                <a:cs typeface="Arial"/>
              </a:rPr>
              <a:t>det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65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0" dirty="0">
                <a:latin typeface="Menlo"/>
                <a:cs typeface="Menlo"/>
              </a:rPr>
              <a:t> </a:t>
            </a:r>
            <a:r>
              <a:rPr sz="1200" i="1" spc="-65" dirty="0">
                <a:latin typeface="Arial"/>
                <a:cs typeface="Arial"/>
              </a:rPr>
              <a:t>LCA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0" dirty="0">
                <a:latin typeface="Menlo"/>
                <a:cs typeface="Menlo"/>
              </a:rPr>
              <a:t> </a:t>
            </a:r>
            <a:r>
              <a:rPr sz="1200" i="1" spc="65" dirty="0">
                <a:latin typeface="Times New Roman"/>
                <a:cs typeface="Times New Roman"/>
              </a:rPr>
              <a:t>λ</a:t>
            </a:r>
            <a:r>
              <a:rPr sz="1200" i="1" spc="65" dirty="0">
                <a:latin typeface="Arial"/>
                <a:cs typeface="Arial"/>
              </a:rPr>
              <a:t>I</a:t>
            </a:r>
            <a:r>
              <a:rPr sz="1200" i="1" spc="-170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((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0" dirty="0">
                <a:latin typeface="Menlo"/>
                <a:cs typeface="Menlo"/>
              </a:rPr>
              <a:t> </a:t>
            </a:r>
            <a:r>
              <a:rPr sz="1200" spc="-20" dirty="0">
                <a:latin typeface="Arial"/>
                <a:cs typeface="Arial"/>
              </a:rPr>
              <a:t>1)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i="1" spc="-20" dirty="0">
                <a:latin typeface="Arial"/>
                <a:cs typeface="Arial"/>
              </a:rPr>
              <a:t>a</a:t>
            </a:r>
            <a:r>
              <a:rPr sz="1200" spc="-30" baseline="-13888" dirty="0">
                <a:latin typeface="Arial"/>
                <a:cs typeface="Arial"/>
              </a:rPr>
              <a:t>2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0" dirty="0">
                <a:latin typeface="Menlo"/>
                <a:cs typeface="Menlo"/>
              </a:rPr>
              <a:t> </a:t>
            </a:r>
            <a:r>
              <a:rPr sz="1200" i="1" spc="100" dirty="0">
                <a:latin typeface="Times New Roman"/>
                <a:cs typeface="Times New Roman"/>
              </a:rPr>
              <a:t>λ</a:t>
            </a:r>
            <a:r>
              <a:rPr sz="1200" spc="100" dirty="0">
                <a:latin typeface="Arial"/>
                <a:cs typeface="Arial"/>
              </a:rPr>
              <a:t>)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i="1" spc="100" dirty="0">
                <a:latin typeface="Times New Roman"/>
                <a:cs typeface="Times New Roman"/>
              </a:rPr>
              <a:t>λ</a:t>
            </a:r>
            <a:r>
              <a:rPr sz="1200" spc="100" dirty="0">
                <a:latin typeface="Arial"/>
                <a:cs typeface="Arial"/>
              </a:rPr>
              <a:t>)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i="1" spc="155" dirty="0">
                <a:latin typeface="Times New Roman"/>
                <a:cs typeface="Times New Roman"/>
              </a:rPr>
              <a:t>λ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spc="150" dirty="0">
                <a:latin typeface="Arial"/>
                <a:cs typeface="Arial"/>
              </a:rPr>
              <a:t>+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"/>
                <a:cs typeface="Arial"/>
              </a:rPr>
              <a:t>(1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5" dirty="0">
                <a:latin typeface="Menlo"/>
                <a:cs typeface="Menlo"/>
              </a:rPr>
              <a:t> 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dirty="0">
                <a:latin typeface="Arial"/>
                <a:cs typeface="Arial"/>
              </a:rPr>
              <a:t>)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baseline="-13888" dirty="0">
                <a:latin typeface="Arial"/>
                <a:cs typeface="Arial"/>
              </a:rPr>
              <a:t>a</a:t>
            </a:r>
            <a:r>
              <a:rPr sz="1200" i="1" spc="157" baseline="-13888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5" dirty="0">
                <a:latin typeface="Menlo"/>
                <a:cs typeface="Menlo"/>
              </a:rPr>
              <a:t> </a:t>
            </a:r>
            <a:r>
              <a:rPr sz="1200" i="1" spc="-20" dirty="0">
                <a:latin typeface="Arial"/>
                <a:cs typeface="Arial"/>
              </a:rPr>
              <a:t>a</a:t>
            </a:r>
            <a:r>
              <a:rPr sz="1200" spc="-30" baseline="-13888" dirty="0">
                <a:latin typeface="Arial"/>
                <a:cs typeface="Arial"/>
              </a:rPr>
              <a:t>0</a:t>
            </a:r>
            <a:r>
              <a:rPr sz="1200" spc="-20" dirty="0">
                <a:latin typeface="Arial"/>
                <a:cs typeface="Arial"/>
              </a:rPr>
              <a:t>)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200" spc="52" baseline="-13888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((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5" dirty="0">
                <a:latin typeface="Menlo"/>
                <a:cs typeface="Menlo"/>
              </a:rPr>
              <a:t> </a:t>
            </a:r>
            <a:r>
              <a:rPr sz="1200" spc="-20" dirty="0">
                <a:latin typeface="Arial"/>
                <a:cs typeface="Arial"/>
              </a:rPr>
              <a:t>1)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i="1" spc="-20" dirty="0">
                <a:latin typeface="Arial"/>
                <a:cs typeface="Arial"/>
              </a:rPr>
              <a:t>a</a:t>
            </a:r>
            <a:r>
              <a:rPr sz="1200" spc="-30" baseline="-13888" dirty="0">
                <a:latin typeface="Arial"/>
                <a:cs typeface="Arial"/>
              </a:rPr>
              <a:t>2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5" dirty="0">
                <a:latin typeface="Menlo"/>
                <a:cs typeface="Menlo"/>
              </a:rPr>
              <a:t> </a:t>
            </a:r>
            <a:r>
              <a:rPr sz="1200" i="1" spc="100" dirty="0">
                <a:latin typeface="Times New Roman"/>
                <a:cs typeface="Times New Roman"/>
              </a:rPr>
              <a:t>λ</a:t>
            </a:r>
            <a:r>
              <a:rPr sz="1200" spc="100" dirty="0">
                <a:latin typeface="Arial"/>
                <a:cs typeface="Arial"/>
              </a:rPr>
              <a:t>)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i="1" spc="155" dirty="0">
                <a:latin typeface="Times New Roman"/>
                <a:cs typeface="Times New Roman"/>
              </a:rPr>
              <a:t>λ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Arial"/>
                <a:cs typeface="Arial"/>
              </a:rPr>
              <a:t>(1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5" dirty="0">
                <a:latin typeface="Menlo"/>
                <a:cs typeface="Menlo"/>
              </a:rPr>
              <a:t> 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dirty="0">
                <a:latin typeface="Arial"/>
                <a:cs typeface="Arial"/>
              </a:rPr>
              <a:t>)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200" i="1" spc="200" dirty="0">
                <a:latin typeface="Menlo"/>
                <a:cs typeface="Menlo"/>
              </a:rPr>
              <a:t>−</a:t>
            </a:r>
            <a:r>
              <a:rPr sz="1200" i="1" spc="-455" dirty="0">
                <a:latin typeface="Menlo"/>
                <a:cs typeface="Menlo"/>
              </a:rPr>
              <a:t> </a:t>
            </a:r>
            <a:r>
              <a:rPr sz="1200" i="1" spc="-25" dirty="0">
                <a:latin typeface="Arial"/>
                <a:cs typeface="Arial"/>
              </a:rPr>
              <a:t>a</a:t>
            </a:r>
            <a:r>
              <a:rPr sz="1200" spc="-37" baseline="-13888" dirty="0">
                <a:latin typeface="Arial"/>
                <a:cs typeface="Arial"/>
              </a:rPr>
              <a:t>1</a:t>
            </a:r>
            <a:r>
              <a:rPr sz="1200" spc="-25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"/>
                <a:cs typeface="Arial"/>
              </a:rPr>
              <a:t>roots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must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be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0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i="1" spc="145" dirty="0">
                <a:latin typeface="Menlo"/>
                <a:cs typeface="Menlo"/>
              </a:rPr>
              <a:t>⇒</a:t>
            </a:r>
            <a:r>
              <a:rPr sz="1200" i="1" spc="145" dirty="0">
                <a:latin typeface="Arial"/>
                <a:cs typeface="Arial"/>
              </a:rPr>
              <a:t>l</a:t>
            </a:r>
            <a:r>
              <a:rPr sz="1200" spc="217" baseline="-13888" dirty="0">
                <a:latin typeface="Arial"/>
                <a:cs typeface="Arial"/>
              </a:rPr>
              <a:t>1</a:t>
            </a:r>
            <a:r>
              <a:rPr sz="1200" spc="172" baseline="-13888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1,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0.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22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097AEF8-B32E-EF7B-502A-3A0585FACBF0}"/>
                  </a:ext>
                </a:extLst>
              </p:cNvPr>
              <p:cNvSpPr txBox="1"/>
              <p:nvPr/>
            </p:nvSpPr>
            <p:spPr>
              <a:xfrm>
                <a:off x="437159" y="321568"/>
                <a:ext cx="3733800" cy="688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sz="1200" b="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097AEF8-B32E-EF7B-502A-3A0585FAC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59" y="321568"/>
                <a:ext cx="3733800" cy="688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708402D-B55C-81B6-3036-D05075A443C3}"/>
                  </a:ext>
                </a:extLst>
              </p:cNvPr>
              <p:cNvSpPr txBox="1"/>
              <p:nvPr/>
            </p:nvSpPr>
            <p:spPr>
              <a:xfrm>
                <a:off x="437159" y="1380873"/>
                <a:ext cx="3733800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𝐿𝐶𝐴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200" b="0" i="1" dirty="0"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1200" b="0" dirty="0"/>
                  <a:t>                    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120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708402D-B55C-81B6-3036-D05075A44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59" y="1380873"/>
                <a:ext cx="3733800" cy="12662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28" y="549742"/>
            <a:ext cx="7721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E5E5E5"/>
                </a:solidFill>
              </a:rPr>
              <a:t>1.</a:t>
            </a:r>
            <a:r>
              <a:rPr sz="1200" spc="80" dirty="0">
                <a:solidFill>
                  <a:srgbClr val="E5E5E5"/>
                </a:solidFill>
              </a:rPr>
              <a:t> </a:t>
            </a:r>
            <a:r>
              <a:rPr sz="1200" spc="-75" dirty="0">
                <a:solidFill>
                  <a:srgbClr val="E5E5E5"/>
                </a:solidFill>
                <a:hlinkClick r:id="rId2" action="ppaction://hlinksldjump"/>
              </a:rPr>
              <a:t>Concepts</a:t>
            </a:r>
            <a:endParaRPr sz="1200"/>
          </a:p>
        </p:txBody>
      </p:sp>
      <p:sp>
        <p:nvSpPr>
          <p:cNvPr id="3" name="object 3"/>
          <p:cNvSpPr txBox="1"/>
          <p:nvPr/>
        </p:nvSpPr>
        <p:spPr>
          <a:xfrm>
            <a:off x="135928" y="1035758"/>
            <a:ext cx="2661920" cy="154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193675" algn="l"/>
              </a:tabLst>
            </a:pPr>
            <a:r>
              <a:rPr sz="1200" spc="-6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Continuous-</a:t>
            </a:r>
            <a:r>
              <a:rPr sz="1200" spc="-2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time</a:t>
            </a:r>
            <a:r>
              <a:rPr sz="1200" spc="2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7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Luenberger</a:t>
            </a:r>
            <a:r>
              <a:rPr sz="1200" spc="2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5"/>
              </a:spcBef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marL="193040" marR="910590" indent="-180975">
              <a:lnSpc>
                <a:spcPct val="100000"/>
              </a:lnSpc>
              <a:buAutoNum type="arabicPeriod" startAt="2"/>
              <a:tabLst>
                <a:tab pos="384175" algn="l"/>
              </a:tabLst>
            </a:pPr>
            <a:r>
              <a:rPr sz="1200" spc="-55" dirty="0">
                <a:solidFill>
                  <a:srgbClr val="E5E5E5"/>
                </a:solidFill>
                <a:latin typeface="Arial"/>
                <a:cs typeface="Arial"/>
                <a:hlinkClick r:id="" action="ppaction://noaction"/>
              </a:rPr>
              <a:t>Discrete-</a:t>
            </a:r>
            <a:r>
              <a:rPr sz="1200" spc="-25" dirty="0">
                <a:solidFill>
                  <a:srgbClr val="E5E5E5"/>
                </a:solidFill>
                <a:latin typeface="Arial"/>
                <a:cs typeface="Arial"/>
                <a:hlinkClick r:id="" action="ppaction://noaction"/>
              </a:rPr>
              <a:t>time</a:t>
            </a:r>
            <a:r>
              <a:rPr sz="1200" spc="15" dirty="0">
                <a:solidFill>
                  <a:srgbClr val="E5E5E5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" action="ppaction://noaction"/>
              </a:rPr>
              <a:t>observers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</a:rPr>
              <a:t> 	</a:t>
            </a:r>
            <a:r>
              <a:rPr sz="1200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DT</a:t>
            </a:r>
            <a:r>
              <a:rPr sz="1200" spc="15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full</a:t>
            </a:r>
            <a:r>
              <a:rPr sz="1200" spc="20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25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state</a:t>
            </a:r>
            <a:r>
              <a:rPr sz="1200" spc="15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90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observer</a:t>
            </a:r>
            <a:endParaRPr sz="1200">
              <a:latin typeface="Arial"/>
              <a:cs typeface="Arial"/>
            </a:endParaRPr>
          </a:p>
          <a:p>
            <a:pPr marL="384175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DT</a:t>
            </a:r>
            <a:r>
              <a:rPr sz="1200" spc="20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full</a:t>
            </a:r>
            <a:r>
              <a:rPr sz="1200" spc="25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25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state</a:t>
            </a:r>
            <a:r>
              <a:rPr sz="1200" spc="20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85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observer</a:t>
            </a:r>
            <a:r>
              <a:rPr sz="1200" spc="25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with</a:t>
            </a:r>
            <a:r>
              <a:rPr sz="1200" spc="20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35" dirty="0">
                <a:solidFill>
                  <a:srgbClr val="CCCCCC"/>
                </a:solidFill>
                <a:latin typeface="Arial"/>
                <a:cs typeface="Arial"/>
                <a:hlinkClick r:id="" action="ppaction://noaction"/>
              </a:rPr>
              <a:t>predictor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 startAt="4"/>
              <a:tabLst>
                <a:tab pos="193675" algn="l"/>
              </a:tabLst>
            </a:pPr>
            <a:r>
              <a:rPr sz="1200" spc="-9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Observer</a:t>
            </a:r>
            <a:r>
              <a:rPr sz="1200" spc="5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spc="-25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state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feedback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23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40" dirty="0"/>
              <a:t>Observer</a:t>
            </a:r>
            <a:r>
              <a:rPr spc="20" dirty="0"/>
              <a:t> </a:t>
            </a:r>
            <a:r>
              <a:rPr spc="-75" dirty="0"/>
              <a:t>state</a:t>
            </a:r>
            <a:r>
              <a:rPr spc="20" dirty="0"/>
              <a:t> </a:t>
            </a:r>
            <a:r>
              <a:rPr spc="-120" dirty="0"/>
              <a:t>feedback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123228" y="608924"/>
                <a:ext cx="4385310" cy="243053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spc="-60" dirty="0">
                    <a:latin typeface="Arial"/>
                    <a:cs typeface="Arial"/>
                  </a:rPr>
                  <a:t>given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system</a:t>
                </a:r>
                <a:r>
                  <a:rPr lang="en-US" sz="1200" spc="2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dynamics: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765935" marR="1788160" indent="1905">
                  <a:lnSpc>
                    <a:spcPct val="121100"/>
                  </a:lnSpc>
                  <a:spcBef>
                    <a:spcPts val="894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24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245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 =</a:t>
                </a:r>
                <a:r>
                  <a:rPr lang="en-US" sz="1200" spc="-5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Ax</a:t>
                </a:r>
                <a:r>
                  <a:rPr lang="en-US" sz="1200" i="1" spc="2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i="1" spc="-50" dirty="0">
                    <a:latin typeface="Arial"/>
                    <a:cs typeface="Arial"/>
                  </a:rPr>
                  <a:t>Bu 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Cx</a:t>
                </a:r>
                <a:endParaRPr lang="en-US" sz="12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20"/>
                  </a:spcBef>
                </a:pPr>
                <a:endParaRPr lang="en-US" sz="1200" dirty="0">
                  <a:latin typeface="Arial"/>
                  <a:cs typeface="Arial"/>
                </a:endParaRPr>
              </a:p>
              <a:p>
                <a:pPr marL="322580" marR="43180" indent="-193040">
                  <a:lnSpc>
                    <a:spcPct val="100000"/>
                  </a:lnSpc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7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state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latin typeface="Arial"/>
                    <a:cs typeface="Arial"/>
                  </a:rPr>
                  <a:t>feedback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control:</a:t>
                </a:r>
                <a:r>
                  <a:rPr lang="en-US" sz="1200" spc="130" dirty="0">
                    <a:latin typeface="Arial"/>
                    <a:cs typeface="Arial"/>
                  </a:rPr>
                  <a:t> </a:t>
                </a:r>
                <a:r>
                  <a:rPr lang="en-US" sz="1200" spc="-30" dirty="0">
                    <a:latin typeface="Arial"/>
                    <a:cs typeface="Arial"/>
                  </a:rPr>
                  <a:t>arbitrary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latin typeface="Arial"/>
                    <a:cs typeface="Arial"/>
                  </a:rPr>
                  <a:t>eigenvalue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latin typeface="Arial"/>
                    <a:cs typeface="Arial"/>
                  </a:rPr>
                  <a:t>assignment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if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spc="-60" dirty="0">
                    <a:latin typeface="Arial"/>
                    <a:cs typeface="Arial"/>
                  </a:rPr>
                  <a:t>system </a:t>
                </a:r>
                <a:r>
                  <a:rPr lang="en-US" sz="1200" spc="-10" dirty="0">
                    <a:latin typeface="Arial"/>
                    <a:cs typeface="Arial"/>
                  </a:rPr>
                  <a:t>controllable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22580" marR="296545" indent="-193040">
                  <a:lnSpc>
                    <a:spcPct val="100000"/>
                  </a:lnSpc>
                  <a:spcBef>
                    <a:spcPts val="60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9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observer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spc="-55" dirty="0">
                    <a:latin typeface="Arial"/>
                    <a:cs typeface="Arial"/>
                  </a:rPr>
                  <a:t>design:</a:t>
                </a:r>
                <a:r>
                  <a:rPr lang="en-US" sz="1200" spc="135" dirty="0">
                    <a:latin typeface="Arial"/>
                    <a:cs typeface="Arial"/>
                  </a:rPr>
                  <a:t> </a:t>
                </a:r>
                <a:r>
                  <a:rPr lang="en-US" sz="1200" spc="-30" dirty="0">
                    <a:latin typeface="Arial"/>
                    <a:cs typeface="Arial"/>
                  </a:rPr>
                  <a:t>arbitrary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observer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latin typeface="Arial"/>
                    <a:cs typeface="Arial"/>
                  </a:rPr>
                  <a:t>eigenvalue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latin typeface="Arial"/>
                    <a:cs typeface="Arial"/>
                  </a:rPr>
                  <a:t>assignment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for state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35" dirty="0">
                    <a:latin typeface="Arial"/>
                    <a:cs typeface="Arial"/>
                  </a:rPr>
                  <a:t>estimation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if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system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observable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22580" marR="130810" indent="-193040">
                  <a:lnSpc>
                    <a:spcPct val="100000"/>
                  </a:lnSpc>
                  <a:spcBef>
                    <a:spcPts val="61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6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70" dirty="0">
                    <a:latin typeface="Arial"/>
                    <a:cs typeface="Arial"/>
                  </a:rPr>
                  <a:t>when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full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states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are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not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55" dirty="0">
                    <a:latin typeface="Arial"/>
                    <a:cs typeface="Arial"/>
                  </a:rPr>
                  <a:t>available,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what’s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the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performance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if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70" dirty="0">
                    <a:latin typeface="Arial"/>
                    <a:cs typeface="Arial"/>
                  </a:rPr>
                  <a:t>we </a:t>
                </a:r>
                <a:r>
                  <a:rPr lang="en-US" sz="1200" spc="-60" dirty="0">
                    <a:latin typeface="Arial"/>
                    <a:cs typeface="Arial"/>
                  </a:rPr>
                  <a:t>combine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both?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57175" algn="ctr">
                  <a:lnSpc>
                    <a:spcPct val="100000"/>
                  </a:lnSpc>
                  <a:spcBef>
                    <a:spcPts val="5"/>
                  </a:spcBef>
                </a:pPr>
                <a:r>
                  <a:rPr lang="en-US" sz="1200" i="1" dirty="0">
                    <a:latin typeface="Arial"/>
                    <a:cs typeface="Arial"/>
                  </a:rPr>
                  <a:t>u</a:t>
                </a:r>
                <a:r>
                  <a:rPr lang="en-US" sz="1200" i="1" spc="2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i="1" spc="100" dirty="0">
                    <a:latin typeface="Menlo"/>
                    <a:cs typeface="Menlo"/>
                  </a:rPr>
                  <a:t>−</a:t>
                </a:r>
                <a:r>
                  <a:rPr lang="en-US" sz="1200" i="1" spc="100" dirty="0">
                    <a:latin typeface="Arial"/>
                    <a:cs typeface="Arial"/>
                  </a:rPr>
                  <a:t>K</a:t>
                </a:r>
                <a:r>
                  <a:rPr lang="en-US" sz="1200" i="1" spc="-190" dirty="0"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i="1" spc="-60" dirty="0">
                    <a:latin typeface="Arial"/>
                    <a:cs typeface="Arial"/>
                  </a:rPr>
                  <a:t>v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28" y="608924"/>
                <a:ext cx="4385310" cy="2430537"/>
              </a:xfrm>
              <a:prstGeom prst="rect">
                <a:avLst/>
              </a:prstGeom>
              <a:blipFill>
                <a:blip r:embed="rId2"/>
                <a:stretch>
                  <a:fillRect l="-1528" t="-1754" b="-1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24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5" dirty="0"/>
              <a:t>Closed-</a:t>
            </a:r>
            <a:r>
              <a:rPr spc="-85" dirty="0"/>
              <a:t>loop</a:t>
            </a:r>
            <a:r>
              <a:rPr spc="40" dirty="0"/>
              <a:t> </a:t>
            </a:r>
            <a:r>
              <a:rPr spc="-120" dirty="0"/>
              <a:t>dynamics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215442" y="365011"/>
                <a:ext cx="4059721" cy="1068626"/>
              </a:xfrm>
              <a:prstGeom prst="rect">
                <a:avLst/>
              </a:prstGeom>
            </p:spPr>
            <p:txBody>
              <a:bodyPr vert="horz" wrap="square" lIns="0" tIns="11176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88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4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full</a:t>
                </a:r>
                <a:r>
                  <a:rPr lang="en-US" sz="1200" spc="40" dirty="0"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latin typeface="Arial"/>
                    <a:cs typeface="Arial"/>
                  </a:rPr>
                  <a:t>closed-</a:t>
                </a:r>
                <a:r>
                  <a:rPr lang="en-US" sz="1200" spc="-40" dirty="0">
                    <a:latin typeface="Arial"/>
                    <a:cs typeface="Arial"/>
                  </a:rPr>
                  <a:t>loop</a:t>
                </a:r>
                <a:r>
                  <a:rPr lang="en-US" sz="1200" spc="4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system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387475" marR="906144" indent="1905">
                  <a:lnSpc>
                    <a:spcPct val="121100"/>
                  </a:lnSpc>
                  <a:spcBef>
                    <a:spcPts val="47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24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245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 =</a:t>
                </a:r>
                <a:r>
                  <a:rPr lang="en-US" sz="1200" spc="-5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Ax</a:t>
                </a:r>
                <a:r>
                  <a:rPr lang="en-US" sz="1200" i="1" spc="2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i="1" spc="-50" dirty="0">
                    <a:latin typeface="Arial"/>
                    <a:cs typeface="Arial"/>
                  </a:rPr>
                  <a:t>Bu 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Cx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390015">
                  <a:lnSpc>
                    <a:spcPct val="100000"/>
                  </a:lnSpc>
                  <a:spcBef>
                    <a:spcPts val="5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200" b="0" i="1" spc="-58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en-US" sz="1200" b="0" i="1" spc="-585" dirty="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200" b="0" i="1" spc="-585" dirty="0" smtClean="0"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  =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i="1" spc="35" dirty="0">
                    <a:latin typeface="Arial"/>
                    <a:cs typeface="Arial"/>
                  </a:rPr>
                  <a:t>A</a:t>
                </a:r>
                <a:r>
                  <a:rPr lang="en-US" sz="1200" i="1" spc="-475" dirty="0">
                    <a:latin typeface="Arial"/>
                    <a:cs typeface="Arial"/>
                  </a:rPr>
                  <a:t>x</a:t>
                </a:r>
                <a:r>
                  <a:rPr lang="en-US" sz="1200" spc="45" dirty="0"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latin typeface="Arial"/>
                    <a:cs typeface="Arial"/>
                  </a:rPr>
                  <a:t>Bu</a:t>
                </a:r>
                <a:r>
                  <a:rPr lang="en-US" sz="1200" i="1" spc="-1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latin typeface="Arial"/>
                    <a:cs typeface="Arial"/>
                  </a:rPr>
                  <a:t>L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60" dirty="0"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latin typeface="Menlo"/>
                    <a:cs typeface="Menlo"/>
                  </a:rPr>
                  <a:t> </a:t>
                </a:r>
                <a:r>
                  <a:rPr lang="en-US" sz="1200" i="1" spc="-130" dirty="0">
                    <a:latin typeface="Arial"/>
                    <a:cs typeface="Arial"/>
                  </a:rPr>
                  <a:t>C</a:t>
                </a:r>
                <a:r>
                  <a:rPr lang="en-US" sz="1200" i="1" spc="-190" dirty="0">
                    <a:latin typeface="Arial"/>
                    <a:cs typeface="Arial"/>
                  </a:rPr>
                  <a:t> </a:t>
                </a:r>
                <a:r>
                  <a:rPr lang="en-US" sz="1200" i="1" spc="-370" dirty="0">
                    <a:latin typeface="Arial"/>
                    <a:cs typeface="Arial"/>
                  </a:rPr>
                  <a:t>x</a:t>
                </a:r>
                <a:r>
                  <a:rPr lang="en-US" sz="1200" spc="135" dirty="0">
                    <a:latin typeface="Arial"/>
                    <a:cs typeface="Arial"/>
                  </a:rPr>
                  <a:t>ˆ</a:t>
                </a:r>
                <a:r>
                  <a:rPr lang="en-US" sz="1200" spc="150" dirty="0">
                    <a:latin typeface="Arial"/>
                    <a:cs typeface="Arial"/>
                  </a:rPr>
                  <a:t>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38874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200" i="1" dirty="0">
                    <a:latin typeface="Arial"/>
                    <a:cs typeface="Arial"/>
                  </a:rPr>
                  <a:t>u</a:t>
                </a:r>
                <a:r>
                  <a:rPr lang="en-US" sz="1200" i="1" spc="2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i="1" spc="100" dirty="0">
                    <a:latin typeface="Menlo"/>
                    <a:cs typeface="Menlo"/>
                  </a:rPr>
                  <a:t>−</a:t>
                </a:r>
                <a:r>
                  <a:rPr lang="en-US" sz="1200" i="1" spc="100" dirty="0">
                    <a:latin typeface="Arial"/>
                    <a:cs typeface="Arial"/>
                  </a:rPr>
                  <a:t>K</a:t>
                </a:r>
                <a:r>
                  <a:rPr lang="en-US" sz="1200" i="1" spc="-190" dirty="0"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latin typeface="Arial"/>
                    <a:cs typeface="Arial"/>
                  </a:rPr>
                  <a:t> </a:t>
                </a:r>
                <a:r>
                  <a:rPr lang="en-US" sz="1200" i="1" spc="-60" dirty="0">
                    <a:latin typeface="Arial"/>
                    <a:cs typeface="Arial"/>
                  </a:rPr>
                  <a:t>v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365011"/>
                <a:ext cx="4059721" cy="1068626"/>
              </a:xfrm>
              <a:prstGeom prst="rect">
                <a:avLst/>
              </a:prstGeom>
              <a:blipFill>
                <a:blip r:embed="rId2"/>
                <a:stretch>
                  <a:fillRect l="-1246" b="-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 txBox="1"/>
          <p:nvPr/>
        </p:nvSpPr>
        <p:spPr>
          <a:xfrm>
            <a:off x="524535" y="1951632"/>
            <a:ext cx="1771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409" dirty="0">
                <a:latin typeface="Menlo"/>
                <a:cs typeface="Menlo"/>
              </a:rPr>
              <a:t>⇒</a:t>
            </a:r>
            <a:endParaRPr sz="1200">
              <a:latin typeface="Menlo"/>
              <a:cs typeface="Menl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0842" y="2393566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260" y="2409378"/>
            <a:ext cx="19481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5" dirty="0">
                <a:latin typeface="Arial"/>
                <a:cs typeface="Arial"/>
              </a:rPr>
              <a:t>using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again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similarity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transform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4296" y="2413705"/>
            <a:ext cx="3263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latin typeface="Arial"/>
                <a:cs typeface="Arial"/>
              </a:rPr>
              <a:t>gives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25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3551194-ADBB-1384-569E-D90AE72A7E48}"/>
                  </a:ext>
                </a:extLst>
              </p:cNvPr>
              <p:cNvSpPr txBox="1"/>
              <p:nvPr/>
            </p:nvSpPr>
            <p:spPr>
              <a:xfrm>
                <a:off x="767994" y="1860945"/>
                <a:ext cx="2676758" cy="35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3551194-ADBB-1384-569E-D90AE72A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94" y="1860945"/>
                <a:ext cx="2676758" cy="355547"/>
              </a:xfrm>
              <a:prstGeom prst="rect">
                <a:avLst/>
              </a:prstGeom>
              <a:blipFill>
                <a:blip r:embed="rId4"/>
                <a:stretch>
                  <a:fillRect l="-911" t="-3390" b="-135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A2BF39E-0318-67A9-FC1E-C13035FA1848}"/>
                  </a:ext>
                </a:extLst>
              </p:cNvPr>
              <p:cNvSpPr txBox="1"/>
              <p:nvPr/>
            </p:nvSpPr>
            <p:spPr>
              <a:xfrm>
                <a:off x="2430348" y="2339975"/>
                <a:ext cx="1315040" cy="342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A2BF39E-0318-67A9-FC1E-C13035FA1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348" y="2339975"/>
                <a:ext cx="1315040" cy="342914"/>
              </a:xfrm>
              <a:prstGeom prst="rect">
                <a:avLst/>
              </a:prstGeom>
              <a:blipFill>
                <a:blip r:embed="rId5"/>
                <a:stretch>
                  <a:fillRect t="-1786" r="-13953"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6AFDB8D-15C8-1212-78A5-74AA9B1A11AE}"/>
                  </a:ext>
                </a:extLst>
              </p:cNvPr>
              <p:cNvSpPr txBox="1"/>
              <p:nvPr/>
            </p:nvSpPr>
            <p:spPr>
              <a:xfrm>
                <a:off x="1009650" y="2768577"/>
                <a:ext cx="2596160" cy="35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6AFDB8D-15C8-1212-78A5-74AA9B1A1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2768577"/>
                <a:ext cx="2596160" cy="355547"/>
              </a:xfrm>
              <a:prstGeom prst="rect">
                <a:avLst/>
              </a:prstGeom>
              <a:blipFill>
                <a:blip r:embed="rId6"/>
                <a:stretch>
                  <a:fillRect l="-939" t="-3448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/>
              <p:nvPr/>
            </p:nvSpPr>
            <p:spPr>
              <a:xfrm>
                <a:off x="82600" y="60916"/>
                <a:ext cx="3056255" cy="824649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120"/>
                  </a:spcBef>
                </a:pPr>
                <a:r>
                  <a:rPr sz="1700" spc="-55" dirty="0">
                    <a:solidFill>
                      <a:srgbClr val="191919"/>
                    </a:solidFill>
                    <a:latin typeface="Arial"/>
                    <a:cs typeface="Arial"/>
                  </a:rPr>
                  <a:t>Block</a:t>
                </a:r>
                <a:r>
                  <a:rPr sz="1700" spc="-30" dirty="0">
                    <a:solidFill>
                      <a:srgbClr val="191919"/>
                    </a:solidFill>
                    <a:latin typeface="Arial"/>
                    <a:cs typeface="Arial"/>
                  </a:rPr>
                  <a:t> </a:t>
                </a:r>
                <a:r>
                  <a:rPr sz="1700" spc="-10" dirty="0">
                    <a:solidFill>
                      <a:srgbClr val="191919"/>
                    </a:solidFill>
                    <a:latin typeface="Arial"/>
                    <a:cs typeface="Arial"/>
                  </a:rPr>
                  <a:t>diagram</a:t>
                </a:r>
                <a:endParaRPr sz="17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715"/>
                  </a:spcBef>
                </a:pPr>
                <a:endParaRPr sz="1700" dirty="0">
                  <a:latin typeface="Arial"/>
                  <a:cs typeface="Arial"/>
                </a:endParaRPr>
              </a:p>
              <a:p>
                <a:pPr marL="170815">
                  <a:lnSpc>
                    <a:spcPct val="100000"/>
                  </a:lnSpc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58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en-US" altLang="zh-CN" sz="1200" b="0" i="1" spc="-585" dirty="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altLang="zh-CN" sz="1200" b="0" i="1" spc="-585" dirty="0" smtClean="0"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sz="1200" spc="200" dirty="0">
                    <a:latin typeface="Arial"/>
                    <a:cs typeface="Arial"/>
                  </a:rPr>
                  <a:t>  </a:t>
                </a:r>
                <a:r>
                  <a:rPr sz="1200" spc="200" dirty="0">
                    <a:latin typeface="Arial"/>
                    <a:cs typeface="Arial"/>
                  </a:rPr>
                  <a:t>=</a:t>
                </a:r>
                <a:r>
                  <a:rPr sz="1200" spc="-10" dirty="0">
                    <a:latin typeface="Arial"/>
                    <a:cs typeface="Arial"/>
                  </a:rPr>
                  <a:t> </a:t>
                </a:r>
                <a:r>
                  <a:rPr sz="1200" i="1" spc="40" dirty="0">
                    <a:latin typeface="Arial"/>
                    <a:cs typeface="Arial"/>
                  </a:rPr>
                  <a:t>A</a:t>
                </a:r>
                <a:r>
                  <a:rPr sz="1200" i="1" spc="-480" dirty="0">
                    <a:latin typeface="Arial"/>
                    <a:cs typeface="Arial"/>
                  </a:rPr>
                  <a:t>x</a:t>
                </a:r>
                <a:r>
                  <a:rPr sz="1200" spc="40" dirty="0">
                    <a:latin typeface="Arial"/>
                    <a:cs typeface="Arial"/>
                  </a:rPr>
                  <a:t>ˆ</a:t>
                </a:r>
                <a:r>
                  <a:rPr sz="1200" spc="-85" dirty="0">
                    <a:latin typeface="Arial"/>
                    <a:cs typeface="Arial"/>
                  </a:rPr>
                  <a:t> </a:t>
                </a:r>
                <a:r>
                  <a:rPr sz="1200" spc="200" dirty="0">
                    <a:latin typeface="Arial"/>
                    <a:cs typeface="Arial"/>
                  </a:rPr>
                  <a:t>+</a:t>
                </a:r>
                <a:r>
                  <a:rPr sz="1200" spc="-75" dirty="0">
                    <a:latin typeface="Arial"/>
                    <a:cs typeface="Arial"/>
                  </a:rPr>
                  <a:t> </a:t>
                </a:r>
                <a:r>
                  <a:rPr sz="1200" i="1" spc="-20" dirty="0">
                    <a:latin typeface="Arial"/>
                    <a:cs typeface="Arial"/>
                  </a:rPr>
                  <a:t>Bu </a:t>
                </a:r>
                <a:r>
                  <a:rPr sz="1200" spc="200" dirty="0">
                    <a:latin typeface="Arial"/>
                    <a:cs typeface="Arial"/>
                  </a:rPr>
                  <a:t>+</a:t>
                </a:r>
                <a:r>
                  <a:rPr sz="1200" spc="-75" dirty="0">
                    <a:latin typeface="Arial"/>
                    <a:cs typeface="Arial"/>
                  </a:rPr>
                  <a:t> </a:t>
                </a:r>
                <a:r>
                  <a:rPr sz="1200" i="1" spc="-40" dirty="0">
                    <a:latin typeface="Arial"/>
                    <a:cs typeface="Arial"/>
                  </a:rPr>
                  <a:t>L</a:t>
                </a:r>
                <a:r>
                  <a:rPr sz="1200" i="1" spc="-135" dirty="0">
                    <a:latin typeface="Arial"/>
                    <a:cs typeface="Arial"/>
                  </a:rPr>
                  <a:t> </a:t>
                </a:r>
                <a:r>
                  <a:rPr sz="1200" dirty="0">
                    <a:latin typeface="Arial"/>
                    <a:cs typeface="Arial"/>
                  </a:rPr>
                  <a:t>(</a:t>
                </a:r>
                <a:r>
                  <a:rPr sz="1200" i="1" dirty="0">
                    <a:latin typeface="Arial"/>
                    <a:cs typeface="Arial"/>
                  </a:rPr>
                  <a:t>y</a:t>
                </a:r>
                <a:r>
                  <a:rPr sz="1200" i="1" spc="50" dirty="0">
                    <a:latin typeface="Arial"/>
                    <a:cs typeface="Arial"/>
                  </a:rPr>
                  <a:t> </a:t>
                </a:r>
                <a:r>
                  <a:rPr sz="1200" i="1" spc="200" dirty="0">
                    <a:latin typeface="Menlo"/>
                    <a:cs typeface="Menlo"/>
                  </a:rPr>
                  <a:t>−</a:t>
                </a:r>
                <a:r>
                  <a:rPr sz="1200" i="1" spc="-459" dirty="0">
                    <a:latin typeface="Menlo"/>
                    <a:cs typeface="Menlo"/>
                  </a:rPr>
                  <a:t> </a:t>
                </a:r>
                <a:r>
                  <a:rPr sz="1200" i="1" spc="-130" dirty="0">
                    <a:latin typeface="Arial"/>
                    <a:cs typeface="Arial"/>
                  </a:rPr>
                  <a:t>C</a:t>
                </a:r>
                <a:r>
                  <a:rPr sz="1200" i="1" spc="-190" dirty="0">
                    <a:latin typeface="Arial"/>
                    <a:cs typeface="Arial"/>
                  </a:rPr>
                  <a:t> </a:t>
                </a:r>
                <a:r>
                  <a:rPr sz="1200" i="1" spc="-450" dirty="0">
                    <a:latin typeface="Arial"/>
                    <a:cs typeface="Arial"/>
                  </a:rPr>
                  <a:t>x</a:t>
                </a:r>
                <a:r>
                  <a:rPr sz="1200" spc="55" dirty="0">
                    <a:latin typeface="Arial"/>
                    <a:cs typeface="Arial"/>
                  </a:rPr>
                  <a:t>ˆ</a:t>
                </a:r>
                <a:r>
                  <a:rPr sz="1200" spc="70" dirty="0">
                    <a:latin typeface="Arial"/>
                    <a:cs typeface="Arial"/>
                  </a:rPr>
                  <a:t>),</a:t>
                </a:r>
                <a:r>
                  <a:rPr sz="1200" spc="50" dirty="0">
                    <a:latin typeface="Arial"/>
                    <a:cs typeface="Arial"/>
                  </a:rPr>
                  <a:t> </a:t>
                </a:r>
                <a:r>
                  <a:rPr sz="1200" i="1" dirty="0">
                    <a:latin typeface="Arial"/>
                    <a:cs typeface="Arial"/>
                  </a:rPr>
                  <a:t>u</a:t>
                </a:r>
                <a:r>
                  <a:rPr sz="1200" i="1" spc="40" dirty="0">
                    <a:latin typeface="Arial"/>
                    <a:cs typeface="Arial"/>
                  </a:rPr>
                  <a:t> </a:t>
                </a:r>
                <a:r>
                  <a:rPr sz="1200" spc="200" dirty="0">
                    <a:latin typeface="Arial"/>
                    <a:cs typeface="Arial"/>
                  </a:rPr>
                  <a:t>=</a:t>
                </a:r>
                <a:r>
                  <a:rPr sz="1200" spc="-10" dirty="0">
                    <a:latin typeface="Arial"/>
                    <a:cs typeface="Arial"/>
                  </a:rPr>
                  <a:t> </a:t>
                </a:r>
                <a:r>
                  <a:rPr sz="1200" i="1" spc="100" dirty="0">
                    <a:latin typeface="Menlo"/>
                    <a:cs typeface="Menlo"/>
                  </a:rPr>
                  <a:t>−</a:t>
                </a:r>
                <a:r>
                  <a:rPr sz="1200" i="1" spc="100" dirty="0">
                    <a:latin typeface="Arial"/>
                    <a:cs typeface="Arial"/>
                  </a:rPr>
                  <a:t>K</a:t>
                </a:r>
                <a:r>
                  <a:rPr sz="1200" i="1" spc="-190" dirty="0">
                    <a:latin typeface="Arial"/>
                    <a:cs typeface="Arial"/>
                  </a:rPr>
                  <a:t> </a:t>
                </a:r>
                <a:r>
                  <a:rPr sz="1200" i="1" spc="-440" dirty="0">
                    <a:latin typeface="Arial"/>
                    <a:cs typeface="Arial"/>
                  </a:rPr>
                  <a:t>x</a:t>
                </a:r>
                <a:r>
                  <a:rPr sz="1200" spc="80" dirty="0">
                    <a:latin typeface="Arial"/>
                    <a:cs typeface="Arial"/>
                  </a:rPr>
                  <a:t>ˆ</a:t>
                </a:r>
                <a:r>
                  <a:rPr sz="1200" spc="-85" dirty="0">
                    <a:latin typeface="Arial"/>
                    <a:cs typeface="Arial"/>
                  </a:rPr>
                  <a:t> </a:t>
                </a:r>
                <a:r>
                  <a:rPr sz="1200" spc="200" dirty="0">
                    <a:latin typeface="Arial"/>
                    <a:cs typeface="Arial"/>
                  </a:rPr>
                  <a:t>+</a:t>
                </a:r>
                <a:r>
                  <a:rPr sz="1200" spc="-75" dirty="0">
                    <a:latin typeface="Arial"/>
                    <a:cs typeface="Arial"/>
                  </a:rPr>
                  <a:t> </a:t>
                </a:r>
                <a:r>
                  <a:rPr sz="1200" i="1" spc="-50" dirty="0">
                    <a:latin typeface="Arial"/>
                    <a:cs typeface="Arial"/>
                  </a:rPr>
                  <a:t>v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0" y="60916"/>
                <a:ext cx="3056255" cy="824649"/>
              </a:xfrm>
              <a:prstGeom prst="rect">
                <a:avLst/>
              </a:prstGeom>
              <a:blipFill>
                <a:blip r:embed="rId2"/>
                <a:stretch>
                  <a:fillRect l="-3593" t="-6667" r="-1198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771" y="1003945"/>
            <a:ext cx="2916681" cy="189483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26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0" dirty="0"/>
              <a:t>The</a:t>
            </a:r>
            <a:r>
              <a:rPr spc="-5" dirty="0"/>
              <a:t> </a:t>
            </a:r>
            <a:r>
              <a:rPr spc="-120" dirty="0"/>
              <a:t>separation</a:t>
            </a:r>
            <a:r>
              <a:rPr dirty="0"/>
              <a:t> </a:t>
            </a:r>
            <a:r>
              <a:rPr spc="-100"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521802"/>
            <a:ext cx="18610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5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40" dirty="0">
                <a:latin typeface="Arial"/>
                <a:cs typeface="Arial"/>
              </a:rPr>
              <a:t>loop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dynamics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5442" y="1357894"/>
            <a:ext cx="4337851" cy="185673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30504" marR="698500" indent="-193040">
              <a:lnSpc>
                <a:spcPts val="1350"/>
              </a:lnSpc>
              <a:spcBef>
                <a:spcPts val="21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0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1" spc="-30" dirty="0">
                <a:latin typeface="Arial"/>
                <a:cs typeface="Arial"/>
              </a:rPr>
              <a:t>powerful</a:t>
            </a:r>
            <a:r>
              <a:rPr sz="1200" b="1" spc="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result:</a:t>
            </a:r>
            <a:r>
              <a:rPr sz="1200" b="1" spc="8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separation</a:t>
            </a:r>
            <a:r>
              <a:rPr sz="1200" b="1" spc="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theorem:</a:t>
            </a:r>
            <a:r>
              <a:rPr sz="1200" b="1" spc="8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25" dirty="0">
                <a:latin typeface="Arial"/>
                <a:cs typeface="Arial"/>
              </a:rPr>
              <a:t>loop </a:t>
            </a:r>
            <a:r>
              <a:rPr sz="1200" spc="-90" dirty="0">
                <a:latin typeface="Arial"/>
                <a:cs typeface="Arial"/>
              </a:rPr>
              <a:t>eigenvalues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consist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of</a:t>
            </a:r>
            <a:endParaRPr sz="1200" dirty="0">
              <a:latin typeface="Arial"/>
              <a:cs typeface="Arial"/>
            </a:endParaRPr>
          </a:p>
          <a:p>
            <a:pPr marL="345440">
              <a:lnSpc>
                <a:spcPct val="100000"/>
              </a:lnSpc>
              <a:spcBef>
                <a:spcPts val="190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47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90" dirty="0">
                <a:latin typeface="Arial"/>
                <a:cs typeface="Arial"/>
              </a:rPr>
              <a:t>eigenvalues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20" dirty="0">
                <a:latin typeface="Menlo"/>
                <a:cs typeface="Menlo"/>
              </a:rPr>
              <a:t> </a:t>
            </a:r>
            <a:r>
              <a:rPr sz="1100" i="1" dirty="0">
                <a:latin typeface="Arial"/>
                <a:cs typeface="Arial"/>
              </a:rPr>
              <a:t>BK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state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feedback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control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design</a:t>
            </a:r>
            <a:endParaRPr sz="1100" dirty="0">
              <a:latin typeface="Arial"/>
              <a:cs typeface="Arial"/>
            </a:endParaRPr>
          </a:p>
          <a:p>
            <a:pPr marL="345440">
              <a:lnSpc>
                <a:spcPct val="100000"/>
              </a:lnSpc>
              <a:spcBef>
                <a:spcPts val="3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47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90" dirty="0">
                <a:latin typeface="Arial"/>
                <a:cs typeface="Arial"/>
              </a:rPr>
              <a:t>eigenvalues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175" dirty="0">
                <a:latin typeface="Menlo"/>
                <a:cs typeface="Menlo"/>
              </a:rPr>
              <a:t>−</a:t>
            </a:r>
            <a:r>
              <a:rPr sz="1100" i="1" spc="-420" dirty="0">
                <a:latin typeface="Menlo"/>
                <a:cs typeface="Menlo"/>
              </a:rPr>
              <a:t> </a:t>
            </a:r>
            <a:r>
              <a:rPr sz="1100" i="1" dirty="0">
                <a:latin typeface="Arial"/>
                <a:cs typeface="Arial"/>
              </a:rPr>
              <a:t>LC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observer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design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 </a:t>
            </a:r>
            <a:r>
              <a:rPr sz="1200" spc="-65" dirty="0">
                <a:latin typeface="Arial"/>
                <a:cs typeface="Arial"/>
              </a:rPr>
              <a:t>can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design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1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L</a:t>
            </a:r>
            <a:r>
              <a:rPr sz="1200" i="1" spc="2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separately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based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on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discussed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tools</a:t>
            </a:r>
            <a:endParaRPr sz="1200" dirty="0">
              <a:latin typeface="Arial"/>
              <a:cs typeface="Arial"/>
            </a:endParaRPr>
          </a:p>
          <a:p>
            <a:pPr marL="230504" marR="30480" indent="-193040">
              <a:lnSpc>
                <a:spcPct val="100000"/>
              </a:lnSpc>
              <a:spcBef>
                <a:spcPts val="6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5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system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controllable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observable,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we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can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arbitrarily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assign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40" dirty="0">
                <a:latin typeface="Arial"/>
                <a:cs typeface="Arial"/>
              </a:rPr>
              <a:t>loop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eigenvalues</a:t>
            </a:r>
            <a:endParaRPr sz="1200" dirty="0">
              <a:latin typeface="Arial"/>
              <a:cs typeface="Arial"/>
            </a:endParaRPr>
          </a:p>
          <a:p>
            <a:pPr marL="230504" marR="428625" indent="-193040">
              <a:lnSpc>
                <a:spcPct val="100000"/>
              </a:lnSpc>
              <a:spcBef>
                <a:spcPts val="6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5" dirty="0">
                <a:latin typeface="Arial"/>
                <a:cs typeface="Arial"/>
              </a:rPr>
              <a:t>rule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thumb: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assign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observer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dynamics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be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faster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than </a:t>
            </a:r>
            <a:r>
              <a:rPr sz="1200" spc="-55" dirty="0">
                <a:latin typeface="Arial"/>
                <a:cs typeface="Arial"/>
              </a:rPr>
              <a:t>state-</a:t>
            </a:r>
            <a:r>
              <a:rPr sz="1200" spc="-65" dirty="0">
                <a:latin typeface="Arial"/>
                <a:cs typeface="Arial"/>
              </a:rPr>
              <a:t>feedback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dynamics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62EC337-5010-24C9-ABCC-B58DFDE78ED0}"/>
                  </a:ext>
                </a:extLst>
              </p:cNvPr>
              <p:cNvSpPr txBox="1"/>
              <p:nvPr/>
            </p:nvSpPr>
            <p:spPr>
              <a:xfrm>
                <a:off x="1005979" y="785684"/>
                <a:ext cx="2596160" cy="35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62EC337-5010-24C9-ABCC-B58DFDE78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79" y="785684"/>
                <a:ext cx="2596160" cy="355547"/>
              </a:xfrm>
              <a:prstGeom prst="rect">
                <a:avLst/>
              </a:prstGeom>
              <a:blipFill>
                <a:blip r:embed="rId3"/>
                <a:stretch>
                  <a:fillRect l="-704" t="-3448" r="-235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</TotalTime>
  <Words>2824</Words>
  <Application>Microsoft Macintosh PowerPoint</Application>
  <PresentationFormat>Custom</PresentationFormat>
  <Paragraphs>316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 Unicode MS</vt:lpstr>
      <vt:lpstr>Arial</vt:lpstr>
      <vt:lpstr>Cambria Math</vt:lpstr>
      <vt:lpstr>Hack</vt:lpstr>
      <vt:lpstr>Menlo</vt:lpstr>
      <vt:lpstr>Times New Roman</vt:lpstr>
      <vt:lpstr>Office Theme</vt:lpstr>
      <vt:lpstr>Observer and Observer State Feedback</vt:lpstr>
      <vt:lpstr>Introduction</vt:lpstr>
      <vt:lpstr>Open-loop observer</vt:lpstr>
      <vt:lpstr>Luenberger (closed-loop) observer concept</vt:lpstr>
      <vt:lpstr>Luenberger (closed-loop) observer algorithm</vt:lpstr>
      <vt:lpstr>Luenberger (closed-loop) observer error dynamics</vt:lpstr>
      <vt:lpstr>Luenberger (closed-loop) observer</vt:lpstr>
      <vt:lpstr>Observer eigenvalue placement: o.c.f.</vt:lpstr>
      <vt:lpstr>Observer eigenvalue placement: o.c.f.</vt:lpstr>
      <vt:lpstr>Observer eigenvalue placement: o.c.f.</vt:lpstr>
      <vt:lpstr>General observer eigenvalue placement</vt:lpstr>
      <vt:lpstr>General observer eigenvalue placement</vt:lpstr>
      <vt:lpstr>PowerPoint Presentation</vt:lpstr>
      <vt:lpstr>PowerPoint Presentation</vt:lpstr>
      <vt:lpstr>PowerPoint Presentation</vt:lpstr>
      <vt:lpstr>Luenberger observer summary</vt:lpstr>
      <vt:lpstr>Luenberger observer summary</vt:lpstr>
      <vt:lpstr>Discrete-time observers: Introduction</vt:lpstr>
      <vt:lpstr>Discrete-time full state observer</vt:lpstr>
      <vt:lpstr>DT full state observer with predictor</vt:lpstr>
      <vt:lpstr>DT full state observer with predictor</vt:lpstr>
      <vt:lpstr>Example</vt:lpstr>
      <vt:lpstr>1. Concepts</vt:lpstr>
      <vt:lpstr>Observer state feedback</vt:lpstr>
      <vt:lpstr>Closed-loop dynamics</vt:lpstr>
      <vt:lpstr>PowerPoint Presentation</vt:lpstr>
      <vt:lpstr>The separation theorem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Xu Chen</cp:lastModifiedBy>
  <cp:revision>2</cp:revision>
  <dcterms:created xsi:type="dcterms:W3CDTF">2025-07-12T07:58:44Z</dcterms:created>
  <dcterms:modified xsi:type="dcterms:W3CDTF">2025-11-24T07:44:04Z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2025-07-12T00:00:00Z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