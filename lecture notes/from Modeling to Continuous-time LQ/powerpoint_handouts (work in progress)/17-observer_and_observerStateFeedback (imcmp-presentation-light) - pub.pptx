
<file path=[Content_Types].xml><?xml version="1.0" encoding="utf-8"?>
<Types xmlns="http://schemas.openxmlformats.org/package/2006/content-types"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2"/>
    <p:sldId id="258" r:id="rId3"/>
    <p:sldId id="262" r:id="rId4"/>
    <p:sldId id="264" r:id="rId5"/>
    <p:sldId id="266" r:id="rId6"/>
    <p:sldId id="270" r:id="rId7"/>
    <p:sldId id="274" r:id="rId8"/>
    <p:sldId id="276" r:id="rId9"/>
    <p:sldId id="278" r:id="rId10"/>
    <p:sldId id="281" r:id="rId11"/>
    <p:sldId id="286" r:id="rId12"/>
    <p:sldId id="287" r:id="rId13"/>
    <p:sldId id="288" r:id="rId14"/>
    <p:sldId id="289" r:id="rId15"/>
    <p:sldId id="290" r:id="rId16"/>
    <p:sldId id="292" r:id="rId17"/>
    <p:sldId id="295" r:id="rId18"/>
    <p:sldId id="297" r:id="rId19"/>
    <p:sldId id="301" r:id="rId20"/>
    <p:sldId id="304" r:id="rId21"/>
    <p:sldId id="307" r:id="rId22"/>
    <p:sldId id="308" r:id="rId23"/>
    <p:sldId id="309" r:id="rId24"/>
    <p:sldId id="312" r:id="rId25"/>
    <p:sldId id="315" r:id="rId26"/>
    <p:sldId id="316" r:id="rId27"/>
    <p:sldId id="320" r:id="rId28"/>
  </p:sldIdLst>
  <p:sldSz cx="4610100" cy="3460750"/>
  <p:notesSz cx="4610100" cy="3460750"/>
  <p:defaultTextStyle>
    <a:defPPr>
      <a:defRPr kern="0"/>
    </a:def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F726EDC5-4FC6-4BC7-A614-26FCB73D2EC2}" v="1792" dt="2025-11-22T05:56:49.376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155" d="100"/>
          <a:sy n="155" d="100"/>
        </p:scale>
        <p:origin x="1190" y="46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microsoft.com/office/2015/10/relationships/revisionInfo" Target="revisionInfo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microsoft.com/office/2016/11/relationships/changesInfo" Target="changesInfos/changesInfo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tableStyles" Target="tableStyle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viewProps" Target="viewProps.xml"/><Relationship Id="rId8" Type="http://schemas.openxmlformats.org/officeDocument/2006/relationships/slide" Target="slides/slide7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Shuan Cheng" userId="b14087c0-bac9-44dd-b3f8-5d50e1ee75e5" providerId="ADAL" clId="{75A9BF88-81BC-4677-82BB-DF96F3D360A6}"/>
    <pc:docChg chg="undo redo custSel addSld delSld modSld">
      <pc:chgData name="Shuan Cheng" userId="b14087c0-bac9-44dd-b3f8-5d50e1ee75e5" providerId="ADAL" clId="{75A9BF88-81BC-4677-82BB-DF96F3D360A6}" dt="2025-11-22T05:56:51.496" v="2187" actId="114"/>
      <pc:docMkLst>
        <pc:docMk/>
      </pc:docMkLst>
      <pc:sldChg chg="modSp add del mod">
        <pc:chgData name="Shuan Cheng" userId="b14087c0-bac9-44dd-b3f8-5d50e1ee75e5" providerId="ADAL" clId="{75A9BF88-81BC-4677-82BB-DF96F3D360A6}" dt="2025-11-21T02:20:27.099" v="96" actId="14100"/>
        <pc:sldMkLst>
          <pc:docMk/>
          <pc:sldMk cId="0" sldId="262"/>
        </pc:sldMkLst>
        <pc:spChg chg="mod">
          <ac:chgData name="Shuan Cheng" userId="b14087c0-bac9-44dd-b3f8-5d50e1ee75e5" providerId="ADAL" clId="{75A9BF88-81BC-4677-82BB-DF96F3D360A6}" dt="2025-11-21T02:19:28.275" v="80" actId="1035"/>
          <ac:spMkLst>
            <pc:docMk/>
            <pc:sldMk cId="0" sldId="262"/>
            <ac:spMk id="10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1T02:20:27.099" v="96" actId="14100"/>
          <ac:spMkLst>
            <pc:docMk/>
            <pc:sldMk cId="0" sldId="262"/>
            <ac:spMk id="11" creationId="{00000000-0000-0000-0000-000000000000}"/>
          </ac:spMkLst>
        </pc:spChg>
      </pc:sldChg>
      <pc:sldChg chg="modSp add del mod">
        <pc:chgData name="Shuan Cheng" userId="b14087c0-bac9-44dd-b3f8-5d50e1ee75e5" providerId="ADAL" clId="{75A9BF88-81BC-4677-82BB-DF96F3D360A6}" dt="2025-11-22T05:56:20.755" v="2184" actId="114"/>
        <pc:sldMkLst>
          <pc:docMk/>
          <pc:sldMk cId="0" sldId="264"/>
        </pc:sldMkLst>
        <pc:spChg chg="mod">
          <ac:chgData name="Shuan Cheng" userId="b14087c0-bac9-44dd-b3f8-5d50e1ee75e5" providerId="ADAL" clId="{75A9BF88-81BC-4677-82BB-DF96F3D360A6}" dt="2025-11-22T05:56:20.755" v="2184" actId="114"/>
          <ac:spMkLst>
            <pc:docMk/>
            <pc:sldMk cId="0" sldId="264"/>
            <ac:spMk id="3" creationId="{00000000-0000-0000-0000-000000000000}"/>
          </ac:spMkLst>
        </pc:spChg>
      </pc:sldChg>
      <pc:sldChg chg="modSp add del mod">
        <pc:chgData name="Shuan Cheng" userId="b14087c0-bac9-44dd-b3f8-5d50e1ee75e5" providerId="ADAL" clId="{75A9BF88-81BC-4677-82BB-DF96F3D360A6}" dt="2025-11-21T02:24:20.885" v="187" actId="20577"/>
        <pc:sldMkLst>
          <pc:docMk/>
          <pc:sldMk cId="0" sldId="266"/>
        </pc:sldMkLst>
        <pc:spChg chg="mod">
          <ac:chgData name="Shuan Cheng" userId="b14087c0-bac9-44dd-b3f8-5d50e1ee75e5" providerId="ADAL" clId="{75A9BF88-81BC-4677-82BB-DF96F3D360A6}" dt="2025-11-21T02:24:20.885" v="187" actId="20577"/>
          <ac:spMkLst>
            <pc:docMk/>
            <pc:sldMk cId="0" sldId="266"/>
            <ac:spMk id="7" creationId="{00000000-0000-0000-0000-000000000000}"/>
          </ac:spMkLst>
        </pc:spChg>
      </pc:sldChg>
      <pc:sldChg chg="modSp add del mod">
        <pc:chgData name="Shuan Cheng" userId="b14087c0-bac9-44dd-b3f8-5d50e1ee75e5" providerId="ADAL" clId="{75A9BF88-81BC-4677-82BB-DF96F3D360A6}" dt="2025-11-22T05:56:51.496" v="2187" actId="114"/>
        <pc:sldMkLst>
          <pc:docMk/>
          <pc:sldMk cId="0" sldId="270"/>
        </pc:sldMkLst>
        <pc:spChg chg="mod">
          <ac:chgData name="Shuan Cheng" userId="b14087c0-bac9-44dd-b3f8-5d50e1ee75e5" providerId="ADAL" clId="{75A9BF88-81BC-4677-82BB-DF96F3D360A6}" dt="2025-11-22T05:56:51.496" v="2187" actId="114"/>
          <ac:spMkLst>
            <pc:docMk/>
            <pc:sldMk cId="0" sldId="270"/>
            <ac:spMk id="3" creationId="{00000000-0000-0000-0000-000000000000}"/>
          </ac:spMkLst>
        </pc:spChg>
      </pc:sldChg>
      <pc:sldChg chg="addSp delSp modSp add del mod">
        <pc:chgData name="Shuan Cheng" userId="b14087c0-bac9-44dd-b3f8-5d50e1ee75e5" providerId="ADAL" clId="{75A9BF88-81BC-4677-82BB-DF96F3D360A6}" dt="2025-11-21T02:32:17.212" v="466" actId="20577"/>
        <pc:sldMkLst>
          <pc:docMk/>
          <pc:sldMk cId="0" sldId="274"/>
        </pc:sldMkLst>
        <pc:spChg chg="del">
          <ac:chgData name="Shuan Cheng" userId="b14087c0-bac9-44dd-b3f8-5d50e1ee75e5" providerId="ADAL" clId="{75A9BF88-81BC-4677-82BB-DF96F3D360A6}" dt="2025-11-21T02:27:44.520" v="201" actId="478"/>
          <ac:spMkLst>
            <pc:docMk/>
            <pc:sldMk cId="0" sldId="274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27:44.520" v="201" actId="478"/>
          <ac:spMkLst>
            <pc:docMk/>
            <pc:sldMk cId="0" sldId="274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27:44.520" v="201" actId="478"/>
          <ac:spMkLst>
            <pc:docMk/>
            <pc:sldMk cId="0" sldId="274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27:44.520" v="201" actId="478"/>
          <ac:spMkLst>
            <pc:docMk/>
            <pc:sldMk cId="0" sldId="274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27:44.520" v="201" actId="478"/>
          <ac:spMkLst>
            <pc:docMk/>
            <pc:sldMk cId="0" sldId="274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27:44.520" v="201" actId="478"/>
          <ac:spMkLst>
            <pc:docMk/>
            <pc:sldMk cId="0" sldId="274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27:44.520" v="201" actId="478"/>
          <ac:spMkLst>
            <pc:docMk/>
            <pc:sldMk cId="0" sldId="274"/>
            <ac:spMk id="1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27:44.520" v="201" actId="478"/>
          <ac:spMkLst>
            <pc:docMk/>
            <pc:sldMk cId="0" sldId="274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27:44.520" v="201" actId="478"/>
          <ac:spMkLst>
            <pc:docMk/>
            <pc:sldMk cId="0" sldId="274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27:44.520" v="201" actId="478"/>
          <ac:spMkLst>
            <pc:docMk/>
            <pc:sldMk cId="0" sldId="274"/>
            <ac:spMk id="21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1T02:32:17.212" v="466" actId="20577"/>
          <ac:spMkLst>
            <pc:docMk/>
            <pc:sldMk cId="0" sldId="274"/>
            <ac:spMk id="26" creationId="{F228574C-2E93-7966-EA8E-A05CAF254E46}"/>
          </ac:spMkLst>
        </pc:spChg>
      </pc:sldChg>
      <pc:sldChg chg="delSp modSp add del mod">
        <pc:chgData name="Shuan Cheng" userId="b14087c0-bac9-44dd-b3f8-5d50e1ee75e5" providerId="ADAL" clId="{75A9BF88-81BC-4677-82BB-DF96F3D360A6}" dt="2025-11-21T02:37:39.102" v="489"/>
        <pc:sldMkLst>
          <pc:docMk/>
          <pc:sldMk cId="0" sldId="276"/>
        </pc:sldMkLst>
        <pc:spChg chg="del">
          <ac:chgData name="Shuan Cheng" userId="b14087c0-bac9-44dd-b3f8-5d50e1ee75e5" providerId="ADAL" clId="{75A9BF88-81BC-4677-82BB-DF96F3D360A6}" dt="2025-11-21T02:33:14.919" v="468" actId="478"/>
          <ac:spMkLst>
            <pc:docMk/>
            <pc:sldMk cId="0" sldId="276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3:14.919" v="468" actId="478"/>
          <ac:spMkLst>
            <pc:docMk/>
            <pc:sldMk cId="0" sldId="276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3:14.919" v="468" actId="478"/>
          <ac:spMkLst>
            <pc:docMk/>
            <pc:sldMk cId="0" sldId="276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3:14.919" v="468" actId="478"/>
          <ac:spMkLst>
            <pc:docMk/>
            <pc:sldMk cId="0" sldId="276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3:14.919" v="468" actId="478"/>
          <ac:spMkLst>
            <pc:docMk/>
            <pc:sldMk cId="0" sldId="276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3:14.919" v="468" actId="478"/>
          <ac:spMkLst>
            <pc:docMk/>
            <pc:sldMk cId="0" sldId="276"/>
            <ac:spMk id="8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1T02:37:39.102" v="489"/>
          <ac:spMkLst>
            <pc:docMk/>
            <pc:sldMk cId="0" sldId="276"/>
            <ac:spMk id="9" creationId="{00000000-0000-0000-0000-000000000000}"/>
          </ac:spMkLst>
        </pc:spChg>
      </pc:sldChg>
      <pc:sldChg chg="addSp delSp modSp add del mod">
        <pc:chgData name="Shuan Cheng" userId="b14087c0-bac9-44dd-b3f8-5d50e1ee75e5" providerId="ADAL" clId="{75A9BF88-81BC-4677-82BB-DF96F3D360A6}" dt="2025-11-21T02:45:36.252" v="618" actId="1076"/>
        <pc:sldMkLst>
          <pc:docMk/>
          <pc:sldMk cId="0" sldId="278"/>
        </pc:sldMkLst>
        <pc:spChg chg="del">
          <ac:chgData name="Shuan Cheng" userId="b14087c0-bac9-44dd-b3f8-5d50e1ee75e5" providerId="ADAL" clId="{75A9BF88-81BC-4677-82BB-DF96F3D360A6}" dt="2025-11-21T02:38:43.838" v="491" actId="478"/>
          <ac:spMkLst>
            <pc:docMk/>
            <pc:sldMk cId="0" sldId="278"/>
            <ac:spMk id="8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1T02:38:53.064" v="492" actId="20577"/>
          <ac:spMkLst>
            <pc:docMk/>
            <pc:sldMk cId="0" sldId="278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8:43.838" v="491" actId="478"/>
          <ac:spMkLst>
            <pc:docMk/>
            <pc:sldMk cId="0" sldId="278"/>
            <ac:spMk id="2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8:43.838" v="491" actId="478"/>
          <ac:spMkLst>
            <pc:docMk/>
            <pc:sldMk cId="0" sldId="278"/>
            <ac:spMk id="3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8:43.838" v="491" actId="478"/>
          <ac:spMkLst>
            <pc:docMk/>
            <pc:sldMk cId="0" sldId="278"/>
            <ac:spMk id="3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8:43.838" v="491" actId="478"/>
          <ac:spMkLst>
            <pc:docMk/>
            <pc:sldMk cId="0" sldId="278"/>
            <ac:spMk id="3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8:43.838" v="491" actId="478"/>
          <ac:spMkLst>
            <pc:docMk/>
            <pc:sldMk cId="0" sldId="278"/>
            <ac:spMk id="3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8:43.838" v="491" actId="478"/>
          <ac:spMkLst>
            <pc:docMk/>
            <pc:sldMk cId="0" sldId="278"/>
            <ac:spMk id="4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8:43.838" v="491" actId="478"/>
          <ac:spMkLst>
            <pc:docMk/>
            <pc:sldMk cId="0" sldId="278"/>
            <ac:spMk id="4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8:43.838" v="491" actId="478"/>
          <ac:spMkLst>
            <pc:docMk/>
            <pc:sldMk cId="0" sldId="278"/>
            <ac:spMk id="5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38:43.838" v="491" actId="478"/>
          <ac:spMkLst>
            <pc:docMk/>
            <pc:sldMk cId="0" sldId="278"/>
            <ac:spMk id="55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1T02:45:36.252" v="618" actId="1076"/>
          <ac:spMkLst>
            <pc:docMk/>
            <pc:sldMk cId="0" sldId="278"/>
            <ac:spMk id="61" creationId="{3F7B8469-0A8E-D86C-4321-912BF96AB158}"/>
          </ac:spMkLst>
        </pc:spChg>
      </pc:sldChg>
      <pc:sldChg chg="addSp delSp modSp add del mod">
        <pc:chgData name="Shuan Cheng" userId="b14087c0-bac9-44dd-b3f8-5d50e1ee75e5" providerId="ADAL" clId="{75A9BF88-81BC-4677-82BB-DF96F3D360A6}" dt="2025-11-21T02:51:29.544" v="884" actId="20577"/>
        <pc:sldMkLst>
          <pc:docMk/>
          <pc:sldMk cId="0" sldId="281"/>
        </pc:sldMkLst>
        <pc:spChg chg="del">
          <ac:chgData name="Shuan Cheng" userId="b14087c0-bac9-44dd-b3f8-5d50e1ee75e5" providerId="ADAL" clId="{75A9BF88-81BC-4677-82BB-DF96F3D360A6}" dt="2025-11-21T02:45:26.582" v="614" actId="478"/>
          <ac:spMkLst>
            <pc:docMk/>
            <pc:sldMk cId="0" sldId="281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45:26.582" v="614" actId="478"/>
          <ac:spMkLst>
            <pc:docMk/>
            <pc:sldMk cId="0" sldId="281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45:26.582" v="614" actId="478"/>
          <ac:spMkLst>
            <pc:docMk/>
            <pc:sldMk cId="0" sldId="281"/>
            <ac:spMk id="1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45:26.582" v="614" actId="478"/>
          <ac:spMkLst>
            <pc:docMk/>
            <pc:sldMk cId="0" sldId="281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45:26.582" v="614" actId="478"/>
          <ac:spMkLst>
            <pc:docMk/>
            <pc:sldMk cId="0" sldId="281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45:26.582" v="614" actId="478"/>
          <ac:spMkLst>
            <pc:docMk/>
            <pc:sldMk cId="0" sldId="281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45:26.582" v="614" actId="478"/>
          <ac:spMkLst>
            <pc:docMk/>
            <pc:sldMk cId="0" sldId="281"/>
            <ac:spMk id="2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45:26.582" v="614" actId="478"/>
          <ac:spMkLst>
            <pc:docMk/>
            <pc:sldMk cId="0" sldId="281"/>
            <ac:spMk id="2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45:26.582" v="614" actId="478"/>
          <ac:spMkLst>
            <pc:docMk/>
            <pc:sldMk cId="0" sldId="281"/>
            <ac:spMk id="2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45:26.582" v="614" actId="478"/>
          <ac:spMkLst>
            <pc:docMk/>
            <pc:sldMk cId="0" sldId="281"/>
            <ac:spMk id="2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46:48.334" v="654" actId="478"/>
          <ac:spMkLst>
            <pc:docMk/>
            <pc:sldMk cId="0" sldId="281"/>
            <ac:spMk id="2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46:48.334" v="654" actId="478"/>
          <ac:spMkLst>
            <pc:docMk/>
            <pc:sldMk cId="0" sldId="281"/>
            <ac:spMk id="2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46:48.334" v="654" actId="478"/>
          <ac:spMkLst>
            <pc:docMk/>
            <pc:sldMk cId="0" sldId="281"/>
            <ac:spMk id="3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46:48.334" v="654" actId="478"/>
          <ac:spMkLst>
            <pc:docMk/>
            <pc:sldMk cId="0" sldId="281"/>
            <ac:spMk id="3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46:48.334" v="654" actId="478"/>
          <ac:spMkLst>
            <pc:docMk/>
            <pc:sldMk cId="0" sldId="281"/>
            <ac:spMk id="3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46:48.334" v="654" actId="478"/>
          <ac:spMkLst>
            <pc:docMk/>
            <pc:sldMk cId="0" sldId="281"/>
            <ac:spMk id="33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1T02:51:29.544" v="884" actId="20577"/>
          <ac:spMkLst>
            <pc:docMk/>
            <pc:sldMk cId="0" sldId="281"/>
            <ac:spMk id="34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1T02:47:51.418" v="742" actId="20577"/>
          <ac:spMkLst>
            <pc:docMk/>
            <pc:sldMk cId="0" sldId="281"/>
            <ac:spMk id="3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46:48.334" v="654" actId="478"/>
          <ac:spMkLst>
            <pc:docMk/>
            <pc:sldMk cId="0" sldId="281"/>
            <ac:spMk id="36" creationId="{00000000-0000-0000-0000-000000000000}"/>
          </ac:spMkLst>
        </pc:spChg>
        <pc:spChg chg="del mod">
          <ac:chgData name="Shuan Cheng" userId="b14087c0-bac9-44dd-b3f8-5d50e1ee75e5" providerId="ADAL" clId="{75A9BF88-81BC-4677-82BB-DF96F3D360A6}" dt="2025-11-21T02:47:07.612" v="662" actId="478"/>
          <ac:spMkLst>
            <pc:docMk/>
            <pc:sldMk cId="0" sldId="281"/>
            <ac:spMk id="37" creationId="{00000000-0000-0000-0000-000000000000}"/>
          </ac:spMkLst>
        </pc:spChg>
        <pc:spChg chg="del mod">
          <ac:chgData name="Shuan Cheng" userId="b14087c0-bac9-44dd-b3f8-5d50e1ee75e5" providerId="ADAL" clId="{75A9BF88-81BC-4677-82BB-DF96F3D360A6}" dt="2025-11-21T02:47:07.612" v="662" actId="478"/>
          <ac:spMkLst>
            <pc:docMk/>
            <pc:sldMk cId="0" sldId="281"/>
            <ac:spMk id="38" creationId="{00000000-0000-0000-0000-000000000000}"/>
          </ac:spMkLst>
        </pc:spChg>
        <pc:spChg chg="del mod">
          <ac:chgData name="Shuan Cheng" userId="b14087c0-bac9-44dd-b3f8-5d50e1ee75e5" providerId="ADAL" clId="{75A9BF88-81BC-4677-82BB-DF96F3D360A6}" dt="2025-11-21T02:47:07.612" v="662" actId="478"/>
          <ac:spMkLst>
            <pc:docMk/>
            <pc:sldMk cId="0" sldId="281"/>
            <ac:spMk id="3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47:07.612" v="662" actId="478"/>
          <ac:spMkLst>
            <pc:docMk/>
            <pc:sldMk cId="0" sldId="281"/>
            <ac:spMk id="4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47:07.612" v="662" actId="478"/>
          <ac:spMkLst>
            <pc:docMk/>
            <pc:sldMk cId="0" sldId="281"/>
            <ac:spMk id="4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47:07.612" v="662" actId="478"/>
          <ac:spMkLst>
            <pc:docMk/>
            <pc:sldMk cId="0" sldId="281"/>
            <ac:spMk id="42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1T02:46:19.719" v="629" actId="1076"/>
          <ac:spMkLst>
            <pc:docMk/>
            <pc:sldMk cId="0" sldId="281"/>
            <ac:spMk id="48" creationId="{1091B57C-41D9-41A2-63DE-DA5C205D2A36}"/>
          </ac:spMkLst>
        </pc:spChg>
      </pc:sldChg>
      <pc:sldChg chg="addSp delSp modSp add del mod">
        <pc:chgData name="Shuan Cheng" userId="b14087c0-bac9-44dd-b3f8-5d50e1ee75e5" providerId="ADAL" clId="{75A9BF88-81BC-4677-82BB-DF96F3D360A6}" dt="2025-11-21T03:02:10.805" v="1256" actId="1076"/>
        <pc:sldMkLst>
          <pc:docMk/>
          <pc:sldMk cId="0" sldId="286"/>
        </pc:sldMkLst>
        <pc:spChg chg="mod">
          <ac:chgData name="Shuan Cheng" userId="b14087c0-bac9-44dd-b3f8-5d50e1ee75e5" providerId="ADAL" clId="{75A9BF88-81BC-4677-82BB-DF96F3D360A6}" dt="2025-11-21T02:55:22.402" v="1001" actId="14100"/>
          <ac:spMkLst>
            <pc:docMk/>
            <pc:sldMk cId="0" sldId="286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55:18.775" v="1000" actId="478"/>
          <ac:spMkLst>
            <pc:docMk/>
            <pc:sldMk cId="0" sldId="286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55:18.775" v="1000" actId="478"/>
          <ac:spMkLst>
            <pc:docMk/>
            <pc:sldMk cId="0" sldId="286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55:18.775" v="1000" actId="478"/>
          <ac:spMkLst>
            <pc:docMk/>
            <pc:sldMk cId="0" sldId="286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55:18.775" v="1000" actId="478"/>
          <ac:spMkLst>
            <pc:docMk/>
            <pc:sldMk cId="0" sldId="286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55:18.775" v="1000" actId="478"/>
          <ac:spMkLst>
            <pc:docMk/>
            <pc:sldMk cId="0" sldId="286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55:18.775" v="1000" actId="478"/>
          <ac:spMkLst>
            <pc:docMk/>
            <pc:sldMk cId="0" sldId="286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55:18.775" v="1000" actId="478"/>
          <ac:spMkLst>
            <pc:docMk/>
            <pc:sldMk cId="0" sldId="286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55:18.775" v="1000" actId="478"/>
          <ac:spMkLst>
            <pc:docMk/>
            <pc:sldMk cId="0" sldId="286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55:18.775" v="1000" actId="478"/>
          <ac:spMkLst>
            <pc:docMk/>
            <pc:sldMk cId="0" sldId="286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55:18.775" v="1000" actId="478"/>
          <ac:spMkLst>
            <pc:docMk/>
            <pc:sldMk cId="0" sldId="286"/>
            <ac:spMk id="15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1T02:56:11.484" v="1008" actId="20577"/>
          <ac:spMkLst>
            <pc:docMk/>
            <pc:sldMk cId="0" sldId="286"/>
            <ac:spMk id="16" creationId="{00000000-0000-0000-0000-000000000000}"/>
          </ac:spMkLst>
        </pc:spChg>
        <pc:spChg chg="del mod">
          <ac:chgData name="Shuan Cheng" userId="b14087c0-bac9-44dd-b3f8-5d50e1ee75e5" providerId="ADAL" clId="{75A9BF88-81BC-4677-82BB-DF96F3D360A6}" dt="2025-11-21T02:56:40.781" v="1049" actId="478"/>
          <ac:spMkLst>
            <pc:docMk/>
            <pc:sldMk cId="0" sldId="286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56:06.467" v="1007" actId="478"/>
          <ac:spMkLst>
            <pc:docMk/>
            <pc:sldMk cId="0" sldId="286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1T02:56:06.467" v="1007" actId="478"/>
          <ac:spMkLst>
            <pc:docMk/>
            <pc:sldMk cId="0" sldId="286"/>
            <ac:spMk id="19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1T03:02:10.805" v="1256" actId="1076"/>
          <ac:spMkLst>
            <pc:docMk/>
            <pc:sldMk cId="0" sldId="286"/>
            <ac:spMk id="25" creationId="{993BFED1-BF8B-0878-B100-5B530DE707A9}"/>
          </ac:spMkLst>
        </pc:spChg>
        <pc:spChg chg="add mod">
          <ac:chgData name="Shuan Cheng" userId="b14087c0-bac9-44dd-b3f8-5d50e1ee75e5" providerId="ADAL" clId="{75A9BF88-81BC-4677-82BB-DF96F3D360A6}" dt="2025-11-21T03:00:07.096" v="1237" actId="1076"/>
          <ac:spMkLst>
            <pc:docMk/>
            <pc:sldMk cId="0" sldId="286"/>
            <ac:spMk id="26" creationId="{5F1E9F88-0759-4038-3681-3F8D9747511A}"/>
          </ac:spMkLst>
        </pc:spChg>
      </pc:sldChg>
      <pc:sldChg chg="modSp mod">
        <pc:chgData name="Shuan Cheng" userId="b14087c0-bac9-44dd-b3f8-5d50e1ee75e5" providerId="ADAL" clId="{75A9BF88-81BC-4677-82BB-DF96F3D360A6}" dt="2025-11-21T03:07:53.006" v="1272" actId="6549"/>
        <pc:sldMkLst>
          <pc:docMk/>
          <pc:sldMk cId="0" sldId="290"/>
        </pc:sldMkLst>
        <pc:spChg chg="mod">
          <ac:chgData name="Shuan Cheng" userId="b14087c0-bac9-44dd-b3f8-5d50e1ee75e5" providerId="ADAL" clId="{75A9BF88-81BC-4677-82BB-DF96F3D360A6}" dt="2025-11-21T03:07:53.006" v="1272" actId="6549"/>
          <ac:spMkLst>
            <pc:docMk/>
            <pc:sldMk cId="0" sldId="290"/>
            <ac:spMk id="3" creationId="{00000000-0000-0000-0000-000000000000}"/>
          </ac:spMkLst>
        </pc:spChg>
      </pc:sldChg>
      <pc:sldChg chg="addSp delSp modSp add del mod">
        <pc:chgData name="Shuan Cheng" userId="b14087c0-bac9-44dd-b3f8-5d50e1ee75e5" providerId="ADAL" clId="{75A9BF88-81BC-4677-82BB-DF96F3D360A6}" dt="2025-11-22T05:16:44.843" v="1384" actId="114"/>
        <pc:sldMkLst>
          <pc:docMk/>
          <pc:sldMk cId="0" sldId="292"/>
        </pc:sldMkLst>
        <pc:spChg chg="mod">
          <ac:chgData name="Shuan Cheng" userId="b14087c0-bac9-44dd-b3f8-5d50e1ee75e5" providerId="ADAL" clId="{75A9BF88-81BC-4677-82BB-DF96F3D360A6}" dt="2025-11-22T05:16:44.843" v="1384" actId="114"/>
          <ac:spMkLst>
            <pc:docMk/>
            <pc:sldMk cId="0" sldId="292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5:17.569" v="1298" actId="478"/>
          <ac:spMkLst>
            <pc:docMk/>
            <pc:sldMk cId="0" sldId="292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5:17.569" v="1298" actId="478"/>
          <ac:spMkLst>
            <pc:docMk/>
            <pc:sldMk cId="0" sldId="292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5:17.569" v="1298" actId="478"/>
          <ac:spMkLst>
            <pc:docMk/>
            <pc:sldMk cId="0" sldId="292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5:17.569" v="1298" actId="478"/>
          <ac:spMkLst>
            <pc:docMk/>
            <pc:sldMk cId="0" sldId="292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5:17.569" v="1298" actId="478"/>
          <ac:spMkLst>
            <pc:docMk/>
            <pc:sldMk cId="0" sldId="292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5:17.569" v="1298" actId="478"/>
          <ac:spMkLst>
            <pc:docMk/>
            <pc:sldMk cId="0" sldId="292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5:17.569" v="1298" actId="478"/>
          <ac:spMkLst>
            <pc:docMk/>
            <pc:sldMk cId="0" sldId="292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5:17.569" v="1298" actId="478"/>
          <ac:spMkLst>
            <pc:docMk/>
            <pc:sldMk cId="0" sldId="292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5:17.569" v="1298" actId="478"/>
          <ac:spMkLst>
            <pc:docMk/>
            <pc:sldMk cId="0" sldId="292"/>
            <ac:spMk id="12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2T05:16:14.785" v="1381" actId="1076"/>
          <ac:spMkLst>
            <pc:docMk/>
            <pc:sldMk cId="0" sldId="292"/>
            <ac:spMk id="17" creationId="{34B05BA7-0639-4ED1-988B-3F382D9DF51A}"/>
          </ac:spMkLst>
        </pc:spChg>
      </pc:sldChg>
      <pc:sldChg chg="addSp delSp modSp add del mod">
        <pc:chgData name="Shuan Cheng" userId="b14087c0-bac9-44dd-b3f8-5d50e1ee75e5" providerId="ADAL" clId="{75A9BF88-81BC-4677-82BB-DF96F3D360A6}" dt="2025-11-22T05:19:46.576" v="1456" actId="1076"/>
        <pc:sldMkLst>
          <pc:docMk/>
          <pc:sldMk cId="0" sldId="295"/>
        </pc:sldMkLst>
        <pc:spChg chg="mod">
          <ac:chgData name="Shuan Cheng" userId="b14087c0-bac9-44dd-b3f8-5d50e1ee75e5" providerId="ADAL" clId="{75A9BF88-81BC-4677-82BB-DF96F3D360A6}" dt="2025-11-22T05:17:22.632" v="1388" actId="14100"/>
          <ac:spMkLst>
            <pc:docMk/>
            <pc:sldMk cId="0" sldId="295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7:09.428" v="1385" actId="478"/>
          <ac:spMkLst>
            <pc:docMk/>
            <pc:sldMk cId="0" sldId="295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7:09.428" v="1385" actId="478"/>
          <ac:spMkLst>
            <pc:docMk/>
            <pc:sldMk cId="0" sldId="295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7:09.428" v="1385" actId="478"/>
          <ac:spMkLst>
            <pc:docMk/>
            <pc:sldMk cId="0" sldId="295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7:09.428" v="1385" actId="478"/>
          <ac:spMkLst>
            <pc:docMk/>
            <pc:sldMk cId="0" sldId="295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7:09.428" v="1385" actId="478"/>
          <ac:spMkLst>
            <pc:docMk/>
            <pc:sldMk cId="0" sldId="295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7:09.428" v="1385" actId="478"/>
          <ac:spMkLst>
            <pc:docMk/>
            <pc:sldMk cId="0" sldId="295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7:09.428" v="1385" actId="478"/>
          <ac:spMkLst>
            <pc:docMk/>
            <pc:sldMk cId="0" sldId="295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7:09.428" v="1385" actId="478"/>
          <ac:spMkLst>
            <pc:docMk/>
            <pc:sldMk cId="0" sldId="295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7:09.428" v="1385" actId="478"/>
          <ac:spMkLst>
            <pc:docMk/>
            <pc:sldMk cId="0" sldId="295"/>
            <ac:spMk id="12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05:18:06.534" v="1401" actId="20577"/>
          <ac:spMkLst>
            <pc:docMk/>
            <pc:sldMk cId="0" sldId="295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7:59.019" v="1391" actId="478"/>
          <ac:spMkLst>
            <pc:docMk/>
            <pc:sldMk cId="0" sldId="295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7:59.019" v="1391" actId="478"/>
          <ac:spMkLst>
            <pc:docMk/>
            <pc:sldMk cId="0" sldId="295"/>
            <ac:spMk id="1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7:59.019" v="1391" actId="478"/>
          <ac:spMkLst>
            <pc:docMk/>
            <pc:sldMk cId="0" sldId="295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7:59.019" v="1391" actId="478"/>
          <ac:spMkLst>
            <pc:docMk/>
            <pc:sldMk cId="0" sldId="295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7:59.019" v="1391" actId="478"/>
          <ac:spMkLst>
            <pc:docMk/>
            <pc:sldMk cId="0" sldId="295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7:59.019" v="1391" actId="478"/>
          <ac:spMkLst>
            <pc:docMk/>
            <pc:sldMk cId="0" sldId="295"/>
            <ac:spMk id="1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7:59.019" v="1391" actId="478"/>
          <ac:spMkLst>
            <pc:docMk/>
            <pc:sldMk cId="0" sldId="295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7:59.019" v="1391" actId="478"/>
          <ac:spMkLst>
            <pc:docMk/>
            <pc:sldMk cId="0" sldId="295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7:59.019" v="1391" actId="478"/>
          <ac:spMkLst>
            <pc:docMk/>
            <pc:sldMk cId="0" sldId="295"/>
            <ac:spMk id="2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7:59.019" v="1391" actId="478"/>
          <ac:spMkLst>
            <pc:docMk/>
            <pc:sldMk cId="0" sldId="295"/>
            <ac:spMk id="23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05:17:55.857" v="1390" actId="14100"/>
          <ac:spMkLst>
            <pc:docMk/>
            <pc:sldMk cId="0" sldId="295"/>
            <ac:spMk id="2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9:40.167" v="1455" actId="478"/>
          <ac:spMkLst>
            <pc:docMk/>
            <pc:sldMk cId="0" sldId="295"/>
            <ac:spMk id="2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9:40.167" v="1455" actId="478"/>
          <ac:spMkLst>
            <pc:docMk/>
            <pc:sldMk cId="0" sldId="295"/>
            <ac:spMk id="2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9:40.167" v="1455" actId="478"/>
          <ac:spMkLst>
            <pc:docMk/>
            <pc:sldMk cId="0" sldId="295"/>
            <ac:spMk id="2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9:40.167" v="1455" actId="478"/>
          <ac:spMkLst>
            <pc:docMk/>
            <pc:sldMk cId="0" sldId="295"/>
            <ac:spMk id="3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9:40.167" v="1455" actId="478"/>
          <ac:spMkLst>
            <pc:docMk/>
            <pc:sldMk cId="0" sldId="295"/>
            <ac:spMk id="3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9:40.167" v="1455" actId="478"/>
          <ac:spMkLst>
            <pc:docMk/>
            <pc:sldMk cId="0" sldId="295"/>
            <ac:spMk id="3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19:40.167" v="1455" actId="478"/>
          <ac:spMkLst>
            <pc:docMk/>
            <pc:sldMk cId="0" sldId="295"/>
            <ac:spMk id="33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2T05:17:20.879" v="1387" actId="1076"/>
          <ac:spMkLst>
            <pc:docMk/>
            <pc:sldMk cId="0" sldId="295"/>
            <ac:spMk id="38" creationId="{B84FAE3D-6FC5-7D1A-E323-3A744FCA94FA}"/>
          </ac:spMkLst>
        </pc:spChg>
        <pc:spChg chg="add mod">
          <ac:chgData name="Shuan Cheng" userId="b14087c0-bac9-44dd-b3f8-5d50e1ee75e5" providerId="ADAL" clId="{75A9BF88-81BC-4677-82BB-DF96F3D360A6}" dt="2025-11-22T05:18:40.046" v="1412" actId="1076"/>
          <ac:spMkLst>
            <pc:docMk/>
            <pc:sldMk cId="0" sldId="295"/>
            <ac:spMk id="39" creationId="{A86A6FEB-BC90-3359-EA38-CB0523193AA1}"/>
          </ac:spMkLst>
        </pc:spChg>
        <pc:spChg chg="add mod">
          <ac:chgData name="Shuan Cheng" userId="b14087c0-bac9-44dd-b3f8-5d50e1ee75e5" providerId="ADAL" clId="{75A9BF88-81BC-4677-82BB-DF96F3D360A6}" dt="2025-11-22T05:19:46.576" v="1456" actId="1076"/>
          <ac:spMkLst>
            <pc:docMk/>
            <pc:sldMk cId="0" sldId="295"/>
            <ac:spMk id="40" creationId="{67A249AF-99CB-C097-7EB0-ABB0ED0342A8}"/>
          </ac:spMkLst>
        </pc:spChg>
      </pc:sldChg>
      <pc:sldChg chg="add del">
        <pc:chgData name="Shuan Cheng" userId="b14087c0-bac9-44dd-b3f8-5d50e1ee75e5" providerId="ADAL" clId="{75A9BF88-81BC-4677-82BB-DF96F3D360A6}" dt="2025-11-20T21:56:12.375" v="47" actId="47"/>
        <pc:sldMkLst>
          <pc:docMk/>
          <pc:sldMk cId="0" sldId="297"/>
        </pc:sldMkLst>
      </pc:sldChg>
      <pc:sldChg chg="addSp delSp modSp add del mod">
        <pc:chgData name="Shuan Cheng" userId="b14087c0-bac9-44dd-b3f8-5d50e1ee75e5" providerId="ADAL" clId="{75A9BF88-81BC-4677-82BB-DF96F3D360A6}" dt="2025-11-22T05:23:47.886" v="1506" actId="1038"/>
        <pc:sldMkLst>
          <pc:docMk/>
          <pc:sldMk cId="0" sldId="301"/>
        </pc:sldMkLst>
        <pc:spChg chg="mod">
          <ac:chgData name="Shuan Cheng" userId="b14087c0-bac9-44dd-b3f8-5d50e1ee75e5" providerId="ADAL" clId="{75A9BF88-81BC-4677-82BB-DF96F3D360A6}" dt="2025-11-22T05:23:17.549" v="1486" actId="1038"/>
          <ac:spMkLst>
            <pc:docMk/>
            <pc:sldMk cId="0" sldId="301"/>
            <ac:spMk id="5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05:23:21.908" v="1489" actId="1038"/>
          <ac:spMkLst>
            <pc:docMk/>
            <pc:sldMk cId="0" sldId="301"/>
            <ac:spMk id="6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05:23:30.032" v="1498" actId="1037"/>
          <ac:spMkLst>
            <pc:docMk/>
            <pc:sldMk cId="0" sldId="301"/>
            <ac:spMk id="7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05:23:32.345" v="1500" actId="1037"/>
          <ac:spMkLst>
            <pc:docMk/>
            <pc:sldMk cId="0" sldId="301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21:01.607" v="1458" actId="478"/>
          <ac:spMkLst>
            <pc:docMk/>
            <pc:sldMk cId="0" sldId="301"/>
            <ac:spMk id="9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05:23:34.356" v="1501" actId="1037"/>
          <ac:spMkLst>
            <pc:docMk/>
            <pc:sldMk cId="0" sldId="301"/>
            <ac:spMk id="10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05:23:40.374" v="1503" actId="1035"/>
          <ac:spMkLst>
            <pc:docMk/>
            <pc:sldMk cId="0" sldId="301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20:59.702" v="1457" actId="478"/>
          <ac:spMkLst>
            <pc:docMk/>
            <pc:sldMk cId="0" sldId="301"/>
            <ac:spMk id="12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05:23:26.943" v="1496" actId="1036"/>
          <ac:spMkLst>
            <pc:docMk/>
            <pc:sldMk cId="0" sldId="301"/>
            <ac:spMk id="13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05:23:47.886" v="1506" actId="1038"/>
          <ac:spMkLst>
            <pc:docMk/>
            <pc:sldMk cId="0" sldId="301"/>
            <ac:spMk id="14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2T05:21:31.630" v="1462" actId="1076"/>
          <ac:spMkLst>
            <pc:docMk/>
            <pc:sldMk cId="0" sldId="301"/>
            <ac:spMk id="20" creationId="{4692DDE1-D69B-A661-E643-DE284DF4210E}"/>
          </ac:spMkLst>
        </pc:spChg>
        <pc:spChg chg="add mod">
          <ac:chgData name="Shuan Cheng" userId="b14087c0-bac9-44dd-b3f8-5d50e1ee75e5" providerId="ADAL" clId="{75A9BF88-81BC-4677-82BB-DF96F3D360A6}" dt="2025-11-22T05:21:44.274" v="1466" actId="1076"/>
          <ac:spMkLst>
            <pc:docMk/>
            <pc:sldMk cId="0" sldId="301"/>
            <ac:spMk id="21" creationId="{37CD8477-C1B3-665F-7BE6-393EBCCF8A13}"/>
          </ac:spMkLst>
        </pc:spChg>
        <pc:spChg chg="add mod">
          <ac:chgData name="Shuan Cheng" userId="b14087c0-bac9-44dd-b3f8-5d50e1ee75e5" providerId="ADAL" clId="{75A9BF88-81BC-4677-82BB-DF96F3D360A6}" dt="2025-11-22T05:23:21.908" v="1489" actId="1038"/>
          <ac:spMkLst>
            <pc:docMk/>
            <pc:sldMk cId="0" sldId="301"/>
            <ac:spMk id="22" creationId="{9CEAF8C6-2A80-E166-049A-6F2310A6B74D}"/>
          </ac:spMkLst>
        </pc:spChg>
        <pc:spChg chg="add mod">
          <ac:chgData name="Shuan Cheng" userId="b14087c0-bac9-44dd-b3f8-5d50e1ee75e5" providerId="ADAL" clId="{75A9BF88-81BC-4677-82BB-DF96F3D360A6}" dt="2025-11-22T05:23:21.908" v="1489" actId="1038"/>
          <ac:spMkLst>
            <pc:docMk/>
            <pc:sldMk cId="0" sldId="301"/>
            <ac:spMk id="23" creationId="{AF4A73EE-D454-07A2-9B90-391D6E6578DB}"/>
          </ac:spMkLst>
        </pc:spChg>
        <pc:spChg chg="add mod">
          <ac:chgData name="Shuan Cheng" userId="b14087c0-bac9-44dd-b3f8-5d50e1ee75e5" providerId="ADAL" clId="{75A9BF88-81BC-4677-82BB-DF96F3D360A6}" dt="2025-11-22T05:23:26.943" v="1496" actId="1036"/>
          <ac:spMkLst>
            <pc:docMk/>
            <pc:sldMk cId="0" sldId="301"/>
            <ac:spMk id="24" creationId="{E26A58D1-B861-126E-F013-8C79180E2A14}"/>
          </ac:spMkLst>
        </pc:spChg>
        <pc:spChg chg="add mod">
          <ac:chgData name="Shuan Cheng" userId="b14087c0-bac9-44dd-b3f8-5d50e1ee75e5" providerId="ADAL" clId="{75A9BF88-81BC-4677-82BB-DF96F3D360A6}" dt="2025-11-22T05:23:26.943" v="1496" actId="1036"/>
          <ac:spMkLst>
            <pc:docMk/>
            <pc:sldMk cId="0" sldId="301"/>
            <ac:spMk id="25" creationId="{EF98C4AB-6321-1D53-3B61-2C853DB7FB92}"/>
          </ac:spMkLst>
        </pc:spChg>
        <pc:spChg chg="add mod">
          <ac:chgData name="Shuan Cheng" userId="b14087c0-bac9-44dd-b3f8-5d50e1ee75e5" providerId="ADAL" clId="{75A9BF88-81BC-4677-82BB-DF96F3D360A6}" dt="2025-11-22T05:23:32.345" v="1500" actId="1037"/>
          <ac:spMkLst>
            <pc:docMk/>
            <pc:sldMk cId="0" sldId="301"/>
            <ac:spMk id="26" creationId="{775D2E33-47B0-B6CF-FC4E-3292C8DFFDD1}"/>
          </ac:spMkLst>
        </pc:spChg>
        <pc:spChg chg="add mod">
          <ac:chgData name="Shuan Cheng" userId="b14087c0-bac9-44dd-b3f8-5d50e1ee75e5" providerId="ADAL" clId="{75A9BF88-81BC-4677-82BB-DF96F3D360A6}" dt="2025-11-22T05:23:32.345" v="1500" actId="1037"/>
          <ac:spMkLst>
            <pc:docMk/>
            <pc:sldMk cId="0" sldId="301"/>
            <ac:spMk id="27" creationId="{C023618F-56FC-D858-D5CC-26E460B403AB}"/>
          </ac:spMkLst>
        </pc:spChg>
        <pc:spChg chg="add mod">
          <ac:chgData name="Shuan Cheng" userId="b14087c0-bac9-44dd-b3f8-5d50e1ee75e5" providerId="ADAL" clId="{75A9BF88-81BC-4677-82BB-DF96F3D360A6}" dt="2025-11-22T05:23:47.886" v="1506" actId="1038"/>
          <ac:spMkLst>
            <pc:docMk/>
            <pc:sldMk cId="0" sldId="301"/>
            <ac:spMk id="28" creationId="{4A8F7387-AA68-587C-E430-501645BAEE29}"/>
          </ac:spMkLst>
        </pc:spChg>
        <pc:spChg chg="add mod">
          <ac:chgData name="Shuan Cheng" userId="b14087c0-bac9-44dd-b3f8-5d50e1ee75e5" providerId="ADAL" clId="{75A9BF88-81BC-4677-82BB-DF96F3D360A6}" dt="2025-11-22T05:23:47.886" v="1506" actId="1038"/>
          <ac:spMkLst>
            <pc:docMk/>
            <pc:sldMk cId="0" sldId="301"/>
            <ac:spMk id="29" creationId="{72717680-A36F-CBF7-62EA-48B3C36E93C7}"/>
          </ac:spMkLst>
        </pc:spChg>
      </pc:sldChg>
      <pc:sldChg chg="modSp add del mod">
        <pc:chgData name="Shuan Cheng" userId="b14087c0-bac9-44dd-b3f8-5d50e1ee75e5" providerId="ADAL" clId="{75A9BF88-81BC-4677-82BB-DF96F3D360A6}" dt="2025-11-22T05:32:28.140" v="1588"/>
        <pc:sldMkLst>
          <pc:docMk/>
          <pc:sldMk cId="0" sldId="304"/>
        </pc:sldMkLst>
        <pc:spChg chg="mod">
          <ac:chgData name="Shuan Cheng" userId="b14087c0-bac9-44dd-b3f8-5d50e1ee75e5" providerId="ADAL" clId="{75A9BF88-81BC-4677-82BB-DF96F3D360A6}" dt="2025-11-22T05:32:28.140" v="1588"/>
          <ac:spMkLst>
            <pc:docMk/>
            <pc:sldMk cId="0" sldId="304"/>
            <ac:spMk id="3" creationId="{00000000-0000-0000-0000-000000000000}"/>
          </ac:spMkLst>
        </pc:spChg>
      </pc:sldChg>
      <pc:sldChg chg="addSp delSp modSp add del mod">
        <pc:chgData name="Shuan Cheng" userId="b14087c0-bac9-44dd-b3f8-5d50e1ee75e5" providerId="ADAL" clId="{75A9BF88-81BC-4677-82BB-DF96F3D360A6}" dt="2025-11-22T05:37:03.101" v="1739" actId="1076"/>
        <pc:sldMkLst>
          <pc:docMk/>
          <pc:sldMk cId="0" sldId="307"/>
        </pc:sldMkLst>
        <pc:spChg chg="del">
          <ac:chgData name="Shuan Cheng" userId="b14087c0-bac9-44dd-b3f8-5d50e1ee75e5" providerId="ADAL" clId="{75A9BF88-81BC-4677-82BB-DF96F3D360A6}" dt="2025-11-22T05:36:05.590" v="1683" actId="478"/>
          <ac:spMkLst>
            <pc:docMk/>
            <pc:sldMk cId="0" sldId="307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6:05.590" v="1683" actId="478"/>
          <ac:spMkLst>
            <pc:docMk/>
            <pc:sldMk cId="0" sldId="307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6:05.590" v="1683" actId="478"/>
          <ac:spMkLst>
            <pc:docMk/>
            <pc:sldMk cId="0" sldId="307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6:05.590" v="1683" actId="478"/>
          <ac:spMkLst>
            <pc:docMk/>
            <pc:sldMk cId="0" sldId="307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6:05.590" v="1683" actId="478"/>
          <ac:spMkLst>
            <pc:docMk/>
            <pc:sldMk cId="0" sldId="307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6:05.590" v="1683" actId="478"/>
          <ac:spMkLst>
            <pc:docMk/>
            <pc:sldMk cId="0" sldId="307"/>
            <ac:spMk id="8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05:33:49.863" v="1604" actId="20577"/>
          <ac:spMkLst>
            <pc:docMk/>
            <pc:sldMk cId="0" sldId="307"/>
            <ac:spMk id="10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05:33:22.388" v="1590" actId="20577"/>
          <ac:spMkLst>
            <pc:docMk/>
            <pc:sldMk cId="0" sldId="307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3:20.165" v="1589" actId="478"/>
          <ac:spMkLst>
            <pc:docMk/>
            <pc:sldMk cId="0" sldId="307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3:20.165" v="1589" actId="478"/>
          <ac:spMkLst>
            <pc:docMk/>
            <pc:sldMk cId="0" sldId="307"/>
            <ac:spMk id="1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3:20.165" v="1589" actId="478"/>
          <ac:spMkLst>
            <pc:docMk/>
            <pc:sldMk cId="0" sldId="307"/>
            <ac:spMk id="2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3:20.165" v="1589" actId="478"/>
          <ac:spMkLst>
            <pc:docMk/>
            <pc:sldMk cId="0" sldId="307"/>
            <ac:spMk id="2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3:20.165" v="1589" actId="478"/>
          <ac:spMkLst>
            <pc:docMk/>
            <pc:sldMk cId="0" sldId="307"/>
            <ac:spMk id="2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3:20.165" v="1589" actId="478"/>
          <ac:spMkLst>
            <pc:docMk/>
            <pc:sldMk cId="0" sldId="307"/>
            <ac:spMk id="2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3:20.165" v="1589" actId="478"/>
          <ac:spMkLst>
            <pc:docMk/>
            <pc:sldMk cId="0" sldId="307"/>
            <ac:spMk id="3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3:20.165" v="1589" actId="478"/>
          <ac:spMkLst>
            <pc:docMk/>
            <pc:sldMk cId="0" sldId="307"/>
            <ac:spMk id="3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3:20.165" v="1589" actId="478"/>
          <ac:spMkLst>
            <pc:docMk/>
            <pc:sldMk cId="0" sldId="307"/>
            <ac:spMk id="3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3:20.165" v="1589" actId="478"/>
          <ac:spMkLst>
            <pc:docMk/>
            <pc:sldMk cId="0" sldId="307"/>
            <ac:spMk id="40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05:34:27.333" v="1610"/>
          <ac:spMkLst>
            <pc:docMk/>
            <pc:sldMk cId="0" sldId="307"/>
            <ac:spMk id="41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2T05:35:50.180" v="1682" actId="1076"/>
          <ac:spMkLst>
            <pc:docMk/>
            <pc:sldMk cId="0" sldId="307"/>
            <ac:spMk id="46" creationId="{3BD7DED4-5AD2-8247-1C3A-6F0476C952AF}"/>
          </ac:spMkLst>
        </pc:spChg>
        <pc:spChg chg="add mod">
          <ac:chgData name="Shuan Cheng" userId="b14087c0-bac9-44dd-b3f8-5d50e1ee75e5" providerId="ADAL" clId="{75A9BF88-81BC-4677-82BB-DF96F3D360A6}" dt="2025-11-22T05:37:03.101" v="1739" actId="1076"/>
          <ac:spMkLst>
            <pc:docMk/>
            <pc:sldMk cId="0" sldId="307"/>
            <ac:spMk id="47" creationId="{BDCABCDB-C620-68D7-A38A-7FB028C3B139}"/>
          </ac:spMkLst>
        </pc:spChg>
      </pc:sldChg>
      <pc:sldChg chg="addSp delSp modSp add del mod">
        <pc:chgData name="Shuan Cheng" userId="b14087c0-bac9-44dd-b3f8-5d50e1ee75e5" providerId="ADAL" clId="{75A9BF88-81BC-4677-82BB-DF96F3D360A6}" dt="2025-11-22T05:44:22.274" v="2020" actId="1076"/>
        <pc:sldMkLst>
          <pc:docMk/>
          <pc:sldMk cId="0" sldId="308"/>
        </pc:sldMkLst>
        <pc:spChg chg="del">
          <ac:chgData name="Shuan Cheng" userId="b14087c0-bac9-44dd-b3f8-5d50e1ee75e5" providerId="ADAL" clId="{75A9BF88-81BC-4677-82BB-DF96F3D360A6}" dt="2025-11-22T05:38:26.358" v="1742" actId="478"/>
          <ac:spMkLst>
            <pc:docMk/>
            <pc:sldMk cId="0" sldId="308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8:26.358" v="1742" actId="478"/>
          <ac:spMkLst>
            <pc:docMk/>
            <pc:sldMk cId="0" sldId="308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8:26.358" v="1742" actId="478"/>
          <ac:spMkLst>
            <pc:docMk/>
            <pc:sldMk cId="0" sldId="308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8:26.358" v="1742" actId="478"/>
          <ac:spMkLst>
            <pc:docMk/>
            <pc:sldMk cId="0" sldId="308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8:26.358" v="1742" actId="478"/>
          <ac:spMkLst>
            <pc:docMk/>
            <pc:sldMk cId="0" sldId="308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8:26.358" v="1742" actId="478"/>
          <ac:spMkLst>
            <pc:docMk/>
            <pc:sldMk cId="0" sldId="308"/>
            <ac:spMk id="9" creationId="{00000000-0000-0000-0000-000000000000}"/>
          </ac:spMkLst>
        </pc:spChg>
        <pc:spChg chg="add del">
          <ac:chgData name="Shuan Cheng" userId="b14087c0-bac9-44dd-b3f8-5d50e1ee75e5" providerId="ADAL" clId="{75A9BF88-81BC-4677-82BB-DF96F3D360A6}" dt="2025-11-22T05:38:26.358" v="1742" actId="478"/>
          <ac:spMkLst>
            <pc:docMk/>
            <pc:sldMk cId="0" sldId="308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8:26.358" v="1742" actId="478"/>
          <ac:spMkLst>
            <pc:docMk/>
            <pc:sldMk cId="0" sldId="308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8:26.358" v="1742" actId="478"/>
          <ac:spMkLst>
            <pc:docMk/>
            <pc:sldMk cId="0" sldId="308"/>
            <ac:spMk id="12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05:44:22.274" v="2020" actId="1076"/>
          <ac:spMkLst>
            <pc:docMk/>
            <pc:sldMk cId="0" sldId="308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8:37.844" v="1744" actId="478"/>
          <ac:spMkLst>
            <pc:docMk/>
            <pc:sldMk cId="0" sldId="308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8:37.844" v="1744" actId="478"/>
          <ac:spMkLst>
            <pc:docMk/>
            <pc:sldMk cId="0" sldId="308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8:37.844" v="1744" actId="478"/>
          <ac:spMkLst>
            <pc:docMk/>
            <pc:sldMk cId="0" sldId="308"/>
            <ac:spMk id="2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8:37.844" v="1744" actId="478"/>
          <ac:spMkLst>
            <pc:docMk/>
            <pc:sldMk cId="0" sldId="308"/>
            <ac:spMk id="2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8:37.844" v="1744" actId="478"/>
          <ac:spMkLst>
            <pc:docMk/>
            <pc:sldMk cId="0" sldId="308"/>
            <ac:spMk id="2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8:37.844" v="1744" actId="478"/>
          <ac:spMkLst>
            <pc:docMk/>
            <pc:sldMk cId="0" sldId="308"/>
            <ac:spMk id="2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8:37.844" v="1744" actId="478"/>
          <ac:spMkLst>
            <pc:docMk/>
            <pc:sldMk cId="0" sldId="308"/>
            <ac:spMk id="2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8:37.844" v="1744" actId="478"/>
          <ac:spMkLst>
            <pc:docMk/>
            <pc:sldMk cId="0" sldId="308"/>
            <ac:spMk id="2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8:37.844" v="1744" actId="478"/>
          <ac:spMkLst>
            <pc:docMk/>
            <pc:sldMk cId="0" sldId="308"/>
            <ac:spMk id="3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38:37.844" v="1744" actId="478"/>
          <ac:spMkLst>
            <pc:docMk/>
            <pc:sldMk cId="0" sldId="308"/>
            <ac:spMk id="33" creationId="{00000000-0000-0000-0000-000000000000}"/>
          </ac:spMkLst>
        </pc:spChg>
        <pc:spChg chg="add del mod">
          <ac:chgData name="Shuan Cheng" userId="b14087c0-bac9-44dd-b3f8-5d50e1ee75e5" providerId="ADAL" clId="{75A9BF88-81BC-4677-82BB-DF96F3D360A6}" dt="2025-11-22T05:39:47.878" v="1747" actId="478"/>
          <ac:spMkLst>
            <pc:docMk/>
            <pc:sldMk cId="0" sldId="308"/>
            <ac:spMk id="39" creationId="{262BFFC2-99AC-9DA3-1ED3-803D35E92ED5}"/>
          </ac:spMkLst>
        </pc:spChg>
        <pc:spChg chg="add mod">
          <ac:chgData name="Shuan Cheng" userId="b14087c0-bac9-44dd-b3f8-5d50e1ee75e5" providerId="ADAL" clId="{75A9BF88-81BC-4677-82BB-DF96F3D360A6}" dt="2025-11-22T05:44:20.108" v="2019" actId="1076"/>
          <ac:spMkLst>
            <pc:docMk/>
            <pc:sldMk cId="0" sldId="308"/>
            <ac:spMk id="41" creationId="{1097AEF8-B32E-EF7B-502A-3A0585FACBF0}"/>
          </ac:spMkLst>
        </pc:spChg>
        <pc:spChg chg="add mod">
          <ac:chgData name="Shuan Cheng" userId="b14087c0-bac9-44dd-b3f8-5d50e1ee75e5" providerId="ADAL" clId="{75A9BF88-81BC-4677-82BB-DF96F3D360A6}" dt="2025-11-22T05:44:17.121" v="2018" actId="1076"/>
          <ac:spMkLst>
            <pc:docMk/>
            <pc:sldMk cId="0" sldId="308"/>
            <ac:spMk id="42" creationId="{9708402D-B55C-81B6-3036-D05075A443C3}"/>
          </ac:spMkLst>
        </pc:spChg>
        <pc:picChg chg="del">
          <ac:chgData name="Shuan Cheng" userId="b14087c0-bac9-44dd-b3f8-5d50e1ee75e5" providerId="ADAL" clId="{75A9BF88-81BC-4677-82BB-DF96F3D360A6}" dt="2025-11-22T05:38:26.358" v="1742" actId="478"/>
          <ac:picMkLst>
            <pc:docMk/>
            <pc:sldMk cId="0" sldId="308"/>
            <ac:picMk id="3" creationId="{00000000-0000-0000-0000-000000000000}"/>
          </ac:picMkLst>
        </pc:picChg>
      </pc:sldChg>
      <pc:sldChg chg="modSp add del">
        <pc:chgData name="Shuan Cheng" userId="b14087c0-bac9-44dd-b3f8-5d50e1ee75e5" providerId="ADAL" clId="{75A9BF88-81BC-4677-82BB-DF96F3D360A6}" dt="2025-11-22T05:45:00.233" v="2029" actId="20577"/>
        <pc:sldMkLst>
          <pc:docMk/>
          <pc:sldMk cId="0" sldId="312"/>
        </pc:sldMkLst>
        <pc:spChg chg="mod">
          <ac:chgData name="Shuan Cheng" userId="b14087c0-bac9-44dd-b3f8-5d50e1ee75e5" providerId="ADAL" clId="{75A9BF88-81BC-4677-82BB-DF96F3D360A6}" dt="2025-11-22T05:45:00.233" v="2029" actId="20577"/>
          <ac:spMkLst>
            <pc:docMk/>
            <pc:sldMk cId="0" sldId="312"/>
            <ac:spMk id="3" creationId="{00000000-0000-0000-0000-000000000000}"/>
          </ac:spMkLst>
        </pc:spChg>
      </pc:sldChg>
      <pc:sldChg chg="addSp delSp modSp add del mod">
        <pc:chgData name="Shuan Cheng" userId="b14087c0-bac9-44dd-b3f8-5d50e1ee75e5" providerId="ADAL" clId="{75A9BF88-81BC-4677-82BB-DF96F3D360A6}" dt="2025-11-22T05:50:11.751" v="2174" actId="1076"/>
        <pc:sldMkLst>
          <pc:docMk/>
          <pc:sldMk cId="0" sldId="315"/>
        </pc:sldMkLst>
        <pc:spChg chg="mod">
          <ac:chgData name="Shuan Cheng" userId="b14087c0-bac9-44dd-b3f8-5d50e1ee75e5" providerId="ADAL" clId="{75A9BF88-81BC-4677-82BB-DF96F3D360A6}" dt="2025-11-22T05:46:50.894" v="2077" actId="20577"/>
          <ac:spMkLst>
            <pc:docMk/>
            <pc:sldMk cId="0" sldId="315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7:11.136" v="2078" actId="478"/>
          <ac:spMkLst>
            <pc:docMk/>
            <pc:sldMk cId="0" sldId="315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7:11.136" v="2078" actId="478"/>
          <ac:spMkLst>
            <pc:docMk/>
            <pc:sldMk cId="0" sldId="315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7:11.136" v="2078" actId="478"/>
          <ac:spMkLst>
            <pc:docMk/>
            <pc:sldMk cId="0" sldId="315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7:11.136" v="2078" actId="478"/>
          <ac:spMkLst>
            <pc:docMk/>
            <pc:sldMk cId="0" sldId="315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7:11.136" v="2078" actId="478"/>
          <ac:spMkLst>
            <pc:docMk/>
            <pc:sldMk cId="0" sldId="315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7:11.136" v="2078" actId="478"/>
          <ac:spMkLst>
            <pc:docMk/>
            <pc:sldMk cId="0" sldId="315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7:11.136" v="2078" actId="478"/>
          <ac:spMkLst>
            <pc:docMk/>
            <pc:sldMk cId="0" sldId="315"/>
            <ac:spMk id="1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7:11.136" v="2078" actId="478"/>
          <ac:spMkLst>
            <pc:docMk/>
            <pc:sldMk cId="0" sldId="315"/>
            <ac:spMk id="1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7:16.928" v="2080" actId="478"/>
          <ac:spMkLst>
            <pc:docMk/>
            <pc:sldMk cId="0" sldId="315"/>
            <ac:spMk id="1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7:11.136" v="2078" actId="478"/>
          <ac:spMkLst>
            <pc:docMk/>
            <pc:sldMk cId="0" sldId="315"/>
            <ac:spMk id="1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7:16.928" v="2080" actId="478"/>
          <ac:spMkLst>
            <pc:docMk/>
            <pc:sldMk cId="0" sldId="315"/>
            <ac:spMk id="1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7:16.928" v="2080" actId="478"/>
          <ac:spMkLst>
            <pc:docMk/>
            <pc:sldMk cId="0" sldId="315"/>
            <ac:spMk id="1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7:16.928" v="2080" actId="478"/>
          <ac:spMkLst>
            <pc:docMk/>
            <pc:sldMk cId="0" sldId="315"/>
            <ac:spMk id="2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7:16.928" v="2080" actId="478"/>
          <ac:spMkLst>
            <pc:docMk/>
            <pc:sldMk cId="0" sldId="315"/>
            <ac:spMk id="2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7:16.928" v="2080" actId="478"/>
          <ac:spMkLst>
            <pc:docMk/>
            <pc:sldMk cId="0" sldId="315"/>
            <ac:spMk id="2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7:16.928" v="2080" actId="478"/>
          <ac:spMkLst>
            <pc:docMk/>
            <pc:sldMk cId="0" sldId="315"/>
            <ac:spMk id="2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7:11.136" v="2078" actId="478"/>
          <ac:spMkLst>
            <pc:docMk/>
            <pc:sldMk cId="0" sldId="315"/>
            <ac:spMk id="24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05:49:01.956" v="2124" actId="1076"/>
          <ac:spMkLst>
            <pc:docMk/>
            <pc:sldMk cId="0" sldId="315"/>
            <ac:spMk id="2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7:13.312" v="2079" actId="478"/>
          <ac:spMkLst>
            <pc:docMk/>
            <pc:sldMk cId="0" sldId="315"/>
            <ac:spMk id="2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7:13.312" v="2079" actId="478"/>
          <ac:spMkLst>
            <pc:docMk/>
            <pc:sldMk cId="0" sldId="315"/>
            <ac:spMk id="2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7:13.312" v="2079" actId="478"/>
          <ac:spMkLst>
            <pc:docMk/>
            <pc:sldMk cId="0" sldId="315"/>
            <ac:spMk id="2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7:13.312" v="2079" actId="478"/>
          <ac:spMkLst>
            <pc:docMk/>
            <pc:sldMk cId="0" sldId="315"/>
            <ac:spMk id="2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7:13.312" v="2079" actId="478"/>
          <ac:spMkLst>
            <pc:docMk/>
            <pc:sldMk cId="0" sldId="315"/>
            <ac:spMk id="3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7:13.312" v="2079" actId="478"/>
          <ac:spMkLst>
            <pc:docMk/>
            <pc:sldMk cId="0" sldId="315"/>
            <ac:spMk id="3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7:13.312" v="2079" actId="478"/>
          <ac:spMkLst>
            <pc:docMk/>
            <pc:sldMk cId="0" sldId="315"/>
            <ac:spMk id="32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7:13.312" v="2079" actId="478"/>
          <ac:spMkLst>
            <pc:docMk/>
            <pc:sldMk cId="0" sldId="315"/>
            <ac:spMk id="3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47:13.312" v="2079" actId="478"/>
          <ac:spMkLst>
            <pc:docMk/>
            <pc:sldMk cId="0" sldId="315"/>
            <ac:spMk id="34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05:47:48.228" v="2083" actId="1076"/>
          <ac:spMkLst>
            <pc:docMk/>
            <pc:sldMk cId="0" sldId="315"/>
            <ac:spMk id="35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2T05:48:42.692" v="2122" actId="1076"/>
          <ac:spMkLst>
            <pc:docMk/>
            <pc:sldMk cId="0" sldId="315"/>
            <ac:spMk id="39" creationId="{B3551194-ADBB-1384-569E-D90AE72A7E48}"/>
          </ac:spMkLst>
        </pc:spChg>
        <pc:spChg chg="add mod">
          <ac:chgData name="Shuan Cheng" userId="b14087c0-bac9-44dd-b3f8-5d50e1ee75e5" providerId="ADAL" clId="{75A9BF88-81BC-4677-82BB-DF96F3D360A6}" dt="2025-11-22T05:48:58.565" v="2123" actId="1076"/>
          <ac:spMkLst>
            <pc:docMk/>
            <pc:sldMk cId="0" sldId="315"/>
            <ac:spMk id="40" creationId="{AA2BF39E-0318-67A9-FC1E-C13035FA1848}"/>
          </ac:spMkLst>
        </pc:spChg>
        <pc:spChg chg="add del">
          <ac:chgData name="Shuan Cheng" userId="b14087c0-bac9-44dd-b3f8-5d50e1ee75e5" providerId="ADAL" clId="{75A9BF88-81BC-4677-82BB-DF96F3D360A6}" dt="2025-11-22T05:49:16.525" v="2126" actId="22"/>
          <ac:spMkLst>
            <pc:docMk/>
            <pc:sldMk cId="0" sldId="315"/>
            <ac:spMk id="42" creationId="{8D648781-0FA6-1EAB-7202-C43E3A596E5B}"/>
          </ac:spMkLst>
        </pc:spChg>
        <pc:spChg chg="add mod">
          <ac:chgData name="Shuan Cheng" userId="b14087c0-bac9-44dd-b3f8-5d50e1ee75e5" providerId="ADAL" clId="{75A9BF88-81BC-4677-82BB-DF96F3D360A6}" dt="2025-11-22T05:50:11.751" v="2174" actId="1076"/>
          <ac:spMkLst>
            <pc:docMk/>
            <pc:sldMk cId="0" sldId="315"/>
            <ac:spMk id="43" creationId="{56AFDB8D-15C8-1212-78A5-74AA9B1A11AE}"/>
          </ac:spMkLst>
        </pc:spChg>
      </pc:sldChg>
      <pc:sldChg chg="modSp add del">
        <pc:chgData name="Shuan Cheng" userId="b14087c0-bac9-44dd-b3f8-5d50e1ee75e5" providerId="ADAL" clId="{75A9BF88-81BC-4677-82BB-DF96F3D360A6}" dt="2025-11-22T05:52:08.583" v="2176" actId="20577"/>
        <pc:sldMkLst>
          <pc:docMk/>
          <pc:sldMk cId="0" sldId="316"/>
        </pc:sldMkLst>
        <pc:spChg chg="mod">
          <ac:chgData name="Shuan Cheng" userId="b14087c0-bac9-44dd-b3f8-5d50e1ee75e5" providerId="ADAL" clId="{75A9BF88-81BC-4677-82BB-DF96F3D360A6}" dt="2025-11-22T05:52:08.583" v="2176" actId="20577"/>
          <ac:spMkLst>
            <pc:docMk/>
            <pc:sldMk cId="0" sldId="316"/>
            <ac:spMk id="2" creationId="{00000000-0000-0000-0000-000000000000}"/>
          </ac:spMkLst>
        </pc:spChg>
      </pc:sldChg>
      <pc:sldChg chg="addSp delSp modSp mod">
        <pc:chgData name="Shuan Cheng" userId="b14087c0-bac9-44dd-b3f8-5d50e1ee75e5" providerId="ADAL" clId="{75A9BF88-81BC-4677-82BB-DF96F3D360A6}" dt="2025-11-22T05:53:11.430" v="2181" actId="14100"/>
        <pc:sldMkLst>
          <pc:docMk/>
          <pc:sldMk cId="0" sldId="320"/>
        </pc:sldMkLst>
        <pc:spChg chg="mod">
          <ac:chgData name="Shuan Cheng" userId="b14087c0-bac9-44dd-b3f8-5d50e1ee75e5" providerId="ADAL" clId="{75A9BF88-81BC-4677-82BB-DF96F3D360A6}" dt="2025-11-22T05:52:39.147" v="2178" actId="14100"/>
          <ac:spMkLst>
            <pc:docMk/>
            <pc:sldMk cId="0" sldId="320"/>
            <ac:spMk id="3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2:36.927" v="2177" actId="478"/>
          <ac:spMkLst>
            <pc:docMk/>
            <pc:sldMk cId="0" sldId="320"/>
            <ac:spMk id="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2:36.927" v="2177" actId="478"/>
          <ac:spMkLst>
            <pc:docMk/>
            <pc:sldMk cId="0" sldId="320"/>
            <ac:spMk id="5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2:36.927" v="2177" actId="478"/>
          <ac:spMkLst>
            <pc:docMk/>
            <pc:sldMk cId="0" sldId="320"/>
            <ac:spMk id="6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2:36.927" v="2177" actId="478"/>
          <ac:spMkLst>
            <pc:docMk/>
            <pc:sldMk cId="0" sldId="320"/>
            <ac:spMk id="7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2:36.927" v="2177" actId="478"/>
          <ac:spMkLst>
            <pc:docMk/>
            <pc:sldMk cId="0" sldId="320"/>
            <ac:spMk id="8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2:36.927" v="2177" actId="478"/>
          <ac:spMkLst>
            <pc:docMk/>
            <pc:sldMk cId="0" sldId="320"/>
            <ac:spMk id="9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2:36.927" v="2177" actId="478"/>
          <ac:spMkLst>
            <pc:docMk/>
            <pc:sldMk cId="0" sldId="320"/>
            <ac:spMk id="10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2:36.927" v="2177" actId="478"/>
          <ac:spMkLst>
            <pc:docMk/>
            <pc:sldMk cId="0" sldId="320"/>
            <ac:spMk id="11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2:36.927" v="2177" actId="478"/>
          <ac:spMkLst>
            <pc:docMk/>
            <pc:sldMk cId="0" sldId="320"/>
            <ac:spMk id="14" creationId="{00000000-0000-0000-0000-000000000000}"/>
          </ac:spMkLst>
        </pc:spChg>
        <pc:spChg chg="del">
          <ac:chgData name="Shuan Cheng" userId="b14087c0-bac9-44dd-b3f8-5d50e1ee75e5" providerId="ADAL" clId="{75A9BF88-81BC-4677-82BB-DF96F3D360A6}" dt="2025-11-22T05:52:36.927" v="2177" actId="478"/>
          <ac:spMkLst>
            <pc:docMk/>
            <pc:sldMk cId="0" sldId="320"/>
            <ac:spMk id="15" creationId="{00000000-0000-0000-0000-000000000000}"/>
          </ac:spMkLst>
        </pc:spChg>
        <pc:spChg chg="mod">
          <ac:chgData name="Shuan Cheng" userId="b14087c0-bac9-44dd-b3f8-5d50e1ee75e5" providerId="ADAL" clId="{75A9BF88-81BC-4677-82BB-DF96F3D360A6}" dt="2025-11-22T05:53:11.430" v="2181" actId="14100"/>
          <ac:spMkLst>
            <pc:docMk/>
            <pc:sldMk cId="0" sldId="320"/>
            <ac:spMk id="16" creationId="{00000000-0000-0000-0000-000000000000}"/>
          </ac:spMkLst>
        </pc:spChg>
        <pc:spChg chg="add mod">
          <ac:chgData name="Shuan Cheng" userId="b14087c0-bac9-44dd-b3f8-5d50e1ee75e5" providerId="ADAL" clId="{75A9BF88-81BC-4677-82BB-DF96F3D360A6}" dt="2025-11-22T05:52:46.589" v="2180" actId="1076"/>
          <ac:spMkLst>
            <pc:docMk/>
            <pc:sldMk cId="0" sldId="320"/>
            <ac:spMk id="21" creationId="{E62EC337-5010-24C9-ABCC-B58DFDE78ED0}"/>
          </ac:spMkLst>
        </pc:spChg>
      </pc:sldChg>
    </pc:docChg>
  </pc:docChgLst>
</pc:chgInfo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5300" y="60916"/>
            <a:ext cx="3242945" cy="2882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700" b="0" i="0">
                <a:solidFill>
                  <a:srgbClr val="19191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691515" y="1938020"/>
            <a:ext cx="3227070" cy="86518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83BD3F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191919"/>
                </a:solidFill>
                <a:latin typeface="Arial"/>
                <a:cs typeface="Arial"/>
              </a:defRPr>
            </a:lvl1pPr>
          </a:lstStyle>
          <a:p>
            <a:pPr marL="825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5" dirty="0"/>
              <a:t> </a:t>
            </a:r>
            <a:r>
              <a:rPr spc="185" dirty="0"/>
              <a:t>/</a:t>
            </a:r>
            <a:r>
              <a:rPr spc="-45" dirty="0"/>
              <a:t> </a:t>
            </a:r>
            <a:r>
              <a:rPr spc="-25" dirty="0"/>
              <a:t>27</a:t>
            </a: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700" b="0" i="0">
                <a:solidFill>
                  <a:srgbClr val="19191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/>
        <p:txBody>
          <a:bodyPr lIns="0" tIns="0" rIns="0" bIns="0"/>
          <a:lstStyle>
            <a:lvl1pPr>
              <a:defRPr sz="12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83BD3F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191919"/>
                </a:solidFill>
                <a:latin typeface="Arial"/>
                <a:cs typeface="Arial"/>
              </a:defRPr>
            </a:lvl1pPr>
          </a:lstStyle>
          <a:p>
            <a:pPr marL="825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5" dirty="0"/>
              <a:t> </a:t>
            </a:r>
            <a:r>
              <a:rPr spc="185" dirty="0"/>
              <a:t>/</a:t>
            </a:r>
            <a:r>
              <a:rPr spc="-45" dirty="0"/>
              <a:t> </a:t>
            </a:r>
            <a:r>
              <a:rPr spc="-25" dirty="0"/>
              <a:t>27</a:t>
            </a: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700" b="0" i="0">
                <a:solidFill>
                  <a:srgbClr val="19191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230505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2374201" y="795972"/>
            <a:ext cx="2005393" cy="2284095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83BD3F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11/21/2025</a:t>
            </a:fld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191919"/>
                </a:solidFill>
                <a:latin typeface="Arial"/>
                <a:cs typeface="Arial"/>
              </a:defRPr>
            </a:lvl1pPr>
          </a:lstStyle>
          <a:p>
            <a:pPr marL="825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5" dirty="0"/>
              <a:t> </a:t>
            </a:r>
            <a:r>
              <a:rPr spc="185" dirty="0"/>
              <a:t>/</a:t>
            </a:r>
            <a:r>
              <a:rPr spc="-45" dirty="0"/>
              <a:t> </a:t>
            </a:r>
            <a:r>
              <a:rPr spc="-25" dirty="0"/>
              <a:t>27</a:t>
            </a: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700" b="0" i="0">
                <a:solidFill>
                  <a:srgbClr val="19191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83BD3F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11/21/2025</a:t>
            </a:fld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191919"/>
                </a:solidFill>
                <a:latin typeface="Arial"/>
                <a:cs typeface="Arial"/>
              </a:defRPr>
            </a:lvl1pPr>
          </a:lstStyle>
          <a:p>
            <a:pPr marL="825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5" dirty="0"/>
              <a:t> </a:t>
            </a:r>
            <a:r>
              <a:rPr spc="185" dirty="0"/>
              <a:t>/</a:t>
            </a:r>
            <a:r>
              <a:rPr spc="-45" dirty="0"/>
              <a:t> </a:t>
            </a:r>
            <a:r>
              <a:rPr spc="-25" dirty="0"/>
              <a:t>27</a:t>
            </a: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83BD3F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11/21/2025</a:t>
            </a:fld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>
              <a:defRPr sz="600" b="0" i="0">
                <a:solidFill>
                  <a:srgbClr val="191919"/>
                </a:solidFill>
                <a:latin typeface="Arial"/>
                <a:cs typeface="Arial"/>
              </a:defRPr>
            </a:lvl1pPr>
          </a:lstStyle>
          <a:p>
            <a:pPr marL="825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5" dirty="0"/>
              <a:t> </a:t>
            </a:r>
            <a:r>
              <a:rPr spc="185" dirty="0"/>
              <a:t>/</a:t>
            </a:r>
            <a:r>
              <a:rPr spc="-45" dirty="0"/>
              <a:t> </a:t>
            </a:r>
            <a:r>
              <a:rPr spc="-25" dirty="0"/>
              <a:t>27</a:t>
            </a: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g object 16"/>
          <p:cNvSpPr/>
          <p:nvPr/>
        </p:nvSpPr>
        <p:spPr>
          <a:xfrm>
            <a:off x="0" y="0"/>
            <a:ext cx="4608195" cy="389890"/>
          </a:xfrm>
          <a:custGeom>
            <a:avLst/>
            <a:gdLst/>
            <a:ahLst/>
            <a:cxnLst/>
            <a:rect l="l" t="t" r="r" b="b"/>
            <a:pathLst>
              <a:path w="4608195" h="389890">
                <a:moveTo>
                  <a:pt x="4608004" y="0"/>
                </a:moveTo>
                <a:lnTo>
                  <a:pt x="0" y="0"/>
                </a:lnTo>
                <a:lnTo>
                  <a:pt x="0" y="389674"/>
                </a:lnTo>
                <a:lnTo>
                  <a:pt x="4608004" y="389674"/>
                </a:lnTo>
                <a:lnTo>
                  <a:pt x="4608004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95300" y="60916"/>
            <a:ext cx="4254500" cy="28829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700" b="0" i="0">
                <a:solidFill>
                  <a:srgbClr val="191919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202742" y="860003"/>
            <a:ext cx="4244975" cy="173355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200" b="0" i="0">
                <a:solidFill>
                  <a:schemeClr val="tx1"/>
                </a:solidFill>
                <a:latin typeface="Arial"/>
                <a:cs typeface="Arial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44094" y="3338410"/>
            <a:ext cx="1447800" cy="1225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rgbClr val="83BD3F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230505" y="3218497"/>
            <a:ext cx="1060323" cy="173037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/>
              <a:t>11/21/2025</a:t>
            </a:fld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4249763" y="3338410"/>
            <a:ext cx="303643" cy="122554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600" b="0" i="0">
                <a:solidFill>
                  <a:srgbClr val="191919"/>
                </a:solidFill>
                <a:latin typeface="Arial"/>
                <a:cs typeface="Arial"/>
              </a:defRPr>
            </a:lvl1pPr>
          </a:lstStyle>
          <a:p>
            <a:pPr marL="825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‹#›</a:t>
            </a:fld>
            <a:r>
              <a:rPr spc="-45" dirty="0"/>
              <a:t> </a:t>
            </a:r>
            <a:r>
              <a:rPr spc="185" dirty="0"/>
              <a:t>/</a:t>
            </a:r>
            <a:r>
              <a:rPr spc="-45" dirty="0"/>
              <a:t> </a:t>
            </a:r>
            <a:r>
              <a:rPr spc="-25" dirty="0"/>
              <a:t>27</a:t>
            </a: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slide" Target="slide27.xml"/><Relationship Id="rId2" Type="http://schemas.openxmlformats.org/officeDocument/2006/relationships/image" Target="../media/image1.jpg"/><Relationship Id="rId1" Type="http://schemas.openxmlformats.org/officeDocument/2006/relationships/slideLayout" Target="../slideLayouts/slideLayout4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slide" Target="slide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Relationship Id="rId6" Type="http://schemas.openxmlformats.org/officeDocument/2006/relationships/slide" Target="slide1.xml"/><Relationship Id="rId5" Type="http://schemas.openxmlformats.org/officeDocument/2006/relationships/image" Target="../media/image7.png"/><Relationship Id="rId4" Type="http://schemas.openxmlformats.org/officeDocument/2006/relationships/image" Target="../media/image4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slide" Target="slide1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4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5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jpg"/><Relationship Id="rId2" Type="http://schemas.openxmlformats.org/officeDocument/2006/relationships/image" Target="../media/image10.jpg"/><Relationship Id="rId1" Type="http://schemas.openxmlformats.org/officeDocument/2006/relationships/slideLayout" Target="../slideLayouts/slideLayout5.xml"/><Relationship Id="rId5" Type="http://schemas.openxmlformats.org/officeDocument/2006/relationships/slide" Target="slide1.xml"/><Relationship Id="rId4" Type="http://schemas.openxmlformats.org/officeDocument/2006/relationships/image" Target="../media/image20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png"/><Relationship Id="rId2" Type="http://schemas.openxmlformats.org/officeDocument/2006/relationships/image" Target="../media/image23.png"/><Relationship Id="rId1" Type="http://schemas.openxmlformats.org/officeDocument/2006/relationships/slideLayout" Target="../slideLayouts/slideLayout1.xml"/><Relationship Id="rId4" Type="http://schemas.openxmlformats.org/officeDocument/2006/relationships/slide" Target="slide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26.pn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0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1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2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" Target="slide8.xml"/><Relationship Id="rId2" Type="http://schemas.openxmlformats.org/officeDocument/2006/relationships/slide" Target="slide2.xml"/><Relationship Id="rId1" Type="http://schemas.openxmlformats.org/officeDocument/2006/relationships/slideLayout" Target="../slideLayouts/slideLayout2.xml"/><Relationship Id="rId5" Type="http://schemas.openxmlformats.org/officeDocument/2006/relationships/slide" Target="slide1.xml"/><Relationship Id="rId4" Type="http://schemas.openxmlformats.org/officeDocument/2006/relationships/slide" Target="slide23.xml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slide" Target="slide1.xml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7.png"/><Relationship Id="rId5" Type="http://schemas.openxmlformats.org/officeDocument/2006/relationships/image" Target="../media/image36.png"/><Relationship Id="rId4" Type="http://schemas.openxmlformats.org/officeDocument/2006/relationships/image" Target="../media/image35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5.xml"/><Relationship Id="rId4" Type="http://schemas.openxmlformats.org/officeDocument/2006/relationships/slide" Target="slide1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0.png"/><Relationship Id="rId2" Type="http://schemas.openxmlformats.org/officeDocument/2006/relationships/slide" Target="slide1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1649818" y="215336"/>
            <a:ext cx="1309370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700" spc="-110" dirty="0">
                <a:latin typeface="Arial"/>
                <a:cs typeface="Arial"/>
              </a:rPr>
              <a:t>Linear</a:t>
            </a:r>
            <a:r>
              <a:rPr sz="1700" spc="10" dirty="0">
                <a:latin typeface="Arial"/>
                <a:cs typeface="Arial"/>
              </a:rPr>
              <a:t> </a:t>
            </a:r>
            <a:r>
              <a:rPr sz="1700" spc="-140" dirty="0">
                <a:latin typeface="Arial"/>
                <a:cs typeface="Arial"/>
              </a:rPr>
              <a:t>Systems</a:t>
            </a:r>
            <a:endParaRPr sz="1700">
              <a:latin typeface="Arial"/>
              <a:cs typeface="Arial"/>
            </a:endParaRPr>
          </a:p>
        </p:txBody>
      </p:sp>
      <p:sp>
        <p:nvSpPr>
          <p:cNvPr id="3" name="object 3"/>
          <p:cNvSpPr txBox="1">
            <a:spLocks noGrp="1"/>
          </p:cNvSpPr>
          <p:nvPr>
            <p:ph type="title"/>
          </p:nvPr>
        </p:nvSpPr>
        <p:spPr>
          <a:xfrm>
            <a:off x="318084" y="539261"/>
            <a:ext cx="3972560" cy="340360"/>
          </a:xfrm>
          <a:prstGeom prst="rect">
            <a:avLst/>
          </a:prstGeom>
        </p:spPr>
        <p:txBody>
          <a:bodyPr vert="horz" wrap="square" lIns="0" tIns="14604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14"/>
              </a:spcBef>
            </a:pPr>
            <a:r>
              <a:rPr sz="2050" spc="-180" dirty="0">
                <a:solidFill>
                  <a:srgbClr val="000000"/>
                </a:solidFill>
              </a:rPr>
              <a:t>Observer</a:t>
            </a:r>
            <a:r>
              <a:rPr sz="2050" spc="25" dirty="0">
                <a:solidFill>
                  <a:srgbClr val="000000"/>
                </a:solidFill>
              </a:rPr>
              <a:t> </a:t>
            </a:r>
            <a:r>
              <a:rPr sz="2050" spc="-170" dirty="0">
                <a:solidFill>
                  <a:srgbClr val="000000"/>
                </a:solidFill>
              </a:rPr>
              <a:t>and</a:t>
            </a:r>
            <a:r>
              <a:rPr sz="2050" spc="35" dirty="0">
                <a:solidFill>
                  <a:srgbClr val="000000"/>
                </a:solidFill>
              </a:rPr>
              <a:t> </a:t>
            </a:r>
            <a:r>
              <a:rPr sz="2050" spc="-185" dirty="0">
                <a:solidFill>
                  <a:srgbClr val="000000"/>
                </a:solidFill>
              </a:rPr>
              <a:t>Observer</a:t>
            </a:r>
            <a:r>
              <a:rPr sz="2050" spc="40" dirty="0">
                <a:solidFill>
                  <a:srgbClr val="000000"/>
                </a:solidFill>
              </a:rPr>
              <a:t> </a:t>
            </a:r>
            <a:r>
              <a:rPr sz="2050" spc="-110" dirty="0">
                <a:solidFill>
                  <a:srgbClr val="000000"/>
                </a:solidFill>
              </a:rPr>
              <a:t>State</a:t>
            </a:r>
            <a:r>
              <a:rPr sz="2050" spc="40" dirty="0">
                <a:solidFill>
                  <a:srgbClr val="000000"/>
                </a:solidFill>
              </a:rPr>
              <a:t> </a:t>
            </a:r>
            <a:r>
              <a:rPr sz="2050" spc="-185" dirty="0">
                <a:solidFill>
                  <a:srgbClr val="000000"/>
                </a:solidFill>
              </a:rPr>
              <a:t>Feedback</a:t>
            </a:r>
            <a:endParaRPr sz="2050"/>
          </a:p>
        </p:txBody>
      </p:sp>
      <p:grpSp>
        <p:nvGrpSpPr>
          <p:cNvPr id="4" name="object 4"/>
          <p:cNvGrpSpPr/>
          <p:nvPr/>
        </p:nvGrpSpPr>
        <p:grpSpPr>
          <a:xfrm>
            <a:off x="0" y="1796456"/>
            <a:ext cx="4608195" cy="1659889"/>
            <a:chOff x="0" y="1796456"/>
            <a:chExt cx="4608195" cy="1659889"/>
          </a:xfrm>
        </p:grpSpPr>
        <p:pic>
          <p:nvPicPr>
            <p:cNvPr id="5" name="object 5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795248" y="1796456"/>
              <a:ext cx="3017267" cy="1659543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0" y="3346272"/>
              <a:ext cx="4608195" cy="109855"/>
            </a:xfrm>
            <a:custGeom>
              <a:avLst/>
              <a:gdLst/>
              <a:ahLst/>
              <a:cxnLst/>
              <a:rect l="l" t="t" r="r" b="b"/>
              <a:pathLst>
                <a:path w="4608195" h="109854">
                  <a:moveTo>
                    <a:pt x="4607928" y="0"/>
                  </a:moveTo>
                  <a:lnTo>
                    <a:pt x="3071952" y="0"/>
                  </a:lnTo>
                  <a:lnTo>
                    <a:pt x="1535976" y="0"/>
                  </a:lnTo>
                  <a:lnTo>
                    <a:pt x="0" y="0"/>
                  </a:lnTo>
                  <a:lnTo>
                    <a:pt x="0" y="109728"/>
                  </a:lnTo>
                  <a:lnTo>
                    <a:pt x="1535976" y="109728"/>
                  </a:lnTo>
                  <a:lnTo>
                    <a:pt x="3071952" y="109728"/>
                  </a:lnTo>
                  <a:lnTo>
                    <a:pt x="4607928" y="109728"/>
                  </a:lnTo>
                  <a:lnTo>
                    <a:pt x="4607928" y="0"/>
                  </a:lnTo>
                  <a:close/>
                </a:path>
              </a:pathLst>
            </a:custGeom>
            <a:solidFill>
              <a:srgbClr val="E5E5E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sp>
        <p:nvSpPr>
          <p:cNvPr id="7" name="object 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8" name="object 8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Observers</a:t>
            </a:r>
            <a:r>
              <a:rPr sz="600" spc="135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and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Observer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State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9" name="object 9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82550">
              <a:lnSpc>
                <a:spcPct val="100000"/>
              </a:lnSpc>
              <a:spcBef>
                <a:spcPts val="60"/>
              </a:spcBef>
            </a:pPr>
            <a:fld id="{81D60167-4931-47E6-BA6A-407CBD079E47}" type="slidenum">
              <a:rPr dirty="0"/>
              <a:t>1</a:t>
            </a:fld>
            <a:r>
              <a:rPr spc="-45" dirty="0"/>
              <a:t> </a:t>
            </a:r>
            <a:r>
              <a:rPr spc="185" dirty="0"/>
              <a:t>/</a:t>
            </a:r>
            <a:r>
              <a:rPr spc="-45" dirty="0"/>
              <a:t> </a:t>
            </a:r>
            <a:r>
              <a:rPr spc="-25" dirty="0"/>
              <a:t>27</a:t>
            </a:r>
          </a:p>
        </p:txBody>
      </p:sp>
    </p:spTree>
  </p:cSld>
  <p:clrMapOvr>
    <a:masterClrMapping/>
  </p:clrMapOvr>
  <p:transition>
    <p:cut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55" dirty="0"/>
              <a:t>Introduction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421414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61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7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/>
              <a:t>full</a:t>
            </a:r>
            <a:r>
              <a:rPr sz="1200" spc="5" dirty="0"/>
              <a:t> </a:t>
            </a:r>
            <a:r>
              <a:rPr sz="1200" spc="-25" dirty="0"/>
              <a:t>state</a:t>
            </a:r>
            <a:r>
              <a:rPr sz="1200" spc="10" dirty="0"/>
              <a:t> </a:t>
            </a:r>
            <a:r>
              <a:rPr sz="1200" spc="-80" dirty="0"/>
              <a:t>feedback</a:t>
            </a:r>
            <a:r>
              <a:rPr sz="1200" spc="5" dirty="0"/>
              <a:t> </a:t>
            </a:r>
            <a:r>
              <a:rPr sz="1200" spc="-10" dirty="0"/>
              <a:t>is</a:t>
            </a:r>
            <a:r>
              <a:rPr sz="1200" spc="10" dirty="0"/>
              <a:t> </a:t>
            </a:r>
            <a:r>
              <a:rPr sz="1200" spc="-65" dirty="0"/>
              <a:t>usually</a:t>
            </a:r>
            <a:r>
              <a:rPr sz="1200" spc="10" dirty="0"/>
              <a:t> </a:t>
            </a:r>
            <a:r>
              <a:rPr sz="1200" dirty="0"/>
              <a:t>not</a:t>
            </a:r>
            <a:r>
              <a:rPr sz="1200" spc="5" dirty="0"/>
              <a:t> </a:t>
            </a:r>
            <a:r>
              <a:rPr sz="1200" spc="-10" dirty="0"/>
              <a:t>available</a:t>
            </a:r>
            <a:endParaRPr sz="1200">
              <a:latin typeface="Arial Unicode MS"/>
              <a:cs typeface="Arial Unicode MS"/>
            </a:endParaRPr>
          </a:p>
          <a:p>
            <a:pPr marL="50800">
              <a:lnSpc>
                <a:spcPct val="100000"/>
              </a:lnSpc>
              <a:spcBef>
                <a:spcPts val="51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25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/>
              <a:t>the</a:t>
            </a:r>
            <a:r>
              <a:rPr sz="1200" spc="-10" dirty="0"/>
              <a:t> </a:t>
            </a:r>
            <a:r>
              <a:rPr sz="1200" spc="-25" dirty="0"/>
              <a:t>state</a:t>
            </a:r>
            <a:r>
              <a:rPr sz="1200" spc="-10" dirty="0"/>
              <a:t> </a:t>
            </a:r>
            <a:r>
              <a:rPr sz="1200" spc="-40" dirty="0"/>
              <a:t>estimation</a:t>
            </a:r>
            <a:r>
              <a:rPr sz="1200" spc="-10" dirty="0"/>
              <a:t> problem</a:t>
            </a:r>
            <a:endParaRPr sz="1200">
              <a:latin typeface="Arial Unicode MS"/>
              <a:cs typeface="Arial Unicode MS"/>
            </a:endParaRPr>
          </a:p>
          <a:p>
            <a:pPr marL="358140">
              <a:lnSpc>
                <a:spcPct val="100000"/>
              </a:lnSpc>
              <a:spcBef>
                <a:spcPts val="215"/>
              </a:spcBef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330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100" spc="-35" dirty="0"/>
              <a:t>deterministic</a:t>
            </a:r>
            <a:r>
              <a:rPr sz="1100" spc="20" dirty="0"/>
              <a:t> </a:t>
            </a:r>
            <a:r>
              <a:rPr sz="1100" spc="-65" dirty="0"/>
              <a:t>case:</a:t>
            </a:r>
            <a:r>
              <a:rPr sz="1100" spc="130" dirty="0"/>
              <a:t> </a:t>
            </a:r>
            <a:r>
              <a:rPr sz="1100" spc="-75" dirty="0"/>
              <a:t>observer</a:t>
            </a:r>
            <a:r>
              <a:rPr sz="1100" spc="25" dirty="0"/>
              <a:t> </a:t>
            </a:r>
            <a:r>
              <a:rPr sz="1100" spc="-10" dirty="0"/>
              <a:t>design</a:t>
            </a:r>
            <a:endParaRPr sz="1100">
              <a:latin typeface="Arial Unicode MS"/>
              <a:cs typeface="Arial Unicode MS"/>
            </a:endParaRPr>
          </a:p>
          <a:p>
            <a:pPr marL="358140">
              <a:lnSpc>
                <a:spcPct val="100000"/>
              </a:lnSpc>
              <a:spcBef>
                <a:spcPts val="35"/>
              </a:spcBef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217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100" spc="-40" dirty="0"/>
              <a:t>stochastic</a:t>
            </a:r>
            <a:r>
              <a:rPr sz="1100" spc="-20" dirty="0"/>
              <a:t> </a:t>
            </a:r>
            <a:r>
              <a:rPr sz="1100" spc="-65" dirty="0"/>
              <a:t>case:</a:t>
            </a:r>
            <a:r>
              <a:rPr sz="1100" spc="65" dirty="0"/>
              <a:t> </a:t>
            </a:r>
            <a:r>
              <a:rPr sz="1100" dirty="0"/>
              <a:t>the</a:t>
            </a:r>
            <a:r>
              <a:rPr sz="1100" spc="-20" dirty="0"/>
              <a:t> </a:t>
            </a:r>
            <a:r>
              <a:rPr sz="1100" spc="-30" dirty="0"/>
              <a:t>most</a:t>
            </a:r>
            <a:r>
              <a:rPr sz="1100" spc="-20" dirty="0"/>
              <a:t> </a:t>
            </a:r>
            <a:r>
              <a:rPr sz="1100" spc="-35" dirty="0"/>
              <a:t>frequent</a:t>
            </a:r>
            <a:r>
              <a:rPr sz="1100" spc="-20" dirty="0"/>
              <a:t> option </a:t>
            </a:r>
            <a:r>
              <a:rPr sz="1100" spc="-10" dirty="0"/>
              <a:t>is</a:t>
            </a:r>
            <a:r>
              <a:rPr sz="1100" spc="-20" dirty="0"/>
              <a:t> </a:t>
            </a:r>
            <a:r>
              <a:rPr sz="1100" spc="-40" dirty="0"/>
              <a:t>Kalman</a:t>
            </a:r>
            <a:r>
              <a:rPr sz="1100" spc="-20" dirty="0"/>
              <a:t> </a:t>
            </a:r>
            <a:r>
              <a:rPr sz="1100" spc="-10" dirty="0"/>
              <a:t>filter</a:t>
            </a:r>
            <a:endParaRPr sz="1100">
              <a:latin typeface="Arial Unicode MS"/>
              <a:cs typeface="Arial Unicode M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Observers</a:t>
            </a:r>
            <a:r>
              <a:rPr sz="600" spc="135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and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Observer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State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319727" y="3338410"/>
            <a:ext cx="233679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191919"/>
                </a:solidFill>
                <a:latin typeface="Arial"/>
                <a:cs typeface="Arial"/>
              </a:rPr>
              <a:t>2</a:t>
            </a:r>
            <a:r>
              <a:rPr sz="600" spc="-45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191919"/>
                </a:solidFill>
                <a:latin typeface="Arial"/>
                <a:cs typeface="Arial"/>
              </a:rPr>
              <a:t>/</a:t>
            </a:r>
            <a:r>
              <a:rPr sz="600" spc="-45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191919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20" dirty="0"/>
              <a:t>Open-</a:t>
            </a:r>
            <a:r>
              <a:rPr spc="-80" dirty="0"/>
              <a:t>loop</a:t>
            </a:r>
            <a:r>
              <a:rPr spc="5" dirty="0"/>
              <a:t> </a:t>
            </a:r>
            <a:r>
              <a:rPr spc="-130" dirty="0"/>
              <a:t>observer</a:t>
            </a:r>
          </a:p>
        </p:txBody>
      </p:sp>
      <p:sp>
        <p:nvSpPr>
          <p:cNvPr id="3" name="object 3"/>
          <p:cNvSpPr/>
          <p:nvPr/>
        </p:nvSpPr>
        <p:spPr>
          <a:xfrm>
            <a:off x="648588" y="793140"/>
            <a:ext cx="141605" cy="0"/>
          </a:xfrm>
          <a:custGeom>
            <a:avLst/>
            <a:gdLst/>
            <a:ahLst/>
            <a:cxnLst/>
            <a:rect l="l" t="t" r="r" b="b"/>
            <a:pathLst>
              <a:path w="141604">
                <a:moveTo>
                  <a:pt x="0" y="0"/>
                </a:moveTo>
                <a:lnTo>
                  <a:pt x="140995" y="0"/>
                </a:lnTo>
              </a:path>
            </a:pathLst>
          </a:custGeom>
          <a:ln w="60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/>
          <p:nvPr/>
        </p:nvSpPr>
        <p:spPr>
          <a:xfrm>
            <a:off x="635888" y="539191"/>
            <a:ext cx="155575" cy="439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4765">
              <a:lnSpc>
                <a:spcPct val="113100"/>
              </a:lnSpc>
              <a:spcBef>
                <a:spcPts val="100"/>
              </a:spcBef>
            </a:pPr>
            <a:r>
              <a:rPr sz="1200" i="1" spc="-50" dirty="0">
                <a:latin typeface="Arial"/>
                <a:cs typeface="Arial"/>
              </a:rPr>
              <a:t>d </a:t>
            </a:r>
            <a:r>
              <a:rPr sz="1200" i="1" spc="-25" dirty="0">
                <a:latin typeface="Arial"/>
                <a:cs typeface="Arial"/>
              </a:rPr>
              <a:t>dt</a:t>
            </a:r>
            <a:endParaRPr sz="12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792060" y="666556"/>
            <a:ext cx="319532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75" dirty="0">
                <a:latin typeface="Arial"/>
                <a:cs typeface="Arial"/>
              </a:rPr>
              <a:t>x</a:t>
            </a:r>
            <a:r>
              <a:rPr sz="1200" i="1" spc="-220" dirty="0">
                <a:latin typeface="Arial"/>
                <a:cs typeface="Arial"/>
              </a:rPr>
              <a:t> </a:t>
            </a:r>
            <a:r>
              <a:rPr sz="1200" spc="90" dirty="0">
                <a:latin typeface="Arial"/>
                <a:cs typeface="Arial"/>
              </a:rPr>
              <a:t>(</a:t>
            </a:r>
            <a:r>
              <a:rPr sz="1200" i="1" spc="90" dirty="0">
                <a:latin typeface="Arial"/>
                <a:cs typeface="Arial"/>
              </a:rPr>
              <a:t>t</a:t>
            </a:r>
            <a:r>
              <a:rPr sz="1200" spc="90" dirty="0">
                <a:latin typeface="Arial"/>
                <a:cs typeface="Arial"/>
              </a:rPr>
              <a:t>)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i="1" spc="-55" dirty="0">
                <a:latin typeface="Arial"/>
                <a:cs typeface="Arial"/>
              </a:rPr>
              <a:t>Ax</a:t>
            </a:r>
            <a:r>
              <a:rPr sz="1200" i="1" spc="-215" dirty="0">
                <a:latin typeface="Arial"/>
                <a:cs typeface="Arial"/>
              </a:rPr>
              <a:t> </a:t>
            </a:r>
            <a:r>
              <a:rPr sz="1200" spc="90" dirty="0">
                <a:latin typeface="Arial"/>
                <a:cs typeface="Arial"/>
              </a:rPr>
              <a:t>(</a:t>
            </a:r>
            <a:r>
              <a:rPr sz="1200" i="1" spc="90" dirty="0">
                <a:latin typeface="Arial"/>
                <a:cs typeface="Arial"/>
              </a:rPr>
              <a:t>t</a:t>
            </a:r>
            <a:r>
              <a:rPr sz="1200" spc="90" dirty="0">
                <a:latin typeface="Arial"/>
                <a:cs typeface="Arial"/>
              </a:rPr>
              <a:t>)</a:t>
            </a:r>
            <a:r>
              <a:rPr sz="1200" spc="-50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50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Bu</a:t>
            </a:r>
            <a:r>
              <a:rPr sz="1200" dirty="0">
                <a:latin typeface="Arial"/>
                <a:cs typeface="Arial"/>
              </a:rPr>
              <a:t>(</a:t>
            </a:r>
            <a:r>
              <a:rPr sz="1200" i="1" dirty="0">
                <a:latin typeface="Arial"/>
                <a:cs typeface="Arial"/>
              </a:rPr>
              <a:t>t</a:t>
            </a:r>
            <a:r>
              <a:rPr sz="1200" dirty="0">
                <a:latin typeface="Arial"/>
                <a:cs typeface="Arial"/>
              </a:rPr>
              <a:t>)</a:t>
            </a:r>
            <a:r>
              <a:rPr sz="1200" i="1" dirty="0">
                <a:latin typeface="Times New Roman"/>
                <a:cs typeface="Times New Roman"/>
              </a:rPr>
              <a:t>,</a:t>
            </a:r>
            <a:r>
              <a:rPr sz="1200" i="1" spc="335" dirty="0">
                <a:latin typeface="Times New Roman"/>
                <a:cs typeface="Times New Roman"/>
              </a:rPr>
              <a:t> </a:t>
            </a:r>
            <a:r>
              <a:rPr sz="1200" i="1" spc="-75" dirty="0">
                <a:latin typeface="Arial"/>
                <a:cs typeface="Arial"/>
              </a:rPr>
              <a:t>x</a:t>
            </a:r>
            <a:r>
              <a:rPr sz="1200" i="1" spc="-2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(</a:t>
            </a:r>
            <a:r>
              <a:rPr sz="1200" i="1" dirty="0">
                <a:latin typeface="Arial"/>
                <a:cs typeface="Arial"/>
              </a:rPr>
              <a:t>k</a:t>
            </a:r>
            <a:r>
              <a:rPr sz="1200" i="1" spc="60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5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1)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i="1" spc="-55" dirty="0">
                <a:latin typeface="Arial"/>
                <a:cs typeface="Arial"/>
              </a:rPr>
              <a:t>Ax</a:t>
            </a:r>
            <a:r>
              <a:rPr sz="1200" i="1" spc="-215" dirty="0">
                <a:latin typeface="Arial"/>
                <a:cs typeface="Arial"/>
              </a:rPr>
              <a:t> </a:t>
            </a:r>
            <a:r>
              <a:rPr sz="1200" spc="55" dirty="0">
                <a:latin typeface="Arial"/>
                <a:cs typeface="Arial"/>
              </a:rPr>
              <a:t>(</a:t>
            </a:r>
            <a:r>
              <a:rPr sz="1200" i="1" spc="55" dirty="0">
                <a:latin typeface="Arial"/>
                <a:cs typeface="Arial"/>
              </a:rPr>
              <a:t>k</a:t>
            </a:r>
            <a:r>
              <a:rPr sz="1200" spc="55" dirty="0">
                <a:latin typeface="Arial"/>
                <a:cs typeface="Arial"/>
              </a:rPr>
              <a:t>)</a:t>
            </a:r>
            <a:r>
              <a:rPr sz="1200" spc="-50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50" dirty="0">
                <a:latin typeface="Arial"/>
                <a:cs typeface="Arial"/>
              </a:rPr>
              <a:t> </a:t>
            </a:r>
            <a:r>
              <a:rPr sz="1200" i="1" spc="-20" dirty="0">
                <a:latin typeface="Arial"/>
                <a:cs typeface="Arial"/>
              </a:rPr>
              <a:t>Bu</a:t>
            </a:r>
            <a:r>
              <a:rPr sz="1200" spc="-20" dirty="0">
                <a:latin typeface="Arial"/>
                <a:cs typeface="Arial"/>
              </a:rPr>
              <a:t>(</a:t>
            </a:r>
            <a:r>
              <a:rPr sz="1200" i="1" spc="-20" dirty="0">
                <a:latin typeface="Arial"/>
                <a:cs typeface="Arial"/>
              </a:rPr>
              <a:t>k</a:t>
            </a:r>
            <a:r>
              <a:rPr sz="1200" spc="-20" dirty="0"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215442" y="1001011"/>
            <a:ext cx="29984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7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55" dirty="0">
                <a:latin typeface="Arial"/>
                <a:cs typeface="Arial"/>
              </a:rPr>
              <a:t>conceptually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spc="-55" dirty="0">
                <a:latin typeface="Arial"/>
                <a:cs typeface="Arial"/>
              </a:rPr>
              <a:t>simplest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spc="-110" dirty="0">
                <a:latin typeface="Arial"/>
                <a:cs typeface="Arial"/>
              </a:rPr>
              <a:t>scheme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to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spc="-45" dirty="0">
                <a:latin typeface="Arial"/>
                <a:cs typeface="Arial"/>
              </a:rPr>
              <a:t>estimate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i="1" spc="-75" dirty="0">
                <a:latin typeface="Arial"/>
                <a:cs typeface="Arial"/>
              </a:rPr>
              <a:t>x</a:t>
            </a:r>
            <a:r>
              <a:rPr sz="1200" i="1" spc="-225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:</a:t>
            </a:r>
            <a:endParaRPr sz="1200">
              <a:latin typeface="Arial"/>
              <a:cs typeface="Arial"/>
            </a:endParaRPr>
          </a:p>
        </p:txBody>
      </p:sp>
      <p:sp>
        <p:nvSpPr>
          <p:cNvPr id="7" name="object 7"/>
          <p:cNvSpPr/>
          <p:nvPr/>
        </p:nvSpPr>
        <p:spPr>
          <a:xfrm>
            <a:off x="797255" y="1512887"/>
            <a:ext cx="141605" cy="0"/>
          </a:xfrm>
          <a:custGeom>
            <a:avLst/>
            <a:gdLst/>
            <a:ahLst/>
            <a:cxnLst/>
            <a:rect l="l" t="t" r="r" b="b"/>
            <a:pathLst>
              <a:path w="141605">
                <a:moveTo>
                  <a:pt x="0" y="0"/>
                </a:moveTo>
                <a:lnTo>
                  <a:pt x="140995" y="0"/>
                </a:lnTo>
              </a:path>
            </a:pathLst>
          </a:custGeom>
          <a:ln w="6070">
            <a:solidFill>
              <a:srgbClr val="000000"/>
            </a:solidFill>
          </a:ln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8" name="object 8"/>
          <p:cNvSpPr txBox="1"/>
          <p:nvPr/>
        </p:nvSpPr>
        <p:spPr>
          <a:xfrm>
            <a:off x="784555" y="1258938"/>
            <a:ext cx="155575" cy="439420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 marR="5080" indent="24765">
              <a:lnSpc>
                <a:spcPct val="113100"/>
              </a:lnSpc>
              <a:spcBef>
                <a:spcPts val="100"/>
              </a:spcBef>
            </a:pPr>
            <a:r>
              <a:rPr sz="1200" i="1" spc="-50" dirty="0">
                <a:latin typeface="Arial"/>
                <a:cs typeface="Arial"/>
              </a:rPr>
              <a:t>d </a:t>
            </a:r>
            <a:r>
              <a:rPr sz="1200" i="1" spc="-25" dirty="0">
                <a:latin typeface="Arial"/>
                <a:cs typeface="Arial"/>
              </a:rPr>
              <a:t>dt</a:t>
            </a:r>
            <a:endParaRPr sz="1200">
              <a:latin typeface="Arial"/>
              <a:cs typeface="Arial"/>
            </a:endParaRPr>
          </a:p>
        </p:txBody>
      </p:sp>
      <p:sp>
        <p:nvSpPr>
          <p:cNvPr id="9" name="object 9"/>
          <p:cNvSpPr txBox="1"/>
          <p:nvPr/>
        </p:nvSpPr>
        <p:spPr>
          <a:xfrm>
            <a:off x="940727" y="1386316"/>
            <a:ext cx="319532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440" dirty="0">
                <a:latin typeface="Arial"/>
                <a:cs typeface="Arial"/>
              </a:rPr>
              <a:t>x</a:t>
            </a:r>
            <a:r>
              <a:rPr sz="1200" spc="65" dirty="0">
                <a:latin typeface="Arial"/>
                <a:cs typeface="Arial"/>
              </a:rPr>
              <a:t>ˆ</a:t>
            </a:r>
            <a:r>
              <a:rPr sz="1200" spc="80" dirty="0">
                <a:latin typeface="Arial"/>
                <a:cs typeface="Arial"/>
              </a:rPr>
              <a:t>(</a:t>
            </a:r>
            <a:r>
              <a:rPr sz="1200" i="1" spc="165" dirty="0">
                <a:latin typeface="Arial"/>
                <a:cs typeface="Arial"/>
              </a:rPr>
              <a:t>t</a:t>
            </a:r>
            <a:r>
              <a:rPr sz="1200" spc="80" dirty="0">
                <a:latin typeface="Arial"/>
                <a:cs typeface="Arial"/>
              </a:rPr>
              <a:t>)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i="1" spc="50" dirty="0">
                <a:latin typeface="Arial"/>
                <a:cs typeface="Arial"/>
              </a:rPr>
              <a:t>A</a:t>
            </a:r>
            <a:r>
              <a:rPr sz="1200" i="1" spc="-470" dirty="0">
                <a:latin typeface="Arial"/>
                <a:cs typeface="Arial"/>
              </a:rPr>
              <a:t>x</a:t>
            </a:r>
            <a:r>
              <a:rPr sz="1200" spc="35" dirty="0">
                <a:latin typeface="Arial"/>
                <a:cs typeface="Arial"/>
              </a:rPr>
              <a:t>ˆ</a:t>
            </a:r>
            <a:r>
              <a:rPr sz="1200" spc="50" dirty="0">
                <a:latin typeface="Arial"/>
                <a:cs typeface="Arial"/>
              </a:rPr>
              <a:t>(</a:t>
            </a:r>
            <a:r>
              <a:rPr sz="1200" i="1" spc="135" dirty="0">
                <a:latin typeface="Arial"/>
                <a:cs typeface="Arial"/>
              </a:rPr>
              <a:t>t</a:t>
            </a:r>
            <a:r>
              <a:rPr sz="1200" spc="50" dirty="0">
                <a:latin typeface="Arial"/>
                <a:cs typeface="Arial"/>
              </a:rPr>
              <a:t>)</a:t>
            </a:r>
            <a:r>
              <a:rPr sz="1200" spc="-55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50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Bu</a:t>
            </a:r>
            <a:r>
              <a:rPr sz="1200" dirty="0">
                <a:latin typeface="Arial"/>
                <a:cs typeface="Arial"/>
              </a:rPr>
              <a:t>(</a:t>
            </a:r>
            <a:r>
              <a:rPr sz="1200" i="1" dirty="0">
                <a:latin typeface="Arial"/>
                <a:cs typeface="Arial"/>
              </a:rPr>
              <a:t>t</a:t>
            </a:r>
            <a:r>
              <a:rPr sz="1200" dirty="0">
                <a:latin typeface="Arial"/>
                <a:cs typeface="Arial"/>
              </a:rPr>
              <a:t>)</a:t>
            </a:r>
            <a:r>
              <a:rPr sz="1200" i="1" dirty="0">
                <a:latin typeface="Times New Roman"/>
                <a:cs typeface="Times New Roman"/>
              </a:rPr>
              <a:t>,</a:t>
            </a:r>
            <a:r>
              <a:rPr sz="1200" i="1" spc="330" dirty="0">
                <a:latin typeface="Times New Roman"/>
                <a:cs typeface="Times New Roman"/>
              </a:rPr>
              <a:t> </a:t>
            </a:r>
            <a:r>
              <a:rPr sz="1200" i="1" spc="-465" dirty="0">
                <a:latin typeface="Arial"/>
                <a:cs typeface="Arial"/>
              </a:rPr>
              <a:t>x</a:t>
            </a:r>
            <a:r>
              <a:rPr sz="1200" spc="40" dirty="0">
                <a:latin typeface="Arial"/>
                <a:cs typeface="Arial"/>
              </a:rPr>
              <a:t>ˆ</a:t>
            </a:r>
            <a:r>
              <a:rPr sz="1200" spc="55" dirty="0">
                <a:latin typeface="Arial"/>
                <a:cs typeface="Arial"/>
              </a:rPr>
              <a:t>(</a:t>
            </a:r>
            <a:r>
              <a:rPr sz="1200" i="1" spc="55" dirty="0">
                <a:latin typeface="Arial"/>
                <a:cs typeface="Arial"/>
              </a:rPr>
              <a:t>k</a:t>
            </a:r>
            <a:r>
              <a:rPr sz="1200" i="1" spc="50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5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1)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i="1" spc="30" dirty="0">
                <a:latin typeface="Arial"/>
                <a:cs typeface="Arial"/>
              </a:rPr>
              <a:t>A</a:t>
            </a:r>
            <a:r>
              <a:rPr sz="1200" i="1" spc="-490" dirty="0">
                <a:latin typeface="Arial"/>
                <a:cs typeface="Arial"/>
              </a:rPr>
              <a:t>x</a:t>
            </a:r>
            <a:r>
              <a:rPr sz="1200" spc="15" dirty="0">
                <a:latin typeface="Arial"/>
                <a:cs typeface="Arial"/>
              </a:rPr>
              <a:t>ˆ</a:t>
            </a:r>
            <a:r>
              <a:rPr sz="1200" spc="30" dirty="0">
                <a:latin typeface="Arial"/>
                <a:cs typeface="Arial"/>
              </a:rPr>
              <a:t>(</a:t>
            </a:r>
            <a:r>
              <a:rPr sz="1200" i="1" spc="130" dirty="0">
                <a:latin typeface="Arial"/>
                <a:cs typeface="Arial"/>
              </a:rPr>
              <a:t>k</a:t>
            </a:r>
            <a:r>
              <a:rPr sz="1200" spc="30" dirty="0">
                <a:latin typeface="Arial"/>
                <a:cs typeface="Arial"/>
              </a:rPr>
              <a:t>)</a:t>
            </a:r>
            <a:r>
              <a:rPr sz="1200" spc="-50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55" dirty="0">
                <a:latin typeface="Arial"/>
                <a:cs typeface="Arial"/>
              </a:rPr>
              <a:t> </a:t>
            </a:r>
            <a:r>
              <a:rPr sz="1200" i="1" spc="-20" dirty="0">
                <a:latin typeface="Arial"/>
                <a:cs typeface="Arial"/>
              </a:rPr>
              <a:t>Bu</a:t>
            </a:r>
            <a:r>
              <a:rPr sz="1200" spc="-20" dirty="0">
                <a:latin typeface="Arial"/>
                <a:cs typeface="Arial"/>
              </a:rPr>
              <a:t>(</a:t>
            </a:r>
            <a:r>
              <a:rPr sz="1200" i="1" spc="-20" dirty="0">
                <a:latin typeface="Arial"/>
                <a:cs typeface="Arial"/>
              </a:rPr>
              <a:t>k</a:t>
            </a:r>
            <a:r>
              <a:rPr sz="1200" spc="-20" dirty="0"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2999574" y="1730375"/>
            <a:ext cx="205104" cy="14732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800" i="1" spc="-20" dirty="0">
                <a:latin typeface="Arial"/>
                <a:cs typeface="Arial"/>
              </a:rPr>
              <a:t>e.g.</a:t>
            </a:r>
            <a:endParaRPr sz="800" dirty="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1" name="object 11"/>
              <p:cNvSpPr txBox="1"/>
              <p:nvPr/>
            </p:nvSpPr>
            <p:spPr>
              <a:xfrm>
                <a:off x="215442" y="1724914"/>
                <a:ext cx="4223208" cy="1552348"/>
              </a:xfrm>
              <a:prstGeom prst="rect">
                <a:avLst/>
              </a:prstGeom>
            </p:spPr>
            <p:txBody>
              <a:bodyPr vert="horz" wrap="square" lIns="0" tIns="76835" rIns="0" bIns="0" rtlCol="0">
                <a:spAutoFit/>
              </a:bodyPr>
              <a:lstStyle/>
              <a:p>
                <a:pPr marL="230504">
                  <a:lnSpc>
                    <a:spcPct val="100000"/>
                  </a:lnSpc>
                  <a:spcBef>
                    <a:spcPts val="605"/>
                  </a:spcBef>
                </a:pPr>
                <a:r>
                  <a:rPr lang="en-US" sz="1200" dirty="0">
                    <a:latin typeface="Arial"/>
                    <a:cs typeface="Arial"/>
                  </a:rPr>
                  <a:t>with</a:t>
                </a:r>
                <a:r>
                  <a:rPr lang="en-US" sz="1200" spc="-30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a </a:t>
                </a:r>
                <a:r>
                  <a:rPr lang="en-US" sz="1200" spc="-50" dirty="0">
                    <a:latin typeface="Arial"/>
                    <a:cs typeface="Arial"/>
                  </a:rPr>
                  <a:t>best</a:t>
                </a:r>
                <a:r>
                  <a:rPr lang="en-US" sz="1200" spc="5" dirty="0">
                    <a:latin typeface="Arial"/>
                    <a:cs typeface="Arial"/>
                  </a:rPr>
                  <a:t> </a:t>
                </a:r>
                <a:r>
                  <a:rPr lang="en-US" sz="1200" spc="-120" dirty="0">
                    <a:latin typeface="Arial"/>
                    <a:cs typeface="Arial"/>
                  </a:rPr>
                  <a:t>guess</a:t>
                </a:r>
                <a:r>
                  <a:rPr lang="en-US" sz="1200" spc="3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of</a:t>
                </a:r>
                <a:r>
                  <a:rPr lang="en-US" sz="1200" spc="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initial</a:t>
                </a:r>
                <a:r>
                  <a:rPr lang="en-US" sz="1200" spc="5" dirty="0">
                    <a:latin typeface="Arial"/>
                    <a:cs typeface="Arial"/>
                  </a:rPr>
                  <a:t> </a:t>
                </a:r>
                <a:r>
                  <a:rPr lang="en-US" sz="1200" spc="-55" dirty="0">
                    <a:latin typeface="Arial"/>
                    <a:cs typeface="Arial"/>
                  </a:rPr>
                  <a:t>estimate</a:t>
                </a:r>
                <a:r>
                  <a:rPr lang="en-US" sz="1200" dirty="0">
                    <a:latin typeface="Arial"/>
                    <a:cs typeface="Arial"/>
                  </a:rPr>
                  <a:t> </a:t>
                </a:r>
                <a:r>
                  <a:rPr lang="en-US" sz="1200" i="1" spc="-445" dirty="0">
                    <a:latin typeface="Arial"/>
                    <a:cs typeface="Arial"/>
                  </a:rPr>
                  <a:t>x</a:t>
                </a:r>
                <a:r>
                  <a:rPr lang="en-US" sz="1200" spc="60" dirty="0">
                    <a:latin typeface="Arial"/>
                    <a:cs typeface="Arial"/>
                  </a:rPr>
                  <a:t>ˆ</a:t>
                </a:r>
                <a:r>
                  <a:rPr lang="en-US" sz="1200" spc="75" dirty="0">
                    <a:latin typeface="Arial"/>
                    <a:cs typeface="Arial"/>
                  </a:rPr>
                  <a:t>(0)</a:t>
                </a:r>
                <a:r>
                  <a:rPr lang="en-US" sz="1200" spc="17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175" dirty="0">
                    <a:latin typeface="Arial"/>
                    <a:cs typeface="Arial"/>
                  </a:rPr>
                  <a:t> </a:t>
                </a:r>
                <a:r>
                  <a:rPr lang="en-US" sz="1200" spc="-25" dirty="0">
                    <a:latin typeface="Arial"/>
                    <a:cs typeface="Arial"/>
                  </a:rPr>
                  <a:t>0.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38100">
                  <a:lnSpc>
                    <a:spcPct val="100000"/>
                  </a:lnSpc>
                  <a:spcBef>
                    <a:spcPts val="509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195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35" dirty="0">
                    <a:latin typeface="Arial"/>
                    <a:cs typeface="Arial"/>
                  </a:rPr>
                  <a:t>error</a:t>
                </a:r>
                <a:r>
                  <a:rPr lang="en-US" sz="1200" dirty="0">
                    <a:latin typeface="Arial"/>
                    <a:cs typeface="Arial"/>
                  </a:rPr>
                  <a:t> </a:t>
                </a:r>
                <a:r>
                  <a:rPr lang="en-US" sz="1200" spc="-65" dirty="0">
                    <a:latin typeface="Arial"/>
                    <a:cs typeface="Arial"/>
                  </a:rPr>
                  <a:t>dynamics:</a:t>
                </a:r>
                <a:r>
                  <a:rPr lang="en-US" sz="1200" spc="110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e</a:t>
                </a:r>
                <a:r>
                  <a:rPr lang="en-US" sz="1200" i="1" spc="2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50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x</a:t>
                </a:r>
                <a:r>
                  <a:rPr lang="en-US" sz="1200" i="1" spc="-15" dirty="0"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latin typeface="Menlo"/>
                    <a:cs typeface="Menlo"/>
                  </a:rPr>
                  <a:t> </a:t>
                </a:r>
                <a:r>
                  <a:rPr lang="en-US" sz="1200" i="1" spc="-370" dirty="0">
                    <a:latin typeface="Arial"/>
                    <a:cs typeface="Arial"/>
                  </a:rPr>
                  <a:t>x</a:t>
                </a:r>
                <a:r>
                  <a:rPr lang="en-US" sz="1200" spc="135" dirty="0">
                    <a:latin typeface="Arial"/>
                    <a:cs typeface="Arial"/>
                  </a:rPr>
                  <a:t>ˆ</a:t>
                </a:r>
                <a:r>
                  <a:rPr lang="en-US" sz="1200" spc="150" dirty="0">
                    <a:latin typeface="Arial"/>
                    <a:cs typeface="Arial"/>
                  </a:rPr>
                  <a:t>: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634365">
                  <a:lnSpc>
                    <a:spcPct val="100000"/>
                  </a:lnSpc>
                  <a:spcBef>
                    <a:spcPts val="1065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pc="-4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en-US" sz="1200" b="0" i="1" spc="-40" smtClean="0">
                            <a:latin typeface="Cambria Math" panose="02040503050406030204" pitchFamily="18" charset="0"/>
                            <a:cs typeface="Arial"/>
                          </a:rPr>
                          <m:t>𝑒</m:t>
                        </m:r>
                      </m:e>
                    </m:acc>
                  </m:oMath>
                </a14:m>
                <a:r>
                  <a:rPr lang="en-US" sz="1200" spc="-40" dirty="0">
                    <a:latin typeface="Arial"/>
                    <a:cs typeface="Arial"/>
                  </a:rPr>
                  <a:t>(</a:t>
                </a:r>
                <a:r>
                  <a:rPr lang="en-US" sz="1200" i="1" spc="-40" dirty="0">
                    <a:latin typeface="Arial"/>
                    <a:cs typeface="Arial"/>
                  </a:rPr>
                  <a:t>t</a:t>
                </a:r>
                <a:r>
                  <a:rPr lang="en-US" sz="1200" spc="-40" dirty="0">
                    <a:latin typeface="Arial"/>
                    <a:cs typeface="Arial"/>
                  </a:rPr>
                  <a:t>)</a:t>
                </a:r>
                <a:r>
                  <a:rPr lang="en-US" sz="120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Ae</a:t>
                </a:r>
                <a:r>
                  <a:rPr lang="en-US" sz="1200" dirty="0"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latin typeface="Arial"/>
                    <a:cs typeface="Arial"/>
                  </a:rPr>
                  <a:t>t</a:t>
                </a:r>
                <a:r>
                  <a:rPr lang="en-US" sz="1200" dirty="0">
                    <a:latin typeface="Arial"/>
                    <a:cs typeface="Arial"/>
                  </a:rPr>
                  <a:t>)</a:t>
                </a:r>
                <a:r>
                  <a:rPr lang="en-US" sz="1200" i="1" dirty="0">
                    <a:latin typeface="Times New Roman"/>
                    <a:cs typeface="Times New Roman"/>
                  </a:rPr>
                  <a:t>,</a:t>
                </a:r>
                <a:r>
                  <a:rPr lang="en-US" sz="1200" i="1" spc="305" dirty="0">
                    <a:latin typeface="Times New Roman"/>
                    <a:cs typeface="Times New Roman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e</a:t>
                </a:r>
                <a:r>
                  <a:rPr lang="en-US" sz="1200" dirty="0"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latin typeface="Arial"/>
                    <a:cs typeface="Arial"/>
                  </a:rPr>
                  <a:t>k</a:t>
                </a:r>
                <a:r>
                  <a:rPr lang="en-US" sz="1200" i="1" spc="3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60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1)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Ae</a:t>
                </a:r>
                <a:r>
                  <a:rPr lang="en-US" sz="1200" dirty="0"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latin typeface="Arial"/>
                    <a:cs typeface="Arial"/>
                  </a:rPr>
                  <a:t>k</a:t>
                </a:r>
                <a:r>
                  <a:rPr lang="en-US" sz="1200" dirty="0">
                    <a:latin typeface="Arial"/>
                    <a:cs typeface="Arial"/>
                  </a:rPr>
                  <a:t>)</a:t>
                </a:r>
                <a:r>
                  <a:rPr lang="en-US" sz="1200" i="1" dirty="0">
                    <a:latin typeface="Times New Roman"/>
                    <a:cs typeface="Times New Roman"/>
                  </a:rPr>
                  <a:t>,</a:t>
                </a:r>
                <a:r>
                  <a:rPr lang="en-US" sz="1200" i="1" spc="305" dirty="0">
                    <a:latin typeface="Times New Roman"/>
                    <a:cs typeface="Times New Roman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e</a:t>
                </a:r>
                <a:r>
                  <a:rPr lang="en-US" sz="1200" dirty="0">
                    <a:latin typeface="Arial"/>
                    <a:cs typeface="Arial"/>
                  </a:rPr>
                  <a:t>(0)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x</a:t>
                </a:r>
                <a:r>
                  <a:rPr lang="en-US" sz="1200" baseline="-13888" dirty="0">
                    <a:latin typeface="Arial"/>
                    <a:cs typeface="Arial"/>
                  </a:rPr>
                  <a:t>0</a:t>
                </a:r>
                <a:r>
                  <a:rPr lang="en-US" sz="1200" spc="142" baseline="-13888" dirty="0"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latin typeface="Menlo"/>
                    <a:cs typeface="Menlo"/>
                  </a:rPr>
                  <a:t>−</a:t>
                </a:r>
                <a:r>
                  <a:rPr lang="en-US" sz="1200" i="1" spc="-455" dirty="0">
                    <a:latin typeface="Menlo"/>
                    <a:cs typeface="Menlo"/>
                  </a:rPr>
                  <a:t> </a:t>
                </a:r>
                <a:r>
                  <a:rPr lang="en-US" sz="1200" i="1" spc="-425" dirty="0">
                    <a:latin typeface="Arial"/>
                    <a:cs typeface="Arial"/>
                  </a:rPr>
                  <a:t>x</a:t>
                </a:r>
                <a:r>
                  <a:rPr lang="en-US" sz="1200" spc="80" dirty="0">
                    <a:latin typeface="Arial"/>
                    <a:cs typeface="Arial"/>
                  </a:rPr>
                  <a:t>ˆ</a:t>
                </a:r>
                <a:r>
                  <a:rPr lang="en-US" sz="1200" spc="95" dirty="0">
                    <a:latin typeface="Arial"/>
                    <a:cs typeface="Arial"/>
                  </a:rPr>
                  <a:t>(0)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345440">
                  <a:lnSpc>
                    <a:spcPct val="100000"/>
                  </a:lnSpc>
                  <a:spcBef>
                    <a:spcPts val="1240"/>
                  </a:spcBef>
                </a:pPr>
                <a:r>
                  <a:rPr lang="en-US" sz="1650" spc="262" baseline="7575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650" spc="330" baseline="7575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100" spc="-60" dirty="0">
                    <a:latin typeface="Arial"/>
                    <a:cs typeface="Arial"/>
                  </a:rPr>
                  <a:t>sensitive</a:t>
                </a:r>
                <a:r>
                  <a:rPr lang="en-US" sz="1100" spc="30" dirty="0">
                    <a:latin typeface="Arial"/>
                    <a:cs typeface="Arial"/>
                  </a:rPr>
                  <a:t> </a:t>
                </a:r>
                <a:r>
                  <a:rPr lang="en-US" sz="1100" dirty="0">
                    <a:latin typeface="Arial"/>
                    <a:cs typeface="Arial"/>
                  </a:rPr>
                  <a:t>to</a:t>
                </a:r>
                <a:r>
                  <a:rPr lang="en-US" sz="1100" spc="25" dirty="0">
                    <a:latin typeface="Arial"/>
                    <a:cs typeface="Arial"/>
                  </a:rPr>
                  <a:t> </a:t>
                </a:r>
                <a:r>
                  <a:rPr lang="en-US" sz="1100" dirty="0">
                    <a:latin typeface="Arial"/>
                    <a:cs typeface="Arial"/>
                  </a:rPr>
                  <a:t>input</a:t>
                </a:r>
                <a:r>
                  <a:rPr lang="en-US" sz="1100" spc="25" dirty="0">
                    <a:latin typeface="Arial"/>
                    <a:cs typeface="Arial"/>
                  </a:rPr>
                  <a:t> </a:t>
                </a:r>
                <a:r>
                  <a:rPr lang="en-US" sz="1100" spc="-10" dirty="0">
                    <a:latin typeface="Arial"/>
                    <a:cs typeface="Arial"/>
                  </a:rPr>
                  <a:t>disturbances</a:t>
                </a:r>
                <a:endParaRPr lang="en-US" sz="1100" dirty="0">
                  <a:latin typeface="Arial"/>
                  <a:cs typeface="Arial"/>
                </a:endParaRPr>
              </a:p>
              <a:p>
                <a:pPr marL="345440">
                  <a:lnSpc>
                    <a:spcPct val="100000"/>
                  </a:lnSpc>
                  <a:spcBef>
                    <a:spcPts val="35"/>
                  </a:spcBef>
                </a:pPr>
                <a:r>
                  <a:rPr lang="en-US" sz="1650" spc="262" baseline="7575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650" spc="270" baseline="7575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100" dirty="0">
                    <a:latin typeface="Arial"/>
                    <a:cs typeface="Arial"/>
                  </a:rPr>
                  <a:t>if</a:t>
                </a:r>
                <a:r>
                  <a:rPr lang="en-US" sz="1100" spc="5" dirty="0">
                    <a:latin typeface="Arial"/>
                    <a:cs typeface="Arial"/>
                  </a:rPr>
                  <a:t> </a:t>
                </a:r>
                <a:r>
                  <a:rPr lang="en-US" sz="1100" i="1" dirty="0">
                    <a:latin typeface="Arial"/>
                    <a:cs typeface="Arial"/>
                  </a:rPr>
                  <a:t>A </a:t>
                </a:r>
                <a:r>
                  <a:rPr lang="en-US" sz="1100" spc="-10" dirty="0">
                    <a:latin typeface="Arial"/>
                    <a:cs typeface="Arial"/>
                  </a:rPr>
                  <a:t>is</a:t>
                </a:r>
                <a:r>
                  <a:rPr lang="en-US" sz="1100" dirty="0">
                    <a:latin typeface="Arial"/>
                    <a:cs typeface="Arial"/>
                  </a:rPr>
                  <a:t> not</a:t>
                </a:r>
                <a:r>
                  <a:rPr lang="en-US" sz="1100" spc="5" dirty="0">
                    <a:latin typeface="Arial"/>
                    <a:cs typeface="Arial"/>
                  </a:rPr>
                  <a:t> </a:t>
                </a:r>
                <a:r>
                  <a:rPr lang="en-US" sz="1100" spc="-10" dirty="0">
                    <a:latin typeface="Arial"/>
                    <a:cs typeface="Arial"/>
                  </a:rPr>
                  <a:t>Hurwitz/Schur</a:t>
                </a:r>
                <a:r>
                  <a:rPr lang="en-US" sz="1100" dirty="0">
                    <a:latin typeface="Arial"/>
                    <a:cs typeface="Arial"/>
                  </a:rPr>
                  <a:t> </a:t>
                </a:r>
                <a:r>
                  <a:rPr lang="en-US" sz="1100" spc="-35" dirty="0">
                    <a:latin typeface="Arial"/>
                    <a:cs typeface="Arial"/>
                  </a:rPr>
                  <a:t>stable,</a:t>
                </a:r>
                <a:r>
                  <a:rPr lang="en-US" sz="1100" dirty="0">
                    <a:latin typeface="Arial"/>
                    <a:cs typeface="Arial"/>
                  </a:rPr>
                  <a:t> the </a:t>
                </a:r>
                <a:r>
                  <a:rPr lang="en-US" sz="1100" spc="-30" dirty="0">
                    <a:latin typeface="Arial"/>
                    <a:cs typeface="Arial"/>
                  </a:rPr>
                  <a:t>error</a:t>
                </a:r>
                <a:r>
                  <a:rPr lang="en-US" sz="1100" spc="5" dirty="0">
                    <a:latin typeface="Arial"/>
                    <a:cs typeface="Arial"/>
                  </a:rPr>
                  <a:t> </a:t>
                </a:r>
                <a:r>
                  <a:rPr lang="en-US" sz="1100" spc="-10" dirty="0">
                    <a:latin typeface="Arial"/>
                    <a:cs typeface="Arial"/>
                  </a:rPr>
                  <a:t>diverges</a:t>
                </a:r>
                <a:endParaRPr lang="en-US" sz="1100" dirty="0">
                  <a:latin typeface="Arial"/>
                  <a:cs typeface="Arial"/>
                </a:endParaRPr>
              </a:p>
              <a:p>
                <a:pPr marL="38100">
                  <a:lnSpc>
                    <a:spcPct val="100000"/>
                  </a:lnSpc>
                  <a:spcBef>
                    <a:spcPts val="270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195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70" dirty="0">
                    <a:latin typeface="Arial"/>
                    <a:cs typeface="Arial"/>
                  </a:rPr>
                  <a:t>open-</a:t>
                </a:r>
                <a:r>
                  <a:rPr lang="en-US" sz="1200" spc="-30" dirty="0">
                    <a:latin typeface="Arial"/>
                    <a:cs typeface="Arial"/>
                  </a:rPr>
                  <a:t>loop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spc="-85" dirty="0">
                    <a:latin typeface="Arial"/>
                    <a:cs typeface="Arial"/>
                  </a:rPr>
                  <a:t>observers</a:t>
                </a:r>
                <a:r>
                  <a:rPr lang="en-US" sz="1200" dirty="0"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look </a:t>
                </a:r>
                <a:r>
                  <a:rPr lang="en-US" sz="1200" spc="-55" dirty="0">
                    <a:latin typeface="Arial"/>
                    <a:cs typeface="Arial"/>
                  </a:rPr>
                  <a:t>simple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but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do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not</a:t>
                </a:r>
                <a:r>
                  <a:rPr lang="en-US" sz="1200" spc="-10" dirty="0">
                    <a:latin typeface="Arial"/>
                    <a:cs typeface="Arial"/>
                  </a:rPr>
                  <a:t> </a:t>
                </a:r>
                <a:r>
                  <a:rPr lang="en-US" sz="1200" spc="-40" dirty="0">
                    <a:latin typeface="Arial"/>
                    <a:cs typeface="Arial"/>
                  </a:rPr>
                  <a:t>work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in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practice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11" name="object 11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42" y="1724914"/>
                <a:ext cx="4223208" cy="1552348"/>
              </a:xfrm>
              <a:prstGeom prst="rect">
                <a:avLst/>
              </a:prstGeom>
              <a:blipFill>
                <a:blip r:embed="rId2"/>
                <a:stretch>
                  <a:fillRect l="-1299" b="-470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2" name="object 12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3" name="object 1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Observers</a:t>
            </a:r>
            <a:r>
              <a:rPr sz="600" spc="135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and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Observer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State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319727" y="3338410"/>
            <a:ext cx="233679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191919"/>
                </a:solidFill>
                <a:latin typeface="Arial"/>
                <a:cs typeface="Arial"/>
              </a:rPr>
              <a:t>3</a:t>
            </a:r>
            <a:r>
              <a:rPr sz="600" spc="-45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191919"/>
                </a:solidFill>
                <a:latin typeface="Arial"/>
                <a:cs typeface="Arial"/>
              </a:rPr>
              <a:t>/</a:t>
            </a:r>
            <a:r>
              <a:rPr sz="600" spc="-45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191919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00" y="60916"/>
            <a:ext cx="3662679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30" dirty="0"/>
              <a:t>Luenberger</a:t>
            </a:r>
            <a:r>
              <a:rPr spc="40" dirty="0"/>
              <a:t> </a:t>
            </a:r>
            <a:r>
              <a:rPr spc="-105" dirty="0"/>
              <a:t>(closed-</a:t>
            </a:r>
            <a:r>
              <a:rPr spc="-40" dirty="0"/>
              <a:t>loop)</a:t>
            </a:r>
            <a:r>
              <a:rPr spc="40" dirty="0"/>
              <a:t> </a:t>
            </a:r>
            <a:r>
              <a:rPr spc="-140" dirty="0"/>
              <a:t>observer</a:t>
            </a:r>
            <a:r>
              <a:rPr spc="40" dirty="0"/>
              <a:t> </a:t>
            </a:r>
            <a:r>
              <a:rPr spc="-85" dirty="0"/>
              <a:t>concept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object 3"/>
              <p:cNvSpPr txBox="1"/>
              <p:nvPr/>
            </p:nvSpPr>
            <p:spPr>
              <a:xfrm>
                <a:off x="202742" y="533930"/>
                <a:ext cx="4307205" cy="1347933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50800">
                  <a:lnSpc>
                    <a:spcPct val="100000"/>
                  </a:lnSpc>
                  <a:spcBef>
                    <a:spcPts val="95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33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60" dirty="0">
                    <a:latin typeface="Arial"/>
                    <a:cs typeface="Arial"/>
                  </a:rPr>
                  <a:t>given</a:t>
                </a:r>
                <a:r>
                  <a:rPr lang="en-US" sz="1200" spc="40" dirty="0">
                    <a:latin typeface="Arial"/>
                    <a:cs typeface="Arial"/>
                  </a:rPr>
                  <a:t> </a:t>
                </a:r>
                <a:r>
                  <a:rPr lang="en-US" sz="1200" spc="-85" dirty="0">
                    <a:latin typeface="Arial"/>
                    <a:cs typeface="Arial"/>
                  </a:rPr>
                  <a:t>system</a:t>
                </a:r>
                <a:r>
                  <a:rPr lang="en-US" sz="1200" spc="35" dirty="0"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dynamics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788035">
                  <a:lnSpc>
                    <a:spcPct val="100000"/>
                  </a:lnSpc>
                  <a:spcBef>
                    <a:spcPts val="1200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pc="20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en-US" sz="1200" b="0" i="1" spc="200" smtClean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5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Ax</a:t>
                </a:r>
                <a:r>
                  <a:rPr lang="en-US" sz="1200" i="1" spc="3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7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Bu</a:t>
                </a:r>
                <a:r>
                  <a:rPr lang="en-US" sz="1200" i="1" dirty="0">
                    <a:latin typeface="Times New Roman"/>
                    <a:cs typeface="Times New Roman"/>
                  </a:rPr>
                  <a:t>,</a:t>
                </a:r>
                <a:r>
                  <a:rPr lang="en-US" sz="1200" i="1" spc="275" dirty="0">
                    <a:latin typeface="Times New Roman"/>
                    <a:cs typeface="Times New Roman"/>
                  </a:rPr>
                  <a:t> </a:t>
                </a:r>
                <a:r>
                  <a:rPr lang="en-US" sz="1200" i="1" spc="-75" dirty="0">
                    <a:latin typeface="Arial"/>
                    <a:cs typeface="Arial"/>
                  </a:rPr>
                  <a:t>x</a:t>
                </a:r>
                <a:r>
                  <a:rPr lang="en-US" sz="1200" i="1" spc="-22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(0)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x</a:t>
                </a:r>
                <a:r>
                  <a:rPr lang="en-US" sz="1200" baseline="-13888" dirty="0">
                    <a:latin typeface="Arial"/>
                    <a:cs typeface="Arial"/>
                  </a:rPr>
                  <a:t>0</a:t>
                </a:r>
                <a:r>
                  <a:rPr lang="en-US" sz="1200" i="1" dirty="0">
                    <a:latin typeface="Times New Roman"/>
                    <a:cs typeface="Times New Roman"/>
                  </a:rPr>
                  <a:t>,</a:t>
                </a:r>
                <a:r>
                  <a:rPr lang="en-US" sz="1200" i="1" spc="275" dirty="0">
                    <a:latin typeface="Times New Roman"/>
                    <a:cs typeface="Times New Roman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A</a:t>
                </a:r>
                <a:r>
                  <a:rPr lang="en-US" sz="1200" i="1" spc="-15" dirty="0">
                    <a:latin typeface="Arial"/>
                    <a:cs typeface="Arial"/>
                  </a:rPr>
                  <a:t> </a:t>
                </a:r>
                <a:r>
                  <a:rPr lang="en-US" sz="1200" spc="65" dirty="0">
                    <a:latin typeface="Menlo"/>
                    <a:cs typeface="Menlo"/>
                  </a:rPr>
                  <a:t>∈</a:t>
                </a:r>
                <a:r>
                  <a:rPr lang="en-US" sz="1200" i="1" spc="-390" dirty="0">
                    <a:latin typeface="Menlo"/>
                    <a:cs typeface="Menlo"/>
                  </a:rPr>
                  <a:t> </a:t>
                </a:r>
                <a:r>
                  <a:rPr lang="en-US" sz="1200" spc="55" dirty="0">
                    <a:latin typeface="Times New Roman"/>
                    <a:cs typeface="Times New Roman"/>
                  </a:rPr>
                  <a:t>R</a:t>
                </a:r>
                <a:r>
                  <a:rPr lang="en-US" sz="1200" i="1" spc="82" baseline="34722" dirty="0">
                    <a:latin typeface="Arial"/>
                    <a:cs typeface="Arial"/>
                  </a:rPr>
                  <a:t>n</a:t>
                </a:r>
                <a:r>
                  <a:rPr lang="en-US" sz="1200" i="1" spc="82" baseline="34722" dirty="0">
                    <a:latin typeface="Hack"/>
                    <a:cs typeface="Hack"/>
                  </a:rPr>
                  <a:t>×</a:t>
                </a:r>
                <a:r>
                  <a:rPr lang="en-US" sz="1200" i="1" spc="82" baseline="34722" dirty="0">
                    <a:latin typeface="Arial"/>
                    <a:cs typeface="Arial"/>
                  </a:rPr>
                  <a:t>n</a:t>
                </a:r>
                <a:r>
                  <a:rPr lang="en-US" sz="1200" i="1" spc="55" dirty="0">
                    <a:latin typeface="Times New Roman"/>
                    <a:cs typeface="Times New Roman"/>
                  </a:rPr>
                  <a:t>,</a:t>
                </a:r>
                <a:r>
                  <a:rPr lang="en-US" sz="1200" i="1" spc="-100" dirty="0">
                    <a:latin typeface="Times New Roman"/>
                    <a:cs typeface="Times New Roman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B</a:t>
                </a:r>
                <a:r>
                  <a:rPr lang="en-US" sz="1200" i="1" spc="85" dirty="0">
                    <a:latin typeface="Arial"/>
                    <a:cs typeface="Arial"/>
                  </a:rPr>
                  <a:t> </a:t>
                </a:r>
                <a:r>
                  <a:rPr lang="en-US" sz="1200" spc="65" dirty="0">
                    <a:latin typeface="Menlo"/>
                    <a:cs typeface="Menlo"/>
                  </a:rPr>
                  <a:t>∈</a:t>
                </a:r>
                <a:r>
                  <a:rPr lang="en-US" sz="1200" i="1" spc="-390" dirty="0">
                    <a:latin typeface="Menlo"/>
                    <a:cs typeface="Menlo"/>
                  </a:rPr>
                  <a:t> </a:t>
                </a:r>
                <a:r>
                  <a:rPr lang="en-US" sz="1200" spc="40" dirty="0">
                    <a:latin typeface="Times New Roman"/>
                    <a:cs typeface="Times New Roman"/>
                  </a:rPr>
                  <a:t>R</a:t>
                </a:r>
                <a:r>
                  <a:rPr lang="en-US" sz="1200" i="1" spc="60" baseline="34722" dirty="0">
                    <a:latin typeface="Arial"/>
                    <a:cs typeface="Arial"/>
                  </a:rPr>
                  <a:t>n</a:t>
                </a:r>
                <a:r>
                  <a:rPr lang="en-US" sz="1200" i="1" spc="60" baseline="34722" dirty="0">
                    <a:latin typeface="Hack"/>
                    <a:cs typeface="Hack"/>
                  </a:rPr>
                  <a:t>×</a:t>
                </a:r>
                <a:r>
                  <a:rPr lang="en-US" sz="1200" i="1" spc="60" baseline="34722" dirty="0">
                    <a:latin typeface="Arial"/>
                    <a:cs typeface="Arial"/>
                  </a:rPr>
                  <a:t>r</a:t>
                </a:r>
                <a:endParaRPr lang="en-US" sz="1200" baseline="34722" dirty="0">
                  <a:latin typeface="Arial"/>
                  <a:cs typeface="Arial"/>
                </a:endParaRPr>
              </a:p>
              <a:p>
                <a:pPr marL="785495">
                  <a:lnSpc>
                    <a:spcPct val="100000"/>
                  </a:lnSpc>
                  <a:spcBef>
                    <a:spcPts val="305"/>
                  </a:spcBef>
                </a:pPr>
                <a:r>
                  <a:rPr lang="en-US" sz="1200" i="1" dirty="0">
                    <a:latin typeface="Arial"/>
                    <a:cs typeface="Arial"/>
                  </a:rPr>
                  <a:t>y</a:t>
                </a:r>
                <a:r>
                  <a:rPr lang="en-US" sz="1200" i="1" spc="5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30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Cx</a:t>
                </a:r>
                <a:r>
                  <a:rPr lang="en-US" sz="1200" i="1" dirty="0">
                    <a:latin typeface="Times New Roman"/>
                    <a:cs typeface="Times New Roman"/>
                  </a:rPr>
                  <a:t>,</a:t>
                </a:r>
                <a:r>
                  <a:rPr lang="en-US" sz="1200" i="1" spc="235" dirty="0">
                    <a:latin typeface="Times New Roman"/>
                    <a:cs typeface="Times New Roman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y</a:t>
                </a:r>
                <a:r>
                  <a:rPr lang="en-US" sz="1200" i="1" spc="85" dirty="0">
                    <a:latin typeface="Arial"/>
                    <a:cs typeface="Arial"/>
                  </a:rPr>
                  <a:t> </a:t>
                </a:r>
                <a:r>
                  <a:rPr lang="en-US" sz="1200" spc="65" dirty="0">
                    <a:latin typeface="Menlo"/>
                    <a:cs typeface="Menlo"/>
                  </a:rPr>
                  <a:t>∈</a:t>
                </a:r>
                <a:r>
                  <a:rPr lang="en-US" sz="1200" spc="-390" dirty="0">
                    <a:latin typeface="Menlo"/>
                    <a:cs typeface="Menlo"/>
                  </a:rPr>
                  <a:t> </a:t>
                </a:r>
                <a:r>
                  <a:rPr lang="en-US" sz="1200" spc="35" dirty="0">
                    <a:latin typeface="Times New Roman"/>
                    <a:cs typeface="Times New Roman"/>
                  </a:rPr>
                  <a:t>R</a:t>
                </a:r>
                <a:r>
                  <a:rPr lang="en-US" sz="1200" i="1" spc="52" baseline="34722" dirty="0">
                    <a:latin typeface="Arial"/>
                    <a:cs typeface="Arial"/>
                  </a:rPr>
                  <a:t>m</a:t>
                </a:r>
                <a:r>
                  <a:rPr lang="en-US" sz="1200" i="1" spc="52" baseline="34722" dirty="0">
                    <a:latin typeface="Hack"/>
                    <a:cs typeface="Hack"/>
                  </a:rPr>
                  <a:t>×</a:t>
                </a:r>
                <a:r>
                  <a:rPr lang="en-US" sz="1200" i="1" spc="52" baseline="34722" dirty="0">
                    <a:latin typeface="Arial"/>
                    <a:cs typeface="Arial"/>
                  </a:rPr>
                  <a:t>n</a:t>
                </a:r>
                <a:endParaRPr lang="en-US" sz="1200" baseline="34722" dirty="0">
                  <a:latin typeface="Arial"/>
                  <a:cs typeface="Arial"/>
                </a:endParaRPr>
              </a:p>
              <a:p>
                <a:pPr>
                  <a:lnSpc>
                    <a:spcPct val="100000"/>
                  </a:lnSpc>
                  <a:spcBef>
                    <a:spcPts val="114"/>
                  </a:spcBef>
                </a:pPr>
                <a:endParaRPr lang="en-US" sz="1200" dirty="0">
                  <a:latin typeface="Arial"/>
                  <a:cs typeface="Arial"/>
                </a:endParaRPr>
              </a:p>
              <a:p>
                <a:pPr marL="243204" marR="43180" indent="-193040">
                  <a:lnSpc>
                    <a:spcPct val="100000"/>
                  </a:lnSpc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307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in</a:t>
                </a:r>
                <a:r>
                  <a:rPr lang="en-US" sz="1200" spc="15" dirty="0">
                    <a:latin typeface="Arial"/>
                    <a:cs typeface="Arial"/>
                  </a:rPr>
                  <a:t> </a:t>
                </a:r>
                <a:r>
                  <a:rPr lang="en-US" sz="1200" spc="-40" dirty="0">
                    <a:latin typeface="Arial"/>
                    <a:cs typeface="Arial"/>
                  </a:rPr>
                  <a:t>contrast</a:t>
                </a:r>
                <a:r>
                  <a:rPr lang="en-US" sz="1200" spc="10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to</a:t>
                </a:r>
                <a:r>
                  <a:rPr lang="en-US" sz="1200" spc="15" dirty="0">
                    <a:latin typeface="Arial"/>
                    <a:cs typeface="Arial"/>
                  </a:rPr>
                  <a:t> </a:t>
                </a:r>
                <a:r>
                  <a:rPr lang="en-US" sz="1200" spc="-70" dirty="0">
                    <a:latin typeface="Arial"/>
                    <a:cs typeface="Arial"/>
                  </a:rPr>
                  <a:t>open-</a:t>
                </a:r>
                <a:r>
                  <a:rPr lang="en-US" sz="1200" spc="-40" dirty="0">
                    <a:latin typeface="Arial"/>
                    <a:cs typeface="Arial"/>
                  </a:rPr>
                  <a:t>loop</a:t>
                </a:r>
                <a:r>
                  <a:rPr lang="en-US" sz="1200" spc="15" dirty="0">
                    <a:latin typeface="Arial"/>
                    <a:cs typeface="Arial"/>
                  </a:rPr>
                  <a:t> </a:t>
                </a:r>
                <a:r>
                  <a:rPr lang="en-US" sz="1200" spc="-85" dirty="0">
                    <a:latin typeface="Arial"/>
                    <a:cs typeface="Arial"/>
                  </a:rPr>
                  <a:t>observers,</a:t>
                </a:r>
                <a:r>
                  <a:rPr lang="en-US" sz="1200" spc="15" dirty="0"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the</a:t>
                </a:r>
                <a:r>
                  <a:rPr lang="en-US" sz="1200" spc="15" dirty="0">
                    <a:latin typeface="Arial"/>
                    <a:cs typeface="Arial"/>
                  </a:rPr>
                  <a:t> </a:t>
                </a:r>
                <a:r>
                  <a:rPr lang="en-US" sz="1200" spc="-70" dirty="0">
                    <a:latin typeface="Arial"/>
                    <a:cs typeface="Arial"/>
                  </a:rPr>
                  <a:t>Luenberger</a:t>
                </a:r>
                <a:r>
                  <a:rPr lang="en-US" sz="1200" spc="10" dirty="0">
                    <a:latin typeface="Arial"/>
                    <a:cs typeface="Arial"/>
                  </a:rPr>
                  <a:t> </a:t>
                </a:r>
                <a:r>
                  <a:rPr lang="en-US" sz="1200" spc="-90" dirty="0">
                    <a:latin typeface="Arial"/>
                    <a:cs typeface="Arial"/>
                  </a:rPr>
                  <a:t>observer</a:t>
                </a:r>
                <a:r>
                  <a:rPr lang="en-US" sz="1200" spc="15" dirty="0">
                    <a:latin typeface="Arial"/>
                    <a:cs typeface="Arial"/>
                  </a:rPr>
                  <a:t> </a:t>
                </a:r>
                <a:r>
                  <a:rPr lang="en-US" sz="1200" spc="-45" dirty="0">
                    <a:latin typeface="Arial"/>
                    <a:cs typeface="Arial"/>
                  </a:rPr>
                  <a:t>adds </a:t>
                </a:r>
                <a:r>
                  <a:rPr lang="en-US" sz="1200" spc="-40" dirty="0">
                    <a:latin typeface="Arial"/>
                    <a:cs typeface="Arial"/>
                  </a:rPr>
                  <a:t>correction</a:t>
                </a:r>
                <a:r>
                  <a:rPr lang="en-US" sz="1200" spc="-45" dirty="0">
                    <a:latin typeface="Arial"/>
                    <a:cs typeface="Arial"/>
                  </a:rPr>
                  <a:t> </a:t>
                </a:r>
                <a:r>
                  <a:rPr lang="en-US" sz="1200" spc="-105" dirty="0">
                    <a:latin typeface="Arial"/>
                    <a:cs typeface="Arial"/>
                  </a:rPr>
                  <a:t>based</a:t>
                </a:r>
                <a:r>
                  <a:rPr lang="en-US" sz="1200" spc="20" dirty="0"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on</a:t>
                </a:r>
                <a:r>
                  <a:rPr lang="en-US" sz="1200" spc="-7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output</a:t>
                </a:r>
                <a:r>
                  <a:rPr lang="en-US" sz="1200" spc="-40" dirty="0"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differences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>
          <p:sp>
            <p:nvSpPr>
              <p:cNvPr id="3" name="objec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742" y="533930"/>
                <a:ext cx="4307205" cy="1347933"/>
              </a:xfrm>
              <a:prstGeom prst="rect">
                <a:avLst/>
              </a:prstGeom>
              <a:blipFill>
                <a:blip r:embed="rId2"/>
                <a:stretch>
                  <a:fillRect l="-990" t="-3620" b="-407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81274" y="2015815"/>
            <a:ext cx="2443603" cy="1078005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Observers</a:t>
            </a:r>
            <a:r>
              <a:rPr sz="600" spc="135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and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Observer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State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4319727" y="3338410"/>
            <a:ext cx="233679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191919"/>
                </a:solidFill>
                <a:latin typeface="Arial"/>
                <a:cs typeface="Arial"/>
              </a:rPr>
              <a:t>4</a:t>
            </a:r>
            <a:r>
              <a:rPr sz="600" spc="-45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191919"/>
                </a:solidFill>
                <a:latin typeface="Arial"/>
                <a:cs typeface="Arial"/>
              </a:rPr>
              <a:t>/</a:t>
            </a:r>
            <a:r>
              <a:rPr sz="600" spc="-45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191919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30" dirty="0"/>
              <a:t>Luenberger</a:t>
            </a:r>
            <a:r>
              <a:rPr spc="40" dirty="0"/>
              <a:t> </a:t>
            </a:r>
            <a:r>
              <a:rPr spc="-105" dirty="0"/>
              <a:t>(closed-</a:t>
            </a:r>
            <a:r>
              <a:rPr spc="-40" dirty="0"/>
              <a:t>loop)</a:t>
            </a:r>
            <a:r>
              <a:rPr spc="40" dirty="0"/>
              <a:t> </a:t>
            </a:r>
            <a:r>
              <a:rPr spc="-140" dirty="0"/>
              <a:t>observer</a:t>
            </a:r>
            <a:r>
              <a:rPr spc="40" dirty="0"/>
              <a:t> </a:t>
            </a:r>
            <a:r>
              <a:rPr spc="-55" dirty="0"/>
              <a:t>algorithm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105777" y="1159903"/>
            <a:ext cx="1825892" cy="5060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2024722" y="703298"/>
            <a:ext cx="123888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95" dirty="0">
                <a:latin typeface="Arial"/>
                <a:cs typeface="Arial"/>
              </a:rPr>
              <a:t>observer</a:t>
            </a:r>
            <a:r>
              <a:rPr sz="1400" spc="65" dirty="0">
                <a:latin typeface="Arial"/>
                <a:cs typeface="Arial"/>
              </a:rPr>
              <a:t> </a:t>
            </a:r>
            <a:r>
              <a:rPr sz="1400" spc="-65" dirty="0">
                <a:latin typeface="Arial"/>
                <a:cs typeface="Arial"/>
              </a:rPr>
              <a:t>concept</a:t>
            </a:r>
            <a:endParaRPr sz="1400">
              <a:latin typeface="Arial"/>
              <a:cs typeface="Arial"/>
            </a:endParaRPr>
          </a:p>
        </p:txBody>
      </p:sp>
      <p:pic>
        <p:nvPicPr>
          <p:cNvPr id="5" name="object 5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986622" y="946277"/>
            <a:ext cx="2515635" cy="50609"/>
          </a:xfrm>
          <a:prstGeom prst="rect">
            <a:avLst/>
          </a:prstGeom>
        </p:spPr>
      </p:pic>
      <p:pic>
        <p:nvPicPr>
          <p:cNvPr id="6" name="object 6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2103227" y="1048773"/>
            <a:ext cx="2280636" cy="1006112"/>
          </a:xfrm>
          <a:prstGeom prst="rect">
            <a:avLst/>
          </a:prstGeom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7" name="object 7"/>
              <p:cNvSpPr txBox="1"/>
              <p:nvPr/>
            </p:nvSpPr>
            <p:spPr>
              <a:xfrm>
                <a:off x="118478" y="916924"/>
                <a:ext cx="4329430" cy="2007729"/>
              </a:xfrm>
              <a:prstGeom prst="rect">
                <a:avLst/>
              </a:prstGeom>
            </p:spPr>
            <p:txBody>
              <a:bodyPr vert="horz" wrap="square" lIns="0" tIns="17145" rIns="0" bIns="0" rtlCol="0">
                <a:spAutoFit/>
              </a:bodyPr>
              <a:lstStyle/>
              <a:p>
                <a:pPr marL="38100">
                  <a:lnSpc>
                    <a:spcPct val="100000"/>
                  </a:lnSpc>
                  <a:spcBef>
                    <a:spcPts val="135"/>
                  </a:spcBef>
                </a:pPr>
                <a:r>
                  <a:rPr lang="en-US" sz="1400" spc="-10" dirty="0">
                    <a:latin typeface="Arial"/>
                    <a:cs typeface="Arial"/>
                  </a:rPr>
                  <a:t>plant:</a:t>
                </a:r>
                <a:endParaRPr lang="en-US" sz="1400" dirty="0">
                  <a:latin typeface="Arial"/>
                  <a:cs typeface="Arial"/>
                </a:endParaRPr>
              </a:p>
              <a:p>
                <a:pPr>
                  <a:lnSpc>
                    <a:spcPct val="100000"/>
                  </a:lnSpc>
                  <a:spcBef>
                    <a:spcPts val="170"/>
                  </a:spcBef>
                </a:pPr>
                <a:endParaRPr lang="en-US" sz="1400" dirty="0">
                  <a:latin typeface="Arial"/>
                  <a:cs typeface="Arial"/>
                </a:endParaRPr>
              </a:p>
              <a:p>
                <a:pPr marL="127000" marR="2654300" indent="1905">
                  <a:lnSpc>
                    <a:spcPct val="121100"/>
                  </a:lnSpc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pc="11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en-US" sz="1200" b="0" i="1" spc="110" smtClean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spc="11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2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Ax</a:t>
                </a:r>
                <a:r>
                  <a:rPr lang="en-US" sz="1200" i="1" spc="3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7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Bu</a:t>
                </a:r>
                <a:r>
                  <a:rPr lang="en-US" sz="1200" i="1" dirty="0">
                    <a:latin typeface="Times New Roman"/>
                    <a:cs typeface="Times New Roman"/>
                  </a:rPr>
                  <a:t>,</a:t>
                </a:r>
                <a:r>
                  <a:rPr lang="en-US" sz="1200" i="1" spc="280" dirty="0">
                    <a:latin typeface="Times New Roman"/>
                    <a:cs typeface="Times New Roman"/>
                  </a:rPr>
                  <a:t> </a:t>
                </a:r>
                <a:r>
                  <a:rPr lang="en-US" sz="1200" i="1" spc="-75" dirty="0">
                    <a:latin typeface="Arial"/>
                    <a:cs typeface="Arial"/>
                  </a:rPr>
                  <a:t>x</a:t>
                </a:r>
                <a:r>
                  <a:rPr lang="en-US" sz="1200" i="1" spc="-22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(0)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i="1" spc="-40" dirty="0">
                    <a:latin typeface="Arial"/>
                    <a:cs typeface="Arial"/>
                  </a:rPr>
                  <a:t>x</a:t>
                </a:r>
                <a:r>
                  <a:rPr lang="en-US" sz="1200" spc="-60" baseline="-13888" dirty="0">
                    <a:latin typeface="Arial"/>
                    <a:cs typeface="Arial"/>
                  </a:rPr>
                  <a:t>0</a:t>
                </a:r>
                <a:r>
                  <a:rPr lang="en-US" sz="1200" baseline="-13888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y</a:t>
                </a:r>
                <a:r>
                  <a:rPr lang="en-US" sz="1200" i="1" spc="8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30" dirty="0"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latin typeface="Arial"/>
                    <a:cs typeface="Arial"/>
                  </a:rPr>
                  <a:t>Cx</a:t>
                </a:r>
                <a:endParaRPr lang="en-US" sz="1200" dirty="0">
                  <a:latin typeface="Arial"/>
                  <a:cs typeface="Arial"/>
                </a:endParaRPr>
              </a:p>
              <a:p>
                <a:pPr>
                  <a:lnSpc>
                    <a:spcPct val="100000"/>
                  </a:lnSpc>
                  <a:spcBef>
                    <a:spcPts val="815"/>
                  </a:spcBef>
                </a:pPr>
                <a:endParaRPr lang="en-US" sz="1200" dirty="0">
                  <a:latin typeface="Arial"/>
                  <a:cs typeface="Arial"/>
                </a:endParaRPr>
              </a:p>
              <a:p>
                <a:pPr marL="134620">
                  <a:lnSpc>
                    <a:spcPct val="100000"/>
                  </a:lnSpc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367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85" dirty="0">
                    <a:latin typeface="Arial"/>
                    <a:cs typeface="Arial"/>
                  </a:rPr>
                  <a:t>observer</a:t>
                </a:r>
                <a:r>
                  <a:rPr lang="en-US" sz="1200" spc="55" dirty="0"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realization: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389890">
                  <a:lnSpc>
                    <a:spcPct val="100000"/>
                  </a:lnSpc>
                  <a:spcBef>
                    <a:spcPts val="1200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1400" b="0" i="1" spc="-10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acc>
                          <m:accPr>
                            <m:chr m:val="̂"/>
                            <m:ctrlPr>
                              <a:rPr lang="en-US" sz="1200" b="0" i="1" spc="200" smtClean="0"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200" b="0" i="1" spc="200" smtClean="0">
                                <a:latin typeface="Cambria Math" panose="02040503050406030204" pitchFamily="18" charset="0"/>
                                <a:cs typeface="Arial"/>
                              </a:rPr>
                              <m:t>𝑥</m:t>
                            </m:r>
                          </m:e>
                        </m:acc>
                      </m:e>
                    </m:acc>
                  </m:oMath>
                </a14:m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5" dirty="0">
                    <a:latin typeface="Arial"/>
                    <a:cs typeface="Arial"/>
                  </a:rPr>
                  <a:t> </a:t>
                </a:r>
                <a:r>
                  <a:rPr lang="en-US" sz="1200" i="1" spc="40" dirty="0">
                    <a:latin typeface="Arial"/>
                    <a:cs typeface="Arial"/>
                  </a:rPr>
                  <a:t>A</a:t>
                </a:r>
                <a:r>
                  <a:rPr lang="en-US" sz="1200" i="1" spc="-480" dirty="0">
                    <a:latin typeface="Arial"/>
                    <a:cs typeface="Arial"/>
                  </a:rPr>
                  <a:t>x</a:t>
                </a:r>
                <a:r>
                  <a:rPr lang="en-US" sz="1200" spc="40" dirty="0">
                    <a:latin typeface="Arial"/>
                    <a:cs typeface="Arial"/>
                  </a:rPr>
                  <a:t>ˆ</a:t>
                </a:r>
                <a:r>
                  <a:rPr lang="en-US" sz="1200" spc="-8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70" dirty="0">
                    <a:latin typeface="Arial"/>
                    <a:cs typeface="Arial"/>
                  </a:rPr>
                  <a:t> </a:t>
                </a:r>
                <a:r>
                  <a:rPr lang="en-US" sz="1200" i="1" spc="-20" dirty="0">
                    <a:latin typeface="Arial"/>
                    <a:cs typeface="Arial"/>
                  </a:rPr>
                  <a:t>Bu</a:t>
                </a:r>
                <a:r>
                  <a:rPr lang="en-US" sz="1200" i="1" spc="-1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70" dirty="0">
                    <a:latin typeface="Arial"/>
                    <a:cs typeface="Arial"/>
                  </a:rPr>
                  <a:t> </a:t>
                </a:r>
                <a:r>
                  <a:rPr lang="en-US" sz="1200" i="1" spc="-40" dirty="0">
                    <a:latin typeface="Arial"/>
                    <a:cs typeface="Arial"/>
                  </a:rPr>
                  <a:t>L</a:t>
                </a:r>
                <a:r>
                  <a:rPr lang="en-US" sz="1200" i="1" spc="-130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latin typeface="Arial"/>
                    <a:cs typeface="Arial"/>
                  </a:rPr>
                  <a:t>y</a:t>
                </a:r>
                <a:r>
                  <a:rPr lang="en-US" sz="1200" i="1" spc="60" dirty="0"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latin typeface="Menlo"/>
                    <a:cs typeface="Menlo"/>
                  </a:rPr>
                  <a:t> </a:t>
                </a:r>
                <a:r>
                  <a:rPr lang="en-US" sz="1200" i="1" spc="-434" dirty="0">
                    <a:latin typeface="Arial"/>
                    <a:cs typeface="Arial"/>
                  </a:rPr>
                  <a:t>y</a:t>
                </a:r>
                <a:r>
                  <a:rPr lang="en-US" sz="1200" spc="65" dirty="0">
                    <a:latin typeface="Arial"/>
                    <a:cs typeface="Arial"/>
                  </a:rPr>
                  <a:t>ˆ</a:t>
                </a:r>
                <a:r>
                  <a:rPr lang="en-US" sz="1200" spc="75" dirty="0">
                    <a:latin typeface="Arial"/>
                    <a:cs typeface="Arial"/>
                  </a:rPr>
                  <a:t>)</a:t>
                </a:r>
                <a:r>
                  <a:rPr lang="en-US" sz="120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5" dirty="0">
                    <a:latin typeface="Arial"/>
                    <a:cs typeface="Arial"/>
                  </a:rPr>
                  <a:t> </a:t>
                </a:r>
                <a:r>
                  <a:rPr lang="en-US" sz="1200" i="1" spc="40" dirty="0">
                    <a:latin typeface="Arial"/>
                    <a:cs typeface="Arial"/>
                  </a:rPr>
                  <a:t>A</a:t>
                </a:r>
                <a:r>
                  <a:rPr lang="en-US" sz="1200" i="1" spc="-480" dirty="0">
                    <a:latin typeface="Arial"/>
                    <a:cs typeface="Arial"/>
                  </a:rPr>
                  <a:t>x</a:t>
                </a:r>
                <a:r>
                  <a:rPr lang="en-US" sz="1200" spc="40" dirty="0">
                    <a:latin typeface="Arial"/>
                    <a:cs typeface="Arial"/>
                  </a:rPr>
                  <a:t>ˆ</a:t>
                </a:r>
                <a:r>
                  <a:rPr lang="en-US" sz="1200" spc="-8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70" dirty="0">
                    <a:latin typeface="Arial"/>
                    <a:cs typeface="Arial"/>
                  </a:rPr>
                  <a:t> </a:t>
                </a:r>
                <a:r>
                  <a:rPr lang="en-US" sz="1200" i="1" spc="-20" dirty="0">
                    <a:latin typeface="Arial"/>
                    <a:cs typeface="Arial"/>
                  </a:rPr>
                  <a:t>Bu</a:t>
                </a:r>
                <a:r>
                  <a:rPr lang="en-US" sz="1200" i="1" spc="-1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70" dirty="0">
                    <a:latin typeface="Arial"/>
                    <a:cs typeface="Arial"/>
                  </a:rPr>
                  <a:t> </a:t>
                </a:r>
                <a:r>
                  <a:rPr lang="en-US" sz="1200" i="1" spc="-40" dirty="0">
                    <a:latin typeface="Arial"/>
                    <a:cs typeface="Arial"/>
                  </a:rPr>
                  <a:t>L</a:t>
                </a:r>
                <a:r>
                  <a:rPr lang="en-US" sz="1200" i="1" spc="-13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latin typeface="Arial"/>
                    <a:cs typeface="Arial"/>
                  </a:rPr>
                  <a:t>y</a:t>
                </a:r>
                <a:r>
                  <a:rPr lang="en-US" sz="1200" i="1" spc="65" dirty="0"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latin typeface="Menlo"/>
                    <a:cs typeface="Menlo"/>
                  </a:rPr>
                  <a:t> </a:t>
                </a:r>
                <a:r>
                  <a:rPr lang="en-US" sz="1200" i="1" spc="-130" dirty="0">
                    <a:latin typeface="Arial"/>
                    <a:cs typeface="Arial"/>
                  </a:rPr>
                  <a:t>C</a:t>
                </a:r>
                <a:r>
                  <a:rPr lang="en-US" sz="1200" i="1" spc="-190" dirty="0">
                    <a:latin typeface="Arial"/>
                    <a:cs typeface="Arial"/>
                  </a:rPr>
                  <a:t> </a:t>
                </a:r>
                <a:r>
                  <a:rPr lang="en-US" sz="1200" i="1" spc="-445" dirty="0">
                    <a:latin typeface="Arial"/>
                    <a:cs typeface="Arial"/>
                  </a:rPr>
                  <a:t>x</a:t>
                </a:r>
                <a:r>
                  <a:rPr lang="en-US" sz="1200" spc="60" dirty="0">
                    <a:latin typeface="Arial"/>
                    <a:cs typeface="Arial"/>
                  </a:rPr>
                  <a:t>ˆ</a:t>
                </a:r>
                <a:r>
                  <a:rPr lang="en-US" sz="1200" spc="75" dirty="0">
                    <a:latin typeface="Arial"/>
                    <a:cs typeface="Arial"/>
                  </a:rPr>
                  <a:t>)</a:t>
                </a:r>
                <a:r>
                  <a:rPr lang="en-US" sz="1200" spc="-130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Times New Roman"/>
                    <a:cs typeface="Times New Roman"/>
                  </a:rPr>
                  <a:t>,</a:t>
                </a:r>
                <a:r>
                  <a:rPr lang="en-US" sz="1200" i="1" spc="290" dirty="0">
                    <a:latin typeface="Times New Roman"/>
                    <a:cs typeface="Times New Roman"/>
                  </a:rPr>
                  <a:t> </a:t>
                </a:r>
                <a:r>
                  <a:rPr lang="en-US" sz="1200" i="1" spc="-484" dirty="0">
                    <a:latin typeface="Arial"/>
                    <a:cs typeface="Arial"/>
                  </a:rPr>
                  <a:t>x</a:t>
                </a:r>
                <a:r>
                  <a:rPr lang="en-US" sz="1200" spc="20" dirty="0">
                    <a:latin typeface="Arial"/>
                    <a:cs typeface="Arial"/>
                  </a:rPr>
                  <a:t>ˆ</a:t>
                </a:r>
                <a:r>
                  <a:rPr lang="en-US" sz="1200" spc="35" dirty="0">
                    <a:latin typeface="Arial"/>
                    <a:cs typeface="Arial"/>
                  </a:rPr>
                  <a:t>(0)</a:t>
                </a:r>
                <a:r>
                  <a:rPr lang="en-US" sz="1200" spc="-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dirty="0">
                    <a:latin typeface="Arial"/>
                    <a:cs typeface="Arial"/>
                  </a:rPr>
                  <a:t> </a:t>
                </a:r>
                <a:r>
                  <a:rPr lang="en-US" sz="1200" spc="-50" dirty="0">
                    <a:latin typeface="Arial"/>
                    <a:cs typeface="Arial"/>
                  </a:rPr>
                  <a:t>0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514350">
                  <a:lnSpc>
                    <a:spcPct val="100000"/>
                  </a:lnSpc>
                  <a:spcBef>
                    <a:spcPts val="305"/>
                  </a:spcBef>
                </a:pP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2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latin typeface="Arial"/>
                    <a:cs typeface="Arial"/>
                  </a:rPr>
                  <a:t>A</a:t>
                </a:r>
                <a:r>
                  <a:rPr lang="en-US" sz="1200" i="1" spc="-75" dirty="0"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latin typeface="Menlo"/>
                    <a:cs typeface="Menlo"/>
                  </a:rPr>
                  <a:t> </a:t>
                </a:r>
                <a:r>
                  <a:rPr lang="en-US" sz="1200" i="1" spc="-85" dirty="0">
                    <a:latin typeface="Arial"/>
                    <a:cs typeface="Arial"/>
                  </a:rPr>
                  <a:t>LC</a:t>
                </a:r>
                <a:r>
                  <a:rPr lang="en-US" sz="1200" i="1" spc="-190" dirty="0">
                    <a:latin typeface="Arial"/>
                    <a:cs typeface="Arial"/>
                  </a:rPr>
                  <a:t> </a:t>
                </a:r>
                <a:r>
                  <a:rPr lang="en-US" sz="1200" spc="50" dirty="0">
                    <a:latin typeface="Arial"/>
                    <a:cs typeface="Arial"/>
                  </a:rPr>
                  <a:t>)</a:t>
                </a:r>
                <a:r>
                  <a:rPr lang="en-US" sz="1200" spc="-135" dirty="0">
                    <a:latin typeface="Arial"/>
                    <a:cs typeface="Arial"/>
                  </a:rPr>
                  <a:t> </a:t>
                </a:r>
                <a:r>
                  <a:rPr lang="en-US" sz="1200" i="1" spc="-440" dirty="0">
                    <a:latin typeface="Arial"/>
                    <a:cs typeface="Arial"/>
                  </a:rPr>
                  <a:t>x</a:t>
                </a:r>
                <a:r>
                  <a:rPr lang="en-US" sz="1200" spc="80" dirty="0">
                    <a:latin typeface="Arial"/>
                    <a:cs typeface="Arial"/>
                  </a:rPr>
                  <a:t>ˆ</a:t>
                </a:r>
                <a:r>
                  <a:rPr lang="en-US" sz="1200" spc="-9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7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Ly</a:t>
                </a:r>
                <a:r>
                  <a:rPr lang="en-US" sz="1200" i="1" spc="5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75" dirty="0"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latin typeface="Arial"/>
                    <a:cs typeface="Arial"/>
                  </a:rPr>
                  <a:t>Bu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7" name="object 7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18478" y="916924"/>
                <a:ext cx="4329430" cy="2007729"/>
              </a:xfrm>
              <a:prstGeom prst="rect">
                <a:avLst/>
              </a:prstGeom>
              <a:blipFill>
                <a:blip r:embed="rId5"/>
                <a:stretch>
                  <a:fillRect l="-1688" t="-1818" b="-272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8" name="object 8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52" y="0"/>
                </a:lnTo>
                <a:lnTo>
                  <a:pt x="1535976" y="0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" name="object 9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10" name="object 10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6" action="ppaction://hlinksldjump"/>
              </a:rPr>
              <a:t>Observers</a:t>
            </a:r>
            <a:r>
              <a:rPr sz="600" spc="135" dirty="0">
                <a:solidFill>
                  <a:srgbClr val="FF84BD"/>
                </a:solidFill>
                <a:latin typeface="Arial"/>
                <a:cs typeface="Arial"/>
                <a:hlinkClick r:id="rId6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6" action="ppaction://hlinksldjump"/>
              </a:rPr>
              <a:t>and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6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6" action="ppaction://hlinksldjump"/>
              </a:rPr>
              <a:t>Observer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6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6" action="ppaction://hlinksldjump"/>
              </a:rPr>
              <a:t>State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6" action="ppaction://hlinksldjump"/>
              </a:rPr>
              <a:t> </a:t>
            </a: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6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4319727" y="3338410"/>
            <a:ext cx="233679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191919"/>
                </a:solidFill>
                <a:latin typeface="Arial"/>
                <a:cs typeface="Arial"/>
              </a:rPr>
              <a:t>5</a:t>
            </a:r>
            <a:r>
              <a:rPr sz="600" spc="-45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191919"/>
                </a:solidFill>
                <a:latin typeface="Arial"/>
                <a:cs typeface="Arial"/>
              </a:rPr>
              <a:t>/</a:t>
            </a:r>
            <a:r>
              <a:rPr sz="600" spc="-45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191919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30" dirty="0"/>
              <a:t>Luenberger</a:t>
            </a:r>
            <a:r>
              <a:rPr spc="25" dirty="0"/>
              <a:t> </a:t>
            </a:r>
            <a:r>
              <a:rPr spc="-105" dirty="0"/>
              <a:t>(closed-</a:t>
            </a:r>
            <a:r>
              <a:rPr spc="-40" dirty="0"/>
              <a:t>loop)</a:t>
            </a:r>
            <a:r>
              <a:rPr spc="25" dirty="0"/>
              <a:t> </a:t>
            </a:r>
            <a:r>
              <a:rPr spc="-140" dirty="0"/>
              <a:t>observer</a:t>
            </a:r>
            <a:r>
              <a:rPr spc="25" dirty="0"/>
              <a:t> </a:t>
            </a:r>
            <a:r>
              <a:rPr spc="-80" dirty="0"/>
              <a:t>error</a:t>
            </a:r>
            <a:r>
              <a:rPr spc="25" dirty="0"/>
              <a:t> </a:t>
            </a:r>
            <a:r>
              <a:rPr spc="-100" dirty="0"/>
              <a:t>dynamics</a:t>
            </a:r>
          </a:p>
        </p:txBody>
      </p:sp>
      <mc:AlternateContent xmlns:mc="http://schemas.openxmlformats.org/markup-compatibility/2006">
        <mc:Choice xmlns:a14="http://schemas.microsoft.com/office/drawing/2010/main" Requires="a14">
          <p:sp>
            <p:nvSpPr>
              <p:cNvPr id="3" name="object 3"/>
              <p:cNvSpPr txBox="1"/>
              <p:nvPr/>
            </p:nvSpPr>
            <p:spPr>
              <a:xfrm>
                <a:off x="190042" y="475828"/>
                <a:ext cx="4270375" cy="2846933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63500">
                  <a:lnSpc>
                    <a:spcPct val="100000"/>
                  </a:lnSpc>
                  <a:spcBef>
                    <a:spcPts val="95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352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85" dirty="0">
                    <a:latin typeface="Arial"/>
                    <a:cs typeface="Arial"/>
                  </a:rPr>
                  <a:t>system</a:t>
                </a:r>
                <a:r>
                  <a:rPr lang="en-US" sz="1200" spc="50" dirty="0"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dynamics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800735">
                  <a:lnSpc>
                    <a:spcPct val="100000"/>
                  </a:lnSpc>
                  <a:spcBef>
                    <a:spcPts val="1025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ar-AE" altLang="zh-CN" sz="1200" b="0" i="1" spc="11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ar-AE" sz="1200" b="0" i="1" spc="110" smtClean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ar-AE" altLang="zh-CN" sz="1200" spc="110" dirty="0">
                    <a:latin typeface="Arial"/>
                    <a:cs typeface="Arial"/>
                  </a:rPr>
                  <a:t> </a:t>
                </a:r>
                <a:r>
                  <a:rPr lang="ar-AE" sz="1200" spc="200" dirty="0">
                    <a:latin typeface="Arial"/>
                    <a:cs typeface="Arial"/>
                  </a:rPr>
                  <a:t>=</a:t>
                </a:r>
                <a:r>
                  <a:rPr lang="ar-AE" sz="1200" spc="-5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Ax</a:t>
                </a:r>
                <a:r>
                  <a:rPr lang="en-US" sz="1200" i="1" spc="3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7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Bu</a:t>
                </a:r>
                <a:r>
                  <a:rPr lang="en-US" sz="1200" i="1" dirty="0">
                    <a:latin typeface="Times New Roman"/>
                    <a:cs typeface="Times New Roman"/>
                  </a:rPr>
                  <a:t>,</a:t>
                </a:r>
                <a:r>
                  <a:rPr lang="en-US" sz="1200" i="1" spc="275" dirty="0">
                    <a:latin typeface="Times New Roman"/>
                    <a:cs typeface="Times New Roman"/>
                  </a:rPr>
                  <a:t> </a:t>
                </a:r>
                <a:r>
                  <a:rPr lang="en-US" sz="1200" i="1" spc="-75" dirty="0">
                    <a:latin typeface="Arial"/>
                    <a:cs typeface="Arial"/>
                  </a:rPr>
                  <a:t>x</a:t>
                </a:r>
                <a:r>
                  <a:rPr lang="en-US" sz="1200" i="1" spc="-22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(0)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x</a:t>
                </a:r>
                <a:r>
                  <a:rPr lang="en-US" sz="1200" baseline="-13888" dirty="0">
                    <a:latin typeface="Arial"/>
                    <a:cs typeface="Arial"/>
                  </a:rPr>
                  <a:t>0</a:t>
                </a:r>
                <a:r>
                  <a:rPr lang="en-US" sz="1200" i="1" dirty="0">
                    <a:latin typeface="Times New Roman"/>
                    <a:cs typeface="Times New Roman"/>
                  </a:rPr>
                  <a:t>,</a:t>
                </a:r>
                <a:r>
                  <a:rPr lang="en-US" sz="1200" i="1" spc="275" dirty="0">
                    <a:latin typeface="Times New Roman"/>
                    <a:cs typeface="Times New Roman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A</a:t>
                </a:r>
                <a:r>
                  <a:rPr lang="en-US" sz="1200" i="1" spc="-15" dirty="0">
                    <a:latin typeface="Arial"/>
                    <a:cs typeface="Arial"/>
                  </a:rPr>
                  <a:t> </a:t>
                </a:r>
                <a:r>
                  <a:rPr lang="en-US" sz="1200" spc="65" dirty="0">
                    <a:latin typeface="Menlo"/>
                    <a:cs typeface="Menlo"/>
                  </a:rPr>
                  <a:t>∈</a:t>
                </a:r>
                <a:r>
                  <a:rPr lang="en-US" sz="1200" i="1" spc="-390" dirty="0">
                    <a:latin typeface="Menlo"/>
                    <a:cs typeface="Menlo"/>
                  </a:rPr>
                  <a:t> </a:t>
                </a:r>
                <a:r>
                  <a:rPr lang="en-US" sz="1200" spc="55" dirty="0">
                    <a:latin typeface="Times New Roman"/>
                    <a:cs typeface="Times New Roman"/>
                  </a:rPr>
                  <a:t>R</a:t>
                </a:r>
                <a:r>
                  <a:rPr lang="en-US" sz="1200" i="1" spc="82" baseline="34722" dirty="0">
                    <a:latin typeface="Arial"/>
                    <a:cs typeface="Arial"/>
                  </a:rPr>
                  <a:t>n</a:t>
                </a:r>
                <a:r>
                  <a:rPr lang="en-US" sz="1200" i="1" spc="82" baseline="34722" dirty="0">
                    <a:latin typeface="Hack"/>
                    <a:cs typeface="Hack"/>
                  </a:rPr>
                  <a:t>×</a:t>
                </a:r>
                <a:r>
                  <a:rPr lang="en-US" sz="1200" i="1" spc="82" baseline="34722" dirty="0">
                    <a:latin typeface="Arial"/>
                    <a:cs typeface="Arial"/>
                  </a:rPr>
                  <a:t>n</a:t>
                </a:r>
                <a:r>
                  <a:rPr lang="en-US" sz="1200" i="1" spc="55" dirty="0">
                    <a:latin typeface="Times New Roman"/>
                    <a:cs typeface="Times New Roman"/>
                  </a:rPr>
                  <a:t>,</a:t>
                </a:r>
                <a:r>
                  <a:rPr lang="en-US" sz="1200" i="1" spc="-100" dirty="0">
                    <a:latin typeface="Times New Roman"/>
                    <a:cs typeface="Times New Roman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B</a:t>
                </a:r>
                <a:r>
                  <a:rPr lang="en-US" sz="1200" i="1" spc="85" dirty="0">
                    <a:latin typeface="Arial"/>
                    <a:cs typeface="Arial"/>
                  </a:rPr>
                  <a:t> </a:t>
                </a:r>
                <a:r>
                  <a:rPr lang="en-US" sz="1200" spc="65" dirty="0">
                    <a:latin typeface="Menlo"/>
                    <a:cs typeface="Menlo"/>
                  </a:rPr>
                  <a:t>∈</a:t>
                </a:r>
                <a:r>
                  <a:rPr lang="en-US" sz="1200" i="1" spc="-390" dirty="0">
                    <a:latin typeface="Menlo"/>
                    <a:cs typeface="Menlo"/>
                  </a:rPr>
                  <a:t> </a:t>
                </a:r>
                <a:r>
                  <a:rPr lang="en-US" sz="1200" spc="40" dirty="0">
                    <a:latin typeface="Times New Roman"/>
                    <a:cs typeface="Times New Roman"/>
                  </a:rPr>
                  <a:t>R</a:t>
                </a:r>
                <a:r>
                  <a:rPr lang="en-US" sz="1200" i="1" spc="60" baseline="34722" dirty="0">
                    <a:latin typeface="Arial"/>
                    <a:cs typeface="Arial"/>
                  </a:rPr>
                  <a:t>n</a:t>
                </a:r>
                <a:r>
                  <a:rPr lang="en-US" sz="1200" i="1" spc="60" baseline="34722" dirty="0">
                    <a:latin typeface="Hack"/>
                    <a:cs typeface="Hack"/>
                  </a:rPr>
                  <a:t>×</a:t>
                </a:r>
                <a:r>
                  <a:rPr lang="en-US" sz="1200" i="1" spc="60" baseline="34722" dirty="0">
                    <a:latin typeface="Arial"/>
                    <a:cs typeface="Arial"/>
                  </a:rPr>
                  <a:t>r</a:t>
                </a:r>
                <a:endParaRPr lang="en-US" sz="1200" baseline="34722" dirty="0">
                  <a:latin typeface="Arial"/>
                  <a:cs typeface="Arial"/>
                </a:endParaRPr>
              </a:p>
              <a:p>
                <a:pPr marL="798195">
                  <a:lnSpc>
                    <a:spcPct val="100000"/>
                  </a:lnSpc>
                  <a:spcBef>
                    <a:spcPts val="305"/>
                  </a:spcBef>
                </a:pPr>
                <a:r>
                  <a:rPr lang="en-US" sz="1200" i="1" dirty="0">
                    <a:latin typeface="Arial"/>
                    <a:cs typeface="Arial"/>
                  </a:rPr>
                  <a:t>y</a:t>
                </a:r>
                <a:r>
                  <a:rPr lang="en-US" sz="1200" i="1" spc="5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30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Cx</a:t>
                </a:r>
                <a:r>
                  <a:rPr lang="en-US" sz="1200" i="1" dirty="0">
                    <a:latin typeface="Times New Roman"/>
                    <a:cs typeface="Times New Roman"/>
                  </a:rPr>
                  <a:t>,</a:t>
                </a:r>
                <a:r>
                  <a:rPr lang="en-US" sz="1200" i="1" spc="235" dirty="0">
                    <a:latin typeface="Times New Roman"/>
                    <a:cs typeface="Times New Roman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y</a:t>
                </a:r>
                <a:r>
                  <a:rPr lang="en-US" sz="1200" i="1" spc="85" dirty="0">
                    <a:latin typeface="Arial"/>
                    <a:cs typeface="Arial"/>
                  </a:rPr>
                  <a:t> </a:t>
                </a:r>
                <a:r>
                  <a:rPr lang="en-US" sz="1200" spc="65" dirty="0">
                    <a:latin typeface="Menlo"/>
                    <a:cs typeface="Menlo"/>
                  </a:rPr>
                  <a:t>∈</a:t>
                </a:r>
                <a:r>
                  <a:rPr lang="en-US" sz="1200" spc="-390" dirty="0">
                    <a:latin typeface="Menlo"/>
                    <a:cs typeface="Menlo"/>
                  </a:rPr>
                  <a:t> </a:t>
                </a:r>
                <a:r>
                  <a:rPr lang="en-US" sz="1200" spc="35" dirty="0">
                    <a:latin typeface="Times New Roman"/>
                    <a:cs typeface="Times New Roman"/>
                  </a:rPr>
                  <a:t>R</a:t>
                </a:r>
                <a:r>
                  <a:rPr lang="en-US" sz="1200" i="1" spc="52" baseline="34722" dirty="0">
                    <a:latin typeface="Arial"/>
                    <a:cs typeface="Arial"/>
                  </a:rPr>
                  <a:t>m</a:t>
                </a:r>
                <a:r>
                  <a:rPr lang="en-US" sz="1200" i="1" spc="52" baseline="34722" dirty="0">
                    <a:latin typeface="Hack"/>
                    <a:cs typeface="Hack"/>
                  </a:rPr>
                  <a:t>×</a:t>
                </a:r>
                <a:r>
                  <a:rPr lang="en-US" sz="1200" i="1" spc="52" baseline="34722" dirty="0">
                    <a:latin typeface="Arial"/>
                    <a:cs typeface="Arial"/>
                  </a:rPr>
                  <a:t>n</a:t>
                </a:r>
                <a:endParaRPr lang="en-US" sz="1200" baseline="34722" dirty="0">
                  <a:latin typeface="Arial"/>
                  <a:cs typeface="Arial"/>
                </a:endParaRPr>
              </a:p>
              <a:p>
                <a:pPr marL="63500">
                  <a:lnSpc>
                    <a:spcPct val="100000"/>
                  </a:lnSpc>
                  <a:spcBef>
                    <a:spcPts val="1260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322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70" dirty="0">
                    <a:latin typeface="Arial"/>
                    <a:cs typeface="Arial"/>
                  </a:rPr>
                  <a:t>Luenberger</a:t>
                </a:r>
                <a:r>
                  <a:rPr lang="en-US" sz="1200" spc="35" dirty="0">
                    <a:latin typeface="Arial"/>
                    <a:cs typeface="Arial"/>
                  </a:rPr>
                  <a:t> </a:t>
                </a:r>
                <a:r>
                  <a:rPr lang="en-US" sz="1200" spc="-85" dirty="0">
                    <a:latin typeface="Arial"/>
                    <a:cs typeface="Arial"/>
                  </a:rPr>
                  <a:t>observer</a:t>
                </a:r>
                <a:r>
                  <a:rPr lang="en-US" sz="1200" spc="3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with</a:t>
                </a:r>
                <a:r>
                  <a:rPr lang="en-US" sz="1200" spc="35" dirty="0"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correction: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254635" algn="ctr">
                  <a:lnSpc>
                    <a:spcPct val="100000"/>
                  </a:lnSpc>
                  <a:spcBef>
                    <a:spcPts val="1030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ar-AE" altLang="zh-CN" sz="1400" b="0" i="1" spc="-10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acc>
                          <m:accPr>
                            <m:chr m:val="̂"/>
                            <m:ctrlPr>
                              <a:rPr lang="ar-AE" altLang="zh-CN" sz="1200" b="0" i="1" spc="200" smtClean="0"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zh-CN" altLang="ar-AE" sz="1200" b="0" i="1" spc="200" smtClean="0">
                                <a:latin typeface="Cambria Math" panose="02040503050406030204" pitchFamily="18" charset="0"/>
                                <a:cs typeface="Arial"/>
                              </a:rPr>
                              <m:t>𝑥</m:t>
                            </m:r>
                          </m:e>
                        </m:acc>
                      </m:e>
                    </m:acc>
                  </m:oMath>
                </a14:m>
                <a:r>
                  <a:rPr lang="ar-AE" sz="1200" spc="200" dirty="0">
                    <a:latin typeface="Arial"/>
                    <a:cs typeface="Arial"/>
                  </a:rPr>
                  <a:t>=</a:t>
                </a:r>
                <a:r>
                  <a:rPr lang="ar-AE" sz="1200" spc="-5" dirty="0">
                    <a:latin typeface="Arial"/>
                    <a:cs typeface="Arial"/>
                  </a:rPr>
                  <a:t> </a:t>
                </a:r>
                <a:r>
                  <a:rPr lang="en-US" sz="1200" i="1" spc="40" dirty="0">
                    <a:latin typeface="Arial"/>
                    <a:cs typeface="Arial"/>
                  </a:rPr>
                  <a:t>A</a:t>
                </a:r>
                <a:r>
                  <a:rPr lang="en-US" sz="1200" i="1" spc="-480" dirty="0">
                    <a:latin typeface="Arial"/>
                    <a:cs typeface="Arial"/>
                  </a:rPr>
                  <a:t>x</a:t>
                </a:r>
                <a:r>
                  <a:rPr lang="en-US" sz="1200" spc="40" dirty="0">
                    <a:latin typeface="Arial"/>
                    <a:cs typeface="Arial"/>
                  </a:rPr>
                  <a:t>ˆ</a:t>
                </a:r>
                <a:r>
                  <a:rPr lang="en-US" sz="1200" spc="-8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70" dirty="0">
                    <a:latin typeface="Arial"/>
                    <a:cs typeface="Arial"/>
                  </a:rPr>
                  <a:t> </a:t>
                </a:r>
                <a:r>
                  <a:rPr lang="en-US" sz="1200" i="1" spc="-20" dirty="0">
                    <a:latin typeface="Arial"/>
                    <a:cs typeface="Arial"/>
                  </a:rPr>
                  <a:t>Bu</a:t>
                </a:r>
                <a:r>
                  <a:rPr lang="en-US" sz="1200" i="1" spc="-1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70" dirty="0">
                    <a:latin typeface="Arial"/>
                    <a:cs typeface="Arial"/>
                  </a:rPr>
                  <a:t> </a:t>
                </a:r>
                <a:r>
                  <a:rPr lang="en-US" sz="1200" i="1" spc="-40" dirty="0">
                    <a:latin typeface="Arial"/>
                    <a:cs typeface="Arial"/>
                  </a:rPr>
                  <a:t>L</a:t>
                </a:r>
                <a:r>
                  <a:rPr lang="en-US" sz="1200" i="1" spc="-130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latin typeface="Arial"/>
                    <a:cs typeface="Arial"/>
                  </a:rPr>
                  <a:t>y</a:t>
                </a:r>
                <a:r>
                  <a:rPr lang="en-US" sz="1200" i="1" spc="60" dirty="0"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latin typeface="Menlo"/>
                    <a:cs typeface="Menlo"/>
                  </a:rPr>
                  <a:t> </a:t>
                </a:r>
                <a:r>
                  <a:rPr lang="en-US" sz="1200" i="1" spc="-434" dirty="0">
                    <a:latin typeface="Arial"/>
                    <a:cs typeface="Arial"/>
                  </a:rPr>
                  <a:t>y</a:t>
                </a:r>
                <a:r>
                  <a:rPr lang="en-US" sz="1200" spc="65" dirty="0">
                    <a:latin typeface="Arial"/>
                    <a:cs typeface="Arial"/>
                  </a:rPr>
                  <a:t>ˆ</a:t>
                </a:r>
                <a:r>
                  <a:rPr lang="en-US" sz="1200" spc="75" dirty="0">
                    <a:latin typeface="Arial"/>
                    <a:cs typeface="Arial"/>
                  </a:rPr>
                  <a:t>)</a:t>
                </a:r>
                <a:r>
                  <a:rPr lang="en-US" sz="120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5" dirty="0">
                    <a:latin typeface="Arial"/>
                    <a:cs typeface="Arial"/>
                  </a:rPr>
                  <a:t> </a:t>
                </a:r>
                <a:r>
                  <a:rPr lang="en-US" sz="1200" i="1" spc="40" dirty="0">
                    <a:latin typeface="Arial"/>
                    <a:cs typeface="Arial"/>
                  </a:rPr>
                  <a:t>A</a:t>
                </a:r>
                <a:r>
                  <a:rPr lang="en-US" sz="1200" i="1" spc="-480" dirty="0">
                    <a:latin typeface="Arial"/>
                    <a:cs typeface="Arial"/>
                  </a:rPr>
                  <a:t>x</a:t>
                </a:r>
                <a:r>
                  <a:rPr lang="en-US" sz="1200" spc="40" dirty="0">
                    <a:latin typeface="Arial"/>
                    <a:cs typeface="Arial"/>
                  </a:rPr>
                  <a:t>ˆ</a:t>
                </a:r>
                <a:r>
                  <a:rPr lang="en-US" sz="1200" spc="-8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70" dirty="0">
                    <a:latin typeface="Arial"/>
                    <a:cs typeface="Arial"/>
                  </a:rPr>
                  <a:t> </a:t>
                </a:r>
                <a:r>
                  <a:rPr lang="en-US" sz="1200" i="1" spc="-20" dirty="0">
                    <a:latin typeface="Arial"/>
                    <a:cs typeface="Arial"/>
                  </a:rPr>
                  <a:t>Bu</a:t>
                </a:r>
                <a:r>
                  <a:rPr lang="en-US" sz="1200" i="1" spc="-1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70" dirty="0">
                    <a:latin typeface="Arial"/>
                    <a:cs typeface="Arial"/>
                  </a:rPr>
                  <a:t> </a:t>
                </a:r>
                <a:r>
                  <a:rPr lang="en-US" sz="1200" i="1" spc="-40" dirty="0">
                    <a:latin typeface="Arial"/>
                    <a:cs typeface="Arial"/>
                  </a:rPr>
                  <a:t>L</a:t>
                </a:r>
                <a:r>
                  <a:rPr lang="en-US" sz="1200" i="1" spc="-13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latin typeface="Arial"/>
                    <a:cs typeface="Arial"/>
                  </a:rPr>
                  <a:t>y</a:t>
                </a:r>
                <a:r>
                  <a:rPr lang="en-US" sz="1200" i="1" spc="65" dirty="0"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latin typeface="Menlo"/>
                    <a:cs typeface="Menlo"/>
                  </a:rPr>
                  <a:t> </a:t>
                </a:r>
                <a:r>
                  <a:rPr lang="en-US" sz="1200" i="1" spc="-130" dirty="0">
                    <a:latin typeface="Arial"/>
                    <a:cs typeface="Arial"/>
                  </a:rPr>
                  <a:t>C</a:t>
                </a:r>
                <a:r>
                  <a:rPr lang="en-US" sz="1200" i="1" spc="-190" dirty="0">
                    <a:latin typeface="Arial"/>
                    <a:cs typeface="Arial"/>
                  </a:rPr>
                  <a:t> </a:t>
                </a:r>
                <a:r>
                  <a:rPr lang="en-US" sz="1200" i="1" spc="-445" dirty="0">
                    <a:latin typeface="Arial"/>
                    <a:cs typeface="Arial"/>
                  </a:rPr>
                  <a:t>x</a:t>
                </a:r>
                <a:r>
                  <a:rPr lang="en-US" sz="1200" spc="60" dirty="0">
                    <a:latin typeface="Arial"/>
                    <a:cs typeface="Arial"/>
                  </a:rPr>
                  <a:t>ˆ</a:t>
                </a:r>
                <a:r>
                  <a:rPr lang="en-US" sz="1200" spc="75" dirty="0">
                    <a:latin typeface="Arial"/>
                    <a:cs typeface="Arial"/>
                  </a:rPr>
                  <a:t>)</a:t>
                </a:r>
                <a:r>
                  <a:rPr lang="en-US" sz="1200" spc="-130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Times New Roman"/>
                    <a:cs typeface="Times New Roman"/>
                  </a:rPr>
                  <a:t>,</a:t>
                </a:r>
                <a:r>
                  <a:rPr lang="en-US" sz="1200" i="1" spc="290" dirty="0">
                    <a:latin typeface="Times New Roman"/>
                    <a:cs typeface="Times New Roman"/>
                  </a:rPr>
                  <a:t> </a:t>
                </a:r>
                <a:r>
                  <a:rPr lang="en-US" sz="1200" i="1" spc="-484" dirty="0">
                    <a:latin typeface="Arial"/>
                    <a:cs typeface="Arial"/>
                  </a:rPr>
                  <a:t>x</a:t>
                </a:r>
                <a:r>
                  <a:rPr lang="en-US" sz="1200" spc="20" dirty="0">
                    <a:latin typeface="Arial"/>
                    <a:cs typeface="Arial"/>
                  </a:rPr>
                  <a:t>ˆ</a:t>
                </a:r>
                <a:r>
                  <a:rPr lang="en-US" sz="1200" spc="35" dirty="0">
                    <a:latin typeface="Arial"/>
                    <a:cs typeface="Arial"/>
                  </a:rPr>
                  <a:t>(0)</a:t>
                </a:r>
                <a:r>
                  <a:rPr lang="en-US" sz="1200" spc="-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dirty="0">
                    <a:latin typeface="Arial"/>
                    <a:cs typeface="Arial"/>
                  </a:rPr>
                  <a:t> </a:t>
                </a:r>
                <a:r>
                  <a:rPr lang="en-US" sz="1200" spc="-50" dirty="0">
                    <a:latin typeface="Arial"/>
                    <a:cs typeface="Arial"/>
                  </a:rPr>
                  <a:t>0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442595">
                  <a:lnSpc>
                    <a:spcPct val="100000"/>
                  </a:lnSpc>
                  <a:spcBef>
                    <a:spcPts val="300"/>
                  </a:spcBef>
                </a:pP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2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latin typeface="Arial"/>
                    <a:cs typeface="Arial"/>
                  </a:rPr>
                  <a:t>A</a:t>
                </a:r>
                <a:r>
                  <a:rPr lang="en-US" sz="1200" i="1" spc="-75" dirty="0"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latin typeface="Menlo"/>
                    <a:cs typeface="Menlo"/>
                  </a:rPr>
                  <a:t> </a:t>
                </a:r>
                <a:r>
                  <a:rPr lang="en-US" sz="1200" i="1" spc="-85" dirty="0">
                    <a:latin typeface="Arial"/>
                    <a:cs typeface="Arial"/>
                  </a:rPr>
                  <a:t>LC</a:t>
                </a:r>
                <a:r>
                  <a:rPr lang="en-US" sz="1200" i="1" spc="-190" dirty="0">
                    <a:latin typeface="Arial"/>
                    <a:cs typeface="Arial"/>
                  </a:rPr>
                  <a:t> </a:t>
                </a:r>
                <a:r>
                  <a:rPr lang="en-US" sz="1200" spc="50" dirty="0">
                    <a:latin typeface="Arial"/>
                    <a:cs typeface="Arial"/>
                  </a:rPr>
                  <a:t>)</a:t>
                </a:r>
                <a:r>
                  <a:rPr lang="en-US" sz="1200" spc="-135" dirty="0">
                    <a:latin typeface="Arial"/>
                    <a:cs typeface="Arial"/>
                  </a:rPr>
                  <a:t> </a:t>
                </a:r>
                <a:r>
                  <a:rPr lang="en-US" sz="1200" i="1" spc="-440" dirty="0">
                    <a:latin typeface="Arial"/>
                    <a:cs typeface="Arial"/>
                  </a:rPr>
                  <a:t>x</a:t>
                </a:r>
                <a:r>
                  <a:rPr lang="en-US" sz="1200" spc="80" dirty="0">
                    <a:latin typeface="Arial"/>
                    <a:cs typeface="Arial"/>
                  </a:rPr>
                  <a:t>ˆ</a:t>
                </a:r>
                <a:r>
                  <a:rPr lang="en-US" sz="1200" spc="-9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7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Ly</a:t>
                </a:r>
                <a:r>
                  <a:rPr lang="en-US" sz="1200" i="1" spc="5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75" dirty="0"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latin typeface="Arial"/>
                    <a:cs typeface="Arial"/>
                  </a:rPr>
                  <a:t>Bu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63500">
                  <a:lnSpc>
                    <a:spcPct val="100000"/>
                  </a:lnSpc>
                  <a:spcBef>
                    <a:spcPts val="1265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195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35" dirty="0">
                    <a:latin typeface="Arial"/>
                    <a:cs typeface="Arial"/>
                  </a:rPr>
                  <a:t>error</a:t>
                </a:r>
                <a:r>
                  <a:rPr lang="en-US" sz="1200" dirty="0">
                    <a:latin typeface="Arial"/>
                    <a:cs typeface="Arial"/>
                  </a:rPr>
                  <a:t> </a:t>
                </a:r>
                <a:r>
                  <a:rPr lang="en-US" sz="1200" spc="-65" dirty="0">
                    <a:latin typeface="Arial"/>
                    <a:cs typeface="Arial"/>
                  </a:rPr>
                  <a:t>dynamics:</a:t>
                </a:r>
                <a:r>
                  <a:rPr lang="en-US" sz="1200" spc="110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e</a:t>
                </a:r>
                <a:r>
                  <a:rPr lang="en-US" sz="1200" i="1" spc="2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50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x</a:t>
                </a:r>
                <a:r>
                  <a:rPr lang="en-US" sz="1200" i="1" spc="-15" dirty="0"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latin typeface="Menlo"/>
                    <a:cs typeface="Menlo"/>
                  </a:rPr>
                  <a:t> </a:t>
                </a:r>
                <a:r>
                  <a:rPr lang="en-US" sz="1200" i="1" spc="-370" dirty="0">
                    <a:latin typeface="Arial"/>
                    <a:cs typeface="Arial"/>
                  </a:rPr>
                  <a:t>x</a:t>
                </a:r>
                <a:r>
                  <a:rPr lang="en-US" sz="1200" spc="135" dirty="0">
                    <a:latin typeface="Arial"/>
                    <a:cs typeface="Arial"/>
                  </a:rPr>
                  <a:t>ˆ</a:t>
                </a:r>
                <a:r>
                  <a:rPr lang="en-US" sz="1200" spc="150" dirty="0">
                    <a:latin typeface="Arial"/>
                    <a:cs typeface="Arial"/>
                  </a:rPr>
                  <a:t>: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254635" algn="ctr">
                  <a:lnSpc>
                    <a:spcPct val="100000"/>
                  </a:lnSpc>
                  <a:spcBef>
                    <a:spcPts val="1025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pc="20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en-US" sz="1200" b="0" i="1" spc="200" smtClean="0">
                            <a:latin typeface="Cambria Math" panose="02040503050406030204" pitchFamily="18" charset="0"/>
                            <a:cs typeface="Arial"/>
                          </a:rPr>
                          <m:t>𝑒</m:t>
                        </m:r>
                      </m:e>
                    </m:acc>
                  </m:oMath>
                </a14:m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20" dirty="0">
                    <a:latin typeface="Arial"/>
                    <a:cs typeface="Arial"/>
                  </a:rPr>
                  <a:t> </a:t>
                </a:r>
                <a:r>
                  <a:rPr lang="en-US" sz="1200" i="1" spc="-90" dirty="0">
                    <a:latin typeface="Arial"/>
                    <a:cs typeface="Arial"/>
                  </a:rPr>
                  <a:t>Ae</a:t>
                </a:r>
                <a:r>
                  <a:rPr lang="en-US" sz="1200" i="1" spc="5" dirty="0"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latin typeface="Menlo"/>
                    <a:cs typeface="Menlo"/>
                  </a:rPr>
                  <a:t> </a:t>
                </a:r>
                <a:r>
                  <a:rPr lang="en-US" sz="1200" i="1" spc="-80" dirty="0">
                    <a:latin typeface="Arial"/>
                    <a:cs typeface="Arial"/>
                  </a:rPr>
                  <a:t>LCe</a:t>
                </a:r>
                <a:r>
                  <a:rPr lang="en-US" sz="1200" i="1" spc="8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10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latin typeface="Arial"/>
                    <a:cs typeface="Arial"/>
                  </a:rPr>
                  <a:t>A</a:t>
                </a:r>
                <a:r>
                  <a:rPr lang="en-US" sz="1200" i="1" spc="-70" dirty="0"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latin typeface="Menlo"/>
                    <a:cs typeface="Menlo"/>
                  </a:rPr>
                  <a:t> </a:t>
                </a:r>
                <a:r>
                  <a:rPr lang="en-US" sz="1200" i="1" spc="-85" dirty="0">
                    <a:latin typeface="Arial"/>
                    <a:cs typeface="Arial"/>
                  </a:rPr>
                  <a:t>LC</a:t>
                </a:r>
                <a:r>
                  <a:rPr lang="en-US" sz="1200" i="1" spc="-190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)</a:t>
                </a:r>
                <a:r>
                  <a:rPr lang="en-US" sz="1200" i="1" dirty="0">
                    <a:latin typeface="Arial"/>
                    <a:cs typeface="Arial"/>
                  </a:rPr>
                  <a:t>e</a:t>
                </a:r>
                <a:r>
                  <a:rPr lang="en-US" sz="1200" i="1" dirty="0">
                    <a:latin typeface="Times New Roman"/>
                    <a:cs typeface="Times New Roman"/>
                  </a:rPr>
                  <a:t>,</a:t>
                </a:r>
                <a:r>
                  <a:rPr lang="en-US" sz="1200" i="1" spc="285" dirty="0">
                    <a:latin typeface="Times New Roman"/>
                    <a:cs typeface="Times New Roman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e</a:t>
                </a:r>
                <a:r>
                  <a:rPr lang="en-US" sz="1200" dirty="0">
                    <a:latin typeface="Arial"/>
                    <a:cs typeface="Arial"/>
                  </a:rPr>
                  <a:t>(0)</a:t>
                </a:r>
                <a:r>
                  <a:rPr lang="en-US" sz="1200" spc="-1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5" dirty="0">
                    <a:latin typeface="Arial"/>
                    <a:cs typeface="Arial"/>
                  </a:rPr>
                  <a:t> </a:t>
                </a:r>
                <a:r>
                  <a:rPr lang="en-US" sz="1200" i="1" spc="-75" dirty="0">
                    <a:latin typeface="Arial"/>
                    <a:cs typeface="Arial"/>
                  </a:rPr>
                  <a:t>x</a:t>
                </a:r>
                <a:r>
                  <a:rPr lang="en-US" sz="1200" i="1" spc="-225" dirty="0">
                    <a:latin typeface="Arial"/>
                    <a:cs typeface="Arial"/>
                  </a:rPr>
                  <a:t> </a:t>
                </a:r>
                <a:r>
                  <a:rPr lang="en-US" sz="1200" spc="-25" dirty="0">
                    <a:latin typeface="Arial"/>
                    <a:cs typeface="Arial"/>
                  </a:rPr>
                  <a:t>(0)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255904" marR="109855" indent="-193040">
                  <a:lnSpc>
                    <a:spcPct val="100000"/>
                  </a:lnSpc>
                  <a:spcBef>
                    <a:spcPts val="1265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127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if</a:t>
                </a:r>
                <a:r>
                  <a:rPr lang="en-US" sz="1200" spc="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all </a:t>
                </a:r>
                <a:r>
                  <a:rPr lang="en-US" sz="1200" spc="-95" dirty="0">
                    <a:latin typeface="Arial"/>
                    <a:cs typeface="Arial"/>
                  </a:rPr>
                  <a:t>eigenvalues</a:t>
                </a:r>
                <a:r>
                  <a:rPr lang="en-US" sz="1200" spc="10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of</a:t>
                </a:r>
                <a:r>
                  <a:rPr lang="en-US" sz="1200" spc="5" dirty="0">
                    <a:latin typeface="Arial"/>
                    <a:cs typeface="Arial"/>
                  </a:rPr>
                  <a:t> </a:t>
                </a:r>
                <a:r>
                  <a:rPr lang="en-US" sz="1200" i="1" spc="-40" dirty="0">
                    <a:latin typeface="Arial"/>
                    <a:cs typeface="Arial"/>
                  </a:rPr>
                  <a:t>A</a:t>
                </a:r>
                <a:r>
                  <a:rPr lang="en-US" sz="1200" i="1" spc="-70" dirty="0"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latin typeface="Menlo"/>
                    <a:cs typeface="Menlo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LC</a:t>
                </a:r>
                <a:r>
                  <a:rPr lang="en-US" sz="1200" i="1" spc="125" dirty="0">
                    <a:latin typeface="Arial"/>
                    <a:cs typeface="Arial"/>
                  </a:rPr>
                  <a:t> </a:t>
                </a:r>
                <a:r>
                  <a:rPr lang="en-US" sz="1200" spc="-85" dirty="0">
                    <a:latin typeface="Arial"/>
                    <a:cs typeface="Arial"/>
                  </a:rPr>
                  <a:t>are</a:t>
                </a:r>
                <a:r>
                  <a:rPr lang="en-US" sz="1200" spc="5" dirty="0"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on</a:t>
                </a:r>
                <a:r>
                  <a:rPr lang="en-US" sz="1200" dirty="0">
                    <a:latin typeface="Arial"/>
                    <a:cs typeface="Arial"/>
                  </a:rPr>
                  <a:t> the left</a:t>
                </a:r>
                <a:r>
                  <a:rPr lang="en-US" sz="1200" spc="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half </a:t>
                </a:r>
                <a:r>
                  <a:rPr lang="en-US" sz="1200" spc="-65" dirty="0">
                    <a:latin typeface="Arial"/>
                    <a:cs typeface="Arial"/>
                  </a:rPr>
                  <a:t>plane,</a:t>
                </a:r>
                <a:r>
                  <a:rPr lang="en-US" sz="1200" dirty="0">
                    <a:latin typeface="Arial"/>
                    <a:cs typeface="Arial"/>
                  </a:rPr>
                  <a:t> </a:t>
                </a:r>
                <a:r>
                  <a:rPr lang="en-US" sz="1200" spc="-20" dirty="0">
                    <a:latin typeface="Arial"/>
                    <a:cs typeface="Arial"/>
                  </a:rPr>
                  <a:t>then</a:t>
                </a:r>
                <a:r>
                  <a:rPr lang="en-US" sz="1200" spc="5" dirty="0">
                    <a:latin typeface="Arial"/>
                    <a:cs typeface="Arial"/>
                  </a:rPr>
                  <a:t> </a:t>
                </a:r>
                <a:r>
                  <a:rPr lang="en-US" sz="1200" spc="-25" dirty="0">
                    <a:latin typeface="Arial"/>
                    <a:cs typeface="Arial"/>
                  </a:rPr>
                  <a:t>the </a:t>
                </a:r>
                <a:r>
                  <a:rPr lang="en-US" sz="1200" spc="-35" dirty="0">
                    <a:latin typeface="Arial"/>
                    <a:cs typeface="Arial"/>
                  </a:rPr>
                  <a:t>error</a:t>
                </a:r>
                <a:r>
                  <a:rPr lang="en-US" sz="1200" dirty="0">
                    <a:latin typeface="Arial"/>
                    <a:cs typeface="Arial"/>
                  </a:rPr>
                  <a:t> </a:t>
                </a:r>
                <a:r>
                  <a:rPr lang="en-US" sz="1200" spc="-75" dirty="0">
                    <a:latin typeface="Arial"/>
                    <a:cs typeface="Arial"/>
                  </a:rPr>
                  <a:t>dynamics</a:t>
                </a:r>
                <a:r>
                  <a:rPr lang="en-US" sz="1200" dirty="0">
                    <a:latin typeface="Arial"/>
                    <a:cs typeface="Arial"/>
                  </a:rPr>
                  <a:t> </a:t>
                </a:r>
                <a:r>
                  <a:rPr lang="en-US" sz="1200" spc="-65" dirty="0">
                    <a:latin typeface="Arial"/>
                    <a:cs typeface="Arial"/>
                  </a:rPr>
                  <a:t>can</a:t>
                </a:r>
                <a:r>
                  <a:rPr lang="en-US" sz="1200" dirty="0">
                    <a:latin typeface="Arial"/>
                    <a:cs typeface="Arial"/>
                  </a:rPr>
                  <a:t> </a:t>
                </a:r>
                <a:r>
                  <a:rPr lang="en-US" sz="1200" spc="-50" dirty="0">
                    <a:latin typeface="Arial"/>
                    <a:cs typeface="Arial"/>
                  </a:rPr>
                  <a:t>be</a:t>
                </a:r>
                <a:r>
                  <a:rPr lang="en-US" sz="1200" dirty="0">
                    <a:latin typeface="Arial"/>
                    <a:cs typeface="Arial"/>
                  </a:rPr>
                  <a:t> </a:t>
                </a:r>
                <a:r>
                  <a:rPr lang="en-US" sz="1200" spc="-85" dirty="0">
                    <a:latin typeface="Arial"/>
                    <a:cs typeface="Arial"/>
                  </a:rPr>
                  <a:t>made</a:t>
                </a:r>
                <a:r>
                  <a:rPr lang="en-US" sz="1200" dirty="0">
                    <a:latin typeface="Arial"/>
                    <a:cs typeface="Arial"/>
                  </a:rPr>
                  <a:t> </a:t>
                </a:r>
                <a:r>
                  <a:rPr lang="en-US" sz="1200" spc="-45" dirty="0">
                    <a:latin typeface="Arial"/>
                    <a:cs typeface="Arial"/>
                  </a:rPr>
                  <a:t>asymptotically</a:t>
                </a:r>
                <a:r>
                  <a:rPr lang="en-US" sz="1200" dirty="0"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stable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>
          <p:sp>
            <p:nvSpPr>
              <p:cNvPr id="3" name="objec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90042" y="475828"/>
                <a:ext cx="4270375" cy="2846933"/>
              </a:xfrm>
              <a:prstGeom prst="rect">
                <a:avLst/>
              </a:prstGeom>
              <a:blipFill>
                <a:blip r:embed="rId2"/>
                <a:stretch>
                  <a:fillRect l="-713" t="-1713" b="-235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bject 4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Observers</a:t>
            </a:r>
            <a:r>
              <a:rPr sz="600" spc="135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and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Observer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State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319727" y="3338410"/>
            <a:ext cx="233679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191919"/>
                </a:solidFill>
                <a:latin typeface="Arial"/>
                <a:cs typeface="Arial"/>
              </a:rPr>
              <a:t>6</a:t>
            </a:r>
            <a:r>
              <a:rPr sz="600" spc="-45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191919"/>
                </a:solidFill>
                <a:latin typeface="Arial"/>
                <a:cs typeface="Arial"/>
              </a:rPr>
              <a:t>/</a:t>
            </a:r>
            <a:r>
              <a:rPr sz="600" spc="-45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191919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30" dirty="0"/>
              <a:t>Luenberger</a:t>
            </a:r>
            <a:r>
              <a:rPr spc="30" dirty="0"/>
              <a:t> </a:t>
            </a:r>
            <a:r>
              <a:rPr spc="-105" dirty="0"/>
              <a:t>(closed-</a:t>
            </a:r>
            <a:r>
              <a:rPr spc="-40" dirty="0"/>
              <a:t>loop)</a:t>
            </a:r>
            <a:r>
              <a:rPr spc="30" dirty="0"/>
              <a:t> </a:t>
            </a:r>
            <a:r>
              <a:rPr spc="-125" dirty="0"/>
              <a:t>observer</a:t>
            </a:r>
          </a:p>
        </p:txBody>
      </p:sp>
      <p:pic>
        <p:nvPicPr>
          <p:cNvPr id="3" name="object 3"/>
          <p:cNvPicPr/>
          <p:nvPr/>
        </p:nvPicPr>
        <p:blipFill>
          <a:blip r:embed="rId2" cstate="print"/>
          <a:stretch>
            <a:fillRect/>
          </a:stretch>
        </p:blipFill>
        <p:spPr>
          <a:xfrm>
            <a:off x="97827" y="710488"/>
            <a:ext cx="4412395" cy="50609"/>
          </a:xfrm>
          <a:prstGeom prst="rect">
            <a:avLst/>
          </a:prstGeom>
        </p:spPr>
      </p:pic>
      <p:sp>
        <p:nvSpPr>
          <p:cNvPr id="4" name="object 4"/>
          <p:cNvSpPr txBox="1"/>
          <p:nvPr/>
        </p:nvSpPr>
        <p:spPr>
          <a:xfrm>
            <a:off x="97828" y="451789"/>
            <a:ext cx="4387215" cy="1326515"/>
          </a:xfrm>
          <a:prstGeom prst="rect">
            <a:avLst/>
          </a:prstGeom>
        </p:spPr>
        <p:txBody>
          <a:bodyPr vert="horz" wrap="square" lIns="0" tIns="48895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385"/>
              </a:spcBef>
            </a:pPr>
            <a:r>
              <a:rPr sz="1400" spc="-10" dirty="0">
                <a:latin typeface="Arial"/>
                <a:cs typeface="Arial"/>
              </a:rPr>
              <a:t>Theorem</a:t>
            </a:r>
            <a:endParaRPr sz="1400" dirty="0">
              <a:latin typeface="Arial"/>
              <a:cs typeface="Arial"/>
            </a:endParaRPr>
          </a:p>
          <a:p>
            <a:pPr marL="50800" marR="17780">
              <a:lnSpc>
                <a:spcPct val="100000"/>
              </a:lnSpc>
              <a:spcBef>
                <a:spcPts val="215"/>
              </a:spcBef>
            </a:pPr>
            <a:r>
              <a:rPr sz="1200" i="1" dirty="0">
                <a:latin typeface="Arial"/>
                <a:cs typeface="Arial"/>
              </a:rPr>
              <a:t>If</a:t>
            </a:r>
            <a:r>
              <a:rPr sz="1200" i="1" spc="-8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(</a:t>
            </a:r>
            <a:r>
              <a:rPr sz="1200" i="1" dirty="0">
                <a:latin typeface="Arial"/>
                <a:cs typeface="Arial"/>
              </a:rPr>
              <a:t>A</a:t>
            </a:r>
            <a:r>
              <a:rPr sz="1200" i="1" dirty="0">
                <a:latin typeface="Times New Roman"/>
                <a:cs typeface="Times New Roman"/>
              </a:rPr>
              <a:t>,</a:t>
            </a:r>
            <a:r>
              <a:rPr sz="1200" i="1" spc="-100" dirty="0">
                <a:latin typeface="Times New Roman"/>
                <a:cs typeface="Times New Roman"/>
              </a:rPr>
              <a:t> </a:t>
            </a:r>
            <a:r>
              <a:rPr sz="1200" i="1" spc="-130" dirty="0">
                <a:latin typeface="Arial"/>
                <a:cs typeface="Arial"/>
              </a:rPr>
              <a:t>C</a:t>
            </a:r>
            <a:r>
              <a:rPr sz="1200" i="1" spc="-190" dirty="0">
                <a:latin typeface="Arial"/>
                <a:cs typeface="Arial"/>
              </a:rPr>
              <a:t> </a:t>
            </a:r>
            <a:r>
              <a:rPr sz="1200" spc="50" dirty="0">
                <a:latin typeface="Arial"/>
                <a:cs typeface="Arial"/>
              </a:rPr>
              <a:t>)</a:t>
            </a:r>
            <a:r>
              <a:rPr sz="1200" spc="-35" dirty="0">
                <a:latin typeface="Arial"/>
                <a:cs typeface="Arial"/>
              </a:rPr>
              <a:t> </a:t>
            </a:r>
            <a:r>
              <a:rPr sz="1200" i="1" spc="-30" dirty="0">
                <a:latin typeface="Arial"/>
                <a:cs typeface="Arial"/>
              </a:rPr>
              <a:t>is</a:t>
            </a:r>
            <a:r>
              <a:rPr sz="1200" i="1" spc="-5" dirty="0">
                <a:latin typeface="Arial"/>
                <a:cs typeface="Arial"/>
              </a:rPr>
              <a:t> </a:t>
            </a:r>
            <a:r>
              <a:rPr sz="1200" i="1" spc="-50" dirty="0">
                <a:latin typeface="Arial"/>
                <a:cs typeface="Arial"/>
              </a:rPr>
              <a:t>an</a:t>
            </a:r>
            <a:r>
              <a:rPr sz="1200" i="1" spc="-5" dirty="0">
                <a:latin typeface="Arial"/>
                <a:cs typeface="Arial"/>
              </a:rPr>
              <a:t> </a:t>
            </a:r>
            <a:r>
              <a:rPr sz="1200" i="1" spc="-85" dirty="0">
                <a:latin typeface="Arial"/>
                <a:cs typeface="Arial"/>
              </a:rPr>
              <a:t>observable</a:t>
            </a:r>
            <a:r>
              <a:rPr sz="1200" i="1" dirty="0">
                <a:latin typeface="Arial"/>
                <a:cs typeface="Arial"/>
              </a:rPr>
              <a:t> </a:t>
            </a:r>
            <a:r>
              <a:rPr sz="1200" i="1" spc="-25" dirty="0">
                <a:latin typeface="Arial"/>
                <a:cs typeface="Arial"/>
              </a:rPr>
              <a:t>pair,</a:t>
            </a:r>
            <a:r>
              <a:rPr sz="1200" i="1" dirty="0">
                <a:latin typeface="Arial"/>
                <a:cs typeface="Arial"/>
              </a:rPr>
              <a:t> </a:t>
            </a:r>
            <a:r>
              <a:rPr sz="1200" i="1" spc="-25" dirty="0">
                <a:latin typeface="Arial"/>
                <a:cs typeface="Arial"/>
              </a:rPr>
              <a:t>then</a:t>
            </a:r>
            <a:r>
              <a:rPr sz="1200" i="1" spc="-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all</a:t>
            </a:r>
            <a:r>
              <a:rPr sz="1200" i="1" spc="-5" dirty="0">
                <a:latin typeface="Arial"/>
                <a:cs typeface="Arial"/>
              </a:rPr>
              <a:t> </a:t>
            </a:r>
            <a:r>
              <a:rPr sz="1200" i="1" spc="-10" dirty="0">
                <a:latin typeface="Arial"/>
                <a:cs typeface="Arial"/>
              </a:rPr>
              <a:t>the</a:t>
            </a:r>
            <a:r>
              <a:rPr sz="1200" i="1" spc="-5" dirty="0">
                <a:latin typeface="Arial"/>
                <a:cs typeface="Arial"/>
              </a:rPr>
              <a:t> </a:t>
            </a:r>
            <a:r>
              <a:rPr sz="1200" i="1" spc="-85" dirty="0">
                <a:latin typeface="Arial"/>
                <a:cs typeface="Arial"/>
              </a:rPr>
              <a:t>eigenvalues</a:t>
            </a:r>
            <a:r>
              <a:rPr sz="1200" i="1" dirty="0">
                <a:latin typeface="Arial"/>
                <a:cs typeface="Arial"/>
              </a:rPr>
              <a:t> of</a:t>
            </a:r>
            <a:r>
              <a:rPr sz="1200" i="1" spc="-10" dirty="0">
                <a:latin typeface="Arial"/>
                <a:cs typeface="Arial"/>
              </a:rPr>
              <a:t> </a:t>
            </a:r>
            <a:r>
              <a:rPr sz="1200" i="1" spc="-40" dirty="0">
                <a:latin typeface="Arial"/>
                <a:cs typeface="Arial"/>
              </a:rPr>
              <a:t>A</a:t>
            </a:r>
            <a:r>
              <a:rPr sz="1200" i="1" spc="-100" dirty="0">
                <a:latin typeface="Arial"/>
                <a:cs typeface="Arial"/>
              </a:rPr>
              <a:t> </a:t>
            </a:r>
            <a:r>
              <a:rPr sz="1200" i="1" spc="200" dirty="0">
                <a:latin typeface="Menlo"/>
                <a:cs typeface="Menlo"/>
              </a:rPr>
              <a:t>−</a:t>
            </a:r>
            <a:r>
              <a:rPr sz="1200" i="1" spc="-484" dirty="0">
                <a:latin typeface="Menlo"/>
                <a:cs typeface="Menlo"/>
              </a:rPr>
              <a:t> </a:t>
            </a:r>
            <a:r>
              <a:rPr sz="1200" i="1" dirty="0">
                <a:latin typeface="Arial"/>
                <a:cs typeface="Arial"/>
              </a:rPr>
              <a:t>LC</a:t>
            </a:r>
            <a:r>
              <a:rPr sz="1200" i="1" spc="125" dirty="0">
                <a:latin typeface="Arial"/>
                <a:cs typeface="Arial"/>
              </a:rPr>
              <a:t> </a:t>
            </a:r>
            <a:r>
              <a:rPr sz="1200" i="1" spc="-50" dirty="0">
                <a:latin typeface="Arial"/>
                <a:cs typeface="Arial"/>
              </a:rPr>
              <a:t>can be</a:t>
            </a:r>
            <a:r>
              <a:rPr sz="1200" i="1" spc="-5" dirty="0">
                <a:latin typeface="Arial"/>
                <a:cs typeface="Arial"/>
              </a:rPr>
              <a:t> </a:t>
            </a:r>
            <a:r>
              <a:rPr sz="1200" i="1" spc="-25" dirty="0">
                <a:latin typeface="Arial"/>
                <a:cs typeface="Arial"/>
              </a:rPr>
              <a:t>arbitrarily</a:t>
            </a:r>
            <a:r>
              <a:rPr sz="1200" i="1" dirty="0">
                <a:latin typeface="Arial"/>
                <a:cs typeface="Arial"/>
              </a:rPr>
              <a:t> </a:t>
            </a:r>
            <a:r>
              <a:rPr sz="1200" i="1" spc="-80" dirty="0">
                <a:latin typeface="Arial"/>
                <a:cs typeface="Arial"/>
              </a:rPr>
              <a:t>assigned,</a:t>
            </a:r>
            <a:r>
              <a:rPr sz="1200" i="1" dirty="0">
                <a:latin typeface="Arial"/>
                <a:cs typeface="Arial"/>
              </a:rPr>
              <a:t> </a:t>
            </a:r>
            <a:r>
              <a:rPr sz="1200" i="1" spc="-65" dirty="0">
                <a:latin typeface="Arial"/>
                <a:cs typeface="Arial"/>
              </a:rPr>
              <a:t>provided</a:t>
            </a:r>
            <a:r>
              <a:rPr sz="1200" i="1" dirty="0">
                <a:latin typeface="Arial"/>
                <a:cs typeface="Arial"/>
              </a:rPr>
              <a:t> that </a:t>
            </a:r>
            <a:r>
              <a:rPr sz="1200" i="1" spc="-30" dirty="0">
                <a:latin typeface="Arial"/>
                <a:cs typeface="Arial"/>
              </a:rPr>
              <a:t>they</a:t>
            </a:r>
            <a:r>
              <a:rPr sz="1200" i="1" dirty="0">
                <a:latin typeface="Arial"/>
                <a:cs typeface="Arial"/>
              </a:rPr>
              <a:t> </a:t>
            </a:r>
            <a:r>
              <a:rPr sz="1200" i="1" spc="-85" dirty="0">
                <a:latin typeface="Arial"/>
                <a:cs typeface="Arial"/>
              </a:rPr>
              <a:t>are</a:t>
            </a:r>
            <a:r>
              <a:rPr sz="1200" i="1" dirty="0">
                <a:latin typeface="Arial"/>
                <a:cs typeface="Arial"/>
              </a:rPr>
              <a:t> </a:t>
            </a:r>
            <a:r>
              <a:rPr sz="1200" i="1" spc="-45" dirty="0">
                <a:latin typeface="Arial"/>
                <a:cs typeface="Arial"/>
              </a:rPr>
              <a:t>symmetric</a:t>
            </a:r>
            <a:r>
              <a:rPr sz="1200" i="1" dirty="0">
                <a:latin typeface="Arial"/>
                <a:cs typeface="Arial"/>
              </a:rPr>
              <a:t> with </a:t>
            </a:r>
            <a:r>
              <a:rPr sz="1200" i="1" spc="-10" dirty="0">
                <a:latin typeface="Arial"/>
                <a:cs typeface="Arial"/>
              </a:rPr>
              <a:t>respct </a:t>
            </a:r>
            <a:r>
              <a:rPr sz="1200" i="1" dirty="0">
                <a:latin typeface="Arial"/>
                <a:cs typeface="Arial"/>
              </a:rPr>
              <a:t>to</a:t>
            </a:r>
            <a:r>
              <a:rPr sz="1200" i="1" spc="-2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the</a:t>
            </a:r>
            <a:r>
              <a:rPr sz="1200" i="1" spc="-20" dirty="0">
                <a:latin typeface="Arial"/>
                <a:cs typeface="Arial"/>
              </a:rPr>
              <a:t> </a:t>
            </a:r>
            <a:r>
              <a:rPr sz="1200" i="1" spc="-35" dirty="0">
                <a:latin typeface="Arial"/>
                <a:cs typeface="Arial"/>
              </a:rPr>
              <a:t>real</a:t>
            </a:r>
            <a:r>
              <a:rPr sz="1200" i="1" spc="-15" dirty="0">
                <a:latin typeface="Arial"/>
                <a:cs typeface="Arial"/>
              </a:rPr>
              <a:t> </a:t>
            </a:r>
            <a:r>
              <a:rPr sz="1200" i="1" spc="-65" dirty="0">
                <a:latin typeface="Arial"/>
                <a:cs typeface="Arial"/>
              </a:rPr>
              <a:t>axis</a:t>
            </a:r>
            <a:r>
              <a:rPr sz="1200" i="1" spc="-20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of</a:t>
            </a:r>
            <a:r>
              <a:rPr sz="1200" i="1" spc="-20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the</a:t>
            </a:r>
            <a:r>
              <a:rPr sz="1200" i="1" spc="-15" dirty="0">
                <a:latin typeface="Arial"/>
                <a:cs typeface="Arial"/>
              </a:rPr>
              <a:t> </a:t>
            </a:r>
            <a:r>
              <a:rPr sz="1200" i="1" spc="-70" dirty="0">
                <a:latin typeface="Arial"/>
                <a:cs typeface="Arial"/>
              </a:rPr>
              <a:t>complex</a:t>
            </a:r>
            <a:r>
              <a:rPr sz="1200" i="1" spc="-15" dirty="0">
                <a:latin typeface="Arial"/>
                <a:cs typeface="Arial"/>
              </a:rPr>
              <a:t> </a:t>
            </a:r>
            <a:r>
              <a:rPr sz="1200" i="1" spc="-10" dirty="0">
                <a:latin typeface="Arial"/>
                <a:cs typeface="Arial"/>
              </a:rPr>
              <a:t>plane.</a:t>
            </a:r>
            <a:endParaRPr sz="1200" dirty="0">
              <a:latin typeface="Arial"/>
              <a:cs typeface="Arial"/>
            </a:endParaRPr>
          </a:p>
          <a:p>
            <a:pPr marL="347980" marR="363855" indent="-193040">
              <a:lnSpc>
                <a:spcPct val="100000"/>
              </a:lnSpc>
              <a:spcBef>
                <a:spcPts val="85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179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114" dirty="0">
                <a:latin typeface="Arial"/>
                <a:cs typeface="Arial"/>
              </a:rPr>
              <a:t>we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spc="-100" dirty="0">
                <a:latin typeface="Arial"/>
                <a:cs typeface="Arial"/>
              </a:rPr>
              <a:t>show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90" dirty="0">
                <a:latin typeface="Arial"/>
                <a:cs typeface="Arial"/>
              </a:rPr>
              <a:t>SISO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114" dirty="0">
                <a:latin typeface="Arial"/>
                <a:cs typeface="Arial"/>
              </a:rPr>
              <a:t>case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spc="-70" dirty="0">
                <a:latin typeface="Arial"/>
                <a:cs typeface="Arial"/>
              </a:rPr>
              <a:t>when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A</a:t>
            </a:r>
            <a:r>
              <a:rPr sz="1200" i="1" spc="5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and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C</a:t>
            </a:r>
            <a:r>
              <a:rPr sz="1200" i="1" spc="135" dirty="0">
                <a:latin typeface="Arial"/>
                <a:cs typeface="Arial"/>
              </a:rPr>
              <a:t> </a:t>
            </a:r>
            <a:r>
              <a:rPr sz="1200" spc="-85" dirty="0">
                <a:latin typeface="Arial"/>
                <a:cs typeface="Arial"/>
              </a:rPr>
              <a:t>are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in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observable </a:t>
            </a:r>
            <a:r>
              <a:rPr sz="1200" spc="-55" dirty="0">
                <a:latin typeface="Arial"/>
                <a:cs typeface="Arial"/>
              </a:rPr>
              <a:t>canonical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form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(if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not,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a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30" dirty="0">
                <a:latin typeface="Arial"/>
                <a:cs typeface="Arial"/>
              </a:rPr>
              <a:t>similarity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40" dirty="0">
                <a:latin typeface="Arial"/>
                <a:cs typeface="Arial"/>
              </a:rPr>
              <a:t>transform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65" dirty="0">
                <a:latin typeface="Arial"/>
                <a:cs typeface="Arial"/>
              </a:rPr>
              <a:t>can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help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out):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22" name="object 22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15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15" y="109715"/>
                </a:lnTo>
                <a:lnTo>
                  <a:pt x="4607915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3" name="object 2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24" name="object 24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Observers</a:t>
            </a:r>
            <a:r>
              <a:rPr sz="600" spc="135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and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Observer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State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4319727" y="3338410"/>
            <a:ext cx="233679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191919"/>
                </a:solidFill>
                <a:latin typeface="Arial"/>
                <a:cs typeface="Arial"/>
              </a:rPr>
              <a:t>7</a:t>
            </a:r>
            <a:r>
              <a:rPr sz="600" spc="-45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191919"/>
                </a:solidFill>
                <a:latin typeface="Arial"/>
                <a:cs typeface="Arial"/>
              </a:rPr>
              <a:t>/</a:t>
            </a:r>
            <a:r>
              <a:rPr sz="600" spc="-45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191919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F228574C-2E93-7966-EA8E-A05CAF254E46}"/>
                  </a:ext>
                </a:extLst>
              </p:cNvPr>
              <p:cNvSpPr txBox="1"/>
              <p:nvPr/>
            </p:nvSpPr>
            <p:spPr>
              <a:xfrm>
                <a:off x="753022" y="1836711"/>
                <a:ext cx="3102003" cy="1451166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𝐵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𝛽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CN" sz="1200" b="0" dirty="0"/>
              </a:p>
              <a:p>
                <a:endParaRPr lang="en-US" altLang="zh-CN" sz="12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𝐷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𝑑</m:t>
                      </m:r>
                    </m:oMath>
                  </m:oMathPara>
                </a14:m>
                <a:endParaRPr lang="en-US" altLang="zh-CN" sz="1200" b="0" dirty="0"/>
              </a:p>
              <a:p>
                <a:endParaRPr lang="en-US" altLang="zh-CN" sz="1200" b="0" dirty="0"/>
              </a:p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sz="1200" b="0" i="0" smtClean="0">
                              <a:latin typeface="Cambria Math" panose="02040503050406030204" pitchFamily="18" charset="0"/>
                            </a:rPr>
                            <m:t>det</m:t>
                          </m:r>
                        </m:fName>
                        <m:e>
                          <m:d>
                            <m:d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𝑠𝐼</m:t>
                              </m:r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𝐴</m:t>
                              </m:r>
                            </m:e>
                          </m:d>
                        </m:e>
                      </m:func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𝛼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F228574C-2E93-7966-EA8E-A05CAF254E4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53022" y="1836711"/>
                <a:ext cx="3102003" cy="1451166"/>
              </a:xfrm>
              <a:prstGeom prst="rect">
                <a:avLst/>
              </a:prstGeom>
              <a:blipFill>
                <a:blip r:embed="rId4"/>
                <a:stretch>
                  <a:fillRect b="-126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00" y="60916"/>
            <a:ext cx="3242945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40" dirty="0"/>
              <a:t>Observer</a:t>
            </a:r>
            <a:r>
              <a:rPr spc="20" dirty="0"/>
              <a:t> </a:t>
            </a:r>
            <a:r>
              <a:rPr spc="-145" dirty="0"/>
              <a:t>eigenvalue</a:t>
            </a:r>
            <a:r>
              <a:rPr spc="25" dirty="0"/>
              <a:t> </a:t>
            </a:r>
            <a:r>
              <a:rPr spc="-90" dirty="0"/>
              <a:t>placement:</a:t>
            </a:r>
            <a:r>
              <a:rPr spc="145" dirty="0"/>
              <a:t> </a:t>
            </a:r>
            <a:r>
              <a:rPr spc="-10" dirty="0"/>
              <a:t>o.c.f.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9"/>
              <p:cNvSpPr txBox="1">
                <a:spLocks noGrp="1"/>
              </p:cNvSpPr>
              <p:nvPr>
                <p:ph type="body" idx="1"/>
              </p:nvPr>
            </p:nvSpPr>
            <p:spPr>
              <a:xfrm>
                <a:off x="202742" y="860003"/>
                <a:ext cx="4244975" cy="1861856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50800">
                  <a:lnSpc>
                    <a:spcPct val="100000"/>
                  </a:lnSpc>
                  <a:spcBef>
                    <a:spcPts val="95"/>
                  </a:spcBef>
                </a:pPr>
                <a:r>
                  <a:rPr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sz="1800" spc="322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sz="1200" spc="-70" dirty="0"/>
                  <a:t>Luenberger</a:t>
                </a:r>
                <a:r>
                  <a:rPr sz="1200" spc="35" dirty="0"/>
                  <a:t> </a:t>
                </a:r>
                <a:r>
                  <a:rPr sz="1200" spc="-85" dirty="0"/>
                  <a:t>observer</a:t>
                </a:r>
                <a:r>
                  <a:rPr sz="1200" spc="35" dirty="0"/>
                  <a:t> </a:t>
                </a:r>
                <a:r>
                  <a:rPr sz="1200" dirty="0"/>
                  <a:t>with</a:t>
                </a:r>
                <a:r>
                  <a:rPr sz="1200" spc="35" dirty="0"/>
                  <a:t> </a:t>
                </a:r>
                <a:r>
                  <a:rPr sz="1200" spc="-10" dirty="0"/>
                  <a:t>correction:</a:t>
                </a:r>
                <a:endParaRPr sz="1200" dirty="0">
                  <a:latin typeface="Arial Unicode MS"/>
                  <a:cs typeface="Arial Unicode MS"/>
                </a:endParaRPr>
              </a:p>
              <a:p>
                <a:pPr marR="43180" algn="r">
                  <a:lnSpc>
                    <a:spcPct val="100000"/>
                  </a:lnSpc>
                  <a:spcBef>
                    <a:spcPts val="1200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ar-AE" altLang="zh-CN" sz="1400" i="1" spc="-10" dirty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acc>
                          <m:accPr>
                            <m:chr m:val="̂"/>
                            <m:ctrlPr>
                              <a:rPr lang="ar-AE" altLang="zh-CN" i="1" spc="20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zh-CN" altLang="ar-AE" i="1" spc="20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acc>
                  </m:oMath>
                </a14:m>
                <a:r>
                  <a:rPr lang="ar-AE" altLang="zh-CN" spc="200" dirty="0"/>
                  <a:t>=</a:t>
                </a:r>
                <a:r>
                  <a:rPr lang="ar-AE" altLang="zh-CN" spc="-5" dirty="0"/>
                  <a:t> </a:t>
                </a:r>
                <a:r>
                  <a:rPr sz="1200" i="1" spc="40" dirty="0">
                    <a:latin typeface="Arial"/>
                    <a:cs typeface="Arial"/>
                  </a:rPr>
                  <a:t>A</a:t>
                </a:r>
                <a:r>
                  <a:rPr sz="1200" i="1" spc="-480" dirty="0">
                    <a:latin typeface="Arial"/>
                    <a:cs typeface="Arial"/>
                  </a:rPr>
                  <a:t>x</a:t>
                </a:r>
                <a:r>
                  <a:rPr sz="1200" spc="40" dirty="0"/>
                  <a:t>ˆ</a:t>
                </a:r>
                <a:r>
                  <a:rPr sz="1200" spc="-80" dirty="0"/>
                  <a:t> </a:t>
                </a:r>
                <a:r>
                  <a:rPr sz="1200" spc="200" dirty="0"/>
                  <a:t>+</a:t>
                </a:r>
                <a:r>
                  <a:rPr sz="1200" spc="-70" dirty="0"/>
                  <a:t> </a:t>
                </a:r>
                <a:r>
                  <a:rPr sz="1200" i="1" spc="-20" dirty="0">
                    <a:latin typeface="Arial"/>
                    <a:cs typeface="Arial"/>
                  </a:rPr>
                  <a:t>Bu</a:t>
                </a:r>
                <a:r>
                  <a:rPr sz="1200" i="1" spc="-15" dirty="0">
                    <a:latin typeface="Arial"/>
                    <a:cs typeface="Arial"/>
                  </a:rPr>
                  <a:t> </a:t>
                </a:r>
                <a:r>
                  <a:rPr sz="1200" spc="200" dirty="0"/>
                  <a:t>+</a:t>
                </a:r>
                <a:r>
                  <a:rPr sz="1200" spc="-70" dirty="0"/>
                  <a:t> </a:t>
                </a:r>
                <a:r>
                  <a:rPr sz="1200" i="1" spc="-40" dirty="0">
                    <a:latin typeface="Arial"/>
                    <a:cs typeface="Arial"/>
                  </a:rPr>
                  <a:t>L</a:t>
                </a:r>
                <a:r>
                  <a:rPr sz="1200" i="1" spc="-130" dirty="0">
                    <a:latin typeface="Arial"/>
                    <a:cs typeface="Arial"/>
                  </a:rPr>
                  <a:t> </a:t>
                </a:r>
                <a:r>
                  <a:rPr sz="1200" dirty="0"/>
                  <a:t>(</a:t>
                </a:r>
                <a:r>
                  <a:rPr sz="1200" i="1" dirty="0">
                    <a:latin typeface="Arial"/>
                    <a:cs typeface="Arial"/>
                  </a:rPr>
                  <a:t>y</a:t>
                </a:r>
                <a:r>
                  <a:rPr sz="1200" i="1" spc="60" dirty="0">
                    <a:latin typeface="Arial"/>
                    <a:cs typeface="Arial"/>
                  </a:rPr>
                  <a:t> </a:t>
                </a:r>
                <a:r>
                  <a:rPr sz="1200" i="1" spc="200" dirty="0">
                    <a:latin typeface="Menlo"/>
                    <a:cs typeface="Menlo"/>
                  </a:rPr>
                  <a:t>−</a:t>
                </a:r>
                <a:r>
                  <a:rPr sz="1200" i="1" spc="-459" dirty="0">
                    <a:latin typeface="Menlo"/>
                    <a:cs typeface="Menlo"/>
                  </a:rPr>
                  <a:t> </a:t>
                </a:r>
                <a:r>
                  <a:rPr sz="1200" i="1" spc="-434" dirty="0">
                    <a:latin typeface="Arial"/>
                    <a:cs typeface="Arial"/>
                  </a:rPr>
                  <a:t>y</a:t>
                </a:r>
                <a:r>
                  <a:rPr sz="1200" spc="65" dirty="0"/>
                  <a:t>ˆ</a:t>
                </a:r>
                <a:r>
                  <a:rPr sz="1200" spc="75" dirty="0"/>
                  <a:t>)</a:t>
                </a:r>
                <a:r>
                  <a:rPr sz="1200" dirty="0"/>
                  <a:t> </a:t>
                </a:r>
                <a:r>
                  <a:rPr sz="1200" spc="200" dirty="0"/>
                  <a:t>=</a:t>
                </a:r>
                <a:r>
                  <a:rPr sz="1200" spc="-5" dirty="0"/>
                  <a:t> </a:t>
                </a:r>
                <a:r>
                  <a:rPr sz="1200" i="1" spc="40" dirty="0">
                    <a:latin typeface="Arial"/>
                    <a:cs typeface="Arial"/>
                  </a:rPr>
                  <a:t>A</a:t>
                </a:r>
                <a:r>
                  <a:rPr sz="1200" i="1" spc="-480" dirty="0">
                    <a:latin typeface="Arial"/>
                    <a:cs typeface="Arial"/>
                  </a:rPr>
                  <a:t>x</a:t>
                </a:r>
                <a:r>
                  <a:rPr sz="1200" spc="40" dirty="0"/>
                  <a:t>ˆ</a:t>
                </a:r>
                <a:r>
                  <a:rPr sz="1200" spc="-85" dirty="0"/>
                  <a:t> </a:t>
                </a:r>
                <a:r>
                  <a:rPr sz="1200" spc="200" dirty="0"/>
                  <a:t>+</a:t>
                </a:r>
                <a:r>
                  <a:rPr sz="1200" spc="-70" dirty="0"/>
                  <a:t> </a:t>
                </a:r>
                <a:r>
                  <a:rPr sz="1200" i="1" spc="-20" dirty="0">
                    <a:latin typeface="Arial"/>
                    <a:cs typeface="Arial"/>
                  </a:rPr>
                  <a:t>Bu</a:t>
                </a:r>
                <a:r>
                  <a:rPr sz="1200" i="1" spc="-10" dirty="0">
                    <a:latin typeface="Arial"/>
                    <a:cs typeface="Arial"/>
                  </a:rPr>
                  <a:t> </a:t>
                </a:r>
                <a:r>
                  <a:rPr sz="1200" spc="200" dirty="0"/>
                  <a:t>+</a:t>
                </a:r>
                <a:r>
                  <a:rPr sz="1200" spc="-70" dirty="0"/>
                  <a:t> </a:t>
                </a:r>
                <a:r>
                  <a:rPr sz="1200" i="1" spc="-40" dirty="0">
                    <a:latin typeface="Arial"/>
                    <a:cs typeface="Arial"/>
                  </a:rPr>
                  <a:t>L</a:t>
                </a:r>
                <a:r>
                  <a:rPr sz="1200" i="1" spc="-135" dirty="0">
                    <a:latin typeface="Arial"/>
                    <a:cs typeface="Arial"/>
                  </a:rPr>
                  <a:t> </a:t>
                </a:r>
                <a:r>
                  <a:rPr sz="1200" dirty="0"/>
                  <a:t>(</a:t>
                </a:r>
                <a:r>
                  <a:rPr sz="1200" i="1" dirty="0">
                    <a:latin typeface="Arial"/>
                    <a:cs typeface="Arial"/>
                  </a:rPr>
                  <a:t>y</a:t>
                </a:r>
                <a:r>
                  <a:rPr sz="1200" i="1" spc="65" dirty="0">
                    <a:latin typeface="Arial"/>
                    <a:cs typeface="Arial"/>
                  </a:rPr>
                  <a:t> </a:t>
                </a:r>
                <a:r>
                  <a:rPr sz="1200" i="1" spc="200" dirty="0">
                    <a:latin typeface="Menlo"/>
                    <a:cs typeface="Menlo"/>
                  </a:rPr>
                  <a:t>−</a:t>
                </a:r>
                <a:r>
                  <a:rPr sz="1200" i="1" spc="-459" dirty="0">
                    <a:latin typeface="Menlo"/>
                    <a:cs typeface="Menlo"/>
                  </a:rPr>
                  <a:t> </a:t>
                </a:r>
                <a:r>
                  <a:rPr sz="1200" i="1" spc="-130" dirty="0">
                    <a:latin typeface="Arial"/>
                    <a:cs typeface="Arial"/>
                  </a:rPr>
                  <a:t>C</a:t>
                </a:r>
                <a:r>
                  <a:rPr sz="1200" i="1" spc="-190" dirty="0">
                    <a:latin typeface="Arial"/>
                    <a:cs typeface="Arial"/>
                  </a:rPr>
                  <a:t> </a:t>
                </a:r>
                <a:r>
                  <a:rPr sz="1200" i="1" spc="-445" dirty="0">
                    <a:latin typeface="Arial"/>
                    <a:cs typeface="Arial"/>
                  </a:rPr>
                  <a:t>x</a:t>
                </a:r>
                <a:r>
                  <a:rPr sz="1200" spc="60" dirty="0"/>
                  <a:t>ˆ</a:t>
                </a:r>
                <a:r>
                  <a:rPr sz="1200" spc="75" dirty="0"/>
                  <a:t>)</a:t>
                </a:r>
                <a:r>
                  <a:rPr sz="1200" spc="-130" dirty="0"/>
                  <a:t> </a:t>
                </a:r>
                <a:r>
                  <a:rPr sz="1200" i="1" dirty="0">
                    <a:latin typeface="Times New Roman"/>
                    <a:cs typeface="Times New Roman"/>
                  </a:rPr>
                  <a:t>,</a:t>
                </a:r>
                <a:r>
                  <a:rPr sz="1200" i="1" spc="290" dirty="0">
                    <a:latin typeface="Times New Roman"/>
                    <a:cs typeface="Times New Roman"/>
                  </a:rPr>
                  <a:t> </a:t>
                </a:r>
                <a:r>
                  <a:rPr sz="1200" i="1" spc="-484" dirty="0">
                    <a:latin typeface="Arial"/>
                    <a:cs typeface="Arial"/>
                  </a:rPr>
                  <a:t>x</a:t>
                </a:r>
                <a:r>
                  <a:rPr sz="1200" spc="20" dirty="0"/>
                  <a:t>ˆ</a:t>
                </a:r>
                <a:r>
                  <a:rPr sz="1200" spc="35" dirty="0"/>
                  <a:t>(0)</a:t>
                </a:r>
                <a:r>
                  <a:rPr sz="1200" spc="-5" dirty="0"/>
                  <a:t> </a:t>
                </a:r>
                <a:r>
                  <a:rPr sz="1200" spc="200" dirty="0"/>
                  <a:t>=</a:t>
                </a:r>
                <a:r>
                  <a:rPr sz="1200" dirty="0"/>
                  <a:t> </a:t>
                </a:r>
                <a:r>
                  <a:rPr sz="1200" spc="-50" dirty="0"/>
                  <a:t>0</a:t>
                </a:r>
                <a:endParaRPr sz="1200" dirty="0">
                  <a:latin typeface="Arial"/>
                  <a:cs typeface="Arial"/>
                </a:endParaRPr>
              </a:p>
              <a:p>
                <a:pPr marL="429895">
                  <a:lnSpc>
                    <a:spcPct val="100000"/>
                  </a:lnSpc>
                  <a:spcBef>
                    <a:spcPts val="305"/>
                  </a:spcBef>
                </a:pPr>
                <a:r>
                  <a:rPr spc="200" dirty="0"/>
                  <a:t>=</a:t>
                </a:r>
                <a:r>
                  <a:rPr spc="-25" dirty="0"/>
                  <a:t> </a:t>
                </a:r>
                <a:r>
                  <a:rPr dirty="0"/>
                  <a:t>(</a:t>
                </a:r>
                <a:r>
                  <a:rPr i="1" dirty="0">
                    <a:latin typeface="Arial"/>
                    <a:cs typeface="Arial"/>
                  </a:rPr>
                  <a:t>A</a:t>
                </a:r>
                <a:r>
                  <a:rPr i="1" spc="-75" dirty="0">
                    <a:latin typeface="Arial"/>
                    <a:cs typeface="Arial"/>
                  </a:rPr>
                  <a:t> </a:t>
                </a:r>
                <a:r>
                  <a:rPr i="1" spc="200" dirty="0">
                    <a:latin typeface="Menlo"/>
                    <a:cs typeface="Menlo"/>
                  </a:rPr>
                  <a:t>−</a:t>
                </a:r>
                <a:r>
                  <a:rPr i="1" spc="-459" dirty="0">
                    <a:latin typeface="Menlo"/>
                    <a:cs typeface="Menlo"/>
                  </a:rPr>
                  <a:t> </a:t>
                </a:r>
                <a:r>
                  <a:rPr i="1" spc="-85" dirty="0">
                    <a:latin typeface="Arial"/>
                    <a:cs typeface="Arial"/>
                  </a:rPr>
                  <a:t>LC</a:t>
                </a:r>
                <a:r>
                  <a:rPr i="1" spc="-190" dirty="0">
                    <a:latin typeface="Arial"/>
                    <a:cs typeface="Arial"/>
                  </a:rPr>
                  <a:t> </a:t>
                </a:r>
                <a:r>
                  <a:rPr spc="50" dirty="0"/>
                  <a:t>)</a:t>
                </a:r>
                <a:r>
                  <a:rPr spc="-135" dirty="0"/>
                  <a:t> </a:t>
                </a:r>
                <a:r>
                  <a:rPr i="1" spc="-440" dirty="0">
                    <a:latin typeface="Arial"/>
                    <a:cs typeface="Arial"/>
                  </a:rPr>
                  <a:t>x</a:t>
                </a:r>
                <a:r>
                  <a:rPr spc="80" dirty="0"/>
                  <a:t>ˆ</a:t>
                </a:r>
                <a:r>
                  <a:rPr spc="-90" dirty="0"/>
                  <a:t> </a:t>
                </a:r>
                <a:r>
                  <a:rPr spc="200" dirty="0"/>
                  <a:t>+</a:t>
                </a:r>
                <a:r>
                  <a:rPr spc="-75" dirty="0"/>
                  <a:t> </a:t>
                </a:r>
                <a:r>
                  <a:rPr i="1" dirty="0">
                    <a:latin typeface="Arial"/>
                    <a:cs typeface="Arial"/>
                  </a:rPr>
                  <a:t>Ly</a:t>
                </a:r>
                <a:r>
                  <a:rPr i="1" spc="55" dirty="0">
                    <a:latin typeface="Arial"/>
                    <a:cs typeface="Arial"/>
                  </a:rPr>
                  <a:t> </a:t>
                </a:r>
                <a:r>
                  <a:rPr spc="200" dirty="0"/>
                  <a:t>+</a:t>
                </a:r>
                <a:r>
                  <a:rPr spc="-75" dirty="0"/>
                  <a:t> </a:t>
                </a:r>
                <a:r>
                  <a:rPr i="1" spc="-25" dirty="0">
                    <a:latin typeface="Arial"/>
                    <a:cs typeface="Arial"/>
                  </a:rPr>
                  <a:t>Bu</a:t>
                </a:r>
              </a:p>
              <a:p>
                <a:pPr>
                  <a:lnSpc>
                    <a:spcPct val="100000"/>
                  </a:lnSpc>
                  <a:spcBef>
                    <a:spcPts val="114"/>
                  </a:spcBef>
                </a:pPr>
                <a:endParaRPr i="1" spc="-25" dirty="0">
                  <a:latin typeface="Arial"/>
                  <a:cs typeface="Arial"/>
                </a:endParaRPr>
              </a:p>
              <a:p>
                <a:pPr marL="50800">
                  <a:lnSpc>
                    <a:spcPct val="150000"/>
                  </a:lnSpc>
                  <a:spcBef>
                    <a:spcPts val="95"/>
                  </a:spcBef>
                </a:pPr>
                <a:r>
                  <a:rPr lang="zh-CN" alt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altLang="zh-CN" spc="322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altLang="zh-CN" spc="-45" dirty="0"/>
                  <a:t>Goal:</a:t>
                </a:r>
                <a:r>
                  <a:rPr lang="en-US" altLang="zh-CN" spc="145" dirty="0"/>
                  <a:t> </a:t>
                </a:r>
                <a:r>
                  <a:rPr lang="en-US" altLang="zh-CN" spc="-70" dirty="0"/>
                  <a:t>place</a:t>
                </a:r>
                <a:r>
                  <a:rPr lang="en-US" altLang="zh-CN" spc="25" dirty="0"/>
                  <a:t> </a:t>
                </a:r>
                <a:r>
                  <a:rPr lang="en-US" altLang="zh-CN" spc="-90" dirty="0"/>
                  <a:t>eigenvalues</a:t>
                </a:r>
                <a:r>
                  <a:rPr lang="en-US" altLang="zh-CN" spc="25" dirty="0"/>
                  <a:t> </a:t>
                </a:r>
                <a:r>
                  <a:rPr lang="en-US" altLang="zh-CN" dirty="0"/>
                  <a:t>of</a:t>
                </a:r>
                <a:r>
                  <a:rPr lang="en-US" altLang="zh-CN" spc="25" dirty="0"/>
                  <a:t> </a:t>
                </a:r>
                <a:r>
                  <a:rPr lang="en-US" altLang="zh-CN" dirty="0"/>
                  <a:t>the</a:t>
                </a:r>
                <a:r>
                  <a:rPr lang="en-US" altLang="zh-CN" spc="25" dirty="0"/>
                  <a:t> </a:t>
                </a:r>
                <a:r>
                  <a:rPr lang="en-US" altLang="zh-CN" spc="-85" dirty="0"/>
                  <a:t>observer</a:t>
                </a:r>
                <a:r>
                  <a:rPr lang="en-US" altLang="zh-CN" spc="25" dirty="0"/>
                  <a:t> </a:t>
                </a:r>
                <a:r>
                  <a:rPr lang="en-US" altLang="zh-CN" dirty="0"/>
                  <a:t>at</a:t>
                </a:r>
                <a:r>
                  <a:rPr lang="en-US" altLang="zh-CN" spc="25" dirty="0"/>
                  <a:t> </a:t>
                </a:r>
                <a:r>
                  <a:rPr lang="en-US" altLang="zh-CN" spc="-40" dirty="0"/>
                  <a:t>locations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i="1" spc="-4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zh-CN" i="1" spc="-4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zh-CN" altLang="en-US" i="1" spc="-4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altLang="zh-CN" i="1" spc="-4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i="1" spc="-40">
                        <a:latin typeface="Cambria Math" panose="02040503050406030204" pitchFamily="18" charset="0"/>
                      </a:rPr>
                      <m:t>, ⋯, </m:t>
                    </m:r>
                    <m:sSub>
                      <m:sSubPr>
                        <m:ctrlPr>
                          <a:rPr lang="en-US" altLang="zh-CN" i="1" spc="-4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zh-CN" i="1" spc="-4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i="1" spc="-4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altLang="zh-CN" i="1" spc="-4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zh-CN" spc="-40" dirty="0"/>
                  <a:t>:</a:t>
                </a:r>
              </a:p>
              <a:p>
                <a:pPr marL="50800">
                  <a:lnSpc>
                    <a:spcPct val="150000"/>
                  </a:lnSpc>
                  <a:spcBef>
                    <a:spcPts val="95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CN" i="1" spc="-4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spc="-40">
                              <a:latin typeface="Cambria Math" panose="02040503050406030204" pitchFamily="18" charset="0"/>
                            </a:rPr>
                            <m:t>det</m:t>
                          </m:r>
                        </m:fName>
                        <m:e>
                          <m:d>
                            <m:dPr>
                              <m:ctrlPr>
                                <a:rPr lang="en-US" altLang="zh-CN" i="1" spc="-4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i="1" spc="-40">
                                  <a:latin typeface="Cambria Math" panose="02040503050406030204" pitchFamily="18" charset="0"/>
                                </a:rPr>
                                <m:t>𝑠𝐼</m:t>
                              </m:r>
                              <m:r>
                                <a:rPr lang="en-US" altLang="zh-CN" i="1" spc="-4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altLang="zh-CN" i="1" spc="-4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i="1" spc="-4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US" altLang="zh-CN" i="1" spc="-4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CN" i="1" spc="-40">
                                      <a:latin typeface="Cambria Math" panose="02040503050406030204" pitchFamily="18" charset="0"/>
                                    </a:rPr>
                                    <m:t>𝐿𝐶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altLang="zh-CN" i="1" spc="-4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CN" i="1" spc="-4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i="1" spc="-4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i="1" spc="-4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 spc="-4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CN" i="1" spc="-4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 spc="-4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 spc="-4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altLang="zh-CN" i="1" spc="-4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i="1" spc="-4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i="1" spc="-4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 spc="-4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CN" i="1" spc="-4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 spc="-4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 spc="-4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CN" i="1" spc="-40">
                          <a:latin typeface="Cambria Math" panose="02040503050406030204" pitchFamily="18" charset="0"/>
                        </a:rPr>
                        <m:t>⋯</m:t>
                      </m:r>
                      <m:d>
                        <m:dPr>
                          <m:ctrlPr>
                            <a:rPr lang="en-US" altLang="zh-CN" i="1" spc="-4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i="1" spc="-4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i="1" spc="-4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i="1" spc="-4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CN" i="1" spc="-4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i="1" spc="-4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i="1" spc="-4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CN" i="1" spc="-40" dirty="0">
                  <a:latin typeface="Cambria Math" panose="02040503050406030204" pitchFamily="18" charset="0"/>
                </a:endParaRPr>
              </a:p>
              <a:p>
                <a:pPr marL="50800">
                  <a:lnSpc>
                    <a:spcPct val="150000"/>
                  </a:lnSpc>
                  <a:spcBef>
                    <a:spcPts val="95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i="1" spc="-40">
                          <a:latin typeface="Cambria Math" panose="02040503050406030204" pitchFamily="18" charset="0"/>
                        </a:rPr>
                        <m:t>                                                 =</m:t>
                      </m:r>
                      <m:sSup>
                        <m:sSupPr>
                          <m:ctrlPr>
                            <a:rPr lang="en-US" altLang="zh-CN" i="1" spc="-4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i="1" spc="-4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altLang="zh-CN" i="1" spc="-4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altLang="zh-CN" i="1" spc="-4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 spc="-4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altLang="zh-CN" i="1" spc="-4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 spc="-4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acc>
                        </m:e>
                        <m:sub>
                          <m:r>
                            <a:rPr lang="en-US" altLang="zh-CN" i="1" spc="-4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CN" i="1" spc="-4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CN" i="1" spc="-4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altLang="zh-CN" i="1" spc="-4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i="1" spc="-4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altLang="zh-CN" i="1" spc="-4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CN" i="1" spc="-4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CN" i="1" spc="-4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altLang="zh-CN" i="1" spc="-4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altLang="zh-CN" i="1" spc="-4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altLang="zh-CN" i="1" spc="-4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 spc="-4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acc>
                        </m:e>
                        <m:sub>
                          <m:r>
                            <a:rPr lang="en-US" altLang="zh-CN" i="1" spc="-4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i="1" spc="-4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zh-CN" i="1" spc="-4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i="1" spc="-4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altLang="zh-CN" i="1" spc="-4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i="1" spc="-4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acc>
                        </m:e>
                        <m:sub>
                          <m:r>
                            <a:rPr lang="en-US" altLang="zh-CN" i="1" spc="-4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en-US" altLang="zh-CN" spc="-40" dirty="0"/>
              </a:p>
            </p:txBody>
          </p:sp>
        </mc:Choice>
        <mc:Fallback xmlns="">
          <p:sp>
            <p:nvSpPr>
              <p:cNvPr id="9" name="object 9"/>
              <p:cNvSpPr txBox="1">
                <a:spLocks noGrp="1" noRot="1" noChangeAspect="1" noMove="1" noResize="1" noEditPoints="1" noAdjustHandles="1" noChangeArrowheads="1" noChangeShapeType="1" noTextEdit="1"/>
              </p:cNvSpPr>
              <p:nvPr>
                <p:ph type="body" idx="1"/>
              </p:nvPr>
            </p:nvSpPr>
            <p:spPr>
              <a:xfrm>
                <a:off x="202742" y="860003"/>
                <a:ext cx="4244975" cy="1861856"/>
              </a:xfrm>
              <a:prstGeom prst="rect">
                <a:avLst/>
              </a:prstGeom>
              <a:blipFill>
                <a:blip r:embed="rId2"/>
                <a:stretch>
                  <a:fillRect l="-1004" t="-2623" r="-1148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0" name="object 10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" name="object 11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12" name="object 12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Observers</a:t>
            </a:r>
            <a:r>
              <a:rPr sz="600" spc="135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and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Observer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State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4319727" y="3338410"/>
            <a:ext cx="233679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191919"/>
                </a:solidFill>
                <a:latin typeface="Arial"/>
                <a:cs typeface="Arial"/>
              </a:rPr>
              <a:t>8</a:t>
            </a:r>
            <a:r>
              <a:rPr sz="600" spc="-45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191919"/>
                </a:solidFill>
                <a:latin typeface="Arial"/>
                <a:cs typeface="Arial"/>
              </a:rPr>
              <a:t>/</a:t>
            </a:r>
            <a:r>
              <a:rPr sz="600" spc="-45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191919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00" y="60916"/>
            <a:ext cx="3242945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40" dirty="0"/>
              <a:t>Observer</a:t>
            </a:r>
            <a:r>
              <a:rPr spc="20" dirty="0"/>
              <a:t> </a:t>
            </a:r>
            <a:r>
              <a:rPr spc="-145" dirty="0"/>
              <a:t>eigenvalue</a:t>
            </a:r>
            <a:r>
              <a:rPr spc="25" dirty="0"/>
              <a:t> </a:t>
            </a:r>
            <a:r>
              <a:rPr spc="-90" dirty="0"/>
              <a:t>placement:</a:t>
            </a:r>
            <a:r>
              <a:rPr spc="145" dirty="0"/>
              <a:t> </a:t>
            </a:r>
            <a:r>
              <a:rPr spc="-10" dirty="0"/>
              <a:t>o.c.f.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object 9"/>
              <p:cNvSpPr txBox="1"/>
              <p:nvPr/>
            </p:nvSpPr>
            <p:spPr>
              <a:xfrm>
                <a:off x="215442" y="376339"/>
                <a:ext cx="4282440" cy="1273169"/>
              </a:xfrm>
              <a:prstGeom prst="rect">
                <a:avLst/>
              </a:prstGeom>
            </p:spPr>
            <p:txBody>
              <a:bodyPr vert="horz" wrap="square" lIns="0" tIns="93980" rIns="0" bIns="0" rtlCol="0">
                <a:spAutoFit/>
              </a:bodyPr>
              <a:lstStyle/>
              <a:p>
                <a:pPr marL="50800">
                  <a:lnSpc>
                    <a:spcPct val="150000"/>
                  </a:lnSpc>
                  <a:spcBef>
                    <a:spcPts val="95"/>
                  </a:spcBef>
                </a:pPr>
                <a:r>
                  <a:rPr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sz="1800" spc="165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altLang="zh-CN" sz="1200" spc="-45" dirty="0"/>
                  <a:t>Goal:</a:t>
                </a:r>
                <a:r>
                  <a:rPr lang="en-US" altLang="zh-CN" sz="1200" spc="145" dirty="0"/>
                  <a:t> </a:t>
                </a:r>
                <a:r>
                  <a:rPr lang="en-US" altLang="zh-CN" sz="1200" spc="-70" dirty="0"/>
                  <a:t>place</a:t>
                </a:r>
                <a:r>
                  <a:rPr lang="en-US" altLang="zh-CN" sz="1200" spc="25" dirty="0"/>
                  <a:t> </a:t>
                </a:r>
                <a:r>
                  <a:rPr lang="en-US" altLang="zh-CN" sz="1200" spc="-90" dirty="0"/>
                  <a:t>eigenvalues</a:t>
                </a:r>
                <a:r>
                  <a:rPr lang="en-US" altLang="zh-CN" sz="1200" spc="25" dirty="0"/>
                  <a:t> </a:t>
                </a:r>
                <a:r>
                  <a:rPr lang="en-US" altLang="zh-CN" sz="1200" dirty="0"/>
                  <a:t>of</a:t>
                </a:r>
                <a:r>
                  <a:rPr lang="en-US" altLang="zh-CN" sz="1200" spc="25" dirty="0"/>
                  <a:t> </a:t>
                </a:r>
                <a:r>
                  <a:rPr lang="en-US" altLang="zh-CN" sz="1200" dirty="0"/>
                  <a:t>the</a:t>
                </a:r>
                <a:r>
                  <a:rPr lang="en-US" altLang="zh-CN" sz="1200" spc="25" dirty="0"/>
                  <a:t> </a:t>
                </a:r>
                <a:r>
                  <a:rPr lang="en-US" altLang="zh-CN" sz="1200" spc="-85" dirty="0"/>
                  <a:t>observer</a:t>
                </a:r>
                <a:r>
                  <a:rPr lang="en-US" altLang="zh-CN" sz="1200" spc="25" dirty="0"/>
                  <a:t> </a:t>
                </a:r>
                <a:r>
                  <a:rPr lang="en-US" altLang="zh-CN" sz="1200" dirty="0"/>
                  <a:t>at</a:t>
                </a:r>
                <a:r>
                  <a:rPr lang="en-US" altLang="zh-CN" sz="1200" spc="25" dirty="0"/>
                  <a:t> </a:t>
                </a:r>
                <a:r>
                  <a:rPr lang="en-US" altLang="zh-CN" sz="1200" spc="-40" dirty="0"/>
                  <a:t>locations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i="1" spc="-4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zh-CN" sz="1200" i="1" spc="-4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zh-CN" altLang="en-US" sz="1200" i="1" spc="-4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altLang="zh-CN" sz="1200" i="1" spc="-4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  <m:r>
                      <a:rPr lang="en-US" altLang="zh-CN" sz="1200" i="1" spc="-40">
                        <a:latin typeface="Cambria Math" panose="02040503050406030204" pitchFamily="18" charset="0"/>
                      </a:rPr>
                      <m:t>, ⋯, </m:t>
                    </m:r>
                    <m:sSub>
                      <m:sSubPr>
                        <m:ctrlPr>
                          <a:rPr lang="en-US" altLang="zh-CN" sz="1200" i="1" spc="-4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acc>
                          <m:accPr>
                            <m:chr m:val="̅"/>
                            <m:ctrlPr>
                              <a:rPr lang="en-US" altLang="zh-CN" sz="1200" i="1" spc="-4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en-US" altLang="zh-CN" sz="1200" i="1" spc="-40">
                                <a:latin typeface="Cambria Math" panose="02040503050406030204" pitchFamily="18" charset="0"/>
                              </a:rPr>
                              <m:t>𝑝</m:t>
                            </m:r>
                          </m:e>
                        </m:acc>
                      </m:e>
                      <m:sub>
                        <m:r>
                          <a:rPr lang="en-US" altLang="zh-CN" sz="1200" i="1" spc="-40">
                            <a:latin typeface="Cambria Math" panose="02040503050406030204" pitchFamily="18" charset="0"/>
                          </a:rPr>
                          <m:t>𝑛</m:t>
                        </m:r>
                      </m:sub>
                    </m:sSub>
                  </m:oMath>
                </a14:m>
                <a:r>
                  <a:rPr lang="en-US" altLang="zh-CN" sz="1200" spc="-40" dirty="0"/>
                  <a:t>:</a:t>
                </a:r>
              </a:p>
              <a:p>
                <a:pPr marL="50800">
                  <a:lnSpc>
                    <a:spcPct val="150000"/>
                  </a:lnSpc>
                  <a:spcBef>
                    <a:spcPts val="95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sz="1200" spc="-40">
                              <a:latin typeface="Cambria Math" panose="02040503050406030204" pitchFamily="18" charset="0"/>
                            </a:rPr>
                            <m:t>det</m:t>
                          </m:r>
                        </m:fName>
                        <m:e>
                          <m:d>
                            <m:dPr>
                              <m:ctrlPr>
                                <a:rPr lang="en-US" altLang="zh-CN" sz="1200" i="1" spc="-4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200" i="1" spc="-40">
                                  <a:latin typeface="Cambria Math" panose="02040503050406030204" pitchFamily="18" charset="0"/>
                                </a:rPr>
                                <m:t>𝑠𝐼</m:t>
                              </m:r>
                              <m:r>
                                <a:rPr lang="en-US" altLang="zh-CN" sz="1200" i="1" spc="-4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altLang="zh-CN" sz="1200" i="1" spc="-4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i="1" spc="-4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US" altLang="zh-CN" sz="1200" i="1" spc="-4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CN" sz="1200" i="1" spc="-40">
                                      <a:latin typeface="Cambria Math" panose="02040503050406030204" pitchFamily="18" charset="0"/>
                                    </a:rPr>
                                    <m:t>𝐿𝐶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altLang="zh-CN" sz="1200" i="1" spc="-4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sz="1200" i="1" spc="-4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CN" sz="1200" i="1" spc="-4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sz="1200" i="1" spc="-4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sz="1200" i="1" spc="-4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sub>
                          </m:sSub>
                        </m:e>
                      </m:d>
                      <m:d>
                        <m:dPr>
                          <m:ctrlP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sz="1200" i="1" spc="-4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CN" sz="1200" i="1" spc="-4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sz="1200" i="1" spc="-4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sz="1200" i="1" spc="-40">
                                  <a:latin typeface="Cambria Math" panose="02040503050406030204" pitchFamily="18" charset="0"/>
                                </a:rPr>
                                <m:t>2</m:t>
                              </m:r>
                            </m:sub>
                          </m:sSub>
                        </m:e>
                      </m:d>
                      <m:r>
                        <a:rPr lang="en-US" altLang="zh-CN" sz="1200" i="1" spc="-40">
                          <a:latin typeface="Cambria Math" panose="02040503050406030204" pitchFamily="18" charset="0"/>
                        </a:rPr>
                        <m:t>⋯</m:t>
                      </m:r>
                      <m:d>
                        <m:dPr>
                          <m:ctrlP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  <m:t>𝑠</m:t>
                          </m:r>
                          <m: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  <m:t>−</m:t>
                          </m:r>
                          <m:sSub>
                            <m:sSubPr>
                              <m:ctrlPr>
                                <a:rPr lang="en-US" altLang="zh-CN" sz="1200" i="1" spc="-4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CN" sz="1200" i="1" spc="-4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sz="1200" i="1" spc="-40">
                                      <a:latin typeface="Cambria Math" panose="02040503050406030204" pitchFamily="18" charset="0"/>
                                    </a:rPr>
                                    <m:t>𝑝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sz="1200" i="1" spc="-4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</m:sub>
                          </m:sSub>
                        </m:e>
                      </m:d>
                    </m:oMath>
                  </m:oMathPara>
                </a14:m>
                <a:endParaRPr lang="en-US" altLang="zh-CN" sz="1200" i="1" spc="-40" dirty="0">
                  <a:latin typeface="Cambria Math" panose="02040503050406030204" pitchFamily="18" charset="0"/>
                </a:endParaRPr>
              </a:p>
              <a:p>
                <a:pPr marL="50800">
                  <a:lnSpc>
                    <a:spcPct val="150000"/>
                  </a:lnSpc>
                  <a:spcBef>
                    <a:spcPts val="95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i="1" spc="-40">
                          <a:latin typeface="Cambria Math" panose="02040503050406030204" pitchFamily="18" charset="0"/>
                        </a:rPr>
                        <m:t>                                                 =</m:t>
                      </m:r>
                      <m:sSup>
                        <m:sSupPr>
                          <m:ctrlP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altLang="zh-CN" sz="1200" i="1" spc="-4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altLang="zh-CN" sz="1200" i="1" spc="-4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1200" i="1" spc="-4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acc>
                        </m:e>
                        <m:sub>
                          <m: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p>
                        <m:sSupPr>
                          <m:ctrlP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  <m:t>1</m:t>
                          </m:r>
                        </m:sup>
                      </m:sSup>
                      <m:r>
                        <a:rPr lang="en-US" altLang="zh-CN" sz="1200" i="1" spc="-40">
                          <a:latin typeface="Cambria Math" panose="02040503050406030204" pitchFamily="18" charset="0"/>
                        </a:rPr>
                        <m:t>+⋯+</m:t>
                      </m:r>
                      <m:sSub>
                        <m:sSubPr>
                          <m:ctrlP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altLang="zh-CN" sz="1200" i="1" spc="-4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1200" i="1" spc="-4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acc>
                        </m:e>
                        <m:sub>
                          <m: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en-US" altLang="zh-CN" sz="1200" i="1" spc="-40">
                          <a:latin typeface="Cambria Math" panose="02040503050406030204" pitchFamily="18" charset="0"/>
                        </a:rPr>
                        <m:t>𝑠</m:t>
                      </m:r>
                      <m:r>
                        <a:rPr lang="en-US" altLang="zh-CN" sz="1200" i="1" spc="-4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altLang="zh-CN" sz="1200" i="1" spc="-4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1200" i="1" spc="-40">
                                  <a:latin typeface="Cambria Math" panose="02040503050406030204" pitchFamily="18" charset="0"/>
                                </a:rPr>
                                <m:t>𝛾</m:t>
                              </m:r>
                            </m:e>
                          </m:acc>
                        </m:e>
                        <m:sub>
                          <m: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sz="1200" baseline="-20833" dirty="0">
                  <a:latin typeface="Arial"/>
                  <a:cs typeface="Arial"/>
                </a:endParaRPr>
              </a:p>
              <a:p>
                <a:pPr algn="ctr">
                  <a:lnSpc>
                    <a:spcPct val="100000"/>
                  </a:lnSpc>
                  <a:spcBef>
                    <a:spcPts val="960"/>
                  </a:spcBef>
                </a:pPr>
                <a:r>
                  <a:rPr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sz="1800" spc="359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sz="1200" spc="-10" dirty="0">
                    <a:latin typeface="Arial"/>
                    <a:cs typeface="Arial"/>
                  </a:rPr>
                  <a:t>Let</a:t>
                </a:r>
                <a:r>
                  <a:rPr sz="1200" spc="25" dirty="0">
                    <a:latin typeface="Arial"/>
                    <a:cs typeface="Arial"/>
                  </a:rPr>
                  <a:t> </a:t>
                </a:r>
                <a:r>
                  <a:rPr sz="1200" i="1" dirty="0">
                    <a:latin typeface="Arial"/>
                    <a:cs typeface="Arial"/>
                  </a:rPr>
                  <a:t>L</a:t>
                </a:r>
                <a:r>
                  <a:rPr sz="1200" i="1" spc="-5" dirty="0">
                    <a:latin typeface="Arial"/>
                    <a:cs typeface="Arial"/>
                  </a:rPr>
                  <a:t> </a:t>
                </a:r>
                <a:r>
                  <a:rPr sz="1200" spc="200" dirty="0">
                    <a:latin typeface="Arial"/>
                    <a:cs typeface="Arial"/>
                  </a:rPr>
                  <a:t>=</a:t>
                </a:r>
                <a:r>
                  <a:rPr sz="1200" spc="-5" dirty="0">
                    <a:latin typeface="Arial"/>
                    <a:cs typeface="Arial"/>
                  </a:rPr>
                  <a:t> </a:t>
                </a:r>
                <a:r>
                  <a:rPr sz="1200" dirty="0">
                    <a:latin typeface="Arial"/>
                    <a:cs typeface="Arial"/>
                  </a:rPr>
                  <a:t>[</a:t>
                </a:r>
                <a:r>
                  <a:rPr sz="1200" i="1" dirty="0">
                    <a:latin typeface="Arial"/>
                    <a:cs typeface="Arial"/>
                  </a:rPr>
                  <a:t>l</a:t>
                </a:r>
                <a:r>
                  <a:rPr sz="1200" baseline="-13888" dirty="0">
                    <a:latin typeface="Arial"/>
                    <a:cs typeface="Arial"/>
                  </a:rPr>
                  <a:t>0</a:t>
                </a:r>
                <a:r>
                  <a:rPr sz="1200" i="1" dirty="0">
                    <a:latin typeface="Times New Roman"/>
                    <a:cs typeface="Times New Roman"/>
                  </a:rPr>
                  <a:t>,</a:t>
                </a:r>
                <a:r>
                  <a:rPr sz="1200" i="1" spc="-100" dirty="0">
                    <a:latin typeface="Times New Roman"/>
                    <a:cs typeface="Times New Roman"/>
                  </a:rPr>
                  <a:t> </a:t>
                </a:r>
                <a:r>
                  <a:rPr sz="1200" i="1" dirty="0">
                    <a:latin typeface="Arial"/>
                    <a:cs typeface="Arial"/>
                  </a:rPr>
                  <a:t>l</a:t>
                </a:r>
                <a:r>
                  <a:rPr sz="1200" baseline="-13888" dirty="0">
                    <a:latin typeface="Arial"/>
                    <a:cs typeface="Arial"/>
                  </a:rPr>
                  <a:t>1</a:t>
                </a:r>
                <a:r>
                  <a:rPr sz="1200" i="1" dirty="0">
                    <a:latin typeface="Times New Roman"/>
                    <a:cs typeface="Times New Roman"/>
                  </a:rPr>
                  <a:t>,</a:t>
                </a:r>
                <a:r>
                  <a:rPr sz="1200" i="1" spc="-100" dirty="0">
                    <a:latin typeface="Times New Roman"/>
                    <a:cs typeface="Times New Roman"/>
                  </a:rPr>
                  <a:t> </a:t>
                </a:r>
                <a:r>
                  <a:rPr sz="1200" i="1" dirty="0">
                    <a:latin typeface="Times New Roman"/>
                    <a:cs typeface="Times New Roman"/>
                  </a:rPr>
                  <a:t>.</a:t>
                </a:r>
                <a:r>
                  <a:rPr sz="1200" i="1" spc="-105" dirty="0">
                    <a:latin typeface="Times New Roman"/>
                    <a:cs typeface="Times New Roman"/>
                  </a:rPr>
                  <a:t> </a:t>
                </a:r>
                <a:r>
                  <a:rPr sz="1200" i="1" dirty="0">
                    <a:latin typeface="Times New Roman"/>
                    <a:cs typeface="Times New Roman"/>
                  </a:rPr>
                  <a:t>.</a:t>
                </a:r>
                <a:r>
                  <a:rPr sz="1200" i="1" spc="-100" dirty="0">
                    <a:latin typeface="Times New Roman"/>
                    <a:cs typeface="Times New Roman"/>
                  </a:rPr>
                  <a:t> </a:t>
                </a:r>
                <a:r>
                  <a:rPr sz="1200" i="1" dirty="0">
                    <a:latin typeface="Times New Roman"/>
                    <a:cs typeface="Times New Roman"/>
                  </a:rPr>
                  <a:t>.</a:t>
                </a:r>
                <a:r>
                  <a:rPr sz="1200" i="1" spc="-100" dirty="0">
                    <a:latin typeface="Times New Roman"/>
                    <a:cs typeface="Times New Roman"/>
                  </a:rPr>
                  <a:t> </a:t>
                </a:r>
                <a:r>
                  <a:rPr sz="1200" i="1" dirty="0">
                    <a:latin typeface="Times New Roman"/>
                    <a:cs typeface="Times New Roman"/>
                  </a:rPr>
                  <a:t>,</a:t>
                </a:r>
                <a:r>
                  <a:rPr sz="1200" i="1" spc="-100" dirty="0">
                    <a:latin typeface="Times New Roman"/>
                    <a:cs typeface="Times New Roman"/>
                  </a:rPr>
                  <a:t> </a:t>
                </a:r>
                <a:r>
                  <a:rPr sz="1200" i="1" dirty="0">
                    <a:latin typeface="Arial"/>
                    <a:cs typeface="Arial"/>
                  </a:rPr>
                  <a:t>l</a:t>
                </a:r>
                <a:r>
                  <a:rPr sz="1200" i="1" baseline="-13888" dirty="0">
                    <a:latin typeface="Arial"/>
                    <a:cs typeface="Arial"/>
                  </a:rPr>
                  <a:t>n</a:t>
                </a:r>
                <a:r>
                  <a:rPr sz="1200" i="1" baseline="-13888" dirty="0">
                    <a:latin typeface="Hack"/>
                    <a:cs typeface="Hack"/>
                  </a:rPr>
                  <a:t>−</a:t>
                </a:r>
                <a:r>
                  <a:rPr sz="1200" baseline="-13888" dirty="0">
                    <a:latin typeface="Arial"/>
                    <a:cs typeface="Arial"/>
                  </a:rPr>
                  <a:t>1</a:t>
                </a:r>
                <a:r>
                  <a:rPr sz="1200" dirty="0">
                    <a:latin typeface="Arial"/>
                    <a:cs typeface="Arial"/>
                  </a:rPr>
                  <a:t>]</a:t>
                </a:r>
                <a:r>
                  <a:rPr sz="1200" i="1" baseline="41666" dirty="0">
                    <a:latin typeface="Arial"/>
                    <a:cs typeface="Arial"/>
                  </a:rPr>
                  <a:t>T</a:t>
                </a:r>
                <a:r>
                  <a:rPr sz="1200" i="1" spc="-104" baseline="41666" dirty="0">
                    <a:latin typeface="Arial"/>
                    <a:cs typeface="Arial"/>
                  </a:rPr>
                  <a:t> </a:t>
                </a:r>
                <a:r>
                  <a:rPr sz="1200" dirty="0">
                    <a:latin typeface="Arial"/>
                    <a:cs typeface="Arial"/>
                  </a:rPr>
                  <a:t>.</a:t>
                </a:r>
                <a:r>
                  <a:rPr sz="1200" spc="170" dirty="0">
                    <a:latin typeface="Arial"/>
                    <a:cs typeface="Arial"/>
                  </a:rPr>
                  <a:t> </a:t>
                </a:r>
                <a:r>
                  <a:rPr sz="1200" spc="-20" dirty="0">
                    <a:latin typeface="Arial"/>
                    <a:cs typeface="Arial"/>
                  </a:rPr>
                  <a:t>The</a:t>
                </a:r>
                <a:r>
                  <a:rPr sz="1200" spc="25" dirty="0">
                    <a:latin typeface="Arial"/>
                    <a:cs typeface="Arial"/>
                  </a:rPr>
                  <a:t> </a:t>
                </a:r>
                <a:r>
                  <a:rPr sz="1200" spc="-70" dirty="0">
                    <a:latin typeface="Arial"/>
                    <a:cs typeface="Arial"/>
                  </a:rPr>
                  <a:t>unique</a:t>
                </a:r>
                <a:r>
                  <a:rPr sz="1200" spc="25" dirty="0">
                    <a:latin typeface="Arial"/>
                    <a:cs typeface="Arial"/>
                  </a:rPr>
                  <a:t> </a:t>
                </a:r>
                <a:r>
                  <a:rPr sz="1200" spc="-50" dirty="0">
                    <a:latin typeface="Arial"/>
                    <a:cs typeface="Arial"/>
                  </a:rPr>
                  <a:t>structures</a:t>
                </a:r>
                <a:r>
                  <a:rPr sz="1200" spc="25" dirty="0">
                    <a:latin typeface="Arial"/>
                    <a:cs typeface="Arial"/>
                  </a:rPr>
                  <a:t> </a:t>
                </a:r>
                <a:r>
                  <a:rPr sz="1200" dirty="0">
                    <a:latin typeface="Arial"/>
                    <a:cs typeface="Arial"/>
                  </a:rPr>
                  <a:t>of</a:t>
                </a:r>
                <a:r>
                  <a:rPr sz="1200" spc="20" dirty="0">
                    <a:latin typeface="Arial"/>
                    <a:cs typeface="Arial"/>
                  </a:rPr>
                  <a:t> </a:t>
                </a:r>
                <a:r>
                  <a:rPr sz="1200" i="1" dirty="0">
                    <a:latin typeface="Arial"/>
                    <a:cs typeface="Arial"/>
                  </a:rPr>
                  <a:t>A</a:t>
                </a:r>
                <a:r>
                  <a:rPr sz="1200" i="1" spc="20" dirty="0">
                    <a:latin typeface="Arial"/>
                    <a:cs typeface="Arial"/>
                  </a:rPr>
                  <a:t> </a:t>
                </a:r>
                <a:r>
                  <a:rPr sz="1200" spc="-65" dirty="0">
                    <a:latin typeface="Arial"/>
                    <a:cs typeface="Arial"/>
                  </a:rPr>
                  <a:t>and</a:t>
                </a:r>
                <a:r>
                  <a:rPr sz="1200" spc="25" dirty="0">
                    <a:latin typeface="Arial"/>
                    <a:cs typeface="Arial"/>
                  </a:rPr>
                  <a:t> </a:t>
                </a:r>
                <a:r>
                  <a:rPr sz="1200" i="1" dirty="0">
                    <a:latin typeface="Arial"/>
                    <a:cs typeface="Arial"/>
                  </a:rPr>
                  <a:t>C</a:t>
                </a:r>
                <a:r>
                  <a:rPr sz="1200" i="1" spc="170" dirty="0">
                    <a:latin typeface="Arial"/>
                    <a:cs typeface="Arial"/>
                  </a:rPr>
                  <a:t> </a:t>
                </a:r>
                <a:r>
                  <a:rPr sz="1200" spc="-20" dirty="0">
                    <a:latin typeface="Arial"/>
                    <a:cs typeface="Arial"/>
                  </a:rPr>
                  <a:t>give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9" name="object 9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42" y="376339"/>
                <a:ext cx="4282440" cy="1273169"/>
              </a:xfrm>
              <a:prstGeom prst="rect">
                <a:avLst/>
              </a:prstGeom>
              <a:blipFill>
                <a:blip r:embed="rId2"/>
                <a:stretch>
                  <a:fillRect l="-1707" r="-1565" b="-669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7" name="object 57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8" name="object 5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59" name="object 59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Observers</a:t>
            </a:r>
            <a:r>
              <a:rPr sz="600" spc="135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and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Observer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State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60" name="object 60"/>
          <p:cNvSpPr txBox="1"/>
          <p:nvPr/>
        </p:nvSpPr>
        <p:spPr>
          <a:xfrm>
            <a:off x="4319727" y="3338410"/>
            <a:ext cx="233679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191919"/>
                </a:solidFill>
                <a:latin typeface="Arial"/>
                <a:cs typeface="Arial"/>
              </a:rPr>
              <a:t>9</a:t>
            </a:r>
            <a:r>
              <a:rPr sz="600" spc="-45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191919"/>
                </a:solidFill>
                <a:latin typeface="Arial"/>
                <a:cs typeface="Arial"/>
              </a:rPr>
              <a:t>/</a:t>
            </a:r>
            <a:r>
              <a:rPr sz="600" spc="-45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191919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3F7B8469-0A8E-D86C-4321-912BF96AB158}"/>
                  </a:ext>
                </a:extLst>
              </p:cNvPr>
              <p:cNvSpPr txBox="1"/>
              <p:nvPr/>
            </p:nvSpPr>
            <p:spPr>
              <a:xfrm>
                <a:off x="931752" y="1693711"/>
                <a:ext cx="2849819" cy="163987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14:m>
                  <m:oMath xmlns:m="http://schemas.openxmlformats.org/officeDocument/2006/math"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𝐿𝐶</m:t>
                    </m:r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=</m:t>
                    </m:r>
                    <m:d>
                      <m:dPr>
                        <m:begChr m:val="["/>
                        <m:endChr m:val="]"/>
                        <m:ctrlP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1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</m:mr>
                        </m:m>
                      </m:e>
                    </m:d>
                    <m:d>
                      <m:dPr>
                        <m:begChr m:val="["/>
                        <m:endChr m:val="]"/>
                        <m:ctrlP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plcHide m:val="on"/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zh-CN" sz="1100" b="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4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sSub>
                                <m:sSub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altLang="zh-CN" sz="1100" dirty="0"/>
              </a:p>
              <a:p>
                <a:endParaRPr lang="en-US" altLang="zh-CN" sz="1100" dirty="0"/>
              </a:p>
              <a:p>
                <a14:m>
                  <m:oMath xmlns:m="http://schemas.openxmlformats.org/officeDocument/2006/math"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𝐴</m:t>
                    </m:r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−</m:t>
                    </m:r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𝐿𝐶</m:t>
                    </m:r>
                    <m:r>
                      <a:rPr lang="en-US" altLang="zh-CN" sz="11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zh-CN" sz="1100" b="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zh-CN" sz="1100" b="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5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sz="1100" b="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⋮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⋱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𝛼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𝑛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⋯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zh-CN" altLang="en-US" sz="1100" dirty="0"/>
              </a:p>
            </p:txBody>
          </p:sp>
        </mc:Choice>
        <mc:Fallback xmlns="">
          <p:sp>
            <p:nvSpPr>
              <p:cNvPr id="61" name="文本框 60">
                <a:extLst>
                  <a:ext uri="{FF2B5EF4-FFF2-40B4-BE49-F238E27FC236}">
                    <a16:creationId xmlns:a16="http://schemas.microsoft.com/office/drawing/2014/main" id="{3F7B8469-0A8E-D86C-4321-912BF96AB15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31752" y="1693711"/>
                <a:ext cx="2849819" cy="1639873"/>
              </a:xfrm>
              <a:prstGeom prst="rect">
                <a:avLst/>
              </a:prstGeom>
              <a:blipFill>
                <a:blip r:embed="rId4"/>
                <a:stretch>
                  <a:fillRect l="-21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00" y="60916"/>
            <a:ext cx="3242945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40" dirty="0"/>
              <a:t>Observer</a:t>
            </a:r>
            <a:r>
              <a:rPr spc="20" dirty="0"/>
              <a:t> </a:t>
            </a:r>
            <a:r>
              <a:rPr spc="-145" dirty="0"/>
              <a:t>eigenvalue</a:t>
            </a:r>
            <a:r>
              <a:rPr spc="25" dirty="0"/>
              <a:t> </a:t>
            </a:r>
            <a:r>
              <a:rPr spc="-90" dirty="0"/>
              <a:t>placement:</a:t>
            </a:r>
            <a:r>
              <a:rPr spc="145" dirty="0"/>
              <a:t> </a:t>
            </a:r>
            <a:r>
              <a:rPr spc="-10" dirty="0"/>
              <a:t>o.c.f.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5442" y="425117"/>
            <a:ext cx="274637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11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i="1" dirty="0">
                <a:latin typeface="Arial"/>
                <a:cs typeface="Arial"/>
              </a:rPr>
              <a:t>A</a:t>
            </a:r>
            <a:r>
              <a:rPr sz="1200" i="1" spc="5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and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i="1" spc="-40" dirty="0">
                <a:latin typeface="Arial"/>
                <a:cs typeface="Arial"/>
              </a:rPr>
              <a:t>A</a:t>
            </a:r>
            <a:r>
              <a:rPr sz="1200" i="1" spc="-70" dirty="0">
                <a:latin typeface="Arial"/>
                <a:cs typeface="Arial"/>
              </a:rPr>
              <a:t> </a:t>
            </a:r>
            <a:r>
              <a:rPr sz="1200" i="1" spc="200" dirty="0">
                <a:latin typeface="Menlo"/>
                <a:cs typeface="Menlo"/>
              </a:rPr>
              <a:t>−</a:t>
            </a:r>
            <a:r>
              <a:rPr sz="1200" i="1" spc="-459" dirty="0">
                <a:latin typeface="Menlo"/>
                <a:cs typeface="Menlo"/>
              </a:rPr>
              <a:t> </a:t>
            </a:r>
            <a:r>
              <a:rPr sz="1200" i="1" dirty="0">
                <a:latin typeface="Arial"/>
                <a:cs typeface="Arial"/>
              </a:rPr>
              <a:t>LC</a:t>
            </a:r>
            <a:r>
              <a:rPr sz="1200" i="1" spc="130" dirty="0">
                <a:latin typeface="Arial"/>
                <a:cs typeface="Arial"/>
              </a:rPr>
              <a:t> </a:t>
            </a:r>
            <a:r>
              <a:rPr sz="1200" spc="-85" dirty="0">
                <a:latin typeface="Arial"/>
                <a:cs typeface="Arial"/>
              </a:rPr>
              <a:t>have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120" dirty="0">
                <a:latin typeface="Arial"/>
                <a:cs typeface="Arial"/>
              </a:rPr>
              <a:t>same</a:t>
            </a:r>
            <a:r>
              <a:rPr sz="1200" spc="3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structure:</a:t>
            </a:r>
            <a:endParaRPr sz="12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4" name="object 34"/>
              <p:cNvSpPr txBox="1"/>
              <p:nvPr/>
            </p:nvSpPr>
            <p:spPr>
              <a:xfrm>
                <a:off x="202742" y="1510738"/>
                <a:ext cx="4309110" cy="762838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50800">
                  <a:lnSpc>
                    <a:spcPct val="100000"/>
                  </a:lnSpc>
                  <a:spcBef>
                    <a:spcPts val="95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232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50" dirty="0">
                    <a:latin typeface="Arial"/>
                    <a:cs typeface="Arial"/>
                  </a:rPr>
                  <a:t>Recall:</a:t>
                </a:r>
                <a:r>
                  <a:rPr lang="en-US" sz="1200" spc="160" dirty="0">
                    <a:latin typeface="Arial"/>
                    <a:cs typeface="Arial"/>
                  </a:rPr>
                  <a:t> </a:t>
                </a:r>
                <a:r>
                  <a:rPr lang="en-US" sz="1200" spc="-50" dirty="0">
                    <a:latin typeface="Arial"/>
                    <a:cs typeface="Arial"/>
                  </a:rPr>
                  <a:t>det</a:t>
                </a:r>
                <a:r>
                  <a:rPr lang="en-US" sz="1200" spc="-13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latin typeface="Arial"/>
                    <a:cs typeface="Arial"/>
                  </a:rPr>
                  <a:t>sI</a:t>
                </a:r>
                <a:r>
                  <a:rPr lang="en-US" sz="1200" i="1" spc="65" dirty="0"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latin typeface="Menlo"/>
                    <a:cs typeface="Menlo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A</a:t>
                </a:r>
                <a:r>
                  <a:rPr lang="en-US" sz="1200" dirty="0">
                    <a:latin typeface="Arial"/>
                    <a:cs typeface="Arial"/>
                  </a:rPr>
                  <a:t>)</a:t>
                </a:r>
                <a:r>
                  <a:rPr lang="en-US" sz="1200" spc="-2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2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s</a:t>
                </a:r>
                <a:r>
                  <a:rPr lang="en-US" sz="1200" i="1" baseline="31250" dirty="0">
                    <a:latin typeface="Arial"/>
                    <a:cs typeface="Arial"/>
                  </a:rPr>
                  <a:t>n</a:t>
                </a:r>
                <a:r>
                  <a:rPr lang="en-US" sz="1200" i="1" spc="135" baseline="3125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85" dirty="0">
                    <a:latin typeface="Arial"/>
                    <a:cs typeface="Arial"/>
                  </a:rPr>
                  <a:t> </a:t>
                </a:r>
                <a:r>
                  <a:rPr lang="el-GR" sz="1200" i="1" spc="45" dirty="0">
                    <a:latin typeface="Times New Roman"/>
                    <a:cs typeface="Times New Roman"/>
                  </a:rPr>
                  <a:t>α</a:t>
                </a:r>
                <a:r>
                  <a:rPr lang="en-US" sz="1200" i="1" spc="67" baseline="-13888" dirty="0">
                    <a:latin typeface="Arial"/>
                    <a:cs typeface="Arial"/>
                  </a:rPr>
                  <a:t>n</a:t>
                </a:r>
                <a:r>
                  <a:rPr lang="en-US" sz="1200" i="1" spc="67" baseline="-13888" dirty="0">
                    <a:latin typeface="Hack"/>
                    <a:cs typeface="Hack"/>
                  </a:rPr>
                  <a:t>−</a:t>
                </a:r>
                <a:r>
                  <a:rPr lang="en-US" sz="1200" spc="67" baseline="-13888" dirty="0">
                    <a:latin typeface="Arial"/>
                    <a:cs typeface="Arial"/>
                  </a:rPr>
                  <a:t>1</a:t>
                </a:r>
                <a:r>
                  <a:rPr lang="en-US" sz="1200" i="1" spc="45" dirty="0">
                    <a:latin typeface="Arial"/>
                    <a:cs typeface="Arial"/>
                  </a:rPr>
                  <a:t>s</a:t>
                </a:r>
                <a:r>
                  <a:rPr lang="en-US" sz="1200" i="1" spc="67" baseline="31250" dirty="0">
                    <a:latin typeface="Arial"/>
                    <a:cs typeface="Arial"/>
                  </a:rPr>
                  <a:t>n</a:t>
                </a:r>
                <a:r>
                  <a:rPr lang="en-US" sz="1200" i="1" spc="67" baseline="31250" dirty="0">
                    <a:latin typeface="Hack"/>
                    <a:cs typeface="Hack"/>
                  </a:rPr>
                  <a:t>−</a:t>
                </a:r>
                <a:r>
                  <a:rPr lang="en-US" sz="1200" spc="67" baseline="31250" dirty="0">
                    <a:latin typeface="Arial"/>
                    <a:cs typeface="Arial"/>
                  </a:rPr>
                  <a:t>1</a:t>
                </a:r>
                <a:r>
                  <a:rPr lang="en-US" sz="1200" spc="112" baseline="3125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14:m>
                  <m:oMath xmlns:m="http://schemas.openxmlformats.org/officeDocument/2006/math">
                    <m:r>
                      <a:rPr lang="en-US" sz="1200" b="0" i="1" spc="200" smtClean="0">
                        <a:latin typeface="Cambria Math" panose="02040503050406030204" pitchFamily="18" charset="0"/>
                        <a:cs typeface="Arial"/>
                      </a:rPr>
                      <m:t>⋯</m:t>
                    </m:r>
                  </m:oMath>
                </a14:m>
                <a:r>
                  <a:rPr lang="en-US" sz="1200" i="1" spc="-459" dirty="0">
                    <a:latin typeface="Menlo"/>
                    <a:cs typeface="Menlo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85" dirty="0">
                    <a:latin typeface="Arial"/>
                    <a:cs typeface="Arial"/>
                  </a:rPr>
                  <a:t> </a:t>
                </a:r>
                <a:r>
                  <a:rPr lang="el-GR" sz="1200" i="1" dirty="0">
                    <a:latin typeface="Times New Roman"/>
                    <a:cs typeface="Times New Roman"/>
                  </a:rPr>
                  <a:t>α</a:t>
                </a:r>
                <a:r>
                  <a:rPr lang="el-GR" sz="1200" baseline="-13888" dirty="0">
                    <a:latin typeface="Arial"/>
                    <a:cs typeface="Arial"/>
                  </a:rPr>
                  <a:t>1</a:t>
                </a:r>
                <a:r>
                  <a:rPr lang="en-US" sz="1200" i="1" dirty="0">
                    <a:latin typeface="Arial"/>
                    <a:cs typeface="Arial"/>
                  </a:rPr>
                  <a:t>s</a:t>
                </a:r>
                <a:r>
                  <a:rPr lang="en-US" sz="1200" i="1" spc="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85" dirty="0">
                    <a:latin typeface="Arial"/>
                    <a:cs typeface="Arial"/>
                  </a:rPr>
                  <a:t> </a:t>
                </a:r>
                <a:r>
                  <a:rPr lang="el-GR" sz="1200" i="1" spc="-25" dirty="0">
                    <a:latin typeface="Times New Roman"/>
                    <a:cs typeface="Times New Roman"/>
                  </a:rPr>
                  <a:t>α</a:t>
                </a:r>
                <a:r>
                  <a:rPr lang="el-GR" sz="1200" spc="-37" baseline="-13888" dirty="0">
                    <a:latin typeface="Arial"/>
                    <a:cs typeface="Arial"/>
                  </a:rPr>
                  <a:t>0</a:t>
                </a:r>
                <a:r>
                  <a:rPr lang="el-GR" sz="1200" spc="-25" dirty="0">
                    <a:latin typeface="Arial"/>
                    <a:cs typeface="Arial"/>
                  </a:rPr>
                  <a:t>.</a:t>
                </a:r>
                <a:endParaRPr lang="el-GR" sz="1200" dirty="0">
                  <a:latin typeface="Arial"/>
                  <a:cs typeface="Arial"/>
                </a:endParaRPr>
              </a:p>
              <a:p>
                <a:pPr marL="50800">
                  <a:lnSpc>
                    <a:spcPct val="100000"/>
                  </a:lnSpc>
                  <a:spcBef>
                    <a:spcPts val="50"/>
                  </a:spcBef>
                </a:pPr>
                <a:r>
                  <a:rPr lang="el-GR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l-GR" sz="1800" spc="375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20" dirty="0">
                    <a:latin typeface="Arial"/>
                    <a:cs typeface="Arial"/>
                  </a:rPr>
                  <a:t>Thus</a:t>
                </a:r>
              </a:p>
              <a:p>
                <a:pPr marL="50800">
                  <a:lnSpc>
                    <a:spcPct val="100000"/>
                  </a:lnSpc>
                  <a:spcBef>
                    <a:spcPts val="50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unc>
                        <m:funcPr>
                          <m:ctrlPr>
                            <a:rPr lang="en-US" altLang="zh-CN" sz="1200" i="1" spc="-40" smtClean="0">
                              <a:latin typeface="Cambria Math" panose="02040503050406030204" pitchFamily="18" charset="0"/>
                            </a:rPr>
                          </m:ctrlPr>
                        </m:funcPr>
                        <m:fName>
                          <m:r>
                            <m:rPr>
                              <m:sty m:val="p"/>
                            </m:rPr>
                            <a:rPr lang="en-US" altLang="zh-CN" sz="1200" spc="-40">
                              <a:latin typeface="Cambria Math" panose="02040503050406030204" pitchFamily="18" charset="0"/>
                            </a:rPr>
                            <m:t>det</m:t>
                          </m:r>
                        </m:fName>
                        <m:e>
                          <m:d>
                            <m:dPr>
                              <m:ctrlPr>
                                <a:rPr lang="en-US" altLang="zh-CN" sz="1200" i="1" spc="-40">
                                  <a:latin typeface="Cambria Math" panose="02040503050406030204" pitchFamily="18" charset="0"/>
                                </a:rPr>
                              </m:ctrlPr>
                            </m:dPr>
                            <m:e>
                              <m:r>
                                <a:rPr lang="en-US" altLang="zh-CN" sz="1200" i="1" spc="-40">
                                  <a:latin typeface="Cambria Math" panose="02040503050406030204" pitchFamily="18" charset="0"/>
                                </a:rPr>
                                <m:t>𝑠𝐼</m:t>
                              </m:r>
                              <m:r>
                                <a:rPr lang="en-US" altLang="zh-CN" sz="1200" i="1" spc="-4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d>
                                <m:dPr>
                                  <m:ctrlPr>
                                    <a:rPr lang="en-US" altLang="zh-CN" sz="1200" i="1" spc="-4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en-US" altLang="zh-CN" sz="1200" i="1" spc="-40">
                                      <a:latin typeface="Cambria Math" panose="02040503050406030204" pitchFamily="18" charset="0"/>
                                    </a:rPr>
                                    <m:t>𝐴</m:t>
                                  </m:r>
                                  <m:r>
                                    <a:rPr lang="en-US" altLang="zh-CN" sz="1200" i="1" spc="-4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CN" sz="1200" i="1" spc="-40">
                                      <a:latin typeface="Cambria Math" panose="02040503050406030204" pitchFamily="18" charset="0"/>
                                    </a:rPr>
                                    <m:t>𝐿𝐶</m:t>
                                  </m:r>
                                </m:e>
                              </m:d>
                            </m:e>
                          </m:d>
                        </m:e>
                      </m:func>
                      <m:r>
                        <a:rPr lang="en-US" altLang="zh-CN" sz="1200" i="1" spc="-4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  <m:t>𝑛</m:t>
                          </m:r>
                        </m:sup>
                      </m:sSup>
                      <m:r>
                        <a:rPr lang="en-US" altLang="zh-CN" sz="1200" i="1" spc="-40">
                          <a:latin typeface="Cambria Math" panose="02040503050406030204" pitchFamily="18" charset="0"/>
                        </a:rPr>
                        <m:t>+</m:t>
                      </m:r>
                      <m:limLow>
                        <m:limLowPr>
                          <m:ctrlPr>
                            <a:rPr lang="en-US" altLang="zh-CN" sz="1200" i="1" spc="-4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altLang="zh-CN" sz="1200" i="1" spc="-40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d>
                                <m:dPr>
                                  <m:ctrlPr>
                                    <a:rPr lang="en-US" altLang="zh-CN" sz="1200" b="0" i="1" spc="-4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CN" sz="1200" i="1" spc="-4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200" b="0" i="1" spc="-40" smtClean="0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e>
                                    <m:sub>
                                      <m:r>
                                        <a:rPr lang="en-US" altLang="zh-CN" sz="1200" i="1" spc="-4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altLang="zh-CN" sz="1200" i="1" spc="-4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  <m:r>
                                    <a:rPr lang="en-US" altLang="zh-CN" sz="1200" b="0" i="1" spc="-40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altLang="zh-CN" sz="1200" b="0" i="1" spc="-4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200" b="0" i="1" spc="-40" smtClean="0">
                                          <a:latin typeface="Cambria Math" panose="02040503050406030204" pitchFamily="18" charset="0"/>
                                        </a:rPr>
                                        <m:t>𝐼</m:t>
                                      </m:r>
                                    </m:e>
                                    <m:sub>
                                      <m:r>
                                        <a:rPr lang="en-US" altLang="zh-CN" sz="1200" b="0" i="1" spc="-40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altLang="zh-CN" sz="1200" b="0" i="0" spc="-40" smtClean="0">
                              <a:latin typeface="Cambria Math" panose="02040503050406030204" pitchFamily="18" charset="0"/>
                            </a:rPr>
                            <m:t>target</m:t>
                          </m:r>
                          <m:r>
                            <a:rPr lang="en-US" altLang="zh-CN" sz="1200" b="0" i="0" spc="-40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altLang="zh-CN" sz="1200" b="0" i="1" spc="-4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CN" sz="1200" b="0" i="1" spc="-4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CN" sz="1200" b="0" i="1" spc="-4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sz="1200" b="0" i="1" spc="-40" smtClean="0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sz="1200" b="0" i="1" spc="-40" smtClean="0">
                                  <a:latin typeface="Cambria Math" panose="02040503050406030204" pitchFamily="18" charset="0"/>
                                </a:rPr>
                                <m:t>𝑛</m:t>
                              </m:r>
                              <m:r>
                                <a:rPr lang="en-US" altLang="zh-CN" sz="1200" b="0" i="1" spc="-40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</m:sub>
                          </m:sSub>
                        </m:lim>
                      </m:limLow>
                      <m:sSup>
                        <m:sSupPr>
                          <m:ctrlP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  <m:t>𝑠</m:t>
                          </m:r>
                        </m:e>
                        <m:sup>
                          <m: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  <m:t>𝑛</m:t>
                          </m:r>
                          <m:r>
                            <a:rPr lang="en-US" altLang="zh-CN" sz="1200" i="1" spc="-40">
                              <a:latin typeface="Cambria Math" panose="02040503050406030204" pitchFamily="18" charset="0"/>
                            </a:rPr>
                            <m:t>−1</m:t>
                          </m:r>
                        </m:sup>
                      </m:sSup>
                      <m:r>
                        <a:rPr lang="en-US" altLang="zh-CN" sz="1200" i="1" spc="-40">
                          <a:latin typeface="Cambria Math" panose="02040503050406030204" pitchFamily="18" charset="0"/>
                        </a:rPr>
                        <m:t>+⋯+</m:t>
                      </m:r>
                      <m:limLow>
                        <m:limLowPr>
                          <m:ctrlPr>
                            <a:rPr lang="en-US" altLang="zh-CN" sz="1200" i="1" spc="-40" smtClean="0">
                              <a:latin typeface="Cambria Math" panose="02040503050406030204" pitchFamily="18" charset="0"/>
                            </a:rPr>
                          </m:ctrlPr>
                        </m:limLowPr>
                        <m:e>
                          <m:groupChr>
                            <m:groupChrPr>
                              <m:chr m:val="⏟"/>
                              <m:ctrlPr>
                                <a:rPr lang="en-US" altLang="zh-CN" sz="1200" i="1" spc="-40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d>
                                <m:dPr>
                                  <m:ctrlPr>
                                    <a:rPr lang="en-US" altLang="zh-CN" sz="1200" b="0" i="1" spc="-40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sSub>
                                    <m:sSubPr>
                                      <m:ctrlPr>
                                        <a:rPr lang="en-US" altLang="zh-CN" sz="1200" b="0" i="1" spc="-4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200" b="0" i="1" spc="-40" smtClean="0">
                                          <a:latin typeface="Cambria Math" panose="02040503050406030204" pitchFamily="18" charset="0"/>
                                        </a:rPr>
                                        <m:t>𝛼</m:t>
                                      </m:r>
                                    </m:e>
                                    <m:sub>
                                      <m:r>
                                        <a:rPr lang="en-US" altLang="zh-CN" sz="1200" b="0" i="1" spc="-40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  <m:r>
                                    <a:rPr lang="en-US" altLang="zh-CN" sz="1200" b="0" i="1" spc="-40" smtClean="0">
                                      <a:latin typeface="Cambria Math" panose="02040503050406030204" pitchFamily="18" charset="0"/>
                                    </a:rPr>
                                    <m:t>+</m:t>
                                  </m:r>
                                  <m:sSub>
                                    <m:sSubPr>
                                      <m:ctrlPr>
                                        <a:rPr lang="en-US" altLang="zh-CN" sz="1200" b="0" i="1" spc="-40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200" b="0" i="1" spc="-40" smtClean="0">
                                          <a:latin typeface="Cambria Math" panose="02040503050406030204" pitchFamily="18" charset="0"/>
                                        </a:rPr>
                                        <m:t>𝐼</m:t>
                                      </m:r>
                                    </m:e>
                                    <m:sub>
                                      <m:r>
                                        <a:rPr lang="en-US" altLang="zh-CN" sz="1200" b="0" i="1" spc="-40" smtClean="0">
                                          <a:latin typeface="Cambria Math" panose="02040503050406030204" pitchFamily="18" charset="0"/>
                                        </a:rPr>
                                        <m:t>𝑛</m:t>
                                      </m:r>
                                      <m:r>
                                        <a:rPr lang="en-US" altLang="zh-CN" sz="1200" b="0" i="1" spc="-40" smtClean="0">
                                          <a:latin typeface="Cambria Math" panose="02040503050406030204" pitchFamily="18" charset="0"/>
                                        </a:rPr>
                                        <m:t>−1</m:t>
                                      </m:r>
                                    </m:sub>
                                  </m:sSub>
                                </m:e>
                              </m:d>
                            </m:e>
                          </m:groupChr>
                        </m:e>
                        <m:lim>
                          <m:r>
                            <m:rPr>
                              <m:sty m:val="p"/>
                            </m:rPr>
                            <a:rPr lang="en-US" altLang="zh-CN" sz="1200" b="0" i="0" spc="-40" smtClean="0">
                              <a:latin typeface="Cambria Math" panose="02040503050406030204" pitchFamily="18" charset="0"/>
                            </a:rPr>
                            <m:t>target</m:t>
                          </m:r>
                          <m:r>
                            <a:rPr lang="en-US" altLang="zh-CN" sz="1200" b="0" i="0" spc="-40" smtClean="0">
                              <a:latin typeface="Cambria Math" panose="02040503050406030204" pitchFamily="18" charset="0"/>
                            </a:rPr>
                            <m:t>:</m:t>
                          </m:r>
                          <m:r>
                            <a:rPr lang="en-US" altLang="zh-CN" sz="1200" b="0" i="1" spc="-40" smtClean="0">
                              <a:latin typeface="Cambria Math" panose="02040503050406030204" pitchFamily="18" charset="0"/>
                            </a:rPr>
                            <m:t> </m:t>
                          </m:r>
                          <m:sSub>
                            <m:sSubPr>
                              <m:ctrlPr>
                                <a:rPr lang="en-US" altLang="zh-CN" sz="1200" b="0" i="1" spc="-40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acc>
                                <m:accPr>
                                  <m:chr m:val="̅"/>
                                  <m:ctrlPr>
                                    <a:rPr lang="en-US" altLang="zh-CN" sz="1200" b="0" i="1" spc="-40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sz="1200" b="0" i="1" spc="-40" smtClean="0">
                                      <a:latin typeface="Cambria Math" panose="02040503050406030204" pitchFamily="18" charset="0"/>
                                    </a:rPr>
                                    <m:t>𝛾</m:t>
                                  </m:r>
                                </m:e>
                              </m:acc>
                            </m:e>
                            <m:sub>
                              <m:r>
                                <a:rPr lang="en-US" altLang="zh-CN" sz="1200" b="0" i="1" spc="-40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sub>
                          </m:sSub>
                        </m:lim>
                      </m:limLow>
                    </m:oMath>
                  </m:oMathPara>
                </a14:m>
                <a:endParaRPr sz="1800" baseline="46296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34" name="object 34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742" y="1510738"/>
                <a:ext cx="4309110" cy="762838"/>
              </a:xfrm>
              <a:prstGeom prst="rect">
                <a:avLst/>
              </a:prstGeom>
              <a:blipFill>
                <a:blip r:embed="rId2"/>
                <a:stretch>
                  <a:fillRect l="-990" t="-6400" b="-56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5" name="object 35"/>
              <p:cNvSpPr txBox="1"/>
              <p:nvPr/>
            </p:nvSpPr>
            <p:spPr>
              <a:xfrm>
                <a:off x="215441" y="2440505"/>
                <a:ext cx="4059721" cy="763671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38100">
                  <a:lnSpc>
                    <a:spcPct val="100000"/>
                  </a:lnSpc>
                  <a:spcBef>
                    <a:spcPts val="95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375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50" dirty="0">
                    <a:latin typeface="Arial"/>
                    <a:cs typeface="Arial"/>
                  </a:rPr>
                  <a:t>Hence</a:t>
                </a:r>
              </a:p>
              <a:p>
                <a:pPr marL="38100">
                  <a:lnSpc>
                    <a:spcPct val="100000"/>
                  </a:lnSpc>
                  <a:spcBef>
                    <a:spcPts val="95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sSubPr>
                        <m:e>
                          <m:r>
                            <a:rPr lang="zh-CN" altLang="en-US" sz="1200" b="0" i="1" smtClean="0">
                              <a:latin typeface="Cambria Math" panose="02040503050406030204" pitchFamily="18" charset="0"/>
                              <a:cs typeface="Arial"/>
                            </a:rPr>
                            <m:t>𝐼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Arial"/>
                            </a:rPr>
                            <m:t>0</m:t>
                          </m:r>
                        </m:sub>
                      </m:sSub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Arial"/>
                        </a:rPr>
                        <m:t>=</m:t>
                      </m:r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acc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𝛾</m:t>
                              </m:r>
                            </m:e>
                          </m:acc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Arial"/>
                            </a:rPr>
                            <m:t>𝑛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Arial"/>
                            </a:rPr>
                            <m:t>−1</m:t>
                          </m:r>
                        </m:sub>
                      </m:sSub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Arial"/>
                        </a:rPr>
                        <m:t>−</m:t>
                      </m:r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Arial"/>
                            </a:rPr>
                            <m:t>𝛼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Arial"/>
                            </a:rPr>
                            <m:t>𝑛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Arial"/>
                            </a:rPr>
                            <m:t>−1</m:t>
                          </m:r>
                        </m:sub>
                      </m:sSub>
                    </m:oMath>
                  </m:oMathPara>
                </a14:m>
                <a:endParaRPr lang="en-US" altLang="zh-CN" sz="1200" b="0" dirty="0">
                  <a:latin typeface="Arial"/>
                  <a:cs typeface="Arial"/>
                </a:endParaRPr>
              </a:p>
              <a:p>
                <a:pPr marL="38100">
                  <a:lnSpc>
                    <a:spcPct val="100000"/>
                  </a:lnSpc>
                  <a:spcBef>
                    <a:spcPts val="95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zh-CN" altLang="en-US" sz="1200" i="1" smtClean="0">
                          <a:latin typeface="Cambria Math" panose="02040503050406030204" pitchFamily="18" charset="0"/>
                          <a:cs typeface="Arial"/>
                        </a:rPr>
                        <m:t>⋮</m:t>
                      </m:r>
                    </m:oMath>
                  </m:oMathPara>
                </a14:m>
                <a:endParaRPr lang="en-US" altLang="zh-CN" sz="1200" dirty="0">
                  <a:latin typeface="Arial"/>
                  <a:cs typeface="Arial"/>
                </a:endParaRPr>
              </a:p>
              <a:p>
                <a:pPr marL="38100">
                  <a:lnSpc>
                    <a:spcPct val="100000"/>
                  </a:lnSpc>
                  <a:spcBef>
                    <a:spcPts val="95"/>
                  </a:spcBef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Arial"/>
                            </a:rPr>
                            <m:t>𝐼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Arial"/>
                            </a:rPr>
                            <m:t>𝑛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Arial"/>
                            </a:rPr>
                            <m:t>−1</m:t>
                          </m:r>
                        </m:sub>
                      </m:sSub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Arial"/>
                        </a:rPr>
                        <m:t>=</m:t>
                      </m:r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sSubPr>
                        <m:e>
                          <m:acc>
                            <m:accPr>
                              <m:chr m:val="̅"/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</m:ctrlPr>
                            </m:acc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  <a:cs typeface="Arial"/>
                                </a:rPr>
                                <m:t>𝛾</m:t>
                              </m:r>
                            </m:e>
                          </m:acc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Arial"/>
                            </a:rPr>
                            <m:t>0</m:t>
                          </m:r>
                        </m:sub>
                      </m:sSub>
                      <m:r>
                        <a:rPr lang="en-US" altLang="zh-CN" sz="1200" b="0" i="1" smtClean="0">
                          <a:latin typeface="Cambria Math" panose="02040503050406030204" pitchFamily="18" charset="0"/>
                          <a:cs typeface="Arial"/>
                        </a:rPr>
                        <m:t>−</m:t>
                      </m:r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  <a:cs typeface="Arial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Arial"/>
                            </a:rPr>
                            <m:t>𝛼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  <a:cs typeface="Arial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35" name="object 35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41" y="2440505"/>
                <a:ext cx="4059721" cy="763671"/>
              </a:xfrm>
              <a:prstGeom prst="rect">
                <a:avLst/>
              </a:prstGeom>
              <a:blipFill>
                <a:blip r:embed="rId3"/>
                <a:stretch>
                  <a:fillRect l="-1351" t="-6349" b="-3175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3" name="object 43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4" name="object 4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45" name="object 45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Observers</a:t>
            </a:r>
            <a:r>
              <a:rPr sz="600" spc="135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and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Observer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State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46" name="object 46"/>
          <p:cNvSpPr txBox="1"/>
          <p:nvPr/>
        </p:nvSpPr>
        <p:spPr>
          <a:xfrm>
            <a:off x="4275163" y="3338410"/>
            <a:ext cx="27813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191919"/>
                </a:solidFill>
                <a:latin typeface="Arial"/>
                <a:cs typeface="Arial"/>
              </a:rPr>
              <a:t>10</a:t>
            </a:r>
            <a:r>
              <a:rPr sz="600" spc="-40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191919"/>
                </a:solidFill>
                <a:latin typeface="Arial"/>
                <a:cs typeface="Arial"/>
              </a:rPr>
              <a:t>/</a:t>
            </a:r>
            <a:r>
              <a:rPr sz="600" spc="-40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191919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1091B57C-41D9-41A2-63DE-DA5C205D2A36}"/>
                  </a:ext>
                </a:extLst>
              </p:cNvPr>
              <p:cNvSpPr txBox="1"/>
              <p:nvPr/>
            </p:nvSpPr>
            <p:spPr>
              <a:xfrm>
                <a:off x="71840" y="587365"/>
                <a:ext cx="4464438" cy="912558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4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𝐿𝐶</m:t>
                      </m:r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=</m:t>
                      </m:r>
                      <m:r>
                        <m:rPr>
                          <m:nor/>
                        </m:rPr>
                        <a:rPr lang="en-US" altLang="zh-CN" sz="1100" b="0" dirty="0"/>
                        <m:t> 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5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sub>
                                </m:sSub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  <m:t>−2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⋱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  <m:t>𝛼</m:t>
                                    </m:r>
                                  </m:e>
                                  <m:sub>
                                    <m: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zh-CN" sz="1100" b="0" i="1" smtClean="0">
                                        <a:latin typeface="Cambria Math" panose="02040503050406030204" pitchFamily="18" charset="0"/>
                                      </a:rPr>
                                      <m:t>−1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⋯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1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sz="1100" dirty="0"/>
              </a:p>
            </p:txBody>
          </p:sp>
        </mc:Choice>
        <mc:Fallback xmlns="">
          <p:sp>
            <p:nvSpPr>
              <p:cNvPr id="48" name="文本框 47">
                <a:extLst>
                  <a:ext uri="{FF2B5EF4-FFF2-40B4-BE49-F238E27FC236}">
                    <a16:creationId xmlns:a16="http://schemas.microsoft.com/office/drawing/2014/main" id="{1091B57C-41D9-41A2-63DE-DA5C205D2A36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1840" y="587365"/>
                <a:ext cx="4464438" cy="912558"/>
              </a:xfrm>
              <a:prstGeom prst="rect">
                <a:avLst/>
              </a:prstGeom>
              <a:blipFill>
                <a:blip r:embed="rId5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50" dirty="0"/>
              <a:t>General</a:t>
            </a:r>
            <a:r>
              <a:rPr spc="60" dirty="0"/>
              <a:t> </a:t>
            </a:r>
            <a:r>
              <a:rPr spc="-140" dirty="0"/>
              <a:t>observer</a:t>
            </a:r>
            <a:r>
              <a:rPr spc="60" dirty="0"/>
              <a:t> </a:t>
            </a:r>
            <a:r>
              <a:rPr spc="-145" dirty="0"/>
              <a:t>eigenvalue</a:t>
            </a:r>
            <a:r>
              <a:rPr spc="60" dirty="0"/>
              <a:t> </a:t>
            </a:r>
            <a:r>
              <a:rPr spc="-90" dirty="0"/>
              <a:t>placement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5442" y="455724"/>
            <a:ext cx="4134358" cy="3712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ts val="1435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4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10" dirty="0">
                <a:latin typeface="Arial"/>
                <a:cs typeface="Arial"/>
              </a:rPr>
              <a:t>What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if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(</a:t>
            </a:r>
            <a:r>
              <a:rPr sz="1200" i="1" dirty="0">
                <a:latin typeface="Arial"/>
                <a:cs typeface="Arial"/>
              </a:rPr>
              <a:t>A</a:t>
            </a:r>
            <a:r>
              <a:rPr sz="1200" i="1" dirty="0">
                <a:latin typeface="Times New Roman"/>
                <a:cs typeface="Times New Roman"/>
              </a:rPr>
              <a:t>,</a:t>
            </a:r>
            <a:r>
              <a:rPr sz="1200" i="1" spc="-10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Arial"/>
                <a:cs typeface="Arial"/>
              </a:rPr>
              <a:t>B</a:t>
            </a:r>
            <a:r>
              <a:rPr sz="1200" i="1" dirty="0">
                <a:latin typeface="Times New Roman"/>
                <a:cs typeface="Times New Roman"/>
              </a:rPr>
              <a:t>,</a:t>
            </a:r>
            <a:r>
              <a:rPr sz="1200" i="1" spc="-10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Arial"/>
                <a:cs typeface="Arial"/>
              </a:rPr>
              <a:t>C</a:t>
            </a:r>
            <a:r>
              <a:rPr sz="1200" i="1" dirty="0">
                <a:latin typeface="Times New Roman"/>
                <a:cs typeface="Times New Roman"/>
              </a:rPr>
              <a:t>,</a:t>
            </a:r>
            <a:r>
              <a:rPr sz="1200" i="1" spc="-100" dirty="0">
                <a:latin typeface="Times New Roman"/>
                <a:cs typeface="Times New Roman"/>
              </a:rPr>
              <a:t> </a:t>
            </a:r>
            <a:r>
              <a:rPr sz="1200" i="1" spc="55" dirty="0">
                <a:latin typeface="Arial"/>
                <a:cs typeface="Arial"/>
              </a:rPr>
              <a:t>D</a:t>
            </a:r>
            <a:r>
              <a:rPr sz="1200" spc="55" dirty="0">
                <a:latin typeface="Arial"/>
                <a:cs typeface="Arial"/>
              </a:rPr>
              <a:t>)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is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not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in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spc="-85" dirty="0">
                <a:latin typeface="Arial"/>
                <a:cs typeface="Arial"/>
              </a:rPr>
              <a:t>observable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spc="-55" dirty="0">
                <a:latin typeface="Arial"/>
                <a:cs typeface="Arial"/>
              </a:rPr>
              <a:t>canonical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form?</a:t>
            </a:r>
            <a:endParaRPr sz="1200" dirty="0">
              <a:latin typeface="Arial"/>
              <a:cs typeface="Arial"/>
            </a:endParaRPr>
          </a:p>
          <a:p>
            <a:pPr marL="38100">
              <a:lnSpc>
                <a:spcPts val="1435"/>
              </a:lnSpc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6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90" dirty="0">
                <a:latin typeface="Arial"/>
                <a:cs typeface="Arial"/>
              </a:rPr>
              <a:t>We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65" dirty="0">
                <a:latin typeface="Arial"/>
                <a:cs typeface="Arial"/>
              </a:rPr>
              <a:t>can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40" dirty="0">
                <a:latin typeface="Arial"/>
                <a:cs typeface="Arial"/>
              </a:rPr>
              <a:t>transform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it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to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o.c.f.</a:t>
            </a:r>
            <a:r>
              <a:rPr sz="1200" spc="125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via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a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30" dirty="0">
                <a:latin typeface="Arial"/>
                <a:cs typeface="Arial"/>
              </a:rPr>
              <a:t>similarity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transform:</a:t>
            </a:r>
            <a:endParaRPr sz="1200" dirty="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6" name="object 16"/>
              <p:cNvSpPr txBox="1"/>
              <p:nvPr/>
            </p:nvSpPr>
            <p:spPr>
              <a:xfrm>
                <a:off x="177342" y="1418816"/>
                <a:ext cx="4044315" cy="1350113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76200">
                  <a:lnSpc>
                    <a:spcPct val="100000"/>
                  </a:lnSpc>
                  <a:spcBef>
                    <a:spcPts val="95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337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120" dirty="0">
                    <a:latin typeface="Arial"/>
                    <a:cs typeface="Arial"/>
                  </a:rPr>
                  <a:t>use</a:t>
                </a:r>
                <a:r>
                  <a:rPr lang="en-US" sz="1200" spc="45" dirty="0">
                    <a:latin typeface="Arial"/>
                    <a:cs typeface="Arial"/>
                  </a:rPr>
                  <a:t> </a:t>
                </a:r>
                <a:r>
                  <a:rPr lang="en-US" sz="1200" spc="-75" dirty="0">
                    <a:latin typeface="Arial"/>
                    <a:cs typeface="Arial"/>
                  </a:rPr>
                  <a:t>previous</a:t>
                </a:r>
                <a:r>
                  <a:rPr lang="en-US" sz="1200" spc="50" dirty="0">
                    <a:latin typeface="Arial"/>
                    <a:cs typeface="Arial"/>
                  </a:rPr>
                  <a:t> </a:t>
                </a:r>
                <a:r>
                  <a:rPr lang="en-US" sz="1200" spc="-60" dirty="0">
                    <a:latin typeface="Arial"/>
                    <a:cs typeface="Arial"/>
                  </a:rPr>
                  <a:t>formulas</a:t>
                </a:r>
                <a:r>
                  <a:rPr lang="en-US" sz="1200" spc="50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to</a:t>
                </a:r>
                <a:r>
                  <a:rPr lang="en-US" sz="1200" spc="50" dirty="0">
                    <a:latin typeface="Arial"/>
                    <a:cs typeface="Arial"/>
                  </a:rPr>
                  <a:t> </a:t>
                </a:r>
                <a:r>
                  <a:rPr lang="en-US" sz="1200" spc="-75" dirty="0">
                    <a:latin typeface="Arial"/>
                    <a:cs typeface="Arial"/>
                  </a:rPr>
                  <a:t>design</a:t>
                </a:r>
                <a:r>
                  <a:rPr lang="en-US" sz="1200" spc="45" dirty="0">
                    <a:latin typeface="Arial"/>
                    <a:cs typeface="Arial"/>
                  </a:rPr>
                  <a:t> </a:t>
                </a:r>
                <a:r>
                  <a:rPr lang="en-US" sz="1200" i="1" spc="-495" dirty="0">
                    <a:latin typeface="Arial"/>
                    <a:cs typeface="Arial"/>
                  </a:rPr>
                  <a:t>L</a:t>
                </a:r>
                <a:r>
                  <a:rPr lang="en-US" sz="1800" spc="127" baseline="13888" dirty="0">
                    <a:latin typeface="Arial"/>
                    <a:cs typeface="Arial"/>
                  </a:rPr>
                  <a:t>˜</a:t>
                </a:r>
                <a:r>
                  <a:rPr lang="en-US" sz="1800" spc="30" baseline="13888" dirty="0">
                    <a:latin typeface="Arial"/>
                    <a:cs typeface="Arial"/>
                  </a:rPr>
                  <a:t> </a:t>
                </a:r>
                <a:r>
                  <a:rPr lang="en-US" sz="1200" spc="-25" dirty="0">
                    <a:latin typeface="Arial"/>
                    <a:cs typeface="Arial"/>
                  </a:rPr>
                  <a:t>in: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506095" algn="ctr">
                  <a:lnSpc>
                    <a:spcPct val="100000"/>
                  </a:lnSpc>
                  <a:spcBef>
                    <a:spcPts val="844"/>
                  </a:spcBef>
                  <a:tabLst>
                    <a:tab pos="2972435" algn="l"/>
                  </a:tabLst>
                </a:pPr>
                <a14:m>
                  <m:oMath xmlns:m="http://schemas.openxmlformats.org/officeDocument/2006/math">
                    <m:sSub>
                      <m:sSubPr>
                        <m:ctrlPr>
                          <a:rPr lang="en-US" altLang="zh-CN" sz="1200" b="0" i="1" spc="20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sSubPr>
                      <m:e>
                        <m:acc>
                          <m:accPr>
                            <m:chr m:val="̇"/>
                            <m:ctrlPr>
                              <a:rPr lang="ar-AE" altLang="zh-CN" sz="1400" b="0" i="1" spc="-10" dirty="0" smtClean="0"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accPr>
                          <m:e>
                            <m:acc>
                              <m:accPr>
                                <m:chr m:val="̂"/>
                                <m:ctrlPr>
                                  <a:rPr lang="ar-AE" altLang="zh-CN" sz="1200" b="0" i="1" spc="200" smtClean="0">
                                    <a:latin typeface="Cambria Math" panose="02040503050406030204" pitchFamily="18" charset="0"/>
                                    <a:cs typeface="Arial"/>
                                  </a:rPr>
                                </m:ctrlPr>
                              </m:accPr>
                              <m:e>
                                <m:r>
                                  <a:rPr lang="zh-CN" altLang="ar-AE" sz="1200" b="0" i="1" spc="200" smtClean="0">
                                    <a:latin typeface="Cambria Math" panose="02040503050406030204" pitchFamily="18" charset="0"/>
                                    <a:cs typeface="Arial"/>
                                  </a:rPr>
                                  <m:t>𝑥</m:t>
                                </m:r>
                              </m:e>
                            </m:acc>
                          </m:e>
                        </m:acc>
                      </m:e>
                      <m:sub>
                        <m:r>
                          <a:rPr lang="en-US" altLang="zh-CN" sz="1200" b="0" i="1" spc="200" smtClean="0">
                            <a:latin typeface="Cambria Math" panose="02040503050406030204" pitchFamily="18" charset="0"/>
                            <a:cs typeface="Arial"/>
                          </a:rPr>
                          <m:t>𝑜𝑏</m:t>
                        </m:r>
                      </m:sub>
                    </m:sSub>
                  </m:oMath>
                </a14:m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altLang="zh-CN" sz="1200" spc="-10" dirty="0">
                    <a:latin typeface="Arial"/>
                    <a:cs typeface="Arial"/>
                  </a:rPr>
                  <a:t>(</a:t>
                </a:r>
                <a:r>
                  <a:rPr lang="en-US" sz="1200" i="1" spc="80" dirty="0">
                    <a:latin typeface="Arial"/>
                    <a:cs typeface="Arial"/>
                  </a:rPr>
                  <a:t>A</a:t>
                </a:r>
                <a:r>
                  <a:rPr lang="en-US" sz="1200" i="1" spc="120" baseline="-13888" dirty="0">
                    <a:latin typeface="Arial"/>
                    <a:cs typeface="Arial"/>
                  </a:rPr>
                  <a:t>o</a:t>
                </a:r>
                <a:r>
                  <a:rPr lang="en-US" sz="1200" i="1" spc="217" baseline="-13888" dirty="0"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latin typeface="Menlo"/>
                    <a:cs typeface="Menlo"/>
                  </a:rPr>
                  <a:t> </a:t>
                </a:r>
                <a:r>
                  <a:rPr lang="en-US" sz="1200" i="1" spc="-580" dirty="0" err="1">
                    <a:latin typeface="Arial"/>
                    <a:cs typeface="Arial"/>
                  </a:rPr>
                  <a:t>L</a:t>
                </a:r>
                <a:r>
                  <a:rPr lang="en-US" sz="1800" spc="-44" baseline="13888" dirty="0" err="1">
                    <a:latin typeface="Arial"/>
                    <a:cs typeface="Arial"/>
                  </a:rPr>
                  <a:t>˜</a:t>
                </a:r>
                <a:r>
                  <a:rPr lang="en-US" sz="1200" i="1" dirty="0" err="1">
                    <a:latin typeface="Arial"/>
                    <a:cs typeface="Arial"/>
                  </a:rPr>
                  <a:t>C</a:t>
                </a:r>
                <a:r>
                  <a:rPr lang="en-US" sz="1200" i="1" baseline="-13888" dirty="0" err="1">
                    <a:latin typeface="Arial"/>
                    <a:cs typeface="Arial"/>
                  </a:rPr>
                  <a:t>o</a:t>
                </a:r>
                <a:r>
                  <a:rPr lang="en-US" altLang="zh-CN" sz="1200" i="1" spc="-179" baseline="-13888" dirty="0">
                    <a:latin typeface="Arial"/>
                    <a:cs typeface="Arial"/>
                  </a:rPr>
                  <a:t> </a:t>
                </a:r>
                <a:r>
                  <a:rPr lang="en-US" altLang="zh-CN" sz="1200" spc="465" dirty="0">
                    <a:latin typeface="Arial"/>
                    <a:cs typeface="Arial"/>
                  </a:rPr>
                  <a:t>)</a:t>
                </a:r>
                <a:r>
                  <a:rPr lang="en-US" sz="1800" spc="-202" baseline="62500" dirty="0">
                    <a:latin typeface="Arial"/>
                    <a:cs typeface="Arial"/>
                  </a:rPr>
                  <a:t> </a:t>
                </a:r>
                <a:r>
                  <a:rPr lang="en-US" sz="1200" i="1" spc="-484" dirty="0" err="1">
                    <a:latin typeface="Arial"/>
                    <a:cs typeface="Arial"/>
                  </a:rPr>
                  <a:t>x</a:t>
                </a:r>
                <a:r>
                  <a:rPr lang="en-US" sz="1200" spc="-55" dirty="0" err="1">
                    <a:latin typeface="Arial"/>
                    <a:cs typeface="Arial"/>
                  </a:rPr>
                  <a:t>ˆ</a:t>
                </a:r>
                <a:r>
                  <a:rPr lang="en-US" sz="1200" i="1" spc="52" baseline="-13888" dirty="0" err="1">
                    <a:latin typeface="Arial"/>
                    <a:cs typeface="Arial"/>
                  </a:rPr>
                  <a:t>ob</a:t>
                </a:r>
                <a:r>
                  <a:rPr lang="en-US" sz="1200" i="1" spc="172" baseline="-13888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70" dirty="0">
                    <a:latin typeface="Arial"/>
                    <a:cs typeface="Arial"/>
                  </a:rPr>
                  <a:t> </a:t>
                </a:r>
                <a:r>
                  <a:rPr lang="en-US" sz="1200" i="1" spc="-555" dirty="0">
                    <a:latin typeface="Arial"/>
                    <a:cs typeface="Arial"/>
                  </a:rPr>
                  <a:t>L</a:t>
                </a:r>
                <a:r>
                  <a:rPr lang="en-US" sz="1800" spc="-7" baseline="13888" dirty="0">
                    <a:latin typeface="Arial"/>
                    <a:cs typeface="Arial"/>
                  </a:rPr>
                  <a:t>˜</a:t>
                </a:r>
                <a:r>
                  <a:rPr lang="en-US" sz="1200" i="1" spc="25" dirty="0">
                    <a:latin typeface="Arial"/>
                    <a:cs typeface="Arial"/>
                  </a:rPr>
                  <a:t>y</a:t>
                </a:r>
                <a:r>
                  <a:rPr lang="en-US" sz="1200" i="1" spc="6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70" dirty="0"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latin typeface="Arial"/>
                    <a:cs typeface="Arial"/>
                  </a:rPr>
                  <a:t>B</a:t>
                </a:r>
                <a:r>
                  <a:rPr lang="en-US" sz="1200" i="1" spc="-37" baseline="-13888" dirty="0">
                    <a:latin typeface="Arial"/>
                    <a:cs typeface="Arial"/>
                  </a:rPr>
                  <a:t>o</a:t>
                </a:r>
                <a:r>
                  <a:rPr lang="en-US" sz="1200" i="1" spc="-25" dirty="0">
                    <a:latin typeface="Arial"/>
                    <a:cs typeface="Arial"/>
                  </a:rPr>
                  <a:t>u</a:t>
                </a:r>
                <a:r>
                  <a:rPr lang="en-US" sz="1200" i="1" dirty="0">
                    <a:latin typeface="Arial"/>
                    <a:cs typeface="Arial"/>
                  </a:rPr>
                  <a:t>	</a:t>
                </a:r>
                <a:r>
                  <a:rPr lang="en-US" sz="1200" spc="-60" dirty="0">
                    <a:latin typeface="Arial"/>
                    <a:cs typeface="Arial"/>
                  </a:rPr>
                  <a:t>(analysis</a:t>
                </a:r>
                <a:r>
                  <a:rPr lang="en-US" sz="1200" dirty="0"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form)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76200">
                  <a:lnSpc>
                    <a:spcPct val="100000"/>
                  </a:lnSpc>
                  <a:spcBef>
                    <a:spcPts val="990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179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65" dirty="0">
                    <a:latin typeface="Arial"/>
                    <a:cs typeface="Arial"/>
                  </a:rPr>
                  <a:t>correspondingly</a:t>
                </a:r>
                <a:r>
                  <a:rPr lang="en-US" sz="1200" spc="-10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in</a:t>
                </a:r>
                <a:r>
                  <a:rPr lang="en-US" sz="1200" spc="-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the</a:t>
                </a:r>
                <a:r>
                  <a:rPr lang="en-US" sz="1200" spc="-10" dirty="0">
                    <a:latin typeface="Arial"/>
                    <a:cs typeface="Arial"/>
                  </a:rPr>
                  <a:t> </a:t>
                </a:r>
                <a:r>
                  <a:rPr lang="en-US" sz="1200" spc="-30" dirty="0">
                    <a:latin typeface="Arial"/>
                    <a:cs typeface="Arial"/>
                  </a:rPr>
                  <a:t>original</a:t>
                </a:r>
                <a:r>
                  <a:rPr lang="en-US" sz="1200" spc="-10" dirty="0">
                    <a:latin typeface="Arial"/>
                    <a:cs typeface="Arial"/>
                  </a:rPr>
                  <a:t> </a:t>
                </a:r>
                <a:r>
                  <a:rPr lang="en-US" sz="1200" spc="-25" dirty="0">
                    <a:latin typeface="Arial"/>
                    <a:cs typeface="Arial"/>
                  </a:rPr>
                  <a:t>state</a:t>
                </a:r>
                <a:r>
                  <a:rPr lang="en-US" sz="1200" spc="-10" dirty="0">
                    <a:latin typeface="Arial"/>
                    <a:cs typeface="Arial"/>
                  </a:rPr>
                  <a:t> </a:t>
                </a:r>
                <a:r>
                  <a:rPr lang="en-US" sz="1200" spc="-105" dirty="0">
                    <a:latin typeface="Arial"/>
                    <a:cs typeface="Arial"/>
                  </a:rPr>
                  <a:t>space</a:t>
                </a:r>
                <a:r>
                  <a:rPr lang="en-US" sz="1200" spc="20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(via</a:t>
                </a:r>
                <a:r>
                  <a:rPr lang="en-US" sz="1200" spc="-10" dirty="0">
                    <a:latin typeface="Arial"/>
                    <a:cs typeface="Arial"/>
                  </a:rPr>
                  <a:t> </a:t>
                </a:r>
                <a:r>
                  <a:rPr lang="en-US" sz="1200" i="1" spc="-465" dirty="0">
                    <a:latin typeface="Arial"/>
                    <a:cs typeface="Arial"/>
                  </a:rPr>
                  <a:t>x</a:t>
                </a:r>
                <a:r>
                  <a:rPr lang="en-US" sz="1200" spc="-35" dirty="0">
                    <a:latin typeface="Arial"/>
                    <a:cs typeface="Arial"/>
                  </a:rPr>
                  <a:t>ˆ</a:t>
                </a:r>
                <a:r>
                  <a:rPr lang="en-US" sz="1200" i="1" spc="82" baseline="-13888" dirty="0">
                    <a:latin typeface="Arial"/>
                    <a:cs typeface="Arial"/>
                  </a:rPr>
                  <a:t>ob</a:t>
                </a:r>
                <a:r>
                  <a:rPr lang="en-US" sz="1200" i="1" spc="179" baseline="-13888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60" dirty="0">
                    <a:latin typeface="Arial"/>
                    <a:cs typeface="Arial"/>
                  </a:rPr>
                  <a:t> </a:t>
                </a:r>
                <a:r>
                  <a:rPr lang="en-US" sz="1200" i="1" spc="175" dirty="0">
                    <a:latin typeface="Arial"/>
                    <a:cs typeface="Arial"/>
                  </a:rPr>
                  <a:t>R</a:t>
                </a:r>
                <a:r>
                  <a:rPr lang="en-US" sz="1200" i="1" spc="-445" dirty="0">
                    <a:latin typeface="Arial"/>
                    <a:cs typeface="Arial"/>
                  </a:rPr>
                  <a:t>x</a:t>
                </a:r>
                <a:r>
                  <a:rPr lang="en-US" sz="1200" spc="60" dirty="0">
                    <a:latin typeface="Arial"/>
                    <a:cs typeface="Arial"/>
                  </a:rPr>
                  <a:t>ˆ</a:t>
                </a:r>
                <a:r>
                  <a:rPr lang="en-US" sz="1200" spc="70" dirty="0">
                    <a:latin typeface="Arial"/>
                    <a:cs typeface="Arial"/>
                  </a:rPr>
                  <a:t>):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500380" algn="ctr">
                  <a:lnSpc>
                    <a:spcPct val="100000"/>
                  </a:lnSpc>
                  <a:spcBef>
                    <a:spcPts val="880"/>
                  </a:spcBef>
                </a:pPr>
                <a:r>
                  <a:rPr lang="en-US" sz="1100" i="1" spc="55" dirty="0">
                    <a:latin typeface="Arial"/>
                    <a:cs typeface="Arial"/>
                  </a:rPr>
                  <a:t>R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ar-AE" altLang="zh-CN" sz="1200" b="0" i="1" spc="-10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acc>
                          <m:accPr>
                            <m:chr m:val="̂"/>
                            <m:ctrlPr>
                              <a:rPr lang="ar-AE" altLang="zh-CN" sz="1100" b="0" i="1" spc="200" smtClean="0"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zh-CN" altLang="ar-AE" sz="1100" b="0" i="1" spc="200" smtClean="0">
                                <a:latin typeface="Cambria Math" panose="02040503050406030204" pitchFamily="18" charset="0"/>
                                <a:cs typeface="Arial"/>
                              </a:rPr>
                              <m:t>𝑥</m:t>
                            </m:r>
                          </m:e>
                        </m:acc>
                      </m:e>
                    </m:acc>
                  </m:oMath>
                </a14:m>
                <a:r>
                  <a:rPr lang="en-US" sz="1100" spc="200" dirty="0">
                    <a:latin typeface="Arial"/>
                    <a:cs typeface="Arial"/>
                  </a:rPr>
                  <a:t>=</a:t>
                </a:r>
                <a:r>
                  <a:rPr lang="en-US" sz="1100" spc="10" dirty="0">
                    <a:latin typeface="Arial"/>
                    <a:cs typeface="Arial"/>
                  </a:rPr>
                  <a:t> (</a:t>
                </a:r>
                <a:r>
                  <a:rPr lang="en-US" sz="1100" i="1" spc="50" dirty="0">
                    <a:latin typeface="Arial"/>
                    <a:cs typeface="Arial"/>
                  </a:rPr>
                  <a:t>RAR</a:t>
                </a:r>
                <a:r>
                  <a:rPr lang="en-US" sz="1200" i="1" spc="75" baseline="31250" dirty="0">
                    <a:latin typeface="Hack"/>
                    <a:cs typeface="Hack"/>
                  </a:rPr>
                  <a:t>−</a:t>
                </a:r>
                <a:r>
                  <a:rPr lang="en-US" sz="1200" spc="75" baseline="31250" dirty="0">
                    <a:latin typeface="Arial"/>
                    <a:cs typeface="Arial"/>
                  </a:rPr>
                  <a:t>1</a:t>
                </a:r>
                <a:r>
                  <a:rPr lang="en-US" sz="1200" spc="120" baseline="31250" dirty="0">
                    <a:latin typeface="Arial"/>
                    <a:cs typeface="Arial"/>
                  </a:rPr>
                  <a:t> </a:t>
                </a:r>
                <a:r>
                  <a:rPr lang="en-US" sz="1100" i="1" spc="175" dirty="0">
                    <a:latin typeface="Menlo"/>
                    <a:cs typeface="Menlo"/>
                  </a:rPr>
                  <a:t>−</a:t>
                </a:r>
                <a:r>
                  <a:rPr lang="en-US" sz="1100" i="1" spc="-409" dirty="0">
                    <a:latin typeface="Menlo"/>
                    <a:cs typeface="Menlo"/>
                  </a:rPr>
                  <a:t> </a:t>
                </a:r>
                <a:r>
                  <a:rPr lang="en-US" sz="1100" i="1" spc="-490" dirty="0">
                    <a:latin typeface="Arial"/>
                    <a:cs typeface="Arial"/>
                  </a:rPr>
                  <a:t>L</a:t>
                </a:r>
                <a:r>
                  <a:rPr lang="en-US" sz="1650" spc="37" baseline="12626" dirty="0">
                    <a:latin typeface="Arial"/>
                    <a:cs typeface="Arial"/>
                  </a:rPr>
                  <a:t>˜</a:t>
                </a:r>
                <a:r>
                  <a:rPr lang="en-US" sz="1100" i="1" spc="50" dirty="0">
                    <a:latin typeface="Arial"/>
                    <a:cs typeface="Arial"/>
                  </a:rPr>
                  <a:t>C</a:t>
                </a:r>
                <a:r>
                  <a:rPr lang="en-US" sz="1100" i="1" spc="140" dirty="0">
                    <a:latin typeface="Arial"/>
                    <a:cs typeface="Arial"/>
                  </a:rPr>
                  <a:t>R</a:t>
                </a:r>
                <a:r>
                  <a:rPr lang="en-US" sz="1200" i="1" spc="75" baseline="31250" dirty="0">
                    <a:latin typeface="Hack"/>
                    <a:cs typeface="Hack"/>
                  </a:rPr>
                  <a:t>−</a:t>
                </a:r>
                <a:r>
                  <a:rPr lang="en-US" sz="1200" spc="142" baseline="30000" dirty="0">
                    <a:latin typeface="Arial"/>
                    <a:cs typeface="Arial"/>
                  </a:rPr>
                  <a:t>1</a:t>
                </a:r>
                <a:r>
                  <a:rPr lang="en-US" sz="1200" spc="142" dirty="0">
                    <a:latin typeface="Arial"/>
                    <a:cs typeface="Arial"/>
                  </a:rPr>
                  <a:t>)</a:t>
                </a:r>
                <a:r>
                  <a:rPr lang="en-US" sz="1100" i="1" spc="105" dirty="0">
                    <a:latin typeface="Arial"/>
                    <a:cs typeface="Arial"/>
                  </a:rPr>
                  <a:t>R</a:t>
                </a:r>
                <a:r>
                  <a:rPr lang="en-US" sz="1100" i="1" spc="-465" dirty="0">
                    <a:latin typeface="Arial"/>
                    <a:cs typeface="Arial"/>
                  </a:rPr>
                  <a:t>x</a:t>
                </a:r>
                <a:r>
                  <a:rPr lang="en-US" sz="1100" spc="15" dirty="0">
                    <a:latin typeface="Arial"/>
                    <a:cs typeface="Arial"/>
                  </a:rPr>
                  <a:t>ˆ</a:t>
                </a:r>
                <a:r>
                  <a:rPr lang="en-US" sz="1100" spc="-70" dirty="0">
                    <a:latin typeface="Arial"/>
                    <a:cs typeface="Arial"/>
                  </a:rPr>
                  <a:t> </a:t>
                </a:r>
                <a:r>
                  <a:rPr lang="en-US" sz="1100" spc="200" dirty="0">
                    <a:latin typeface="Arial"/>
                    <a:cs typeface="Arial"/>
                  </a:rPr>
                  <a:t>+</a:t>
                </a:r>
                <a:r>
                  <a:rPr lang="en-US" sz="1100" spc="-55" dirty="0">
                    <a:latin typeface="Arial"/>
                    <a:cs typeface="Arial"/>
                  </a:rPr>
                  <a:t> </a:t>
                </a:r>
                <a:r>
                  <a:rPr lang="en-US" sz="1100" i="1" spc="-500" dirty="0">
                    <a:latin typeface="Arial"/>
                    <a:cs typeface="Arial"/>
                  </a:rPr>
                  <a:t>L</a:t>
                </a:r>
                <a:r>
                  <a:rPr lang="en-US" sz="1650" spc="22" baseline="12626" dirty="0">
                    <a:latin typeface="Arial"/>
                    <a:cs typeface="Arial"/>
                  </a:rPr>
                  <a:t>˜</a:t>
                </a:r>
                <a:r>
                  <a:rPr lang="en-US" sz="1100" i="1" spc="40" dirty="0">
                    <a:latin typeface="Arial"/>
                    <a:cs typeface="Arial"/>
                  </a:rPr>
                  <a:t>y</a:t>
                </a:r>
                <a:r>
                  <a:rPr lang="en-US" sz="1100" i="1" spc="70" dirty="0">
                    <a:latin typeface="Arial"/>
                    <a:cs typeface="Arial"/>
                  </a:rPr>
                  <a:t> </a:t>
                </a:r>
                <a:r>
                  <a:rPr lang="en-US" sz="1100" spc="200" dirty="0">
                    <a:latin typeface="Arial"/>
                    <a:cs typeface="Arial"/>
                  </a:rPr>
                  <a:t>+</a:t>
                </a:r>
                <a:r>
                  <a:rPr lang="en-US" sz="1100" spc="-55" dirty="0">
                    <a:latin typeface="Arial"/>
                    <a:cs typeface="Arial"/>
                  </a:rPr>
                  <a:t> </a:t>
                </a:r>
                <a:r>
                  <a:rPr lang="en-US" sz="1100" i="1" spc="-25" dirty="0">
                    <a:latin typeface="Arial"/>
                    <a:cs typeface="Arial"/>
                  </a:rPr>
                  <a:t>RBu</a:t>
                </a:r>
                <a:endParaRPr lang="en-US" sz="1100" dirty="0">
                  <a:latin typeface="Arial"/>
                  <a:cs typeface="Arial"/>
                </a:endParaRPr>
              </a:p>
              <a:p>
                <a:pPr>
                  <a:lnSpc>
                    <a:spcPct val="100000"/>
                  </a:lnSpc>
                  <a:spcBef>
                    <a:spcPts val="395"/>
                  </a:spcBef>
                </a:pPr>
                <a:endParaRPr lang="en-US" sz="11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16" name="object 1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77342" y="1418816"/>
                <a:ext cx="4044315" cy="1350113"/>
              </a:xfrm>
              <a:prstGeom prst="rect">
                <a:avLst/>
              </a:prstGeom>
              <a:blipFill>
                <a:blip r:embed="rId2"/>
                <a:stretch>
                  <a:fillRect l="-301" t="-5430" r="-602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0" name="object 20"/>
          <p:cNvSpPr txBox="1"/>
          <p:nvPr/>
        </p:nvSpPr>
        <p:spPr>
          <a:xfrm>
            <a:off x="2936113" y="2902342"/>
            <a:ext cx="1326515" cy="191770"/>
          </a:xfrm>
          <a:prstGeom prst="rect">
            <a:avLst/>
          </a:prstGeom>
        </p:spPr>
        <p:txBody>
          <a:bodyPr vert="horz" wrap="square" lIns="0" tIns="1143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0"/>
              </a:spcBef>
            </a:pPr>
            <a:r>
              <a:rPr sz="1100" spc="-35" dirty="0">
                <a:latin typeface="Arial"/>
                <a:cs typeface="Arial"/>
              </a:rPr>
              <a:t>(implementation</a:t>
            </a:r>
            <a:r>
              <a:rPr sz="1100" spc="50" dirty="0">
                <a:latin typeface="Arial"/>
                <a:cs typeface="Arial"/>
              </a:rPr>
              <a:t> </a:t>
            </a:r>
            <a:r>
              <a:rPr sz="1100" spc="-20" dirty="0">
                <a:latin typeface="Arial"/>
                <a:cs typeface="Arial"/>
              </a:rPr>
              <a:t>form)</a:t>
            </a:r>
            <a:endParaRPr sz="1100">
              <a:latin typeface="Arial"/>
              <a:cs typeface="Arial"/>
            </a:endParaRPr>
          </a:p>
        </p:txBody>
      </p:sp>
      <p:sp>
        <p:nvSpPr>
          <p:cNvPr id="21" name="object 21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2" name="object 22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23" name="object 23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Observers</a:t>
            </a:r>
            <a:r>
              <a:rPr sz="600" spc="135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and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Observer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State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24" name="object 24"/>
          <p:cNvSpPr txBox="1"/>
          <p:nvPr/>
        </p:nvSpPr>
        <p:spPr>
          <a:xfrm>
            <a:off x="4275163" y="3338410"/>
            <a:ext cx="27813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191919"/>
                </a:solidFill>
                <a:latin typeface="Arial"/>
                <a:cs typeface="Arial"/>
              </a:rPr>
              <a:t>11</a:t>
            </a:r>
            <a:r>
              <a:rPr sz="600" spc="-40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191919"/>
                </a:solidFill>
                <a:latin typeface="Arial"/>
                <a:cs typeface="Arial"/>
              </a:rPr>
              <a:t>/</a:t>
            </a:r>
            <a:r>
              <a:rPr sz="600" spc="-40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191919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993BFED1-BF8B-0878-B100-5B530DE707A9}"/>
                  </a:ext>
                </a:extLst>
              </p:cNvPr>
              <p:cNvSpPr txBox="1"/>
              <p:nvPr/>
            </p:nvSpPr>
            <p:spPr>
              <a:xfrm>
                <a:off x="494204" y="849335"/>
                <a:ext cx="3619709" cy="54040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{"/>
                          <m:endChr m:val=""/>
                          <m:ctrlPr>
                            <a:rPr lang="en-US" altLang="zh-CN" sz="1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110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acc>
                                <m:accPr>
                                  <m:chr m:val="̇"/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</m:acc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𝐴𝑥</m:t>
                              </m:r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𝐵𝑢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𝐶𝑥</m:t>
                              </m:r>
                            </m:e>
                          </m:eqArr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          </m:t>
                          </m:r>
                          <m:groupChr>
                            <m:groupChrPr>
                              <m:chr m:val="⇒"/>
                              <m:vertJc m:val="bot"/>
                              <m:ctrlPr>
                                <a:rPr lang="en-US" altLang="zh-CN" sz="110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r>
                                <m:rPr>
                                  <m:brk m:alnAt="2"/>
                                </m:r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p>
                                <m:sSup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m:rPr>
                                      <m:brk m:alnAt="2"/>
                                    </m:r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m:rPr>
                                      <m:brk m:alnAt="2"/>
                                    </m:r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2"/>
                                    </m:r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m:rPr>
                                      <m:brk m:alnAt="2"/>
                                    </m:r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𝑜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𝑏</m:t>
                                  </m:r>
                                </m:sub>
                              </m:sSub>
                            </m:e>
                          </m:groupChr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          </m:t>
                          </m:r>
                        </m:e>
                      </m:d>
                      <m:d>
                        <m:dPr>
                          <m:begChr m:val="{"/>
                          <m:endChr m:val=""/>
                          <m:ctrlPr>
                            <a:rPr lang="en-US" altLang="zh-CN" sz="11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en-US" altLang="zh-CN" sz="1100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sSub>
                                <m:sSub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acc>
                                    <m:accPr>
                                      <m:chr m:val="̇"/>
                                      <m:ctrlP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accPr>
                                    <m:e>
                                      <m: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  <m:t>𝑥</m:t>
                                      </m:r>
                                    </m:e>
                                  </m:acc>
                                </m:e>
                                <m:sub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𝑜𝑏</m:t>
                                  </m:r>
                                </m:sub>
                              </m:s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limLow>
                                <m:limLow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groupChr>
                                    <m:groupChrPr>
                                      <m:chr m:val="⏟"/>
                                      <m:ctrlP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groupChrPr>
                                    <m:e>
                                      <m: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  <m:t>𝑅𝐴</m:t>
                                      </m:r>
                                      <m:sSup>
                                        <m:sSupPr>
                                          <m:ctrlPr>
                                            <a:rPr lang="en-US" altLang="zh-CN" sz="1100" b="0" i="1" smtClean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r>
                                            <a:rPr lang="en-US" altLang="zh-CN" sz="1100" b="0" i="1" smtClean="0">
                                              <a:latin typeface="Cambria Math" panose="02040503050406030204" pitchFamily="18" charset="0"/>
                                            </a:rPr>
                                            <m:t>𝑅</m:t>
                                          </m:r>
                                        </m:e>
                                        <m:sup>
                                          <m:r>
                                            <a:rPr lang="en-US" altLang="zh-CN" sz="1100" b="0" i="1" smtClean="0">
                                              <a:latin typeface="Cambria Math" panose="02040503050406030204" pitchFamily="18" charset="0"/>
                                            </a:rPr>
                                            <m:t>−</m:t>
                                          </m:r>
                                          <m:r>
                                            <a:rPr lang="en-US" altLang="zh-CN" sz="1100" b="0" i="1" smtClean="0">
                                              <a:latin typeface="Cambria Math" panose="02040503050406030204" pitchFamily="18" charset="0"/>
                                            </a:rPr>
                                            <m:t>1</m:t>
                                          </m:r>
                                        </m:sup>
                                      </m:sSup>
                                    </m:e>
                                  </m:groupChr>
                                </m:e>
                                <m:lim>
                                  <m:sSub>
                                    <m:sSubPr>
                                      <m:ctrlP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  <m:t>𝐴</m:t>
                                      </m:r>
                                    </m:e>
                                    <m:sub>
                                      <m: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lim>
                              </m:limLow>
                              <m:sSub>
                                <m:sSub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𝑜𝑏</m:t>
                                  </m:r>
                                </m:sub>
                              </m:s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+</m:t>
                              </m:r>
                              <m:limLow>
                                <m:limLow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limLowPr>
                                <m:e>
                                  <m:groupChr>
                                    <m:groupChrPr>
                                      <m:chr m:val="⏟"/>
                                      <m:ctrlP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groupChrPr>
                                    <m:e>
                                      <m: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  <m:t>𝑅𝐵</m:t>
                                      </m:r>
                                    </m:e>
                                  </m:groupChr>
                                </m:e>
                                <m:lim>
                                  <m:sSub>
                                    <m:sSubPr>
                                      <m:ctrlP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  <m:t>𝐵</m:t>
                                      </m:r>
                                    </m:e>
                                    <m:sub>
                                      <m:r>
                                        <a:rPr lang="en-US" altLang="zh-CN" sz="1100" b="0" i="1" smtClean="0">
                                          <a:latin typeface="Cambria Math" panose="02040503050406030204" pitchFamily="18" charset="0"/>
                                        </a:rPr>
                                        <m:t>0</m:t>
                                      </m:r>
                                    </m:sub>
                                  </m:sSub>
                                </m:lim>
                              </m:limLow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𝑢</m:t>
                              </m:r>
                            </m:e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𝑦</m:t>
                              </m:r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sSub>
                                <m:sSub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𝑜𝑏</m:t>
                                  </m:r>
                                </m:sub>
                              </m:sSub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𝐶</m:t>
                              </m:r>
                              <m:sSup>
                                <m:sSup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sSub>
                                <m:sSub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𝑥</m:t>
                                  </m:r>
                                </m:e>
                                <m:sub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𝑜𝑏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</m:oMath>
                  </m:oMathPara>
                </a14:m>
                <a:endParaRPr lang="zh-CN" altLang="en-US" sz="1100" dirty="0"/>
              </a:p>
            </p:txBody>
          </p:sp>
        </mc:Choice>
        <mc:Fallback xmlns="">
          <p:sp>
            <p:nvSpPr>
              <p:cNvPr id="25" name="文本框 24">
                <a:extLst>
                  <a:ext uri="{FF2B5EF4-FFF2-40B4-BE49-F238E27FC236}">
                    <a16:creationId xmlns:a16="http://schemas.microsoft.com/office/drawing/2014/main" id="{993BFED1-BF8B-0878-B100-5B530DE707A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94204" y="849335"/>
                <a:ext cx="3619709" cy="54040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5F1E9F88-0759-4038-3681-3F8D9747511A}"/>
                  </a:ext>
                </a:extLst>
              </p:cNvPr>
              <p:cNvSpPr txBox="1"/>
              <p:nvPr/>
            </p:nvSpPr>
            <p:spPr>
              <a:xfrm>
                <a:off x="655998" y="2768189"/>
                <a:ext cx="2018501" cy="325923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100" i="1" smtClean="0">
                          <a:latin typeface="Cambria Math" panose="02040503050406030204" pitchFamily="18" charset="0"/>
                        </a:rPr>
                        <m:t>⇒</m:t>
                      </m:r>
                      <m:acc>
                        <m:accPr>
                          <m:chr m:val="̇"/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acc>
                            <m:accPr>
                              <m:chr m:val="̂"/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  <m:t>𝑥</m:t>
                              </m:r>
                            </m:e>
                          </m:acc>
                        </m:e>
                      </m:acc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=(</m:t>
                      </m:r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−</m:t>
                      </m:r>
                      <m:limUpp>
                        <m:limUppPr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altLang="zh-CN" sz="11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sSup>
                                <m:sSupPr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p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𝑅</m:t>
                                  </m:r>
                                </m:e>
                                <m:sup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p>
                              </m:sSup>
                              <m:acc>
                                <m:accPr>
                                  <m:chr m:val="̃"/>
                                  <m:ctrlP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sz="1100" b="0" i="1" smtClean="0">
                                      <a:latin typeface="Cambria Math" panose="02040503050406030204" pitchFamily="18" charset="0"/>
                                    </a:rPr>
                                    <m:t>𝐿</m:t>
                                  </m:r>
                                </m:e>
                              </m:acc>
                            </m:e>
                          </m:groupChr>
                        </m:e>
                        <m:lim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</m:lim>
                      </m:limUpp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𝐶</m:t>
                      </m:r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)</m:t>
                      </m:r>
                      <m:acc>
                        <m:accPr>
                          <m:chr m:val="̂"/>
                          <m:ctrlP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</m:ctrlPr>
                        </m:accPr>
                        <m:e>
                          <m:r>
                            <a:rPr lang="en-US" altLang="zh-CN" sz="11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</m:acc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𝐿𝑦</m:t>
                      </m:r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en-US" altLang="zh-CN" sz="1100" b="0" i="1" smtClean="0">
                          <a:latin typeface="Cambria Math" panose="02040503050406030204" pitchFamily="18" charset="0"/>
                        </a:rPr>
                        <m:t>𝐵𝑢</m:t>
                      </m:r>
                    </m:oMath>
                  </m:oMathPara>
                </a14:m>
                <a:endParaRPr lang="zh-CN" altLang="en-US" sz="1100" dirty="0"/>
              </a:p>
            </p:txBody>
          </p:sp>
        </mc:Choice>
        <mc:Fallback xmlns="">
          <p:sp>
            <p:nvSpPr>
              <p:cNvPr id="26" name="文本框 25">
                <a:extLst>
                  <a:ext uri="{FF2B5EF4-FFF2-40B4-BE49-F238E27FC236}">
                    <a16:creationId xmlns:a16="http://schemas.microsoft.com/office/drawing/2014/main" id="{5F1E9F88-0759-4038-3681-3F8D974751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5998" y="2768189"/>
                <a:ext cx="2018501" cy="325923"/>
              </a:xfrm>
              <a:prstGeom prst="rect">
                <a:avLst/>
              </a:prstGeom>
              <a:blipFill>
                <a:blip r:embed="rId5"/>
                <a:stretch>
                  <a:fillRect l="-604" t="-1852" r="-906" b="-185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50" dirty="0"/>
              <a:t>General</a:t>
            </a:r>
            <a:r>
              <a:rPr spc="60" dirty="0"/>
              <a:t> </a:t>
            </a:r>
            <a:r>
              <a:rPr spc="-140" dirty="0"/>
              <a:t>observer</a:t>
            </a:r>
            <a:r>
              <a:rPr spc="60" dirty="0"/>
              <a:t> </a:t>
            </a:r>
            <a:r>
              <a:rPr spc="-145" dirty="0"/>
              <a:t>eigenvalue</a:t>
            </a:r>
            <a:r>
              <a:rPr spc="60" dirty="0"/>
              <a:t> </a:t>
            </a:r>
            <a:r>
              <a:rPr spc="-90" dirty="0"/>
              <a:t>placement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5442" y="1442311"/>
            <a:ext cx="4174490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30504" marR="30480" indent="-19304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3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b="1" spc="-25" dirty="0">
                <a:latin typeface="Arial"/>
                <a:cs typeface="Arial"/>
              </a:rPr>
              <a:t>Powerful</a:t>
            </a:r>
            <a:r>
              <a:rPr sz="1200" b="1" spc="110" dirty="0">
                <a:latin typeface="Arial"/>
                <a:cs typeface="Arial"/>
              </a:rPr>
              <a:t> </a:t>
            </a:r>
            <a:r>
              <a:rPr sz="1200" b="1" dirty="0">
                <a:latin typeface="Arial"/>
                <a:cs typeface="Arial"/>
              </a:rPr>
              <a:t>fact</a:t>
            </a:r>
            <a:r>
              <a:rPr sz="1200" dirty="0">
                <a:latin typeface="Arial"/>
                <a:cs typeface="Arial"/>
              </a:rPr>
              <a:t>:</a:t>
            </a:r>
            <a:r>
              <a:rPr sz="1200" spc="17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if</a:t>
            </a:r>
            <a:r>
              <a:rPr sz="1200" spc="50" dirty="0">
                <a:latin typeface="Arial"/>
                <a:cs typeface="Arial"/>
              </a:rPr>
              <a:t> </a:t>
            </a:r>
            <a:r>
              <a:rPr sz="1200" spc="-85" dirty="0">
                <a:latin typeface="Arial"/>
                <a:cs typeface="Arial"/>
              </a:rPr>
              <a:t>system</a:t>
            </a:r>
            <a:r>
              <a:rPr sz="1200" spc="45" dirty="0">
                <a:latin typeface="Arial"/>
                <a:cs typeface="Arial"/>
              </a:rPr>
              <a:t> </a:t>
            </a:r>
            <a:r>
              <a:rPr sz="1200" spc="100" dirty="0">
                <a:latin typeface="Arial"/>
                <a:cs typeface="Arial"/>
              </a:rPr>
              <a:t>Σ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(</a:t>
            </a:r>
            <a:r>
              <a:rPr sz="1200" i="1" dirty="0">
                <a:latin typeface="Arial"/>
                <a:cs typeface="Arial"/>
              </a:rPr>
              <a:t>A</a:t>
            </a:r>
            <a:r>
              <a:rPr sz="1200" i="1" dirty="0">
                <a:latin typeface="Times New Roman"/>
                <a:cs typeface="Times New Roman"/>
              </a:rPr>
              <a:t>,</a:t>
            </a:r>
            <a:r>
              <a:rPr sz="1200" i="1" spc="-10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Arial"/>
                <a:cs typeface="Arial"/>
              </a:rPr>
              <a:t>B</a:t>
            </a:r>
            <a:r>
              <a:rPr sz="1200" i="1" dirty="0">
                <a:latin typeface="Times New Roman"/>
                <a:cs typeface="Times New Roman"/>
              </a:rPr>
              <a:t>,</a:t>
            </a:r>
            <a:r>
              <a:rPr sz="1200" i="1" spc="-100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Arial"/>
                <a:cs typeface="Arial"/>
              </a:rPr>
              <a:t>C</a:t>
            </a:r>
            <a:r>
              <a:rPr sz="1200" i="1" dirty="0">
                <a:latin typeface="Times New Roman"/>
                <a:cs typeface="Times New Roman"/>
              </a:rPr>
              <a:t>,</a:t>
            </a:r>
            <a:r>
              <a:rPr sz="1200" i="1" spc="-100" dirty="0">
                <a:latin typeface="Times New Roman"/>
                <a:cs typeface="Times New Roman"/>
              </a:rPr>
              <a:t> </a:t>
            </a:r>
            <a:r>
              <a:rPr sz="1200" i="1" spc="55" dirty="0">
                <a:latin typeface="Arial"/>
                <a:cs typeface="Arial"/>
              </a:rPr>
              <a:t>D</a:t>
            </a:r>
            <a:r>
              <a:rPr sz="1200" spc="55" dirty="0">
                <a:latin typeface="Arial"/>
                <a:cs typeface="Arial"/>
              </a:rPr>
              <a:t>)</a:t>
            </a:r>
            <a:r>
              <a:rPr sz="1200" spc="5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is</a:t>
            </a:r>
            <a:r>
              <a:rPr sz="1200" spc="45" dirty="0">
                <a:latin typeface="Arial"/>
                <a:cs typeface="Arial"/>
              </a:rPr>
              <a:t> </a:t>
            </a:r>
            <a:r>
              <a:rPr sz="1200" spc="-80" dirty="0">
                <a:latin typeface="Arial"/>
                <a:cs typeface="Arial"/>
              </a:rPr>
              <a:t>observable,</a:t>
            </a:r>
            <a:r>
              <a:rPr sz="1200" spc="50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then </a:t>
            </a:r>
            <a:r>
              <a:rPr sz="1200" spc="-114" dirty="0">
                <a:latin typeface="Arial"/>
                <a:cs typeface="Arial"/>
              </a:rPr>
              <a:t>we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spc="-65" dirty="0">
                <a:latin typeface="Arial"/>
                <a:cs typeface="Arial"/>
              </a:rPr>
              <a:t>can</a:t>
            </a:r>
            <a:r>
              <a:rPr sz="1200" spc="-20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arbitrarily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70" dirty="0">
                <a:latin typeface="Arial"/>
                <a:cs typeface="Arial"/>
              </a:rPr>
              <a:t>place</a:t>
            </a:r>
            <a:r>
              <a:rPr sz="1200" dirty="0">
                <a:latin typeface="Arial"/>
                <a:cs typeface="Arial"/>
              </a:rPr>
              <a:t> the </a:t>
            </a:r>
            <a:r>
              <a:rPr sz="1200" spc="-85" dirty="0">
                <a:latin typeface="Arial"/>
                <a:cs typeface="Arial"/>
              </a:rPr>
              <a:t>observer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eigenvalues.</a:t>
            </a:r>
            <a:endParaRPr sz="120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52" y="0"/>
                </a:lnTo>
                <a:lnTo>
                  <a:pt x="1535976" y="0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Observers</a:t>
            </a:r>
            <a:r>
              <a:rPr sz="600" spc="135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and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Observer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State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r>
              <a:rPr dirty="0"/>
              <a:t>12</a:t>
            </a:r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27</a:t>
            </a:r>
          </a:p>
        </p:txBody>
      </p:sp>
    </p:spTree>
  </p:cSld>
  <p:clrMapOvr>
    <a:masterClrMapping/>
  </p:clrMapOvr>
  <p:transition>
    <p:cut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60916"/>
            <a:ext cx="3556000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700" spc="-140" dirty="0">
                <a:solidFill>
                  <a:srgbClr val="191919"/>
                </a:solidFill>
                <a:latin typeface="Arial"/>
                <a:cs typeface="Arial"/>
              </a:rPr>
              <a:t>Observer</a:t>
            </a:r>
            <a:r>
              <a:rPr sz="1700" spc="20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1700" spc="-145" dirty="0">
                <a:solidFill>
                  <a:srgbClr val="191919"/>
                </a:solidFill>
                <a:latin typeface="Arial"/>
                <a:cs typeface="Arial"/>
              </a:rPr>
              <a:t>design</a:t>
            </a:r>
            <a:r>
              <a:rPr sz="1700" spc="25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1700" dirty="0">
                <a:solidFill>
                  <a:srgbClr val="191919"/>
                </a:solidFill>
                <a:latin typeface="Arial"/>
                <a:cs typeface="Arial"/>
              </a:rPr>
              <a:t>in</a:t>
            </a:r>
            <a:r>
              <a:rPr sz="1700" spc="-45" dirty="0">
                <a:solidFill>
                  <a:srgbClr val="191919"/>
                </a:solidFill>
                <a:latin typeface="Arial"/>
                <a:cs typeface="Arial"/>
              </a:rPr>
              <a:t> MATLAB</a:t>
            </a:r>
            <a:r>
              <a:rPr sz="1700" spc="5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1700" spc="-130" dirty="0">
                <a:solidFill>
                  <a:srgbClr val="191919"/>
                </a:solidFill>
                <a:latin typeface="Arial"/>
                <a:cs typeface="Arial"/>
              </a:rPr>
              <a:t>and</a:t>
            </a:r>
            <a:r>
              <a:rPr sz="1700" spc="10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1700" spc="-45" dirty="0">
                <a:solidFill>
                  <a:srgbClr val="191919"/>
                </a:solidFill>
                <a:latin typeface="Arial"/>
                <a:cs typeface="Arial"/>
              </a:rPr>
              <a:t>Python</a:t>
            </a:r>
            <a:endParaRPr sz="1700">
              <a:latin typeface="Arial"/>
              <a:cs typeface="Arial"/>
            </a:endParaRPr>
          </a:p>
        </p:txBody>
      </p:sp>
      <p:graphicFrame>
        <p:nvGraphicFramePr>
          <p:cNvPr id="3" name="object 3"/>
          <p:cNvGraphicFramePr>
            <a:graphicFrameLocks noGrp="1"/>
          </p:cNvGraphicFramePr>
          <p:nvPr/>
        </p:nvGraphicFramePr>
        <p:xfrm>
          <a:off x="148628" y="1056468"/>
          <a:ext cx="4262120" cy="132842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180784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454275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200660">
                <a:tc>
                  <a:txBody>
                    <a:bodyPr/>
                    <a:lstStyle/>
                    <a:p>
                      <a:pPr marL="40005">
                        <a:lnSpc>
                          <a:spcPct val="100000"/>
                        </a:lnSpc>
                      </a:pPr>
                      <a:r>
                        <a:rPr sz="1200" spc="-10" dirty="0">
                          <a:latin typeface="Arial"/>
                          <a:cs typeface="Arial"/>
                        </a:rPr>
                        <a:t>%MATLAB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</a:tcPr>
                </a:tc>
                <a:tc>
                  <a:txBody>
                    <a:bodyPr/>
                    <a:lstStyle/>
                    <a:p>
                      <a:pPr marL="42545">
                        <a:lnSpc>
                          <a:spcPct val="100000"/>
                        </a:lnSpc>
                      </a:pPr>
                      <a:r>
                        <a:rPr sz="1200" spc="-10" dirty="0">
                          <a:latin typeface="Arial"/>
                          <a:cs typeface="Arial"/>
                        </a:rPr>
                        <a:t>#Python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T w="6350">
                      <a:solidFill>
                        <a:srgbClr val="000000"/>
                      </a:solidFill>
                      <a:prstDash val="solid"/>
                    </a:lnT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40005">
                        <a:lnSpc>
                          <a:spcPts val="1305"/>
                        </a:lnSpc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A</a:t>
                      </a:r>
                      <a:r>
                        <a:rPr sz="1200" spc="-7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40" dirty="0">
                          <a:latin typeface="Arial"/>
                          <a:cs typeface="Arial"/>
                        </a:rPr>
                        <a:t>[0</a:t>
                      </a:r>
                      <a:r>
                        <a:rPr sz="1200" spc="-4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1;-</a:t>
                      </a:r>
                      <a:r>
                        <a:rPr sz="1200" spc="-65" dirty="0">
                          <a:latin typeface="Arial"/>
                          <a:cs typeface="Arial"/>
                        </a:rPr>
                        <a:t>4</a:t>
                      </a:r>
                      <a:r>
                        <a:rPr sz="1200" spc="-4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4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200" spc="-30" dirty="0">
                          <a:latin typeface="Arial"/>
                          <a:cs typeface="Arial"/>
                        </a:rPr>
                        <a:t>0.2];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B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5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40" dirty="0">
                          <a:latin typeface="Arial"/>
                          <a:cs typeface="Arial"/>
                        </a:rPr>
                        <a:t>[0</a:t>
                      </a:r>
                      <a:r>
                        <a:rPr sz="1200" spc="-4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1]’;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42545">
                        <a:lnSpc>
                          <a:spcPts val="1305"/>
                        </a:lnSpc>
                      </a:pPr>
                      <a:r>
                        <a:rPr sz="1200" spc="-10" dirty="0">
                          <a:latin typeface="Arial"/>
                          <a:cs typeface="Arial"/>
                        </a:rPr>
                        <a:t>import</a:t>
                      </a:r>
                      <a:r>
                        <a:rPr sz="1200" spc="-4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control</a:t>
                      </a:r>
                      <a:r>
                        <a:rPr sz="1200" spc="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35" dirty="0">
                          <a:latin typeface="Arial"/>
                          <a:cs typeface="Arial"/>
                        </a:rPr>
                        <a:t>as</a:t>
                      </a:r>
                      <a:r>
                        <a:rPr sz="1200" spc="5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ct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40005">
                        <a:lnSpc>
                          <a:spcPts val="1305"/>
                        </a:lnSpc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C</a:t>
                      </a:r>
                      <a:r>
                        <a:rPr sz="1200" spc="-1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[1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0];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42545">
                        <a:lnSpc>
                          <a:spcPts val="1305"/>
                        </a:lnSpc>
                      </a:pPr>
                      <a:r>
                        <a:rPr sz="1200" spc="-10" dirty="0">
                          <a:latin typeface="Arial"/>
                          <a:cs typeface="Arial"/>
                        </a:rPr>
                        <a:t>import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65" dirty="0">
                          <a:latin typeface="Arial"/>
                          <a:cs typeface="Arial"/>
                        </a:rPr>
                        <a:t>numpy</a:t>
                      </a:r>
                      <a:r>
                        <a:rPr sz="1200" spc="1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35" dirty="0">
                          <a:latin typeface="Arial"/>
                          <a:cs typeface="Arial"/>
                        </a:rPr>
                        <a:t>as</a:t>
                      </a:r>
                      <a:r>
                        <a:rPr sz="1200" spc="5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25" dirty="0">
                          <a:latin typeface="Arial"/>
                          <a:cs typeface="Arial"/>
                        </a:rPr>
                        <a:t>np</a:t>
                      </a:r>
                      <a:endParaRPr sz="12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40005">
                        <a:lnSpc>
                          <a:spcPts val="1305"/>
                        </a:lnSpc>
                      </a:pPr>
                      <a:r>
                        <a:rPr sz="1200" spc="-125" dirty="0">
                          <a:latin typeface="Arial"/>
                          <a:cs typeface="Arial"/>
                        </a:rPr>
                        <a:t>sys</a:t>
                      </a:r>
                      <a:r>
                        <a:rPr sz="1200" spc="5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5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ss(A,B,C,0);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42545">
                        <a:lnSpc>
                          <a:spcPts val="1305"/>
                        </a:lnSpc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A</a:t>
                      </a:r>
                      <a:r>
                        <a:rPr sz="1200" spc="3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3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45" dirty="0">
                          <a:latin typeface="Arial"/>
                          <a:cs typeface="Arial"/>
                        </a:rPr>
                        <a:t>np.array([[0,</a:t>
                      </a:r>
                      <a:r>
                        <a:rPr sz="1200" spc="4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40" dirty="0">
                          <a:latin typeface="Arial"/>
                          <a:cs typeface="Arial"/>
                        </a:rPr>
                        <a:t>1],[-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4,</a:t>
                      </a:r>
                      <a:r>
                        <a:rPr sz="1200" spc="3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30" dirty="0">
                          <a:latin typeface="Arial"/>
                          <a:cs typeface="Arial"/>
                        </a:rPr>
                        <a:t>-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0.2]])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40005">
                        <a:lnSpc>
                          <a:spcPts val="1305"/>
                        </a:lnSpc>
                      </a:pPr>
                      <a:r>
                        <a:rPr sz="1200" spc="-10" dirty="0">
                          <a:latin typeface="Arial"/>
                          <a:cs typeface="Arial"/>
                        </a:rPr>
                        <a:t>eig(A)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42545">
                        <a:lnSpc>
                          <a:spcPts val="1305"/>
                        </a:lnSpc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C</a:t>
                      </a:r>
                      <a:r>
                        <a:rPr sz="1200" spc="-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40" dirty="0">
                          <a:latin typeface="Arial"/>
                          <a:cs typeface="Arial"/>
                        </a:rPr>
                        <a:t>np.array([[1],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[0]]).T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182880">
                <a:tc>
                  <a:txBody>
                    <a:bodyPr/>
                    <a:lstStyle/>
                    <a:p>
                      <a:pPr marL="40005">
                        <a:lnSpc>
                          <a:spcPts val="1305"/>
                        </a:lnSpc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L</a:t>
                      </a:r>
                      <a:r>
                        <a:rPr sz="1200" spc="8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9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35" dirty="0">
                          <a:latin typeface="Arial"/>
                          <a:cs typeface="Arial"/>
                        </a:rPr>
                        <a:t>place(A’,C’,[-2,-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3])’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</a:tcPr>
                </a:tc>
                <a:tc>
                  <a:txBody>
                    <a:bodyPr/>
                    <a:lstStyle/>
                    <a:p>
                      <a:pPr marL="42545">
                        <a:lnSpc>
                          <a:spcPts val="1305"/>
                        </a:lnSpc>
                      </a:pPr>
                      <a:r>
                        <a:rPr sz="1200" dirty="0">
                          <a:latin typeface="Arial"/>
                          <a:cs typeface="Arial"/>
                        </a:rPr>
                        <a:t>L</a:t>
                      </a:r>
                      <a:r>
                        <a:rPr sz="1200" spc="8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200" dirty="0">
                          <a:latin typeface="Arial"/>
                          <a:cs typeface="Arial"/>
                        </a:rPr>
                        <a:t>=</a:t>
                      </a:r>
                      <a:r>
                        <a:rPr sz="1200" spc="85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40" dirty="0">
                          <a:latin typeface="Arial"/>
                          <a:cs typeface="Arial"/>
                        </a:rPr>
                        <a:t>ct.place(A.T,C.T,[-</a:t>
                      </a:r>
                      <a:r>
                        <a:rPr sz="1200" dirty="0">
                          <a:latin typeface="Arial"/>
                          <a:cs typeface="Arial"/>
                        </a:rPr>
                        <a:t>2,</a:t>
                      </a:r>
                      <a:r>
                        <a:rPr sz="1200" spc="90" dirty="0">
                          <a:latin typeface="Arial"/>
                          <a:cs typeface="Arial"/>
                        </a:rPr>
                        <a:t> </a:t>
                      </a:r>
                      <a:r>
                        <a:rPr sz="1200" spc="-10" dirty="0">
                          <a:latin typeface="Arial"/>
                          <a:cs typeface="Arial"/>
                        </a:rPr>
                        <a:t>-3]).T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213360">
                <a:tc>
                  <a:txBody>
                    <a:bodyPr/>
                    <a:lstStyle/>
                    <a:p>
                      <a:pPr marL="40005">
                        <a:lnSpc>
                          <a:spcPts val="1305"/>
                        </a:lnSpc>
                      </a:pPr>
                      <a:r>
                        <a:rPr sz="1200" spc="-30" dirty="0">
                          <a:latin typeface="Arial"/>
                          <a:cs typeface="Arial"/>
                        </a:rPr>
                        <a:t>eig(A-</a:t>
                      </a:r>
                      <a:r>
                        <a:rPr sz="1200" spc="-20" dirty="0">
                          <a:latin typeface="Arial"/>
                          <a:cs typeface="Arial"/>
                        </a:rPr>
                        <a:t>L*C)</a:t>
                      </a:r>
                      <a:endParaRPr sz="120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6350">
                      <a:solidFill>
                        <a:srgbClr val="000000"/>
                      </a:solidFill>
                      <a:prstDash val="solid"/>
                    </a:lnL>
                    <a:lnR w="12700">
                      <a:solidFill>
                        <a:srgbClr val="000000"/>
                      </a:solidFill>
                      <a:prstDash val="solid"/>
                    </a:lnR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tc>
                  <a:txBody>
                    <a:bodyPr/>
                    <a:lstStyle/>
                    <a:p>
                      <a:pPr marL="42545">
                        <a:lnSpc>
                          <a:spcPts val="1305"/>
                        </a:lnSpc>
                      </a:pPr>
                      <a:r>
                        <a:rPr sz="1200" spc="-10" dirty="0">
                          <a:latin typeface="Arial"/>
                          <a:cs typeface="Arial"/>
                        </a:rPr>
                        <a:t>print(L)</a:t>
                      </a:r>
                      <a:endParaRPr sz="1200" dirty="0">
                        <a:latin typeface="Arial"/>
                        <a:cs typeface="Arial"/>
                      </a:endParaRPr>
                    </a:p>
                  </a:txBody>
                  <a:tcPr marL="0" marR="0" marT="0" marB="0">
                    <a:lnL w="12700">
                      <a:solidFill>
                        <a:srgbClr val="000000"/>
                      </a:solidFill>
                      <a:prstDash val="solid"/>
                    </a:lnL>
                    <a:lnR w="6350">
                      <a:solidFill>
                        <a:srgbClr val="000000"/>
                      </a:solidFill>
                      <a:prstDash val="solid"/>
                    </a:lnR>
                    <a:lnB w="6350">
                      <a:solidFill>
                        <a:srgbClr val="000000"/>
                      </a:solidFill>
                      <a:prstDash val="soli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4" name="object 4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52" y="0"/>
                </a:lnTo>
                <a:lnTo>
                  <a:pt x="1535976" y="0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Observers</a:t>
            </a:r>
            <a:r>
              <a:rPr sz="600" spc="135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and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Observer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State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r>
              <a:rPr dirty="0"/>
              <a:t>13</a:t>
            </a:r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27</a:t>
            </a:r>
          </a:p>
        </p:txBody>
      </p:sp>
    </p:spTree>
  </p:cSld>
  <p:clrMapOvr>
    <a:masterClrMapping/>
  </p:clrMapOvr>
  <p:transition>
    <p:cut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60916"/>
            <a:ext cx="1974850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700" spc="-20" dirty="0">
                <a:solidFill>
                  <a:srgbClr val="191919"/>
                </a:solidFill>
                <a:latin typeface="Arial"/>
                <a:cs typeface="Arial"/>
              </a:rPr>
              <a:t>Motor</a:t>
            </a:r>
            <a:r>
              <a:rPr sz="1700" spc="-50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1700" spc="-60" dirty="0">
                <a:solidFill>
                  <a:srgbClr val="191919"/>
                </a:solidFill>
                <a:latin typeface="Arial"/>
                <a:cs typeface="Arial"/>
              </a:rPr>
              <a:t>control</a:t>
            </a:r>
            <a:r>
              <a:rPr sz="1700" spc="-45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1700" spc="-125" dirty="0">
                <a:solidFill>
                  <a:srgbClr val="191919"/>
                </a:solidFill>
                <a:latin typeface="Arial"/>
                <a:cs typeface="Arial"/>
              </a:rPr>
              <a:t>example</a:t>
            </a:r>
            <a:endParaRPr sz="1700">
              <a:latin typeface="Arial"/>
              <a:cs typeface="Arial"/>
            </a:endParaRPr>
          </a:p>
        </p:txBody>
      </p:sp>
      <p:grpSp>
        <p:nvGrpSpPr>
          <p:cNvPr id="3" name="object 3"/>
          <p:cNvGrpSpPr/>
          <p:nvPr/>
        </p:nvGrpSpPr>
        <p:grpSpPr>
          <a:xfrm>
            <a:off x="0" y="519038"/>
            <a:ext cx="4608195" cy="2937510"/>
            <a:chOff x="0" y="519038"/>
            <a:chExt cx="4608195" cy="2937510"/>
          </a:xfrm>
        </p:grpSpPr>
        <p:pic>
          <p:nvPicPr>
            <p:cNvPr id="4" name="object 4"/>
            <p:cNvPicPr/>
            <p:nvPr/>
          </p:nvPicPr>
          <p:blipFill>
            <a:blip r:embed="rId2" cstate="print"/>
            <a:stretch>
              <a:fillRect/>
            </a:stretch>
          </p:blipFill>
          <p:spPr>
            <a:xfrm>
              <a:off x="234191" y="526406"/>
              <a:ext cx="1448457" cy="2889840"/>
            </a:xfrm>
            <a:prstGeom prst="rect">
              <a:avLst/>
            </a:prstGeom>
          </p:spPr>
        </p:pic>
        <p:pic>
          <p:nvPicPr>
            <p:cNvPr id="5" name="object 5"/>
            <p:cNvPicPr/>
            <p:nvPr/>
          </p:nvPicPr>
          <p:blipFill>
            <a:blip r:embed="rId3" cstate="print"/>
            <a:stretch>
              <a:fillRect/>
            </a:stretch>
          </p:blipFill>
          <p:spPr>
            <a:xfrm>
              <a:off x="1836781" y="519038"/>
              <a:ext cx="1428502" cy="2913097"/>
            </a:xfrm>
            <a:prstGeom prst="rect">
              <a:avLst/>
            </a:prstGeom>
          </p:spPr>
        </p:pic>
        <p:sp>
          <p:nvSpPr>
            <p:cNvPr id="6" name="object 6"/>
            <p:cNvSpPr/>
            <p:nvPr/>
          </p:nvSpPr>
          <p:spPr>
            <a:xfrm>
              <a:off x="0" y="3346272"/>
              <a:ext cx="4608195" cy="109855"/>
            </a:xfrm>
            <a:custGeom>
              <a:avLst/>
              <a:gdLst/>
              <a:ahLst/>
              <a:cxnLst/>
              <a:rect l="l" t="t" r="r" b="b"/>
              <a:pathLst>
                <a:path w="4608195" h="109854">
                  <a:moveTo>
                    <a:pt x="4607928" y="0"/>
                  </a:moveTo>
                  <a:lnTo>
                    <a:pt x="3071952" y="0"/>
                  </a:lnTo>
                  <a:lnTo>
                    <a:pt x="1535976" y="0"/>
                  </a:lnTo>
                  <a:lnTo>
                    <a:pt x="0" y="0"/>
                  </a:lnTo>
                  <a:lnTo>
                    <a:pt x="0" y="109728"/>
                  </a:lnTo>
                  <a:lnTo>
                    <a:pt x="1535976" y="109728"/>
                  </a:lnTo>
                  <a:lnTo>
                    <a:pt x="3071952" y="109728"/>
                  </a:lnTo>
                  <a:lnTo>
                    <a:pt x="4607928" y="109728"/>
                  </a:lnTo>
                  <a:lnTo>
                    <a:pt x="4607928" y="0"/>
                  </a:lnTo>
                  <a:close/>
                </a:path>
              </a:pathLst>
            </a:custGeom>
            <a:solidFill>
              <a:srgbClr val="E5E5E5"/>
            </a:solidFill>
          </p:spPr>
          <p:txBody>
            <a:bodyPr wrap="square" lIns="0" tIns="0" rIns="0" bIns="0" rtlCol="0"/>
            <a:lstStyle/>
            <a:p>
              <a:endParaRPr/>
            </a:p>
          </p:txBody>
        </p:sp>
      </p:grpSp>
      <p:pic>
        <p:nvPicPr>
          <p:cNvPr id="7" name="object 7"/>
          <p:cNvPicPr/>
          <p:nvPr/>
        </p:nvPicPr>
        <p:blipFill>
          <a:blip r:embed="rId4" cstate="print"/>
          <a:stretch>
            <a:fillRect/>
          </a:stretch>
        </p:blipFill>
        <p:spPr>
          <a:xfrm>
            <a:off x="3364420" y="2253084"/>
            <a:ext cx="1017991" cy="1017991"/>
          </a:xfrm>
          <a:prstGeom prst="rect">
            <a:avLst/>
          </a:prstGeom>
        </p:spPr>
      </p:pic>
      <p:sp>
        <p:nvSpPr>
          <p:cNvPr id="8" name="object 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5" action="ppaction://hlinksldjump"/>
              </a:rPr>
              <a:t>Observers</a:t>
            </a:r>
            <a:r>
              <a:rPr sz="600" spc="135" dirty="0">
                <a:solidFill>
                  <a:srgbClr val="FF84BD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5" action="ppaction://hlinksldjump"/>
              </a:rPr>
              <a:t>and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5" action="ppaction://hlinksldjump"/>
              </a:rPr>
              <a:t>Observer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5" action="ppaction://hlinksldjump"/>
              </a:rPr>
              <a:t>State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5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10" name="object 10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r>
              <a:rPr dirty="0"/>
              <a:t>14</a:t>
            </a:r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27</a:t>
            </a:r>
          </a:p>
        </p:txBody>
      </p:sp>
    </p:spTree>
  </p:cSld>
  <p:clrMapOvr>
    <a:masterClrMapping/>
  </p:clrMapOvr>
  <p:transition>
    <p:cut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/>
          <p:nvPr/>
        </p:nvSpPr>
        <p:spPr>
          <a:xfrm>
            <a:off x="95300" y="60916"/>
            <a:ext cx="2585720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z="1700" spc="-130" dirty="0">
                <a:solidFill>
                  <a:srgbClr val="191919"/>
                </a:solidFill>
                <a:latin typeface="Arial"/>
                <a:cs typeface="Arial"/>
              </a:rPr>
              <a:t>Luenberger</a:t>
            </a:r>
            <a:r>
              <a:rPr sz="1700" spc="70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1700" spc="-140" dirty="0">
                <a:solidFill>
                  <a:srgbClr val="191919"/>
                </a:solidFill>
                <a:latin typeface="Arial"/>
                <a:cs typeface="Arial"/>
              </a:rPr>
              <a:t>observer</a:t>
            </a:r>
            <a:r>
              <a:rPr sz="1700" spc="70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1700" spc="-120" dirty="0">
                <a:solidFill>
                  <a:srgbClr val="191919"/>
                </a:solidFill>
                <a:latin typeface="Arial"/>
                <a:cs typeface="Arial"/>
              </a:rPr>
              <a:t>summary</a:t>
            </a:r>
            <a:endParaRPr sz="17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object 3"/>
              <p:cNvSpPr txBox="1"/>
              <p:nvPr/>
            </p:nvSpPr>
            <p:spPr>
              <a:xfrm>
                <a:off x="215442" y="608673"/>
                <a:ext cx="3885565" cy="486030"/>
              </a:xfrm>
              <a:prstGeom prst="rect">
                <a:avLst/>
              </a:prstGeom>
            </p:spPr>
            <p:txBody>
              <a:bodyPr vert="horz" wrap="square" lIns="0" tIns="51435" rIns="0" bIns="0" rtlCol="0">
                <a:spAutoFit/>
              </a:bodyPr>
              <a:lstStyle/>
              <a:p>
                <a:pPr marL="38100">
                  <a:lnSpc>
                    <a:spcPct val="100000"/>
                  </a:lnSpc>
                  <a:spcBef>
                    <a:spcPts val="405"/>
                  </a:spcBef>
                </a:pPr>
                <a:r>
                  <a:rPr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sz="1800" spc="337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sz="1200" spc="-85" dirty="0">
                    <a:latin typeface="Arial"/>
                    <a:cs typeface="Arial"/>
                  </a:rPr>
                  <a:t>observer</a:t>
                </a:r>
                <a:r>
                  <a:rPr sz="1200" spc="55" dirty="0">
                    <a:latin typeface="Arial"/>
                    <a:cs typeface="Arial"/>
                  </a:rPr>
                  <a:t> </a:t>
                </a:r>
                <a:r>
                  <a:rPr sz="1200" spc="-65" dirty="0">
                    <a:latin typeface="Arial"/>
                    <a:cs typeface="Arial"/>
                  </a:rPr>
                  <a:t>dynamics:</a:t>
                </a:r>
                <a:r>
                  <a:rPr sz="1200" spc="185" dirty="0">
                    <a:latin typeface="Arial"/>
                    <a:cs typeface="Arial"/>
                  </a:rPr>
                  <a:t>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ar-AE" altLang="zh-CN" sz="1400" i="1" spc="-10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acc>
                          <m:accPr>
                            <m:chr m:val="̂"/>
                            <m:ctrlPr>
                              <a:rPr lang="ar-AE" altLang="zh-CN" sz="1200" i="1" spc="20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zh-CN" altLang="ar-AE" sz="1200" i="1" spc="20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acc>
                  </m:oMath>
                </a14:m>
                <a:r>
                  <a:rPr sz="1200" spc="200" dirty="0">
                    <a:latin typeface="Arial"/>
                    <a:cs typeface="Arial"/>
                  </a:rPr>
                  <a:t>=</a:t>
                </a:r>
                <a:r>
                  <a:rPr sz="1200" spc="-10" dirty="0">
                    <a:latin typeface="Arial"/>
                    <a:cs typeface="Arial"/>
                  </a:rPr>
                  <a:t> </a:t>
                </a:r>
                <a:r>
                  <a:rPr sz="1200" i="1" spc="40" dirty="0">
                    <a:latin typeface="Arial"/>
                    <a:cs typeface="Arial"/>
                  </a:rPr>
                  <a:t>A</a:t>
                </a:r>
                <a:r>
                  <a:rPr sz="1200" i="1" spc="-480" dirty="0">
                    <a:latin typeface="Arial"/>
                    <a:cs typeface="Arial"/>
                  </a:rPr>
                  <a:t>x</a:t>
                </a:r>
                <a:r>
                  <a:rPr sz="1200" spc="40" dirty="0">
                    <a:latin typeface="Arial"/>
                    <a:cs typeface="Arial"/>
                  </a:rPr>
                  <a:t>ˆ</a:t>
                </a:r>
                <a:r>
                  <a:rPr sz="1200" spc="-85" dirty="0">
                    <a:latin typeface="Arial"/>
                    <a:cs typeface="Arial"/>
                  </a:rPr>
                  <a:t> </a:t>
                </a:r>
                <a:r>
                  <a:rPr sz="1200" spc="200" dirty="0">
                    <a:latin typeface="Arial"/>
                    <a:cs typeface="Arial"/>
                  </a:rPr>
                  <a:t>+</a:t>
                </a:r>
                <a:r>
                  <a:rPr sz="1200" spc="-75" dirty="0">
                    <a:latin typeface="Arial"/>
                    <a:cs typeface="Arial"/>
                  </a:rPr>
                  <a:t> </a:t>
                </a:r>
                <a:r>
                  <a:rPr sz="1200" i="1" spc="-20" dirty="0">
                    <a:latin typeface="Arial"/>
                    <a:cs typeface="Arial"/>
                  </a:rPr>
                  <a:t>Bu</a:t>
                </a:r>
                <a:r>
                  <a:rPr sz="1200" i="1" spc="-15" dirty="0">
                    <a:latin typeface="Arial"/>
                    <a:cs typeface="Arial"/>
                  </a:rPr>
                  <a:t> </a:t>
                </a:r>
                <a:r>
                  <a:rPr sz="1200" spc="200" dirty="0">
                    <a:latin typeface="Arial"/>
                    <a:cs typeface="Arial"/>
                  </a:rPr>
                  <a:t>+</a:t>
                </a:r>
                <a:r>
                  <a:rPr sz="1200" spc="-75" dirty="0">
                    <a:latin typeface="Arial"/>
                    <a:cs typeface="Arial"/>
                  </a:rPr>
                  <a:t> </a:t>
                </a:r>
                <a:r>
                  <a:rPr sz="1200" i="1" spc="-40" dirty="0">
                    <a:latin typeface="Arial"/>
                    <a:cs typeface="Arial"/>
                  </a:rPr>
                  <a:t>L</a:t>
                </a:r>
                <a:r>
                  <a:rPr sz="1200" i="1" spc="-135" dirty="0">
                    <a:latin typeface="Arial"/>
                    <a:cs typeface="Arial"/>
                  </a:rPr>
                  <a:t> </a:t>
                </a:r>
                <a:r>
                  <a:rPr sz="1200" dirty="0">
                    <a:latin typeface="Arial"/>
                    <a:cs typeface="Arial"/>
                  </a:rPr>
                  <a:t>(</a:t>
                </a:r>
                <a:r>
                  <a:rPr sz="1200" i="1" dirty="0">
                    <a:latin typeface="Arial"/>
                    <a:cs typeface="Arial"/>
                  </a:rPr>
                  <a:t>y</a:t>
                </a:r>
                <a:r>
                  <a:rPr sz="1200" i="1" spc="55" dirty="0">
                    <a:latin typeface="Arial"/>
                    <a:cs typeface="Arial"/>
                  </a:rPr>
                  <a:t> </a:t>
                </a:r>
                <a:r>
                  <a:rPr sz="1200" i="1" spc="200" dirty="0">
                    <a:latin typeface="Menlo"/>
                    <a:cs typeface="Menlo"/>
                  </a:rPr>
                  <a:t>−</a:t>
                </a:r>
                <a:r>
                  <a:rPr sz="1200" i="1" spc="-459" dirty="0">
                    <a:latin typeface="Menlo"/>
                    <a:cs typeface="Menlo"/>
                  </a:rPr>
                  <a:t> </a:t>
                </a:r>
                <a:r>
                  <a:rPr sz="1200" i="1" spc="-130" dirty="0">
                    <a:latin typeface="Arial"/>
                    <a:cs typeface="Arial"/>
                  </a:rPr>
                  <a:t>C</a:t>
                </a:r>
                <a:r>
                  <a:rPr sz="1200" i="1" spc="-190" dirty="0">
                    <a:latin typeface="Arial"/>
                    <a:cs typeface="Arial"/>
                  </a:rPr>
                  <a:t> </a:t>
                </a:r>
                <a:r>
                  <a:rPr sz="1200" i="1" spc="-445" dirty="0">
                    <a:latin typeface="Arial"/>
                    <a:cs typeface="Arial"/>
                  </a:rPr>
                  <a:t>x</a:t>
                </a:r>
                <a:r>
                  <a:rPr sz="1200" spc="60" dirty="0">
                    <a:latin typeface="Arial"/>
                    <a:cs typeface="Arial"/>
                  </a:rPr>
                  <a:t>ˆ</a:t>
                </a:r>
                <a:r>
                  <a:rPr sz="1200" spc="75" dirty="0">
                    <a:latin typeface="Arial"/>
                    <a:cs typeface="Arial"/>
                  </a:rPr>
                  <a:t>)</a:t>
                </a:r>
                <a:r>
                  <a:rPr sz="1200" spc="-130" dirty="0">
                    <a:latin typeface="Arial"/>
                    <a:cs typeface="Arial"/>
                  </a:rPr>
                  <a:t> </a:t>
                </a:r>
                <a:r>
                  <a:rPr sz="1200" i="1" dirty="0">
                    <a:latin typeface="Times New Roman"/>
                    <a:cs typeface="Times New Roman"/>
                  </a:rPr>
                  <a:t>,</a:t>
                </a:r>
                <a:r>
                  <a:rPr sz="1200" i="1" spc="280" dirty="0">
                    <a:latin typeface="Times New Roman"/>
                    <a:cs typeface="Times New Roman"/>
                  </a:rPr>
                  <a:t> </a:t>
                </a:r>
                <a:r>
                  <a:rPr sz="1200" i="1" spc="-484" dirty="0">
                    <a:latin typeface="Arial"/>
                    <a:cs typeface="Arial"/>
                  </a:rPr>
                  <a:t>x</a:t>
                </a:r>
                <a:r>
                  <a:rPr sz="1200" spc="20" dirty="0">
                    <a:latin typeface="Arial"/>
                    <a:cs typeface="Arial"/>
                  </a:rPr>
                  <a:t>ˆ</a:t>
                </a:r>
                <a:r>
                  <a:rPr sz="1200" spc="35" dirty="0">
                    <a:latin typeface="Arial"/>
                    <a:cs typeface="Arial"/>
                  </a:rPr>
                  <a:t>(0)</a:t>
                </a:r>
                <a:r>
                  <a:rPr sz="1200" spc="-5" dirty="0">
                    <a:latin typeface="Arial"/>
                    <a:cs typeface="Arial"/>
                  </a:rPr>
                  <a:t> </a:t>
                </a:r>
                <a:r>
                  <a:rPr sz="1200" spc="200" dirty="0">
                    <a:latin typeface="Arial"/>
                    <a:cs typeface="Arial"/>
                  </a:rPr>
                  <a:t>=</a:t>
                </a:r>
                <a:r>
                  <a:rPr sz="1200" spc="-10" dirty="0">
                    <a:latin typeface="Arial"/>
                    <a:cs typeface="Arial"/>
                  </a:rPr>
                  <a:t> </a:t>
                </a:r>
                <a:r>
                  <a:rPr sz="1200" spc="-50" dirty="0">
                    <a:latin typeface="Arial"/>
                    <a:cs typeface="Arial"/>
                  </a:rPr>
                  <a:t>0</a:t>
                </a:r>
                <a:endParaRPr sz="1200" dirty="0">
                  <a:latin typeface="Arial"/>
                  <a:cs typeface="Arial"/>
                </a:endParaRPr>
              </a:p>
              <a:p>
                <a:pPr marL="38100">
                  <a:lnSpc>
                    <a:spcPct val="100000"/>
                  </a:lnSpc>
                  <a:spcBef>
                    <a:spcPts val="300"/>
                  </a:spcBef>
                </a:pPr>
                <a:r>
                  <a:rPr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sz="1800" spc="277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sz="1200" spc="-25" dirty="0">
                    <a:latin typeface="Arial"/>
                    <a:cs typeface="Arial"/>
                  </a:rPr>
                  <a:t>block</a:t>
                </a:r>
                <a:r>
                  <a:rPr sz="1200" spc="15" dirty="0">
                    <a:latin typeface="Arial"/>
                    <a:cs typeface="Arial"/>
                  </a:rPr>
                  <a:t> </a:t>
                </a:r>
                <a:r>
                  <a:rPr sz="1200" spc="-10" dirty="0">
                    <a:latin typeface="Arial"/>
                    <a:cs typeface="Arial"/>
                  </a:rPr>
                  <a:t>diagram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3" name="objec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42" y="608673"/>
                <a:ext cx="3885565" cy="486030"/>
              </a:xfrm>
              <a:prstGeom prst="rect">
                <a:avLst/>
              </a:prstGeom>
              <a:blipFill>
                <a:blip r:embed="rId2"/>
                <a:stretch>
                  <a:fillRect l="-1411" r="-157" b="-17500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object 4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1015620" y="1202532"/>
            <a:ext cx="2487066" cy="1720321"/>
          </a:xfrm>
          <a:prstGeom prst="rect">
            <a:avLst/>
          </a:prstGeom>
        </p:spPr>
      </p:pic>
      <p:sp>
        <p:nvSpPr>
          <p:cNvPr id="5" name="object 5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52" y="0"/>
                </a:lnTo>
                <a:lnTo>
                  <a:pt x="1535976" y="0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6" name="object 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7" name="object 7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Observers</a:t>
            </a:r>
            <a:r>
              <a:rPr sz="600" spc="135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and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Observer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State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8" name="object 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r>
              <a:rPr dirty="0"/>
              <a:t>15</a:t>
            </a:r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27</a:t>
            </a:r>
          </a:p>
        </p:txBody>
      </p:sp>
    </p:spTree>
  </p:cSld>
  <p:clrMapOvr>
    <a:masterClrMapping/>
  </p:clrMapOvr>
  <p:transition>
    <p:cut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00" y="60916"/>
            <a:ext cx="2585720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30" dirty="0"/>
              <a:t>Luenberger</a:t>
            </a:r>
            <a:r>
              <a:rPr spc="70" dirty="0"/>
              <a:t> </a:t>
            </a:r>
            <a:r>
              <a:rPr spc="-140" dirty="0"/>
              <a:t>observer</a:t>
            </a:r>
            <a:r>
              <a:rPr spc="70" dirty="0"/>
              <a:t> </a:t>
            </a:r>
            <a:r>
              <a:rPr spc="-120" dirty="0"/>
              <a:t>summary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object 3"/>
              <p:cNvSpPr txBox="1"/>
              <p:nvPr/>
            </p:nvSpPr>
            <p:spPr>
              <a:xfrm>
                <a:off x="202742" y="518563"/>
                <a:ext cx="3747135" cy="2076338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50800">
                  <a:lnSpc>
                    <a:spcPct val="100000"/>
                  </a:lnSpc>
                  <a:spcBef>
                    <a:spcPts val="95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352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85" dirty="0">
                    <a:latin typeface="Arial"/>
                    <a:cs typeface="Arial"/>
                  </a:rPr>
                  <a:t>system</a:t>
                </a:r>
                <a:r>
                  <a:rPr lang="en-US" sz="1200" spc="50" dirty="0"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dynamics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788035">
                  <a:lnSpc>
                    <a:spcPct val="100000"/>
                  </a:lnSpc>
                  <a:spcBef>
                    <a:spcPts val="1200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1200" b="0" i="1" spc="20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en-US" sz="1200" b="0" i="1" spc="200" smtClean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5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Ax</a:t>
                </a:r>
                <a:r>
                  <a:rPr lang="en-US" sz="1200" i="1" spc="3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7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Bu</a:t>
                </a:r>
                <a:r>
                  <a:rPr lang="en-US" sz="1200" i="1" dirty="0">
                    <a:latin typeface="Times New Roman"/>
                    <a:cs typeface="Times New Roman"/>
                  </a:rPr>
                  <a:t>,</a:t>
                </a:r>
                <a:r>
                  <a:rPr lang="en-US" sz="1200" i="1" spc="275" dirty="0">
                    <a:latin typeface="Times New Roman"/>
                    <a:cs typeface="Times New Roman"/>
                  </a:rPr>
                  <a:t> </a:t>
                </a:r>
                <a:r>
                  <a:rPr lang="en-US" sz="1200" i="1" spc="-75" dirty="0">
                    <a:latin typeface="Arial"/>
                    <a:cs typeface="Arial"/>
                  </a:rPr>
                  <a:t>x</a:t>
                </a:r>
                <a:r>
                  <a:rPr lang="en-US" sz="1200" i="1" spc="-22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(0)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x</a:t>
                </a:r>
                <a:r>
                  <a:rPr lang="en-US" sz="1200" baseline="-13888" dirty="0">
                    <a:latin typeface="Arial"/>
                    <a:cs typeface="Arial"/>
                  </a:rPr>
                  <a:t>0</a:t>
                </a:r>
                <a:r>
                  <a:rPr lang="en-US" sz="1200" i="1" dirty="0">
                    <a:latin typeface="Times New Roman"/>
                    <a:cs typeface="Times New Roman"/>
                  </a:rPr>
                  <a:t>,</a:t>
                </a:r>
                <a:r>
                  <a:rPr lang="en-US" sz="1200" i="1" spc="275" dirty="0">
                    <a:latin typeface="Times New Roman"/>
                    <a:cs typeface="Times New Roman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A</a:t>
                </a:r>
                <a:r>
                  <a:rPr lang="en-US" sz="1200" i="1" spc="-15" dirty="0">
                    <a:latin typeface="Arial"/>
                    <a:cs typeface="Arial"/>
                  </a:rPr>
                  <a:t> </a:t>
                </a:r>
                <a:r>
                  <a:rPr lang="en-US" sz="1200" spc="65" dirty="0">
                    <a:latin typeface="Menlo"/>
                    <a:cs typeface="Menlo"/>
                  </a:rPr>
                  <a:t>∈</a:t>
                </a:r>
                <a:r>
                  <a:rPr lang="en-US" sz="1200" spc="-390" dirty="0">
                    <a:latin typeface="Menlo"/>
                    <a:cs typeface="Menlo"/>
                  </a:rPr>
                  <a:t> </a:t>
                </a:r>
                <a:r>
                  <a:rPr lang="en-US" sz="1200" spc="55" dirty="0">
                    <a:latin typeface="Times New Roman"/>
                    <a:cs typeface="Times New Roman"/>
                  </a:rPr>
                  <a:t>R</a:t>
                </a:r>
                <a:r>
                  <a:rPr lang="en-US" sz="1200" i="1" spc="82" baseline="34722" dirty="0">
                    <a:latin typeface="Arial"/>
                    <a:cs typeface="Arial"/>
                  </a:rPr>
                  <a:t>n</a:t>
                </a:r>
                <a:r>
                  <a:rPr lang="en-US" sz="1200" i="1" spc="82" baseline="34722" dirty="0">
                    <a:latin typeface="Hack"/>
                    <a:cs typeface="Hack"/>
                  </a:rPr>
                  <a:t>×</a:t>
                </a:r>
                <a:r>
                  <a:rPr lang="en-US" sz="1200" i="1" spc="82" baseline="34722" dirty="0">
                    <a:latin typeface="Arial"/>
                    <a:cs typeface="Arial"/>
                  </a:rPr>
                  <a:t>n</a:t>
                </a:r>
                <a:r>
                  <a:rPr lang="en-US" sz="1200" i="1" spc="55" dirty="0">
                    <a:latin typeface="Times New Roman"/>
                    <a:cs typeface="Times New Roman"/>
                  </a:rPr>
                  <a:t>,</a:t>
                </a:r>
                <a:r>
                  <a:rPr lang="en-US" sz="1200" i="1" spc="-100" dirty="0">
                    <a:latin typeface="Times New Roman"/>
                    <a:cs typeface="Times New Roman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B</a:t>
                </a:r>
                <a:r>
                  <a:rPr lang="en-US" sz="1200" i="1" spc="85" dirty="0">
                    <a:latin typeface="Arial"/>
                    <a:cs typeface="Arial"/>
                  </a:rPr>
                  <a:t> </a:t>
                </a:r>
                <a:r>
                  <a:rPr lang="en-US" sz="1200" spc="65" dirty="0">
                    <a:latin typeface="Menlo"/>
                    <a:cs typeface="Menlo"/>
                  </a:rPr>
                  <a:t>∈</a:t>
                </a:r>
                <a:r>
                  <a:rPr lang="en-US" sz="1200" i="1" spc="-390" dirty="0">
                    <a:latin typeface="Menlo"/>
                    <a:cs typeface="Menlo"/>
                  </a:rPr>
                  <a:t> </a:t>
                </a:r>
                <a:r>
                  <a:rPr lang="en-US" sz="1200" spc="40" dirty="0">
                    <a:latin typeface="Times New Roman"/>
                    <a:cs typeface="Times New Roman"/>
                  </a:rPr>
                  <a:t>R</a:t>
                </a:r>
                <a:r>
                  <a:rPr lang="en-US" sz="1200" i="1" spc="60" baseline="34722" dirty="0">
                    <a:latin typeface="Arial"/>
                    <a:cs typeface="Arial"/>
                  </a:rPr>
                  <a:t>n</a:t>
                </a:r>
                <a:r>
                  <a:rPr lang="en-US" sz="1200" i="1" spc="60" baseline="34722" dirty="0">
                    <a:latin typeface="Hack"/>
                    <a:cs typeface="Hack"/>
                  </a:rPr>
                  <a:t>×</a:t>
                </a:r>
                <a:r>
                  <a:rPr lang="en-US" sz="1200" i="1" spc="60" baseline="34722" dirty="0">
                    <a:latin typeface="Arial"/>
                    <a:cs typeface="Arial"/>
                  </a:rPr>
                  <a:t>r</a:t>
                </a:r>
                <a:endParaRPr lang="en-US" sz="1200" baseline="34722" dirty="0">
                  <a:latin typeface="Arial"/>
                  <a:cs typeface="Arial"/>
                </a:endParaRPr>
              </a:p>
              <a:p>
                <a:pPr marL="785495">
                  <a:lnSpc>
                    <a:spcPct val="100000"/>
                  </a:lnSpc>
                  <a:spcBef>
                    <a:spcPts val="405"/>
                  </a:spcBef>
                </a:pPr>
                <a:r>
                  <a:rPr lang="en-US" sz="1200" i="1" dirty="0">
                    <a:latin typeface="Arial"/>
                    <a:cs typeface="Arial"/>
                  </a:rPr>
                  <a:t>y</a:t>
                </a:r>
                <a:r>
                  <a:rPr lang="en-US" sz="1200" i="1" spc="5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30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Cx</a:t>
                </a:r>
                <a:r>
                  <a:rPr lang="en-US" sz="1200" i="1" dirty="0">
                    <a:latin typeface="Times New Roman"/>
                    <a:cs typeface="Times New Roman"/>
                  </a:rPr>
                  <a:t>,</a:t>
                </a:r>
                <a:r>
                  <a:rPr lang="en-US" sz="1200" i="1" spc="235" dirty="0">
                    <a:latin typeface="Times New Roman"/>
                    <a:cs typeface="Times New Roman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y</a:t>
                </a:r>
                <a:r>
                  <a:rPr lang="en-US" sz="1200" i="1" spc="85" dirty="0">
                    <a:latin typeface="Arial"/>
                    <a:cs typeface="Arial"/>
                  </a:rPr>
                  <a:t> </a:t>
                </a:r>
                <a:r>
                  <a:rPr lang="en-US" sz="1200" spc="65" dirty="0">
                    <a:latin typeface="Menlo"/>
                    <a:cs typeface="Menlo"/>
                  </a:rPr>
                  <a:t>∈</a:t>
                </a:r>
                <a:r>
                  <a:rPr lang="en-US" sz="1200" i="1" spc="-390" dirty="0">
                    <a:latin typeface="Menlo"/>
                    <a:cs typeface="Menlo"/>
                  </a:rPr>
                  <a:t> </a:t>
                </a:r>
                <a:r>
                  <a:rPr lang="en-US" sz="1200" spc="30" dirty="0">
                    <a:latin typeface="Times New Roman"/>
                    <a:cs typeface="Times New Roman"/>
                  </a:rPr>
                  <a:t>R</a:t>
                </a:r>
                <a:r>
                  <a:rPr lang="en-US" sz="1200" i="1" spc="44" baseline="34722" dirty="0">
                    <a:latin typeface="Arial"/>
                    <a:cs typeface="Arial"/>
                  </a:rPr>
                  <a:t>m</a:t>
                </a:r>
                <a:r>
                  <a:rPr lang="en-US" sz="1200" i="1" spc="44" baseline="34722" dirty="0">
                    <a:latin typeface="Hack"/>
                    <a:cs typeface="Hack"/>
                  </a:rPr>
                  <a:t>×</a:t>
                </a:r>
                <a:r>
                  <a:rPr lang="en-US" sz="1200" spc="44" baseline="34722" dirty="0">
                    <a:latin typeface="Arial"/>
                    <a:cs typeface="Arial"/>
                  </a:rPr>
                  <a:t>1</a:t>
                </a:r>
                <a:endParaRPr lang="en-US" sz="1200" baseline="34722" dirty="0">
                  <a:latin typeface="Arial"/>
                  <a:cs typeface="Arial"/>
                </a:endParaRPr>
              </a:p>
              <a:p>
                <a:pPr marL="50800">
                  <a:lnSpc>
                    <a:spcPct val="100000"/>
                  </a:lnSpc>
                  <a:spcBef>
                    <a:spcPts val="1200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367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85" dirty="0">
                    <a:latin typeface="Arial"/>
                    <a:cs typeface="Arial"/>
                  </a:rPr>
                  <a:t>observer</a:t>
                </a:r>
                <a:r>
                  <a:rPr lang="en-US" sz="1200" spc="55" dirty="0"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dynamics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1057275">
                  <a:lnSpc>
                    <a:spcPct val="100000"/>
                  </a:lnSpc>
                  <a:spcBef>
                    <a:spcPts val="1200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ar-AE" altLang="zh-CN" sz="1400" i="1" spc="-10" dirty="0" smtClean="0">
                            <a:latin typeface="Cambria Math" panose="02040503050406030204" pitchFamily="18" charset="0"/>
                          </a:rPr>
                        </m:ctrlPr>
                      </m:accPr>
                      <m:e>
                        <m:acc>
                          <m:accPr>
                            <m:chr m:val="̂"/>
                            <m:ctrlPr>
                              <a:rPr lang="ar-AE" altLang="zh-CN" sz="1200" i="1" spc="200">
                                <a:latin typeface="Cambria Math" panose="02040503050406030204" pitchFamily="18" charset="0"/>
                              </a:rPr>
                            </m:ctrlPr>
                          </m:accPr>
                          <m:e>
                            <m:r>
                              <a:rPr lang="zh-CN" altLang="ar-AE" sz="1200" i="1" spc="200">
                                <a:latin typeface="Cambria Math" panose="02040503050406030204" pitchFamily="18" charset="0"/>
                              </a:rPr>
                              <m:t>𝑥</m:t>
                            </m:r>
                          </m:e>
                        </m:acc>
                      </m:e>
                    </m:acc>
                  </m:oMath>
                </a14:m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5" dirty="0">
                    <a:latin typeface="Arial"/>
                    <a:cs typeface="Arial"/>
                  </a:rPr>
                  <a:t> </a:t>
                </a:r>
                <a:r>
                  <a:rPr lang="en-US" sz="1200" i="1" spc="40" dirty="0">
                    <a:latin typeface="Arial"/>
                    <a:cs typeface="Arial"/>
                  </a:rPr>
                  <a:t>A</a:t>
                </a:r>
                <a:r>
                  <a:rPr lang="en-US" sz="1200" i="1" spc="-480" dirty="0">
                    <a:latin typeface="Arial"/>
                    <a:cs typeface="Arial"/>
                  </a:rPr>
                  <a:t>x</a:t>
                </a:r>
                <a:r>
                  <a:rPr lang="en-US" sz="1200" spc="40" dirty="0">
                    <a:latin typeface="Arial"/>
                    <a:cs typeface="Arial"/>
                  </a:rPr>
                  <a:t>ˆ</a:t>
                </a:r>
                <a:r>
                  <a:rPr lang="en-US" sz="1200" spc="-8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70" dirty="0">
                    <a:latin typeface="Arial"/>
                    <a:cs typeface="Arial"/>
                  </a:rPr>
                  <a:t> </a:t>
                </a:r>
                <a:r>
                  <a:rPr lang="en-US" sz="1200" i="1" spc="-20" dirty="0">
                    <a:latin typeface="Arial"/>
                    <a:cs typeface="Arial"/>
                  </a:rPr>
                  <a:t>Bu</a:t>
                </a:r>
                <a:r>
                  <a:rPr lang="en-US" sz="1200" i="1" spc="-1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65" dirty="0">
                    <a:latin typeface="Arial"/>
                    <a:cs typeface="Arial"/>
                  </a:rPr>
                  <a:t> </a:t>
                </a:r>
                <a:r>
                  <a:rPr lang="en-US" sz="1200" i="1" spc="-40" dirty="0">
                    <a:latin typeface="Arial"/>
                    <a:cs typeface="Arial"/>
                  </a:rPr>
                  <a:t>L</a:t>
                </a:r>
                <a:r>
                  <a:rPr lang="en-US" sz="1200" i="1" spc="-13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latin typeface="Arial"/>
                    <a:cs typeface="Arial"/>
                  </a:rPr>
                  <a:t>y</a:t>
                </a:r>
                <a:r>
                  <a:rPr lang="en-US" sz="1200" i="1" spc="65" dirty="0"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latin typeface="Menlo"/>
                    <a:cs typeface="Menlo"/>
                  </a:rPr>
                  <a:t> </a:t>
                </a:r>
                <a:r>
                  <a:rPr lang="en-US" sz="1200" i="1" spc="-130" dirty="0">
                    <a:latin typeface="Arial"/>
                    <a:cs typeface="Arial"/>
                  </a:rPr>
                  <a:t>C</a:t>
                </a:r>
                <a:r>
                  <a:rPr lang="en-US" sz="1200" i="1" spc="-185" dirty="0">
                    <a:latin typeface="Arial"/>
                    <a:cs typeface="Arial"/>
                  </a:rPr>
                  <a:t> </a:t>
                </a:r>
                <a:r>
                  <a:rPr lang="en-US" sz="1200" i="1" spc="-445" dirty="0">
                    <a:latin typeface="Arial"/>
                    <a:cs typeface="Arial"/>
                  </a:rPr>
                  <a:t>x</a:t>
                </a:r>
                <a:r>
                  <a:rPr lang="en-US" sz="1200" spc="60" dirty="0">
                    <a:latin typeface="Arial"/>
                    <a:cs typeface="Arial"/>
                  </a:rPr>
                  <a:t>ˆ</a:t>
                </a:r>
                <a:r>
                  <a:rPr lang="en-US" sz="1200" spc="75" dirty="0">
                    <a:latin typeface="Arial"/>
                    <a:cs typeface="Arial"/>
                  </a:rPr>
                  <a:t>)</a:t>
                </a:r>
                <a:r>
                  <a:rPr lang="en-US" sz="1200" spc="-130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Times New Roman"/>
                    <a:cs typeface="Times New Roman"/>
                  </a:rPr>
                  <a:t>,</a:t>
                </a:r>
                <a:r>
                  <a:rPr lang="en-US" sz="1200" i="1" spc="290" dirty="0">
                    <a:latin typeface="Times New Roman"/>
                    <a:cs typeface="Times New Roman"/>
                  </a:rPr>
                  <a:t> </a:t>
                </a:r>
                <a:r>
                  <a:rPr lang="en-US" sz="1200" i="1" spc="-484" dirty="0">
                    <a:latin typeface="Arial"/>
                    <a:cs typeface="Arial"/>
                  </a:rPr>
                  <a:t>x</a:t>
                </a:r>
                <a:r>
                  <a:rPr lang="en-US" sz="1200" spc="20" dirty="0">
                    <a:latin typeface="Arial"/>
                    <a:cs typeface="Arial"/>
                  </a:rPr>
                  <a:t>ˆ</a:t>
                </a:r>
                <a:r>
                  <a:rPr lang="en-US" sz="1200" spc="35" dirty="0">
                    <a:latin typeface="Arial"/>
                    <a:cs typeface="Arial"/>
                  </a:rPr>
                  <a:t>(0)</a:t>
                </a:r>
                <a:r>
                  <a:rPr lang="en-US" sz="120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dirty="0">
                    <a:latin typeface="Arial"/>
                    <a:cs typeface="Arial"/>
                  </a:rPr>
                  <a:t> </a:t>
                </a:r>
                <a:r>
                  <a:rPr lang="en-US" sz="1200" spc="-50" dirty="0">
                    <a:latin typeface="Arial"/>
                    <a:cs typeface="Arial"/>
                  </a:rPr>
                  <a:t>0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1181735">
                  <a:lnSpc>
                    <a:spcPct val="100000"/>
                  </a:lnSpc>
                  <a:spcBef>
                    <a:spcPts val="305"/>
                  </a:spcBef>
                </a:pP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latin typeface="Arial"/>
                    <a:cs typeface="Arial"/>
                  </a:rPr>
                  <a:t>A</a:t>
                </a:r>
                <a:r>
                  <a:rPr lang="en-US" sz="1200" i="1" spc="-70" dirty="0"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latin typeface="Menlo"/>
                    <a:cs typeface="Menlo"/>
                  </a:rPr>
                  <a:t> </a:t>
                </a:r>
                <a:r>
                  <a:rPr lang="en-US" sz="1200" i="1" spc="-85" dirty="0">
                    <a:latin typeface="Arial"/>
                    <a:cs typeface="Arial"/>
                  </a:rPr>
                  <a:t>LC</a:t>
                </a:r>
                <a:r>
                  <a:rPr lang="en-US" sz="1200" i="1" spc="-190" dirty="0">
                    <a:latin typeface="Arial"/>
                    <a:cs typeface="Arial"/>
                  </a:rPr>
                  <a:t> </a:t>
                </a:r>
                <a:r>
                  <a:rPr lang="en-US" sz="1200" spc="50" dirty="0">
                    <a:latin typeface="Arial"/>
                    <a:cs typeface="Arial"/>
                  </a:rPr>
                  <a:t>)</a:t>
                </a:r>
                <a:r>
                  <a:rPr lang="en-US" sz="1200" spc="-135" dirty="0">
                    <a:latin typeface="Arial"/>
                    <a:cs typeface="Arial"/>
                  </a:rPr>
                  <a:t> </a:t>
                </a:r>
                <a:r>
                  <a:rPr lang="en-US" sz="1200" i="1" spc="-440" dirty="0">
                    <a:latin typeface="Arial"/>
                    <a:cs typeface="Arial"/>
                  </a:rPr>
                  <a:t>x</a:t>
                </a:r>
                <a:r>
                  <a:rPr lang="en-US" sz="1200" spc="80" dirty="0">
                    <a:latin typeface="Arial"/>
                    <a:cs typeface="Arial"/>
                  </a:rPr>
                  <a:t>ˆ</a:t>
                </a:r>
                <a:r>
                  <a:rPr lang="en-US" sz="1200" spc="-9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70" dirty="0">
                    <a:latin typeface="Arial"/>
                    <a:cs typeface="Arial"/>
                  </a:rPr>
                  <a:t> </a:t>
                </a:r>
                <a:r>
                  <a:rPr lang="en-US" sz="1200" i="1" spc="-45" dirty="0">
                    <a:latin typeface="Arial"/>
                    <a:cs typeface="Arial"/>
                  </a:rPr>
                  <a:t>LCx</a:t>
                </a:r>
                <a:r>
                  <a:rPr lang="en-US" sz="1200" i="1" spc="3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70" dirty="0"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latin typeface="Arial"/>
                    <a:cs typeface="Arial"/>
                  </a:rPr>
                  <a:t>Bu</a:t>
                </a:r>
                <a:endParaRPr lang="en-US" sz="1200" dirty="0">
                  <a:latin typeface="Arial"/>
                  <a:cs typeface="Arial"/>
                </a:endParaRPr>
              </a:p>
              <a:p>
                <a:pPr>
                  <a:lnSpc>
                    <a:spcPct val="100000"/>
                  </a:lnSpc>
                  <a:spcBef>
                    <a:spcPts val="120"/>
                  </a:spcBef>
                </a:pPr>
                <a:endParaRPr lang="en-US" sz="1200" dirty="0">
                  <a:latin typeface="Arial"/>
                  <a:cs typeface="Arial"/>
                </a:endParaRPr>
              </a:p>
              <a:p>
                <a:pPr marL="50800">
                  <a:lnSpc>
                    <a:spcPct val="100000"/>
                  </a:lnSpc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307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65" dirty="0">
                    <a:latin typeface="Arial"/>
                    <a:cs typeface="Arial"/>
                  </a:rPr>
                  <a:t>augmented</a:t>
                </a:r>
                <a:r>
                  <a:rPr lang="en-US" sz="1200" spc="30" dirty="0"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system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3" name="objec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742" y="518563"/>
                <a:ext cx="3747135" cy="2076338"/>
              </a:xfrm>
              <a:prstGeom prst="rect">
                <a:avLst/>
              </a:prstGeom>
              <a:blipFill>
                <a:blip r:embed="rId2"/>
                <a:stretch>
                  <a:fillRect l="-1138" t="-2346" b="-351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13" name="object 13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4" name="object 14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15" name="object 15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Observers</a:t>
            </a:r>
            <a:r>
              <a:rPr sz="600" spc="135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and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Observer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State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4275163" y="3338410"/>
            <a:ext cx="27813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191919"/>
                </a:solidFill>
                <a:latin typeface="Arial"/>
                <a:cs typeface="Arial"/>
              </a:rPr>
              <a:t>16</a:t>
            </a:r>
            <a:r>
              <a:rPr sz="600" spc="-40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191919"/>
                </a:solidFill>
                <a:latin typeface="Arial"/>
                <a:cs typeface="Arial"/>
              </a:rPr>
              <a:t>/</a:t>
            </a:r>
            <a:r>
              <a:rPr sz="600" spc="-40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191919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34B05BA7-0639-4ED1-988B-3F382D9DF51A}"/>
                  </a:ext>
                </a:extLst>
              </p:cNvPr>
              <p:cNvSpPr txBox="1"/>
              <p:nvPr/>
            </p:nvSpPr>
            <p:spPr>
              <a:xfrm>
                <a:off x="1249988" y="2720975"/>
                <a:ext cx="2108141" cy="3286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altLang="zh-CN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acc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𝐿𝐶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𝐿𝐶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17" name="文本框 16">
                <a:extLst>
                  <a:ext uri="{FF2B5EF4-FFF2-40B4-BE49-F238E27FC236}">
                    <a16:creationId xmlns:a16="http://schemas.microsoft.com/office/drawing/2014/main" id="{34B05BA7-0639-4ED1-988B-3F382D9DF51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49988" y="2720975"/>
                <a:ext cx="2108141" cy="328680"/>
              </a:xfrm>
              <a:prstGeom prst="rect">
                <a:avLst/>
              </a:prstGeom>
              <a:blipFill>
                <a:blip r:embed="rId4"/>
                <a:stretch>
                  <a:fillRect t="-3704" r="-289" b="-1296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00" y="60916"/>
            <a:ext cx="2585720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30" dirty="0"/>
              <a:t>Luenberger</a:t>
            </a:r>
            <a:r>
              <a:rPr spc="70" dirty="0"/>
              <a:t> </a:t>
            </a:r>
            <a:r>
              <a:rPr spc="-140" dirty="0"/>
              <a:t>observer</a:t>
            </a:r>
            <a:r>
              <a:rPr spc="70" dirty="0"/>
              <a:t> </a:t>
            </a:r>
            <a:r>
              <a:rPr spc="-120" dirty="0"/>
              <a:t>summary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5442" y="481200"/>
            <a:ext cx="1784808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0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65" dirty="0">
                <a:latin typeface="Arial"/>
                <a:cs typeface="Arial"/>
              </a:rPr>
              <a:t>augmented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spc="-45" dirty="0">
                <a:latin typeface="Arial"/>
                <a:cs typeface="Arial"/>
              </a:rPr>
              <a:t>system</a:t>
            </a:r>
            <a:endParaRPr sz="1200" dirty="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13" name="object 13"/>
              <p:cNvSpPr txBox="1"/>
              <p:nvPr/>
            </p:nvSpPr>
            <p:spPr>
              <a:xfrm>
                <a:off x="202742" y="1226538"/>
                <a:ext cx="4350551" cy="773417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1165860">
                  <a:lnSpc>
                    <a:spcPct val="100000"/>
                  </a:lnSpc>
                  <a:spcBef>
                    <a:spcPts val="95"/>
                  </a:spcBef>
                </a:pPr>
                <a:r>
                  <a:rPr lang="en-US" sz="1200" i="1" dirty="0">
                    <a:latin typeface="Arial"/>
                    <a:cs typeface="Arial"/>
                  </a:rPr>
                  <a:t>y</a:t>
                </a:r>
                <a:r>
                  <a:rPr lang="en-US" sz="1200" i="1" spc="8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30" dirty="0"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latin typeface="Arial"/>
                    <a:cs typeface="Arial"/>
                  </a:rPr>
                  <a:t>Cx</a:t>
                </a:r>
                <a:endParaRPr lang="en-US" sz="1200" dirty="0">
                  <a:latin typeface="Arial"/>
                  <a:cs typeface="Arial"/>
                </a:endParaRPr>
              </a:p>
              <a:p>
                <a:pPr>
                  <a:lnSpc>
                    <a:spcPct val="100000"/>
                  </a:lnSpc>
                  <a:spcBef>
                    <a:spcPts val="40"/>
                  </a:spcBef>
                </a:pPr>
                <a:endParaRPr lang="en-US" sz="1200" dirty="0">
                  <a:latin typeface="Arial"/>
                  <a:cs typeface="Arial"/>
                </a:endParaRPr>
              </a:p>
              <a:p>
                <a:pPr marL="50800">
                  <a:lnSpc>
                    <a:spcPct val="100000"/>
                  </a:lnSpc>
                  <a:spcBef>
                    <a:spcPts val="5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157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to</a:t>
                </a:r>
                <a:r>
                  <a:rPr lang="en-US" sz="1200" spc="-5" dirty="0">
                    <a:latin typeface="Arial"/>
                    <a:cs typeface="Arial"/>
                  </a:rPr>
                  <a:t> </a:t>
                </a:r>
                <a:r>
                  <a:rPr lang="en-US" sz="1200" spc="-150" dirty="0">
                    <a:latin typeface="Arial"/>
                    <a:cs typeface="Arial"/>
                  </a:rPr>
                  <a:t>see</a:t>
                </a:r>
                <a:r>
                  <a:rPr lang="en-US" sz="1200" spc="5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the </a:t>
                </a:r>
                <a:r>
                  <a:rPr lang="en-US" sz="1200" spc="-20" dirty="0">
                    <a:latin typeface="Arial"/>
                    <a:cs typeface="Arial"/>
                  </a:rPr>
                  <a:t>distribution</a:t>
                </a:r>
                <a:r>
                  <a:rPr lang="en-US" sz="1200" spc="-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of </a:t>
                </a:r>
                <a:r>
                  <a:rPr lang="en-US" sz="1200" spc="-80" dirty="0">
                    <a:latin typeface="Arial"/>
                    <a:cs typeface="Arial"/>
                  </a:rPr>
                  <a:t>eigenvalues,</a:t>
                </a:r>
                <a:r>
                  <a:rPr lang="en-US" sz="1200" spc="-5" dirty="0">
                    <a:latin typeface="Arial"/>
                    <a:cs typeface="Arial"/>
                  </a:rPr>
                  <a:t> </a:t>
                </a:r>
                <a:r>
                  <a:rPr lang="en-US" sz="1200" spc="-25" dirty="0">
                    <a:latin typeface="Arial"/>
                    <a:cs typeface="Arial"/>
                  </a:rPr>
                  <a:t>note</a:t>
                </a:r>
                <a:r>
                  <a:rPr lang="en-US" sz="1200" dirty="0">
                    <a:latin typeface="Arial"/>
                    <a:cs typeface="Arial"/>
                  </a:rPr>
                  <a:t> the</a:t>
                </a:r>
                <a:r>
                  <a:rPr lang="en-US" sz="1200" spc="-5" dirty="0">
                    <a:latin typeface="Arial"/>
                    <a:cs typeface="Arial"/>
                  </a:rPr>
                  <a:t> </a:t>
                </a:r>
                <a:r>
                  <a:rPr lang="en-US" sz="1200" spc="-35" dirty="0">
                    <a:latin typeface="Arial"/>
                    <a:cs typeface="Arial"/>
                  </a:rPr>
                  <a:t>error</a:t>
                </a:r>
                <a:r>
                  <a:rPr lang="en-US" sz="1200" dirty="0">
                    <a:latin typeface="Arial"/>
                    <a:cs typeface="Arial"/>
                  </a:rPr>
                  <a:t> </a:t>
                </a:r>
                <a:r>
                  <a:rPr lang="en-US" sz="1200" spc="-20" dirty="0">
                    <a:latin typeface="Arial"/>
                    <a:cs typeface="Arial"/>
                  </a:rPr>
                  <a:t>dynamics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243204">
                  <a:lnSpc>
                    <a:spcPct val="100000"/>
                  </a:lnSpc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pc="-260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en-US" sz="1200" b="0" i="1" spc="-260" dirty="0" smtClean="0">
                            <a:latin typeface="Cambria Math" panose="02040503050406030204" pitchFamily="18" charset="0"/>
                            <a:cs typeface="Arial"/>
                          </a:rPr>
                          <m:t>𝑒</m:t>
                        </m:r>
                      </m:e>
                    </m:acc>
                    <m:r>
                      <a:rPr lang="en-US" altLang="zh-CN" sz="1200" b="0" i="1" spc="-260" dirty="0" smtClean="0">
                        <a:latin typeface="Cambria Math" panose="02040503050406030204" pitchFamily="18" charset="0"/>
                        <a:cs typeface="Arial"/>
                      </a:rPr>
                      <m:t> </m:t>
                    </m:r>
                  </m:oMath>
                </a14:m>
                <a:r>
                  <a:rPr lang="en-US" sz="1200" spc="200" dirty="0">
                    <a:latin typeface="Arial"/>
                    <a:cs typeface="Arial"/>
                  </a:rPr>
                  <a:t> =</a:t>
                </a:r>
                <a:r>
                  <a:rPr lang="en-US" sz="1200" spc="-40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latin typeface="Arial"/>
                    <a:cs typeface="Arial"/>
                  </a:rPr>
                  <a:t>A</a:t>
                </a:r>
                <a:r>
                  <a:rPr lang="en-US" sz="1200" i="1" spc="-75" dirty="0"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latin typeface="Menlo"/>
                    <a:cs typeface="Menlo"/>
                  </a:rPr>
                  <a:t> </a:t>
                </a:r>
                <a:r>
                  <a:rPr lang="en-US" sz="1200" i="1" spc="-85" dirty="0">
                    <a:latin typeface="Arial"/>
                    <a:cs typeface="Arial"/>
                  </a:rPr>
                  <a:t>LC</a:t>
                </a:r>
                <a:r>
                  <a:rPr lang="en-US" sz="1200" i="1" spc="-190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)</a:t>
                </a:r>
                <a:r>
                  <a:rPr lang="en-US" sz="1200" i="1" dirty="0">
                    <a:latin typeface="Arial"/>
                    <a:cs typeface="Arial"/>
                  </a:rPr>
                  <a:t>e</a:t>
                </a:r>
                <a:r>
                  <a:rPr lang="en-US" sz="1200" i="1" spc="65" dirty="0">
                    <a:latin typeface="Arial"/>
                    <a:cs typeface="Arial"/>
                  </a:rPr>
                  <a:t> </a:t>
                </a:r>
                <a:r>
                  <a:rPr lang="en-US" sz="1200" i="1" spc="409" dirty="0">
                    <a:latin typeface="Menlo"/>
                    <a:cs typeface="Menlo"/>
                  </a:rPr>
                  <a:t>⇒</a:t>
                </a:r>
                <a:endParaRPr sz="1200" dirty="0">
                  <a:latin typeface="Menlo"/>
                  <a:cs typeface="Menlo"/>
                </a:endParaRPr>
              </a:p>
            </p:txBody>
          </p:sp>
        </mc:Choice>
        <mc:Fallback xmlns="">
          <p:sp>
            <p:nvSpPr>
              <p:cNvPr id="13" name="object 1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02742" y="1226538"/>
                <a:ext cx="4350551" cy="773417"/>
              </a:xfrm>
              <a:prstGeom prst="rect">
                <a:avLst/>
              </a:prstGeom>
              <a:blipFill>
                <a:blip r:embed="rId2"/>
                <a:stretch>
                  <a:fillRect l="-980" t="-5512" b="-944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24" name="object 24"/>
          <p:cNvSpPr txBox="1"/>
          <p:nvPr/>
        </p:nvSpPr>
        <p:spPr>
          <a:xfrm>
            <a:off x="433260" y="2607282"/>
            <a:ext cx="4310190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35" dirty="0">
                <a:latin typeface="Menlo"/>
                <a:cs typeface="Menlo"/>
              </a:rPr>
              <a:t>⇒</a:t>
            </a:r>
            <a:r>
              <a:rPr sz="1200" spc="-35" dirty="0">
                <a:latin typeface="Arial"/>
                <a:cs typeface="Arial"/>
              </a:rPr>
              <a:t>eigenvalues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spc="-85" dirty="0">
                <a:latin typeface="Arial"/>
                <a:cs typeface="Arial"/>
              </a:rPr>
              <a:t>are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spc="-85" dirty="0">
                <a:latin typeface="Arial"/>
                <a:cs typeface="Arial"/>
              </a:rPr>
              <a:t>separated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into:</a:t>
            </a:r>
            <a:r>
              <a:rPr sz="1200" spc="150" dirty="0">
                <a:latin typeface="Arial"/>
                <a:cs typeface="Arial"/>
              </a:rPr>
              <a:t> </a:t>
            </a:r>
            <a:r>
              <a:rPr sz="1200" i="1" spc="155" dirty="0">
                <a:latin typeface="Times New Roman"/>
                <a:cs typeface="Times New Roman"/>
              </a:rPr>
              <a:t>λ</a:t>
            </a:r>
            <a:r>
              <a:rPr sz="1200" i="1" spc="-105" dirty="0">
                <a:latin typeface="Times New Roman"/>
                <a:cs typeface="Times New Roman"/>
              </a:rPr>
              <a:t> </a:t>
            </a:r>
            <a:r>
              <a:rPr sz="1200" dirty="0">
                <a:latin typeface="Arial"/>
                <a:cs typeface="Arial"/>
              </a:rPr>
              <a:t>(</a:t>
            </a:r>
            <a:r>
              <a:rPr sz="1200" i="1" dirty="0">
                <a:latin typeface="Arial"/>
                <a:cs typeface="Arial"/>
              </a:rPr>
              <a:t>A</a:t>
            </a:r>
            <a:r>
              <a:rPr sz="1200" dirty="0">
                <a:latin typeface="Arial"/>
                <a:cs typeface="Arial"/>
              </a:rPr>
              <a:t>)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and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spc="-85" dirty="0">
                <a:latin typeface="Arial"/>
                <a:cs typeface="Arial"/>
              </a:rPr>
              <a:t>observer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spc="-70" dirty="0">
                <a:latin typeface="Arial"/>
                <a:cs typeface="Arial"/>
              </a:rPr>
              <a:t>eigenvalues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240842" y="2934383"/>
            <a:ext cx="14351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endParaRPr sz="1200">
              <a:latin typeface="Arial Unicode MS"/>
              <a:cs typeface="Arial Unicode MS"/>
            </a:endParaRPr>
          </a:p>
        </p:txBody>
      </p:sp>
      <p:sp>
        <p:nvSpPr>
          <p:cNvPr id="26" name="object 26"/>
          <p:cNvSpPr txBox="1"/>
          <p:nvPr/>
        </p:nvSpPr>
        <p:spPr>
          <a:xfrm>
            <a:off x="433260" y="2950194"/>
            <a:ext cx="194183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latin typeface="Arial"/>
                <a:cs typeface="Arial"/>
              </a:rPr>
              <a:t>underlying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30" dirty="0">
                <a:latin typeface="Arial"/>
                <a:cs typeface="Arial"/>
              </a:rPr>
              <a:t>similarity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35" dirty="0">
                <a:latin typeface="Arial"/>
                <a:cs typeface="Arial"/>
              </a:rPr>
              <a:t>transform:</a:t>
            </a:r>
            <a:endParaRPr sz="1200">
              <a:latin typeface="Arial"/>
              <a:cs typeface="Arial"/>
            </a:endParaRPr>
          </a:p>
        </p:txBody>
      </p:sp>
      <p:sp>
        <p:nvSpPr>
          <p:cNvPr id="34" name="object 34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5" name="object 3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36" name="object 36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Observers</a:t>
            </a:r>
            <a:r>
              <a:rPr sz="600" spc="135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and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Observer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State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37" name="object 37"/>
          <p:cNvSpPr txBox="1"/>
          <p:nvPr/>
        </p:nvSpPr>
        <p:spPr>
          <a:xfrm>
            <a:off x="4275163" y="3338410"/>
            <a:ext cx="27813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191919"/>
                </a:solidFill>
                <a:latin typeface="Arial"/>
                <a:cs typeface="Arial"/>
              </a:rPr>
              <a:t>17</a:t>
            </a:r>
            <a:r>
              <a:rPr sz="600" spc="-40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191919"/>
                </a:solidFill>
                <a:latin typeface="Arial"/>
                <a:cs typeface="Arial"/>
              </a:rPr>
              <a:t>/</a:t>
            </a:r>
            <a:r>
              <a:rPr sz="600" spc="-40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191919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B84FAE3D-6FC5-7D1A-E323-3A744FCA94FA}"/>
                  </a:ext>
                </a:extLst>
              </p:cNvPr>
              <p:cNvSpPr txBox="1"/>
              <p:nvPr/>
            </p:nvSpPr>
            <p:spPr>
              <a:xfrm>
                <a:off x="1211785" y="871926"/>
                <a:ext cx="2108141" cy="3286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acc>
                                      <m:accPr>
                                        <m:chr m:val="̂"/>
                                        <m:ctrlPr>
                                          <a:rPr lang="en-US" altLang="zh-CN" sz="1200" b="0" i="1" smtClean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accPr>
                                      <m:e>
                                        <m:r>
                                          <a:rPr lang="en-US" altLang="zh-CN" sz="1200" b="0" i="1" smtClean="0">
                                            <a:latin typeface="Cambria Math" panose="02040503050406030204" pitchFamily="18" charset="0"/>
                                          </a:rPr>
                                          <m:t>𝑥</m:t>
                                        </m:r>
                                      </m:e>
                                    </m:acc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𝐿𝐶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𝐿𝐶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38" name="文本框 37">
                <a:extLst>
                  <a:ext uri="{FF2B5EF4-FFF2-40B4-BE49-F238E27FC236}">
                    <a16:creationId xmlns:a16="http://schemas.microsoft.com/office/drawing/2014/main" id="{B84FAE3D-6FC5-7D1A-E323-3A744FCA94FA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1785" y="871926"/>
                <a:ext cx="2108141" cy="328680"/>
              </a:xfrm>
              <a:prstGeom prst="rect">
                <a:avLst/>
              </a:prstGeom>
              <a:blipFill>
                <a:blip r:embed="rId4"/>
                <a:stretch>
                  <a:fillRect t="-3704" b="-1296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A86A6FEB-BC90-3359-EA38-CB0523193AA1}"/>
                  </a:ext>
                </a:extLst>
              </p:cNvPr>
              <p:cNvSpPr txBox="1"/>
              <p:nvPr/>
            </p:nvSpPr>
            <p:spPr>
              <a:xfrm>
                <a:off x="1213086" y="2073804"/>
                <a:ext cx="2108141" cy="328680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̇"/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𝑒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𝐿𝐶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𝑢</m:t>
                      </m:r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A86A6FEB-BC90-3359-EA38-CB0523193AA1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13086" y="2073804"/>
                <a:ext cx="2108141" cy="328680"/>
              </a:xfrm>
              <a:prstGeom prst="rect">
                <a:avLst/>
              </a:prstGeom>
              <a:blipFill>
                <a:blip r:embed="rId5"/>
                <a:stretch>
                  <a:fillRect t="-1852" b="-1296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67A249AF-99CB-C097-7EB0-ABB0ED0342A8}"/>
                  </a:ext>
                </a:extLst>
              </p:cNvPr>
              <p:cNvSpPr txBox="1"/>
              <p:nvPr/>
            </p:nvSpPr>
            <p:spPr>
              <a:xfrm>
                <a:off x="2423998" y="2882559"/>
                <a:ext cx="1315040" cy="3429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67A249AF-99CB-C097-7EB0-ABB0ED0342A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23998" y="2882559"/>
                <a:ext cx="1315040" cy="342914"/>
              </a:xfrm>
              <a:prstGeom prst="rect">
                <a:avLst/>
              </a:prstGeom>
              <a:blipFill>
                <a:blip r:embed="rId6"/>
                <a:stretch>
                  <a:fillRect t="-1786" r="-13953" b="-89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95" dirty="0"/>
              <a:t>Discrete-</a:t>
            </a:r>
            <a:r>
              <a:rPr spc="-65" dirty="0"/>
              <a:t>time</a:t>
            </a:r>
            <a:r>
              <a:rPr spc="-45" dirty="0"/>
              <a:t> </a:t>
            </a:r>
            <a:r>
              <a:rPr spc="-114" dirty="0"/>
              <a:t>observers:</a:t>
            </a:r>
            <a:r>
              <a:rPr spc="110" dirty="0"/>
              <a:t> </a:t>
            </a:r>
            <a:r>
              <a:rPr spc="-45" dirty="0"/>
              <a:t>Introduction</a:t>
            </a:r>
          </a:p>
        </p:txBody>
      </p:sp>
      <p:sp>
        <p:nvSpPr>
          <p:cNvPr id="3" name="object 3"/>
          <p:cNvSpPr txBox="1">
            <a:spLocks noGrp="1"/>
          </p:cNvSpPr>
          <p:nvPr>
            <p:ph type="body" idx="1"/>
          </p:nvPr>
        </p:nvSpPr>
        <p:spPr>
          <a:prstGeom prst="rect">
            <a:avLst/>
          </a:prstGeom>
        </p:spPr>
        <p:txBody>
          <a:bodyPr vert="horz" wrap="square" lIns="0" tIns="142001" rIns="0" bIns="0" rtlCol="0">
            <a:spAutoFit/>
          </a:bodyPr>
          <a:lstStyle/>
          <a:p>
            <a:pPr marL="50800">
              <a:lnSpc>
                <a:spcPct val="100000"/>
              </a:lnSpc>
              <a:spcBef>
                <a:spcPts val="40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7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/>
              <a:t>full</a:t>
            </a:r>
            <a:r>
              <a:rPr sz="1200" spc="5" dirty="0"/>
              <a:t> </a:t>
            </a:r>
            <a:r>
              <a:rPr sz="1200" spc="-25" dirty="0"/>
              <a:t>state</a:t>
            </a:r>
            <a:r>
              <a:rPr sz="1200" spc="10" dirty="0"/>
              <a:t> </a:t>
            </a:r>
            <a:r>
              <a:rPr sz="1200" spc="-80" dirty="0"/>
              <a:t>feedback</a:t>
            </a:r>
            <a:r>
              <a:rPr sz="1200" spc="5" dirty="0"/>
              <a:t> </a:t>
            </a:r>
            <a:r>
              <a:rPr sz="1200" spc="-10" dirty="0"/>
              <a:t>is</a:t>
            </a:r>
            <a:r>
              <a:rPr sz="1200" spc="10" dirty="0"/>
              <a:t> </a:t>
            </a:r>
            <a:r>
              <a:rPr sz="1200" spc="-65" dirty="0"/>
              <a:t>usually</a:t>
            </a:r>
            <a:r>
              <a:rPr sz="1200" spc="10" dirty="0"/>
              <a:t> </a:t>
            </a:r>
            <a:r>
              <a:rPr sz="1200" dirty="0"/>
              <a:t>not</a:t>
            </a:r>
            <a:r>
              <a:rPr sz="1200" spc="5" dirty="0"/>
              <a:t> </a:t>
            </a:r>
            <a:r>
              <a:rPr sz="1200" spc="-10" dirty="0"/>
              <a:t>available</a:t>
            </a:r>
            <a:endParaRPr sz="1200">
              <a:latin typeface="Arial Unicode MS"/>
              <a:cs typeface="Arial Unicode MS"/>
            </a:endParaRPr>
          </a:p>
          <a:p>
            <a:pPr marL="50800">
              <a:lnSpc>
                <a:spcPct val="100000"/>
              </a:lnSpc>
              <a:spcBef>
                <a:spcPts val="30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6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20" dirty="0"/>
              <a:t>often</a:t>
            </a:r>
            <a:r>
              <a:rPr sz="1200" spc="10" dirty="0"/>
              <a:t> </a:t>
            </a:r>
            <a:r>
              <a:rPr sz="1200" spc="-95" dirty="0"/>
              <a:t>observers</a:t>
            </a:r>
            <a:r>
              <a:rPr sz="1200" spc="10" dirty="0"/>
              <a:t> </a:t>
            </a:r>
            <a:r>
              <a:rPr sz="1200" spc="-85" dirty="0"/>
              <a:t>are</a:t>
            </a:r>
            <a:r>
              <a:rPr sz="1200" spc="10" dirty="0"/>
              <a:t> </a:t>
            </a:r>
            <a:r>
              <a:rPr sz="1200" spc="-55" dirty="0"/>
              <a:t>implemented</a:t>
            </a:r>
            <a:r>
              <a:rPr sz="1200" spc="10" dirty="0"/>
              <a:t> </a:t>
            </a:r>
            <a:r>
              <a:rPr sz="1200" dirty="0"/>
              <a:t>in</a:t>
            </a:r>
            <a:r>
              <a:rPr sz="1200" spc="10" dirty="0"/>
              <a:t> </a:t>
            </a:r>
            <a:r>
              <a:rPr sz="1200" dirty="0"/>
              <a:t>the</a:t>
            </a:r>
            <a:r>
              <a:rPr sz="1200" spc="5" dirty="0"/>
              <a:t> </a:t>
            </a:r>
            <a:r>
              <a:rPr sz="1200" spc="-55" dirty="0"/>
              <a:t>discrete-</a:t>
            </a:r>
            <a:r>
              <a:rPr sz="1200" spc="-25" dirty="0"/>
              <a:t>time</a:t>
            </a:r>
            <a:r>
              <a:rPr sz="1200" spc="10" dirty="0"/>
              <a:t> </a:t>
            </a:r>
            <a:r>
              <a:rPr sz="1200" spc="-10" dirty="0"/>
              <a:t>domain</a:t>
            </a:r>
            <a:endParaRPr sz="1200">
              <a:latin typeface="Arial Unicode MS"/>
              <a:cs typeface="Arial Unicode MS"/>
            </a:endParaRPr>
          </a:p>
          <a:p>
            <a:pPr marL="50800">
              <a:lnSpc>
                <a:spcPct val="100000"/>
              </a:lnSpc>
              <a:spcBef>
                <a:spcPts val="51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9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/>
              <a:t>the</a:t>
            </a:r>
            <a:r>
              <a:rPr sz="1200" spc="20" dirty="0"/>
              <a:t> </a:t>
            </a:r>
            <a:r>
              <a:rPr sz="1200" spc="-55" dirty="0"/>
              <a:t>discrete-</a:t>
            </a:r>
            <a:r>
              <a:rPr sz="1200" spc="-25" dirty="0"/>
              <a:t>time</a:t>
            </a:r>
            <a:r>
              <a:rPr sz="1200" spc="20" dirty="0"/>
              <a:t> </a:t>
            </a:r>
            <a:r>
              <a:rPr sz="1200" spc="-85" dirty="0"/>
              <a:t>observer</a:t>
            </a:r>
            <a:r>
              <a:rPr sz="1200" spc="20" dirty="0"/>
              <a:t> </a:t>
            </a:r>
            <a:r>
              <a:rPr sz="1200" spc="-10" dirty="0"/>
              <a:t>design</a:t>
            </a:r>
            <a:endParaRPr sz="1200">
              <a:latin typeface="Arial Unicode MS"/>
              <a:cs typeface="Arial Unicode MS"/>
            </a:endParaRPr>
          </a:p>
          <a:p>
            <a:pPr marL="540385" marR="188595" indent="-182245">
              <a:lnSpc>
                <a:spcPct val="102600"/>
              </a:lnSpc>
              <a:spcBef>
                <a:spcPts val="180"/>
              </a:spcBef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330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100" spc="-70" dirty="0"/>
              <a:t>basic</a:t>
            </a:r>
            <a:r>
              <a:rPr sz="1100" spc="20" dirty="0"/>
              <a:t> </a:t>
            </a:r>
            <a:r>
              <a:rPr sz="1100" dirty="0"/>
              <a:t>form:</a:t>
            </a:r>
            <a:r>
              <a:rPr sz="1100" spc="125" dirty="0"/>
              <a:t> </a:t>
            </a:r>
            <a:r>
              <a:rPr sz="1100" spc="-80" dirty="0"/>
              <a:t>analogous</a:t>
            </a:r>
            <a:r>
              <a:rPr sz="1100" spc="25" dirty="0"/>
              <a:t> </a:t>
            </a:r>
            <a:r>
              <a:rPr sz="1100" dirty="0"/>
              <a:t>to</a:t>
            </a:r>
            <a:r>
              <a:rPr sz="1100" spc="25" dirty="0"/>
              <a:t> </a:t>
            </a:r>
            <a:r>
              <a:rPr sz="1100" dirty="0"/>
              <a:t>the</a:t>
            </a:r>
            <a:r>
              <a:rPr sz="1100" spc="25" dirty="0"/>
              <a:t> </a:t>
            </a:r>
            <a:r>
              <a:rPr sz="1100" spc="-55" dirty="0"/>
              <a:t>continuous-</a:t>
            </a:r>
            <a:r>
              <a:rPr sz="1100" spc="-20" dirty="0"/>
              <a:t>time</a:t>
            </a:r>
            <a:r>
              <a:rPr sz="1100" spc="20" dirty="0"/>
              <a:t> </a:t>
            </a:r>
            <a:r>
              <a:rPr sz="1100" spc="-35" dirty="0"/>
              <a:t>Luenberger </a:t>
            </a:r>
            <a:r>
              <a:rPr sz="1100" spc="-10" dirty="0"/>
              <a:t>observer</a:t>
            </a:r>
            <a:endParaRPr sz="1100">
              <a:latin typeface="Arial Unicode MS"/>
              <a:cs typeface="Arial Unicode MS"/>
            </a:endParaRPr>
          </a:p>
          <a:p>
            <a:pPr marL="358140">
              <a:lnSpc>
                <a:spcPts val="1195"/>
              </a:lnSpc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300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100" spc="-30" dirty="0"/>
              <a:t>predict</a:t>
            </a:r>
            <a:r>
              <a:rPr sz="1100" spc="15" dirty="0"/>
              <a:t> </a:t>
            </a:r>
            <a:r>
              <a:rPr sz="1100" spc="-55" dirty="0"/>
              <a:t>and</a:t>
            </a:r>
            <a:r>
              <a:rPr sz="1100" spc="10" dirty="0"/>
              <a:t> </a:t>
            </a:r>
            <a:r>
              <a:rPr sz="1100" spc="-35" dirty="0"/>
              <a:t>correct</a:t>
            </a:r>
            <a:r>
              <a:rPr sz="1100" spc="15" dirty="0"/>
              <a:t> </a:t>
            </a:r>
            <a:r>
              <a:rPr sz="1100" spc="-10" dirty="0"/>
              <a:t>form:</a:t>
            </a:r>
            <a:endParaRPr sz="1100">
              <a:latin typeface="Arial Unicode MS"/>
              <a:cs typeface="Arial Unicode MS"/>
            </a:endParaRPr>
          </a:p>
          <a:p>
            <a:pPr marL="664845">
              <a:lnSpc>
                <a:spcPts val="1200"/>
              </a:lnSpc>
              <a:spcBef>
                <a:spcPts val="175"/>
              </a:spcBef>
            </a:pPr>
            <a:r>
              <a:rPr sz="1500" spc="254" baseline="8333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500" spc="450" baseline="8333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000" spc="-10" dirty="0"/>
              <a:t>direct</a:t>
            </a:r>
            <a:r>
              <a:rPr sz="1000" spc="50" dirty="0"/>
              <a:t> </a:t>
            </a:r>
            <a:r>
              <a:rPr sz="1000" dirty="0"/>
              <a:t>DT</a:t>
            </a:r>
            <a:r>
              <a:rPr sz="1000" spc="55" dirty="0"/>
              <a:t> </a:t>
            </a:r>
            <a:r>
              <a:rPr sz="1000" spc="-10" dirty="0"/>
              <a:t>design</a:t>
            </a:r>
            <a:endParaRPr sz="1000">
              <a:latin typeface="Arial Unicode MS"/>
              <a:cs typeface="Arial Unicode MS"/>
            </a:endParaRPr>
          </a:p>
          <a:p>
            <a:pPr marL="664845">
              <a:lnSpc>
                <a:spcPts val="1200"/>
              </a:lnSpc>
            </a:pPr>
            <a:r>
              <a:rPr sz="1500" spc="254" baseline="8333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500" spc="434" baseline="8333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000" spc="-70" dirty="0"/>
              <a:t>leverages</a:t>
            </a:r>
            <a:r>
              <a:rPr sz="1000" spc="45" dirty="0"/>
              <a:t> </a:t>
            </a:r>
            <a:r>
              <a:rPr sz="1000" spc="-40" dirty="0"/>
              <a:t>discrete-</a:t>
            </a:r>
            <a:r>
              <a:rPr sz="1000" spc="-20" dirty="0"/>
              <a:t>time</a:t>
            </a:r>
            <a:r>
              <a:rPr sz="1000" spc="45" dirty="0"/>
              <a:t> </a:t>
            </a:r>
            <a:r>
              <a:rPr sz="1000" spc="-35" dirty="0"/>
              <a:t>signal</a:t>
            </a:r>
            <a:r>
              <a:rPr sz="1000" spc="45" dirty="0"/>
              <a:t> </a:t>
            </a:r>
            <a:r>
              <a:rPr sz="1000" spc="-10" dirty="0"/>
              <a:t>properties</a:t>
            </a:r>
            <a:endParaRPr sz="1000">
              <a:latin typeface="Arial Unicode MS"/>
              <a:cs typeface="Arial Unicode MS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Observers</a:t>
            </a:r>
            <a:r>
              <a:rPr sz="600" spc="135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and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Observer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State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275163" y="3338410"/>
            <a:ext cx="27813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191919"/>
                </a:solidFill>
                <a:latin typeface="Arial"/>
                <a:cs typeface="Arial"/>
              </a:rPr>
              <a:t>18</a:t>
            </a:r>
            <a:r>
              <a:rPr sz="600" spc="-40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191919"/>
                </a:solidFill>
                <a:latin typeface="Arial"/>
                <a:cs typeface="Arial"/>
              </a:rPr>
              <a:t>/</a:t>
            </a:r>
            <a:r>
              <a:rPr sz="600" spc="-40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191919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00" y="60916"/>
            <a:ext cx="2758440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95" dirty="0"/>
              <a:t>Discrete-</a:t>
            </a:r>
            <a:r>
              <a:rPr spc="-65" dirty="0"/>
              <a:t>time</a:t>
            </a:r>
            <a:r>
              <a:rPr spc="-15" dirty="0"/>
              <a:t> </a:t>
            </a:r>
            <a:r>
              <a:rPr dirty="0"/>
              <a:t>full</a:t>
            </a:r>
            <a:r>
              <a:rPr spc="-15" dirty="0"/>
              <a:t> </a:t>
            </a:r>
            <a:r>
              <a:rPr spc="-75" dirty="0"/>
              <a:t>state</a:t>
            </a:r>
            <a:r>
              <a:rPr spc="-15" dirty="0"/>
              <a:t> </a:t>
            </a:r>
            <a:r>
              <a:rPr spc="-110" dirty="0"/>
              <a:t>observer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5442" y="381826"/>
            <a:ext cx="3816985" cy="1630680"/>
          </a:xfrm>
          <a:prstGeom prst="rect">
            <a:avLst/>
          </a:prstGeom>
        </p:spPr>
        <p:txBody>
          <a:bodyPr vert="horz" wrap="square" lIns="0" tIns="8509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7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5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65" dirty="0">
                <a:latin typeface="Arial"/>
                <a:cs typeface="Arial"/>
              </a:rPr>
              <a:t>standard</a:t>
            </a:r>
            <a:r>
              <a:rPr sz="1200" spc="50" dirty="0">
                <a:latin typeface="Arial"/>
                <a:cs typeface="Arial"/>
              </a:rPr>
              <a:t> </a:t>
            </a:r>
            <a:r>
              <a:rPr sz="1200" spc="-55" dirty="0">
                <a:latin typeface="Arial"/>
                <a:cs typeface="Arial"/>
              </a:rPr>
              <a:t>discrete-</a:t>
            </a:r>
            <a:r>
              <a:rPr sz="1200" spc="-25" dirty="0">
                <a:latin typeface="Arial"/>
                <a:cs typeface="Arial"/>
              </a:rPr>
              <a:t>time</a:t>
            </a:r>
            <a:r>
              <a:rPr sz="1200" spc="4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observer:</a:t>
            </a:r>
            <a:endParaRPr sz="1200">
              <a:latin typeface="Arial"/>
              <a:cs typeface="Arial"/>
            </a:endParaRPr>
          </a:p>
          <a:p>
            <a:pPr marL="695325">
              <a:lnSpc>
                <a:spcPct val="100000"/>
              </a:lnSpc>
              <a:spcBef>
                <a:spcPts val="575"/>
              </a:spcBef>
            </a:pPr>
            <a:r>
              <a:rPr sz="1200" i="1" spc="-70" dirty="0">
                <a:latin typeface="Arial"/>
                <a:cs typeface="Arial"/>
              </a:rPr>
              <a:t>x</a:t>
            </a:r>
            <a:r>
              <a:rPr sz="1200" i="1" spc="-2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(</a:t>
            </a:r>
            <a:r>
              <a:rPr sz="1200" i="1" dirty="0">
                <a:latin typeface="Arial"/>
                <a:cs typeface="Arial"/>
              </a:rPr>
              <a:t>k</a:t>
            </a:r>
            <a:r>
              <a:rPr sz="1200" i="1" spc="30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7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1)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i="1" spc="-45" dirty="0">
                <a:latin typeface="Arial"/>
                <a:cs typeface="Arial"/>
              </a:rPr>
              <a:t>Ax</a:t>
            </a:r>
            <a:r>
              <a:rPr sz="1200" i="1" spc="-25" dirty="0">
                <a:latin typeface="Arial"/>
                <a:cs typeface="Arial"/>
              </a:rPr>
              <a:t> </a:t>
            </a:r>
            <a:r>
              <a:rPr sz="1200" spc="55" dirty="0">
                <a:latin typeface="Arial"/>
                <a:cs typeface="Arial"/>
              </a:rPr>
              <a:t>(</a:t>
            </a:r>
            <a:r>
              <a:rPr sz="1200" i="1" spc="55" dirty="0">
                <a:latin typeface="Arial"/>
                <a:cs typeface="Arial"/>
              </a:rPr>
              <a:t>k</a:t>
            </a:r>
            <a:r>
              <a:rPr sz="1200" spc="55" dirty="0">
                <a:latin typeface="Arial"/>
                <a:cs typeface="Arial"/>
              </a:rPr>
              <a:t>)</a:t>
            </a:r>
            <a:r>
              <a:rPr sz="1200" spc="-70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70" dirty="0">
                <a:latin typeface="Arial"/>
                <a:cs typeface="Arial"/>
              </a:rPr>
              <a:t> </a:t>
            </a:r>
            <a:r>
              <a:rPr sz="1200" i="1" spc="-50" dirty="0">
                <a:latin typeface="Arial"/>
                <a:cs typeface="Arial"/>
              </a:rPr>
              <a:t>Bu</a:t>
            </a:r>
            <a:r>
              <a:rPr sz="1200" i="1" spc="-80" dirty="0">
                <a:latin typeface="Arial"/>
                <a:cs typeface="Arial"/>
              </a:rPr>
              <a:t> </a:t>
            </a:r>
            <a:r>
              <a:rPr sz="1200" spc="30" dirty="0">
                <a:latin typeface="Arial"/>
                <a:cs typeface="Arial"/>
              </a:rPr>
              <a:t>(</a:t>
            </a:r>
            <a:r>
              <a:rPr sz="1200" i="1" spc="30" dirty="0">
                <a:latin typeface="Arial"/>
                <a:cs typeface="Arial"/>
              </a:rPr>
              <a:t>k</a:t>
            </a:r>
            <a:r>
              <a:rPr sz="1200" spc="30" dirty="0"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  <a:p>
            <a:pPr marL="695325">
              <a:lnSpc>
                <a:spcPct val="100000"/>
              </a:lnSpc>
              <a:spcBef>
                <a:spcPts val="305"/>
              </a:spcBef>
            </a:pPr>
            <a:r>
              <a:rPr sz="1200" i="1" spc="-455" dirty="0">
                <a:latin typeface="Arial"/>
                <a:cs typeface="Arial"/>
              </a:rPr>
              <a:t>x</a:t>
            </a:r>
            <a:r>
              <a:rPr sz="1200" spc="245" dirty="0">
                <a:latin typeface="Arial"/>
                <a:cs typeface="Arial"/>
              </a:rPr>
              <a:t>ˆ</a:t>
            </a:r>
            <a:r>
              <a:rPr sz="1200" spc="65" dirty="0">
                <a:latin typeface="Arial"/>
                <a:cs typeface="Arial"/>
              </a:rPr>
              <a:t>(</a:t>
            </a:r>
            <a:r>
              <a:rPr sz="1200" i="1" spc="65" dirty="0">
                <a:latin typeface="Arial"/>
                <a:cs typeface="Arial"/>
              </a:rPr>
              <a:t>k</a:t>
            </a:r>
            <a:r>
              <a:rPr sz="1200" i="1" spc="20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7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1)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i="1" spc="30" dirty="0">
                <a:latin typeface="Arial"/>
                <a:cs typeface="Arial"/>
              </a:rPr>
              <a:t>A</a:t>
            </a:r>
            <a:r>
              <a:rPr sz="1200" i="1" spc="-490" dirty="0">
                <a:latin typeface="Arial"/>
                <a:cs typeface="Arial"/>
              </a:rPr>
              <a:t>x</a:t>
            </a:r>
            <a:r>
              <a:rPr sz="1200" spc="210" dirty="0">
                <a:latin typeface="Arial"/>
                <a:cs typeface="Arial"/>
              </a:rPr>
              <a:t>ˆ</a:t>
            </a:r>
            <a:r>
              <a:rPr sz="1200" spc="30" dirty="0">
                <a:latin typeface="Arial"/>
                <a:cs typeface="Arial"/>
              </a:rPr>
              <a:t>(</a:t>
            </a:r>
            <a:r>
              <a:rPr sz="1200" i="1" spc="130" dirty="0">
                <a:latin typeface="Arial"/>
                <a:cs typeface="Arial"/>
              </a:rPr>
              <a:t>k</a:t>
            </a:r>
            <a:r>
              <a:rPr sz="1200" spc="30" dirty="0">
                <a:latin typeface="Arial"/>
                <a:cs typeface="Arial"/>
              </a:rPr>
              <a:t>)</a:t>
            </a:r>
            <a:r>
              <a:rPr sz="1200" spc="-75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70" dirty="0">
                <a:latin typeface="Arial"/>
                <a:cs typeface="Arial"/>
              </a:rPr>
              <a:t> </a:t>
            </a:r>
            <a:r>
              <a:rPr sz="1200" i="1" spc="-50" dirty="0">
                <a:latin typeface="Arial"/>
                <a:cs typeface="Arial"/>
              </a:rPr>
              <a:t>Bu</a:t>
            </a:r>
            <a:r>
              <a:rPr sz="1200" i="1" spc="-80" dirty="0">
                <a:latin typeface="Arial"/>
                <a:cs typeface="Arial"/>
              </a:rPr>
              <a:t> </a:t>
            </a:r>
            <a:r>
              <a:rPr sz="1200" spc="55" dirty="0">
                <a:latin typeface="Arial"/>
                <a:cs typeface="Arial"/>
              </a:rPr>
              <a:t>(</a:t>
            </a:r>
            <a:r>
              <a:rPr sz="1200" i="1" spc="55" dirty="0">
                <a:latin typeface="Arial"/>
                <a:cs typeface="Arial"/>
              </a:rPr>
              <a:t>k</a:t>
            </a:r>
            <a:r>
              <a:rPr sz="1200" spc="55" dirty="0">
                <a:latin typeface="Arial"/>
                <a:cs typeface="Arial"/>
              </a:rPr>
              <a:t>)</a:t>
            </a:r>
            <a:r>
              <a:rPr sz="1200" spc="-70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75" dirty="0">
                <a:latin typeface="Arial"/>
                <a:cs typeface="Arial"/>
              </a:rPr>
              <a:t> </a:t>
            </a:r>
            <a:r>
              <a:rPr sz="1200" i="1" spc="-40" dirty="0">
                <a:latin typeface="Arial"/>
                <a:cs typeface="Arial"/>
              </a:rPr>
              <a:t>L</a:t>
            </a:r>
            <a:r>
              <a:rPr sz="1200" i="1" spc="-13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(</a:t>
            </a:r>
            <a:r>
              <a:rPr sz="1200" i="1" dirty="0">
                <a:latin typeface="Arial"/>
                <a:cs typeface="Arial"/>
              </a:rPr>
              <a:t>y</a:t>
            </a:r>
            <a:r>
              <a:rPr sz="1200" i="1" spc="-5" dirty="0">
                <a:latin typeface="Arial"/>
                <a:cs typeface="Arial"/>
              </a:rPr>
              <a:t> </a:t>
            </a:r>
            <a:r>
              <a:rPr sz="1200" spc="55" dirty="0">
                <a:latin typeface="Arial"/>
                <a:cs typeface="Arial"/>
              </a:rPr>
              <a:t>(</a:t>
            </a:r>
            <a:r>
              <a:rPr sz="1200" i="1" spc="55" dirty="0">
                <a:latin typeface="Arial"/>
                <a:cs typeface="Arial"/>
              </a:rPr>
              <a:t>k</a:t>
            </a:r>
            <a:r>
              <a:rPr sz="1200" spc="55" dirty="0">
                <a:latin typeface="Arial"/>
                <a:cs typeface="Arial"/>
              </a:rPr>
              <a:t>)</a:t>
            </a:r>
            <a:r>
              <a:rPr sz="1200" spc="-70" dirty="0">
                <a:latin typeface="Arial"/>
                <a:cs typeface="Arial"/>
              </a:rPr>
              <a:t> </a:t>
            </a:r>
            <a:r>
              <a:rPr sz="1200" i="1" spc="200" dirty="0">
                <a:latin typeface="Menlo"/>
                <a:cs typeface="Menlo"/>
              </a:rPr>
              <a:t>−</a:t>
            </a:r>
            <a:r>
              <a:rPr sz="1200" i="1" spc="-459" dirty="0">
                <a:latin typeface="Menlo"/>
                <a:cs typeface="Menlo"/>
              </a:rPr>
              <a:t> </a:t>
            </a:r>
            <a:r>
              <a:rPr sz="1200" i="1" spc="-130" dirty="0">
                <a:latin typeface="Arial"/>
                <a:cs typeface="Arial"/>
              </a:rPr>
              <a:t>C</a:t>
            </a:r>
            <a:r>
              <a:rPr sz="1200" i="1" spc="-190" dirty="0">
                <a:latin typeface="Arial"/>
                <a:cs typeface="Arial"/>
              </a:rPr>
              <a:t> </a:t>
            </a:r>
            <a:r>
              <a:rPr sz="1200" i="1" spc="-490" dirty="0">
                <a:latin typeface="Arial"/>
                <a:cs typeface="Arial"/>
              </a:rPr>
              <a:t>x</a:t>
            </a:r>
            <a:r>
              <a:rPr sz="1200" spc="210" dirty="0">
                <a:latin typeface="Arial"/>
                <a:cs typeface="Arial"/>
              </a:rPr>
              <a:t>ˆ</a:t>
            </a:r>
            <a:r>
              <a:rPr sz="1200" spc="30" dirty="0">
                <a:latin typeface="Arial"/>
                <a:cs typeface="Arial"/>
              </a:rPr>
              <a:t>(</a:t>
            </a:r>
            <a:r>
              <a:rPr sz="1200" i="1" spc="130" dirty="0">
                <a:latin typeface="Arial"/>
                <a:cs typeface="Arial"/>
              </a:rPr>
              <a:t>k</a:t>
            </a:r>
            <a:r>
              <a:rPr sz="1200" spc="30" dirty="0">
                <a:latin typeface="Arial"/>
                <a:cs typeface="Arial"/>
              </a:rPr>
              <a:t>))</a:t>
            </a:r>
            <a:endParaRPr sz="1200">
              <a:latin typeface="Arial"/>
              <a:cs typeface="Arial"/>
            </a:endParaRPr>
          </a:p>
          <a:p>
            <a:pPr marL="950594">
              <a:lnSpc>
                <a:spcPct val="100000"/>
              </a:lnSpc>
              <a:spcBef>
                <a:spcPts val="300"/>
              </a:spcBef>
            </a:pPr>
            <a:r>
              <a:rPr sz="1200" i="1" dirty="0">
                <a:latin typeface="Arial"/>
                <a:cs typeface="Arial"/>
              </a:rPr>
              <a:t>y</a:t>
            </a:r>
            <a:r>
              <a:rPr sz="1200" i="1" spc="-25" dirty="0">
                <a:latin typeface="Arial"/>
                <a:cs typeface="Arial"/>
              </a:rPr>
              <a:t> </a:t>
            </a:r>
            <a:r>
              <a:rPr sz="1200" spc="55" dirty="0">
                <a:latin typeface="Arial"/>
                <a:cs typeface="Arial"/>
              </a:rPr>
              <a:t>(</a:t>
            </a:r>
            <a:r>
              <a:rPr sz="1200" i="1" spc="55" dirty="0">
                <a:latin typeface="Arial"/>
                <a:cs typeface="Arial"/>
              </a:rPr>
              <a:t>k</a:t>
            </a:r>
            <a:r>
              <a:rPr sz="1200" spc="55" dirty="0">
                <a:latin typeface="Arial"/>
                <a:cs typeface="Arial"/>
              </a:rPr>
              <a:t>)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-20" dirty="0">
                <a:latin typeface="Arial"/>
                <a:cs typeface="Arial"/>
              </a:rPr>
              <a:t> </a:t>
            </a:r>
            <a:r>
              <a:rPr sz="1200" i="1" spc="-105" dirty="0">
                <a:latin typeface="Arial"/>
                <a:cs typeface="Arial"/>
              </a:rPr>
              <a:t>Cx</a:t>
            </a:r>
            <a:r>
              <a:rPr sz="1200" i="1" spc="-25" dirty="0">
                <a:latin typeface="Arial"/>
                <a:cs typeface="Arial"/>
              </a:rPr>
              <a:t> </a:t>
            </a:r>
            <a:r>
              <a:rPr sz="1200" spc="30" dirty="0">
                <a:latin typeface="Arial"/>
                <a:cs typeface="Arial"/>
              </a:rPr>
              <a:t>(</a:t>
            </a:r>
            <a:r>
              <a:rPr sz="1200" i="1" spc="30" dirty="0">
                <a:latin typeface="Arial"/>
                <a:cs typeface="Arial"/>
              </a:rPr>
              <a:t>k</a:t>
            </a:r>
            <a:r>
              <a:rPr sz="1200" spc="30" dirty="0"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65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59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35" dirty="0">
                <a:latin typeface="Arial"/>
                <a:cs typeface="Arial"/>
              </a:rPr>
              <a:t>error</a:t>
            </a:r>
            <a:r>
              <a:rPr sz="1200" spc="50" dirty="0">
                <a:latin typeface="Arial"/>
                <a:cs typeface="Arial"/>
              </a:rPr>
              <a:t> </a:t>
            </a:r>
            <a:r>
              <a:rPr sz="1200" spc="-90" dirty="0">
                <a:latin typeface="Arial"/>
                <a:cs typeface="Arial"/>
              </a:rPr>
              <a:t>dynamics:</a:t>
            </a:r>
            <a:r>
              <a:rPr sz="1200" i="1" spc="-90" dirty="0">
                <a:latin typeface="Arial"/>
                <a:cs typeface="Arial"/>
              </a:rPr>
              <a:t>e</a:t>
            </a:r>
            <a:r>
              <a:rPr sz="1200" i="1" spc="-55" dirty="0">
                <a:latin typeface="Arial"/>
                <a:cs typeface="Arial"/>
              </a:rPr>
              <a:t> </a:t>
            </a:r>
            <a:r>
              <a:rPr sz="1200" spc="55" dirty="0">
                <a:latin typeface="Arial"/>
                <a:cs typeface="Arial"/>
              </a:rPr>
              <a:t>(</a:t>
            </a:r>
            <a:r>
              <a:rPr sz="1200" i="1" spc="55" dirty="0">
                <a:latin typeface="Arial"/>
                <a:cs typeface="Arial"/>
              </a:rPr>
              <a:t>k</a:t>
            </a:r>
            <a:r>
              <a:rPr sz="1200" spc="55" dirty="0">
                <a:latin typeface="Arial"/>
                <a:cs typeface="Arial"/>
              </a:rPr>
              <a:t>)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i="1" spc="-70" dirty="0">
                <a:latin typeface="Arial"/>
                <a:cs typeface="Arial"/>
              </a:rPr>
              <a:t>x</a:t>
            </a:r>
            <a:r>
              <a:rPr sz="1200" i="1" spc="-25" dirty="0">
                <a:latin typeface="Arial"/>
                <a:cs typeface="Arial"/>
              </a:rPr>
              <a:t> </a:t>
            </a:r>
            <a:r>
              <a:rPr sz="1200" spc="55" dirty="0">
                <a:latin typeface="Arial"/>
                <a:cs typeface="Arial"/>
              </a:rPr>
              <a:t>(</a:t>
            </a:r>
            <a:r>
              <a:rPr sz="1200" i="1" spc="55" dirty="0">
                <a:latin typeface="Arial"/>
                <a:cs typeface="Arial"/>
              </a:rPr>
              <a:t>k</a:t>
            </a:r>
            <a:r>
              <a:rPr sz="1200" spc="55" dirty="0">
                <a:latin typeface="Arial"/>
                <a:cs typeface="Arial"/>
              </a:rPr>
              <a:t>)</a:t>
            </a:r>
            <a:r>
              <a:rPr sz="1200" spc="-75" dirty="0">
                <a:latin typeface="Arial"/>
                <a:cs typeface="Arial"/>
              </a:rPr>
              <a:t> </a:t>
            </a:r>
            <a:r>
              <a:rPr sz="1200" i="1" spc="200" dirty="0">
                <a:latin typeface="Menlo"/>
                <a:cs typeface="Menlo"/>
              </a:rPr>
              <a:t>−</a:t>
            </a:r>
            <a:r>
              <a:rPr sz="1200" i="1" spc="-459" dirty="0">
                <a:latin typeface="Menlo"/>
                <a:cs typeface="Menlo"/>
              </a:rPr>
              <a:t> </a:t>
            </a:r>
            <a:r>
              <a:rPr sz="1200" i="1" spc="-490" dirty="0">
                <a:latin typeface="Arial"/>
                <a:cs typeface="Arial"/>
              </a:rPr>
              <a:t>x</a:t>
            </a:r>
            <a:r>
              <a:rPr sz="1200" spc="210" dirty="0">
                <a:latin typeface="Arial"/>
                <a:cs typeface="Arial"/>
              </a:rPr>
              <a:t>ˆ</a:t>
            </a:r>
            <a:r>
              <a:rPr sz="1200" spc="30" dirty="0">
                <a:latin typeface="Arial"/>
                <a:cs typeface="Arial"/>
              </a:rPr>
              <a:t>(</a:t>
            </a:r>
            <a:r>
              <a:rPr sz="1200" i="1" spc="130" dirty="0">
                <a:latin typeface="Arial"/>
                <a:cs typeface="Arial"/>
              </a:rPr>
              <a:t>k</a:t>
            </a:r>
            <a:r>
              <a:rPr sz="1200" spc="30" dirty="0">
                <a:latin typeface="Arial"/>
                <a:cs typeface="Arial"/>
              </a:rPr>
              <a:t>),</a:t>
            </a:r>
            <a:endParaRPr sz="1200">
              <a:latin typeface="Arial"/>
              <a:cs typeface="Arial"/>
            </a:endParaRPr>
          </a:p>
          <a:p>
            <a:pPr marL="230504">
              <a:lnSpc>
                <a:spcPct val="100000"/>
              </a:lnSpc>
              <a:spcBef>
                <a:spcPts val="5"/>
              </a:spcBef>
            </a:pPr>
            <a:r>
              <a:rPr sz="1200" i="1" spc="-155" dirty="0">
                <a:latin typeface="Arial"/>
                <a:cs typeface="Arial"/>
              </a:rPr>
              <a:t>e</a:t>
            </a:r>
            <a:r>
              <a:rPr sz="1200" i="1" spc="-5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(</a:t>
            </a:r>
            <a:r>
              <a:rPr sz="1200" i="1" dirty="0">
                <a:latin typeface="Arial"/>
                <a:cs typeface="Arial"/>
              </a:rPr>
              <a:t>k</a:t>
            </a:r>
            <a:r>
              <a:rPr sz="1200" i="1" spc="35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6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1)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i="1" spc="-95" dirty="0">
                <a:latin typeface="Arial"/>
                <a:cs typeface="Arial"/>
              </a:rPr>
              <a:t>Ae</a:t>
            </a:r>
            <a:r>
              <a:rPr sz="1200" i="1" spc="-50" dirty="0">
                <a:latin typeface="Arial"/>
                <a:cs typeface="Arial"/>
              </a:rPr>
              <a:t> </a:t>
            </a:r>
            <a:r>
              <a:rPr sz="1200" spc="55" dirty="0">
                <a:latin typeface="Arial"/>
                <a:cs typeface="Arial"/>
              </a:rPr>
              <a:t>(</a:t>
            </a:r>
            <a:r>
              <a:rPr sz="1200" i="1" spc="55" dirty="0">
                <a:latin typeface="Arial"/>
                <a:cs typeface="Arial"/>
              </a:rPr>
              <a:t>k</a:t>
            </a:r>
            <a:r>
              <a:rPr sz="1200" spc="55" dirty="0">
                <a:latin typeface="Arial"/>
                <a:cs typeface="Arial"/>
              </a:rPr>
              <a:t>)</a:t>
            </a:r>
            <a:r>
              <a:rPr sz="1200" spc="-65" dirty="0">
                <a:latin typeface="Arial"/>
                <a:cs typeface="Arial"/>
              </a:rPr>
              <a:t> </a:t>
            </a:r>
            <a:r>
              <a:rPr sz="1200" i="1" spc="200" dirty="0">
                <a:latin typeface="Menlo"/>
                <a:cs typeface="Menlo"/>
              </a:rPr>
              <a:t>−</a:t>
            </a:r>
            <a:r>
              <a:rPr sz="1200" i="1" spc="-455" dirty="0">
                <a:latin typeface="Menlo"/>
                <a:cs typeface="Menlo"/>
              </a:rPr>
              <a:t> </a:t>
            </a:r>
            <a:r>
              <a:rPr sz="1200" i="1" spc="-110" dirty="0">
                <a:latin typeface="Arial"/>
                <a:cs typeface="Arial"/>
              </a:rPr>
              <a:t>LCe</a:t>
            </a:r>
            <a:r>
              <a:rPr sz="1200" i="1" spc="-50" dirty="0">
                <a:latin typeface="Arial"/>
                <a:cs typeface="Arial"/>
              </a:rPr>
              <a:t> </a:t>
            </a:r>
            <a:r>
              <a:rPr sz="1200" spc="30" dirty="0">
                <a:latin typeface="Arial"/>
                <a:cs typeface="Arial"/>
              </a:rPr>
              <a:t>(</a:t>
            </a:r>
            <a:r>
              <a:rPr sz="1200" i="1" spc="30" dirty="0">
                <a:latin typeface="Arial"/>
                <a:cs typeface="Arial"/>
              </a:rPr>
              <a:t>k</a:t>
            </a:r>
            <a:r>
              <a:rPr sz="1200" spc="30" dirty="0"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15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0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45" dirty="0">
                <a:latin typeface="Arial"/>
                <a:cs typeface="Arial"/>
              </a:rPr>
              <a:t>overall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dynamics</a:t>
            </a:r>
            <a:endParaRPr sz="1200">
              <a:latin typeface="Arial"/>
              <a:cs typeface="Arial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795375" y="2047593"/>
            <a:ext cx="590550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70" dirty="0">
                <a:latin typeface="Arial"/>
                <a:cs typeface="Arial"/>
              </a:rPr>
              <a:t>x</a:t>
            </a:r>
            <a:r>
              <a:rPr sz="1200" i="1" spc="-2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(</a:t>
            </a:r>
            <a:r>
              <a:rPr sz="1200" i="1" dirty="0">
                <a:latin typeface="Arial"/>
                <a:cs typeface="Arial"/>
              </a:rPr>
              <a:t>k</a:t>
            </a:r>
            <a:r>
              <a:rPr sz="1200" i="1" spc="40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65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1)</a:t>
            </a:r>
            <a:endParaRPr sz="1200">
              <a:latin typeface="Arial"/>
              <a:cs typeface="Arial"/>
            </a:endParaRPr>
          </a:p>
          <a:p>
            <a:pPr marL="15240">
              <a:lnSpc>
                <a:spcPct val="100000"/>
              </a:lnSpc>
              <a:spcBef>
                <a:spcPts val="5"/>
              </a:spcBef>
            </a:pPr>
            <a:r>
              <a:rPr sz="1200" i="1" spc="-155" dirty="0">
                <a:latin typeface="Arial"/>
                <a:cs typeface="Arial"/>
              </a:rPr>
              <a:t>e</a:t>
            </a:r>
            <a:r>
              <a:rPr sz="1200" i="1" spc="-5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(</a:t>
            </a:r>
            <a:r>
              <a:rPr sz="1200" i="1" dirty="0">
                <a:latin typeface="Arial"/>
                <a:cs typeface="Arial"/>
              </a:rPr>
              <a:t>k</a:t>
            </a:r>
            <a:r>
              <a:rPr sz="1200" i="1" spc="45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65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1)</a:t>
            </a:r>
            <a:endParaRPr sz="1200">
              <a:latin typeface="Arial"/>
              <a:cs typeface="Arial"/>
            </a:endParaRPr>
          </a:p>
        </p:txBody>
      </p:sp>
      <p:sp>
        <p:nvSpPr>
          <p:cNvPr id="5" name="object 5"/>
          <p:cNvSpPr txBox="1"/>
          <p:nvPr/>
        </p:nvSpPr>
        <p:spPr>
          <a:xfrm>
            <a:off x="1502321" y="2140595"/>
            <a:ext cx="1409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latin typeface="Arial"/>
                <a:cs typeface="Arial"/>
              </a:rPr>
              <a:t>=</a:t>
            </a:r>
            <a:endParaRPr sz="1200">
              <a:latin typeface="Arial"/>
              <a:cs typeface="Arial"/>
            </a:endParaRPr>
          </a:p>
        </p:txBody>
      </p:sp>
      <p:sp>
        <p:nvSpPr>
          <p:cNvPr id="6" name="object 6"/>
          <p:cNvSpPr txBox="1"/>
          <p:nvPr/>
        </p:nvSpPr>
        <p:spPr>
          <a:xfrm>
            <a:off x="1727327" y="2047593"/>
            <a:ext cx="709295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  <a:tabLst>
                <a:tab pos="438784" algn="l"/>
              </a:tabLst>
            </a:pPr>
            <a:r>
              <a:rPr sz="1200" i="1" spc="-50" dirty="0">
                <a:latin typeface="Arial"/>
                <a:cs typeface="Arial"/>
              </a:rPr>
              <a:t>A</a:t>
            </a:r>
            <a:r>
              <a:rPr sz="1200" i="1" dirty="0">
                <a:latin typeface="Arial"/>
                <a:cs typeface="Arial"/>
              </a:rPr>
              <a:t>	</a:t>
            </a:r>
            <a:r>
              <a:rPr sz="1200" spc="-50" dirty="0">
                <a:latin typeface="Arial"/>
                <a:cs typeface="Arial"/>
              </a:rPr>
              <a:t>0</a:t>
            </a:r>
            <a:endParaRPr sz="1200">
              <a:latin typeface="Arial"/>
              <a:cs typeface="Arial"/>
            </a:endParaRPr>
          </a:p>
          <a:p>
            <a:pPr marL="24130">
              <a:lnSpc>
                <a:spcPct val="100000"/>
              </a:lnSpc>
              <a:spcBef>
                <a:spcPts val="5"/>
              </a:spcBef>
              <a:tabLst>
                <a:tab pos="236854" algn="l"/>
              </a:tabLst>
            </a:pPr>
            <a:r>
              <a:rPr sz="1200" spc="-50" dirty="0">
                <a:latin typeface="Arial"/>
                <a:cs typeface="Arial"/>
              </a:rPr>
              <a:t>0</a:t>
            </a:r>
            <a:r>
              <a:rPr sz="1200" dirty="0">
                <a:latin typeface="Arial"/>
                <a:cs typeface="Arial"/>
              </a:rPr>
              <a:t>	</a:t>
            </a:r>
            <a:r>
              <a:rPr sz="1200" i="1" spc="-40" dirty="0">
                <a:latin typeface="Arial"/>
                <a:cs typeface="Arial"/>
              </a:rPr>
              <a:t>A</a:t>
            </a:r>
            <a:r>
              <a:rPr sz="1200" i="1" spc="-65" dirty="0">
                <a:latin typeface="Arial"/>
                <a:cs typeface="Arial"/>
              </a:rPr>
              <a:t> </a:t>
            </a:r>
            <a:r>
              <a:rPr sz="1200" i="1" spc="200" dirty="0">
                <a:latin typeface="Menlo"/>
                <a:cs typeface="Menlo"/>
              </a:rPr>
              <a:t>−</a:t>
            </a:r>
            <a:r>
              <a:rPr sz="1200" i="1" spc="-455" dirty="0">
                <a:latin typeface="Menlo"/>
                <a:cs typeface="Menlo"/>
              </a:rPr>
              <a:t> </a:t>
            </a:r>
            <a:r>
              <a:rPr sz="1200" i="1" spc="-50" dirty="0">
                <a:latin typeface="Arial"/>
                <a:cs typeface="Arial"/>
              </a:rPr>
              <a:t>LC</a:t>
            </a:r>
            <a:endParaRPr sz="12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2990850" y="2157387"/>
            <a:ext cx="14097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latin typeface="Arial"/>
                <a:cs typeface="Arial"/>
              </a:rPr>
              <a:t>+</a:t>
            </a:r>
            <a:endParaRPr sz="1200">
              <a:latin typeface="Arial"/>
              <a:cs typeface="Arial"/>
            </a:endParaRPr>
          </a:p>
        </p:txBody>
      </p:sp>
      <p:sp>
        <p:nvSpPr>
          <p:cNvPr id="8" name="object 8"/>
          <p:cNvSpPr txBox="1"/>
          <p:nvPr/>
        </p:nvSpPr>
        <p:spPr>
          <a:xfrm>
            <a:off x="3200907" y="2064385"/>
            <a:ext cx="124460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50" dirty="0">
                <a:latin typeface="Arial"/>
                <a:cs typeface="Arial"/>
              </a:rPr>
              <a:t>B</a:t>
            </a:r>
            <a:endParaRPr sz="1200">
              <a:latin typeface="Arial"/>
              <a:cs typeface="Arial"/>
            </a:endParaRPr>
          </a:p>
          <a:p>
            <a:pPr marL="31115">
              <a:lnSpc>
                <a:spcPct val="100000"/>
              </a:lnSpc>
              <a:spcBef>
                <a:spcPts val="5"/>
              </a:spcBef>
            </a:pPr>
            <a:r>
              <a:rPr sz="1200" spc="-50" dirty="0">
                <a:latin typeface="Arial"/>
                <a:cs typeface="Arial"/>
              </a:rPr>
              <a:t>0</a:t>
            </a:r>
            <a:endParaRPr sz="120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3448050" y="2157387"/>
            <a:ext cx="33464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75" dirty="0">
                <a:latin typeface="Arial"/>
                <a:cs typeface="Arial"/>
              </a:rPr>
              <a:t>u</a:t>
            </a:r>
            <a:r>
              <a:rPr sz="1200" i="1" spc="-80" dirty="0">
                <a:latin typeface="Arial"/>
                <a:cs typeface="Arial"/>
              </a:rPr>
              <a:t> </a:t>
            </a:r>
            <a:r>
              <a:rPr sz="1200" spc="30" dirty="0">
                <a:latin typeface="Arial"/>
                <a:cs typeface="Arial"/>
              </a:rPr>
              <a:t>(</a:t>
            </a:r>
            <a:r>
              <a:rPr sz="1200" i="1" spc="30" dirty="0">
                <a:latin typeface="Arial"/>
                <a:cs typeface="Arial"/>
              </a:rPr>
              <a:t>k</a:t>
            </a:r>
            <a:r>
              <a:rPr sz="1200" spc="30" dirty="0"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936294" y="2585364"/>
            <a:ext cx="118300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dirty="0">
                <a:latin typeface="Arial"/>
                <a:cs typeface="Arial"/>
              </a:rPr>
              <a:t>y</a:t>
            </a:r>
            <a:r>
              <a:rPr sz="1200" i="1" spc="-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(</a:t>
            </a:r>
            <a:r>
              <a:rPr sz="1200" i="1" dirty="0">
                <a:latin typeface="Arial"/>
                <a:cs typeface="Arial"/>
              </a:rPr>
              <a:t>k</a:t>
            </a:r>
            <a:r>
              <a:rPr sz="1200" i="1" spc="25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7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1)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[</a:t>
            </a:r>
            <a:r>
              <a:rPr sz="1200" i="1" dirty="0">
                <a:latin typeface="Arial"/>
                <a:cs typeface="Arial"/>
              </a:rPr>
              <a:t>C</a:t>
            </a:r>
            <a:r>
              <a:rPr sz="1200" i="1" dirty="0">
                <a:latin typeface="Times New Roman"/>
                <a:cs typeface="Times New Roman"/>
              </a:rPr>
              <a:t>,</a:t>
            </a:r>
            <a:r>
              <a:rPr sz="1200" i="1" spc="285" dirty="0">
                <a:latin typeface="Times New Roman"/>
                <a:cs typeface="Times New Roman"/>
              </a:rPr>
              <a:t> </a:t>
            </a:r>
            <a:r>
              <a:rPr sz="1200" spc="-25" dirty="0">
                <a:latin typeface="Arial"/>
                <a:cs typeface="Arial"/>
              </a:rPr>
              <a:t>0]</a:t>
            </a:r>
            <a:endParaRPr sz="1200">
              <a:latin typeface="Arial"/>
              <a:cs typeface="Arial"/>
            </a:endParaRPr>
          </a:p>
        </p:txBody>
      </p:sp>
      <p:sp>
        <p:nvSpPr>
          <p:cNvPr id="13" name="object 13"/>
          <p:cNvSpPr txBox="1"/>
          <p:nvPr/>
        </p:nvSpPr>
        <p:spPr>
          <a:xfrm>
            <a:off x="2589149" y="2064385"/>
            <a:ext cx="333375" cy="50419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70" dirty="0">
                <a:latin typeface="Arial"/>
                <a:cs typeface="Arial"/>
              </a:rPr>
              <a:t>x</a:t>
            </a:r>
            <a:r>
              <a:rPr sz="1200" i="1" spc="-25" dirty="0">
                <a:latin typeface="Arial"/>
                <a:cs typeface="Arial"/>
              </a:rPr>
              <a:t> </a:t>
            </a:r>
            <a:r>
              <a:rPr sz="1200" spc="30" dirty="0">
                <a:latin typeface="Arial"/>
                <a:cs typeface="Arial"/>
              </a:rPr>
              <a:t>(</a:t>
            </a:r>
            <a:r>
              <a:rPr sz="1200" i="1" spc="30" dirty="0">
                <a:latin typeface="Arial"/>
                <a:cs typeface="Arial"/>
              </a:rPr>
              <a:t>k</a:t>
            </a:r>
            <a:r>
              <a:rPr sz="1200" spc="30" dirty="0">
                <a:latin typeface="Arial"/>
                <a:cs typeface="Arial"/>
              </a:rPr>
              <a:t>)</a:t>
            </a:r>
            <a:endParaRPr sz="1200" dirty="0">
              <a:latin typeface="Arial"/>
              <a:cs typeface="Arial"/>
            </a:endParaRPr>
          </a:p>
          <a:p>
            <a:pPr marL="15240">
              <a:lnSpc>
                <a:spcPts val="1165"/>
              </a:lnSpc>
              <a:spcBef>
                <a:spcPts val="5"/>
              </a:spcBef>
            </a:pPr>
            <a:r>
              <a:rPr sz="1200" i="1" spc="-155" dirty="0">
                <a:latin typeface="Arial"/>
                <a:cs typeface="Arial"/>
              </a:rPr>
              <a:t>e</a:t>
            </a:r>
            <a:r>
              <a:rPr sz="1200" i="1" spc="-50" dirty="0">
                <a:latin typeface="Arial"/>
                <a:cs typeface="Arial"/>
              </a:rPr>
              <a:t> </a:t>
            </a:r>
            <a:r>
              <a:rPr sz="1200" spc="30" dirty="0">
                <a:latin typeface="Arial"/>
                <a:cs typeface="Arial"/>
              </a:rPr>
              <a:t>(</a:t>
            </a:r>
            <a:r>
              <a:rPr sz="1200" i="1" spc="30" dirty="0">
                <a:latin typeface="Arial"/>
                <a:cs typeface="Arial"/>
              </a:rPr>
              <a:t>k</a:t>
            </a:r>
            <a:r>
              <a:rPr sz="1200" spc="30" dirty="0">
                <a:latin typeface="Arial"/>
                <a:cs typeface="Arial"/>
              </a:rPr>
              <a:t>)</a:t>
            </a:r>
            <a:endParaRPr sz="1200" dirty="0">
              <a:latin typeface="Arial"/>
              <a:cs typeface="Arial"/>
            </a:endParaRPr>
          </a:p>
          <a:p>
            <a:pPr marL="41275">
              <a:lnSpc>
                <a:spcPts val="1165"/>
              </a:lnSpc>
            </a:pPr>
            <a:r>
              <a:rPr sz="1200" dirty="0">
                <a:latin typeface="Arial"/>
                <a:cs typeface="Arial"/>
              </a:rPr>
              <a:t> </a:t>
            </a:r>
          </a:p>
        </p:txBody>
      </p:sp>
      <p:sp>
        <p:nvSpPr>
          <p:cNvPr id="14" name="object 14"/>
          <p:cNvSpPr txBox="1"/>
          <p:nvPr/>
        </p:nvSpPr>
        <p:spPr>
          <a:xfrm>
            <a:off x="2202181" y="2492375"/>
            <a:ext cx="590550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-70" dirty="0">
                <a:latin typeface="Arial"/>
                <a:cs typeface="Arial"/>
              </a:rPr>
              <a:t>x</a:t>
            </a:r>
            <a:r>
              <a:rPr sz="1200" i="1" spc="-2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(</a:t>
            </a:r>
            <a:r>
              <a:rPr sz="1200" i="1" dirty="0">
                <a:latin typeface="Arial"/>
                <a:cs typeface="Arial"/>
              </a:rPr>
              <a:t>k</a:t>
            </a:r>
            <a:r>
              <a:rPr sz="1200" i="1" spc="40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65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1)</a:t>
            </a:r>
            <a:endParaRPr sz="1200">
              <a:latin typeface="Arial"/>
              <a:cs typeface="Arial"/>
            </a:endParaRPr>
          </a:p>
          <a:p>
            <a:pPr marL="15240">
              <a:lnSpc>
                <a:spcPct val="100000"/>
              </a:lnSpc>
              <a:spcBef>
                <a:spcPts val="5"/>
              </a:spcBef>
            </a:pPr>
            <a:r>
              <a:rPr sz="1200" i="1" spc="-155" dirty="0">
                <a:latin typeface="Arial"/>
                <a:cs typeface="Arial"/>
              </a:rPr>
              <a:t>e</a:t>
            </a:r>
            <a:r>
              <a:rPr sz="1200" i="1" spc="-5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(</a:t>
            </a:r>
            <a:r>
              <a:rPr sz="1200" i="1" dirty="0">
                <a:latin typeface="Arial"/>
                <a:cs typeface="Arial"/>
              </a:rPr>
              <a:t>k</a:t>
            </a:r>
            <a:r>
              <a:rPr sz="1200" i="1" spc="45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65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1)</a:t>
            </a:r>
            <a:endParaRPr sz="1200">
              <a:latin typeface="Arial"/>
              <a:cs typeface="Arial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215442" y="2908653"/>
            <a:ext cx="4256405" cy="3911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230504" marR="30480" indent="-19304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4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b="1" spc="-25" dirty="0">
                <a:latin typeface="Arial"/>
                <a:cs typeface="Arial"/>
              </a:rPr>
              <a:t>Powerful</a:t>
            </a:r>
            <a:r>
              <a:rPr sz="1200" b="1" spc="55" dirty="0">
                <a:latin typeface="Arial"/>
                <a:cs typeface="Arial"/>
              </a:rPr>
              <a:t> </a:t>
            </a:r>
            <a:r>
              <a:rPr sz="1200" b="1" dirty="0">
                <a:latin typeface="Arial"/>
                <a:cs typeface="Arial"/>
              </a:rPr>
              <a:t>fact</a:t>
            </a:r>
            <a:r>
              <a:rPr sz="1200" dirty="0">
                <a:latin typeface="Arial"/>
                <a:cs typeface="Arial"/>
              </a:rPr>
              <a:t>:</a:t>
            </a:r>
            <a:r>
              <a:rPr sz="1200" spc="12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35" dirty="0">
                <a:latin typeface="Arial"/>
                <a:cs typeface="Arial"/>
              </a:rPr>
              <a:t>error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spc="-75" dirty="0">
                <a:latin typeface="Arial"/>
                <a:cs typeface="Arial"/>
              </a:rPr>
              <a:t>dynamics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65" dirty="0">
                <a:latin typeface="Arial"/>
                <a:cs typeface="Arial"/>
              </a:rPr>
              <a:t>can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be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arbitrarily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95" dirty="0">
                <a:latin typeface="Arial"/>
                <a:cs typeface="Arial"/>
              </a:rPr>
              <a:t>assigned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if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70" dirty="0">
                <a:latin typeface="Arial"/>
                <a:cs typeface="Arial"/>
              </a:rPr>
              <a:t> </a:t>
            </a:r>
            <a:r>
              <a:rPr sz="1200" spc="-85" dirty="0">
                <a:latin typeface="Arial"/>
                <a:cs typeface="Arial"/>
              </a:rPr>
              <a:t>system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is</a:t>
            </a:r>
            <a:r>
              <a:rPr sz="1200" spc="-3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observable.</a:t>
            </a:r>
            <a:endParaRPr sz="1200">
              <a:latin typeface="Arial"/>
              <a:cs typeface="Arial"/>
            </a:endParaRPr>
          </a:p>
        </p:txBody>
      </p:sp>
      <p:sp>
        <p:nvSpPr>
          <p:cNvPr id="16" name="object 16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object 17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18" name="object 18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Observers</a:t>
            </a:r>
            <a:r>
              <a:rPr sz="600" spc="135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and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Observer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State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19" name="object 19"/>
          <p:cNvSpPr txBox="1"/>
          <p:nvPr/>
        </p:nvSpPr>
        <p:spPr>
          <a:xfrm>
            <a:off x="4275163" y="3338410"/>
            <a:ext cx="27813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191919"/>
                </a:solidFill>
                <a:latin typeface="Arial"/>
                <a:cs typeface="Arial"/>
              </a:rPr>
              <a:t>19</a:t>
            </a:r>
            <a:r>
              <a:rPr sz="600" spc="-40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191919"/>
                </a:solidFill>
                <a:latin typeface="Arial"/>
                <a:cs typeface="Arial"/>
              </a:rPr>
              <a:t>/</a:t>
            </a:r>
            <a:r>
              <a:rPr sz="600" spc="-40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191919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  <p:sp>
        <p:nvSpPr>
          <p:cNvPr id="20" name="左中括号 19">
            <a:extLst>
              <a:ext uri="{FF2B5EF4-FFF2-40B4-BE49-F238E27FC236}">
                <a16:creationId xmlns:a16="http://schemas.microsoft.com/office/drawing/2014/main" id="{4692DDE1-D69B-A661-E643-DE284DF4210E}"/>
              </a:ext>
            </a:extLst>
          </p:cNvPr>
          <p:cNvSpPr/>
          <p:nvPr/>
        </p:nvSpPr>
        <p:spPr>
          <a:xfrm>
            <a:off x="749656" y="2066892"/>
            <a:ext cx="45719" cy="391160"/>
          </a:xfrm>
          <a:prstGeom prst="leftBracket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1" name="左中括号 20">
            <a:extLst>
              <a:ext uri="{FF2B5EF4-FFF2-40B4-BE49-F238E27FC236}">
                <a16:creationId xmlns:a16="http://schemas.microsoft.com/office/drawing/2014/main" id="{37CD8477-C1B3-665F-7BE6-393EBCCF8A13}"/>
              </a:ext>
            </a:extLst>
          </p:cNvPr>
          <p:cNvSpPr/>
          <p:nvPr/>
        </p:nvSpPr>
        <p:spPr>
          <a:xfrm rot="10800000">
            <a:off x="1387328" y="2066892"/>
            <a:ext cx="45719" cy="391160"/>
          </a:xfrm>
          <a:prstGeom prst="leftBracket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2" name="左中括号 21">
            <a:extLst>
              <a:ext uri="{FF2B5EF4-FFF2-40B4-BE49-F238E27FC236}">
                <a16:creationId xmlns:a16="http://schemas.microsoft.com/office/drawing/2014/main" id="{9CEAF8C6-2A80-E166-049A-6F2310A6B74D}"/>
              </a:ext>
            </a:extLst>
          </p:cNvPr>
          <p:cNvSpPr/>
          <p:nvPr/>
        </p:nvSpPr>
        <p:spPr>
          <a:xfrm>
            <a:off x="1686287" y="2066892"/>
            <a:ext cx="45719" cy="391160"/>
          </a:xfrm>
          <a:prstGeom prst="leftBracket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3" name="左中括号 22">
            <a:extLst>
              <a:ext uri="{FF2B5EF4-FFF2-40B4-BE49-F238E27FC236}">
                <a16:creationId xmlns:a16="http://schemas.microsoft.com/office/drawing/2014/main" id="{AF4A73EE-D454-07A2-9B90-391D6E6578DB}"/>
              </a:ext>
            </a:extLst>
          </p:cNvPr>
          <p:cNvSpPr/>
          <p:nvPr/>
        </p:nvSpPr>
        <p:spPr>
          <a:xfrm rot="10800000">
            <a:off x="2395259" y="2070101"/>
            <a:ext cx="45719" cy="391160"/>
          </a:xfrm>
          <a:prstGeom prst="leftBracket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4" name="左中括号 23">
            <a:extLst>
              <a:ext uri="{FF2B5EF4-FFF2-40B4-BE49-F238E27FC236}">
                <a16:creationId xmlns:a16="http://schemas.microsoft.com/office/drawing/2014/main" id="{E26A58D1-B861-126E-F013-8C79180E2A14}"/>
              </a:ext>
            </a:extLst>
          </p:cNvPr>
          <p:cNvSpPr/>
          <p:nvPr/>
        </p:nvSpPr>
        <p:spPr>
          <a:xfrm>
            <a:off x="2543919" y="2067895"/>
            <a:ext cx="45719" cy="391160"/>
          </a:xfrm>
          <a:prstGeom prst="leftBracket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5" name="左中括号 24">
            <a:extLst>
              <a:ext uri="{FF2B5EF4-FFF2-40B4-BE49-F238E27FC236}">
                <a16:creationId xmlns:a16="http://schemas.microsoft.com/office/drawing/2014/main" id="{EF98C4AB-6321-1D53-3B61-2C853DB7FB92}"/>
              </a:ext>
            </a:extLst>
          </p:cNvPr>
          <p:cNvSpPr/>
          <p:nvPr/>
        </p:nvSpPr>
        <p:spPr>
          <a:xfrm rot="10800000">
            <a:off x="2908376" y="2067895"/>
            <a:ext cx="45719" cy="391160"/>
          </a:xfrm>
          <a:prstGeom prst="leftBracket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6" name="左中括号 25">
            <a:extLst>
              <a:ext uri="{FF2B5EF4-FFF2-40B4-BE49-F238E27FC236}">
                <a16:creationId xmlns:a16="http://schemas.microsoft.com/office/drawing/2014/main" id="{775D2E33-47B0-B6CF-FC4E-3292C8DFFDD1}"/>
              </a:ext>
            </a:extLst>
          </p:cNvPr>
          <p:cNvSpPr/>
          <p:nvPr/>
        </p:nvSpPr>
        <p:spPr>
          <a:xfrm>
            <a:off x="3143250" y="2067895"/>
            <a:ext cx="45719" cy="391160"/>
          </a:xfrm>
          <a:prstGeom prst="leftBracket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7" name="左中括号 26">
            <a:extLst>
              <a:ext uri="{FF2B5EF4-FFF2-40B4-BE49-F238E27FC236}">
                <a16:creationId xmlns:a16="http://schemas.microsoft.com/office/drawing/2014/main" id="{C023618F-56FC-D858-D5CC-26E460B403AB}"/>
              </a:ext>
            </a:extLst>
          </p:cNvPr>
          <p:cNvSpPr/>
          <p:nvPr/>
        </p:nvSpPr>
        <p:spPr>
          <a:xfrm rot="10800000">
            <a:off x="3353689" y="2070462"/>
            <a:ext cx="45719" cy="391160"/>
          </a:xfrm>
          <a:prstGeom prst="leftBracket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8" name="左中括号 27">
            <a:extLst>
              <a:ext uri="{FF2B5EF4-FFF2-40B4-BE49-F238E27FC236}">
                <a16:creationId xmlns:a16="http://schemas.microsoft.com/office/drawing/2014/main" id="{4A8F7387-AA68-587C-E430-501645BAEE29}"/>
              </a:ext>
            </a:extLst>
          </p:cNvPr>
          <p:cNvSpPr/>
          <p:nvPr/>
        </p:nvSpPr>
        <p:spPr>
          <a:xfrm>
            <a:off x="2155059" y="2508104"/>
            <a:ext cx="45719" cy="391160"/>
          </a:xfrm>
          <a:prstGeom prst="leftBracket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  <p:sp>
        <p:nvSpPr>
          <p:cNvPr id="29" name="左中括号 28">
            <a:extLst>
              <a:ext uri="{FF2B5EF4-FFF2-40B4-BE49-F238E27FC236}">
                <a16:creationId xmlns:a16="http://schemas.microsoft.com/office/drawing/2014/main" id="{72717680-A36F-CBF7-62EA-48B3C36E93C7}"/>
              </a:ext>
            </a:extLst>
          </p:cNvPr>
          <p:cNvSpPr/>
          <p:nvPr/>
        </p:nvSpPr>
        <p:spPr>
          <a:xfrm rot="10800000">
            <a:off x="2792731" y="2508104"/>
            <a:ext cx="45719" cy="391160"/>
          </a:xfrm>
          <a:prstGeom prst="leftBracket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  <p:txBody>
          <a:bodyPr rtlCol="0" anchor="ctr"/>
          <a:lstStyle/>
          <a:p>
            <a:pPr algn="ctr"/>
            <a:endParaRPr lang="zh-CN" altLang="en-US"/>
          </a:p>
        </p:txBody>
      </p:sp>
    </p:spTree>
  </p:cSld>
  <p:clrMapOvr>
    <a:masterClrMapping/>
  </p:clrMapOvr>
  <p:transition>
    <p:cut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00" y="60916"/>
            <a:ext cx="3161665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DT</a:t>
            </a:r>
            <a:r>
              <a:rPr spc="-25" dirty="0"/>
              <a:t> </a:t>
            </a:r>
            <a:r>
              <a:rPr dirty="0"/>
              <a:t>full</a:t>
            </a:r>
            <a:r>
              <a:rPr spc="-5" dirty="0"/>
              <a:t> </a:t>
            </a:r>
            <a:r>
              <a:rPr spc="-75" dirty="0"/>
              <a:t>state</a:t>
            </a:r>
            <a:r>
              <a:rPr dirty="0"/>
              <a:t> </a:t>
            </a:r>
            <a:r>
              <a:rPr spc="-140" dirty="0"/>
              <a:t>observer</a:t>
            </a:r>
            <a:r>
              <a:rPr spc="20" dirty="0"/>
              <a:t> </a:t>
            </a:r>
            <a:r>
              <a:rPr dirty="0"/>
              <a:t>with </a:t>
            </a:r>
            <a:r>
              <a:rPr spc="-65" dirty="0"/>
              <a:t>predictor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63550" y="461972"/>
            <a:ext cx="4566920" cy="273558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R="327025" algn="r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0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20" dirty="0">
                <a:latin typeface="Arial"/>
                <a:cs typeface="Arial"/>
              </a:rPr>
              <a:t>motivation:</a:t>
            </a:r>
            <a:r>
              <a:rPr sz="1200" spc="170" dirty="0">
                <a:latin typeface="Arial"/>
                <a:cs typeface="Arial"/>
              </a:rPr>
              <a:t> </a:t>
            </a:r>
            <a:r>
              <a:rPr sz="1200" i="1" spc="-455" dirty="0">
                <a:latin typeface="Arial"/>
                <a:cs typeface="Arial"/>
              </a:rPr>
              <a:t>x</a:t>
            </a:r>
            <a:r>
              <a:rPr sz="1200" spc="245" dirty="0">
                <a:latin typeface="Arial"/>
                <a:cs typeface="Arial"/>
              </a:rPr>
              <a:t>ˆ</a:t>
            </a:r>
            <a:r>
              <a:rPr sz="1200" spc="65" dirty="0">
                <a:latin typeface="Arial"/>
                <a:cs typeface="Arial"/>
              </a:rPr>
              <a:t>(</a:t>
            </a:r>
            <a:r>
              <a:rPr sz="1200" i="1" spc="65" dirty="0">
                <a:latin typeface="Arial"/>
                <a:cs typeface="Arial"/>
              </a:rPr>
              <a:t>k</a:t>
            </a:r>
            <a:r>
              <a:rPr sz="1200" i="1" spc="20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8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1)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i="1" spc="20" dirty="0">
                <a:latin typeface="Arial"/>
                <a:cs typeface="Arial"/>
              </a:rPr>
              <a:t>A</a:t>
            </a:r>
            <a:r>
              <a:rPr sz="1200" i="1" spc="-490" dirty="0">
                <a:latin typeface="Arial"/>
                <a:cs typeface="Arial"/>
              </a:rPr>
              <a:t>x</a:t>
            </a:r>
            <a:r>
              <a:rPr sz="1200" spc="210" dirty="0">
                <a:latin typeface="Arial"/>
                <a:cs typeface="Arial"/>
              </a:rPr>
              <a:t>ˆ</a:t>
            </a:r>
            <a:r>
              <a:rPr sz="1200" spc="30" dirty="0">
                <a:latin typeface="Arial"/>
                <a:cs typeface="Arial"/>
              </a:rPr>
              <a:t>(</a:t>
            </a:r>
            <a:r>
              <a:rPr sz="1200" i="1" spc="130" dirty="0">
                <a:latin typeface="Arial"/>
                <a:cs typeface="Arial"/>
              </a:rPr>
              <a:t>k</a:t>
            </a:r>
            <a:r>
              <a:rPr sz="1200" spc="30" dirty="0">
                <a:latin typeface="Arial"/>
                <a:cs typeface="Arial"/>
              </a:rPr>
              <a:t>)</a:t>
            </a:r>
            <a:r>
              <a:rPr sz="1200" spc="-70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80" dirty="0">
                <a:latin typeface="Arial"/>
                <a:cs typeface="Arial"/>
              </a:rPr>
              <a:t> </a:t>
            </a:r>
            <a:r>
              <a:rPr sz="1200" i="1" spc="-50" dirty="0">
                <a:latin typeface="Arial"/>
                <a:cs typeface="Arial"/>
              </a:rPr>
              <a:t>Bu</a:t>
            </a:r>
            <a:r>
              <a:rPr sz="1200" i="1" spc="-80" dirty="0">
                <a:latin typeface="Arial"/>
                <a:cs typeface="Arial"/>
              </a:rPr>
              <a:t> </a:t>
            </a:r>
            <a:r>
              <a:rPr sz="1200" spc="55" dirty="0">
                <a:latin typeface="Arial"/>
                <a:cs typeface="Arial"/>
              </a:rPr>
              <a:t>(</a:t>
            </a:r>
            <a:r>
              <a:rPr sz="1200" i="1" spc="55" dirty="0">
                <a:latin typeface="Arial"/>
                <a:cs typeface="Arial"/>
              </a:rPr>
              <a:t>k</a:t>
            </a:r>
            <a:r>
              <a:rPr sz="1200" spc="55" dirty="0">
                <a:latin typeface="Arial"/>
                <a:cs typeface="Arial"/>
              </a:rPr>
              <a:t>)</a:t>
            </a:r>
            <a:r>
              <a:rPr sz="1200" spc="-80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75" dirty="0">
                <a:latin typeface="Arial"/>
                <a:cs typeface="Arial"/>
              </a:rPr>
              <a:t> </a:t>
            </a:r>
            <a:r>
              <a:rPr sz="1200" i="1" spc="-40" dirty="0">
                <a:latin typeface="Arial"/>
                <a:cs typeface="Arial"/>
              </a:rPr>
              <a:t>L</a:t>
            </a:r>
            <a:r>
              <a:rPr sz="1200" i="1" spc="-13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(</a:t>
            </a:r>
            <a:r>
              <a:rPr sz="1200" i="1" dirty="0">
                <a:latin typeface="Arial"/>
                <a:cs typeface="Arial"/>
              </a:rPr>
              <a:t>y</a:t>
            </a:r>
            <a:r>
              <a:rPr sz="1200" i="1" spc="-15" dirty="0">
                <a:latin typeface="Arial"/>
                <a:cs typeface="Arial"/>
              </a:rPr>
              <a:t> </a:t>
            </a:r>
            <a:r>
              <a:rPr sz="1200" spc="55" dirty="0">
                <a:latin typeface="Arial"/>
                <a:cs typeface="Arial"/>
              </a:rPr>
              <a:t>(</a:t>
            </a:r>
            <a:r>
              <a:rPr sz="1200" i="1" spc="55" dirty="0">
                <a:latin typeface="Arial"/>
                <a:cs typeface="Arial"/>
              </a:rPr>
              <a:t>k</a:t>
            </a:r>
            <a:r>
              <a:rPr sz="1200" spc="55" dirty="0">
                <a:latin typeface="Arial"/>
                <a:cs typeface="Arial"/>
              </a:rPr>
              <a:t>)</a:t>
            </a:r>
            <a:r>
              <a:rPr sz="1200" spc="-80" dirty="0">
                <a:latin typeface="Arial"/>
                <a:cs typeface="Arial"/>
              </a:rPr>
              <a:t> </a:t>
            </a:r>
            <a:r>
              <a:rPr sz="1200" i="1" spc="200" dirty="0">
                <a:latin typeface="Menlo"/>
                <a:cs typeface="Menlo"/>
              </a:rPr>
              <a:t>−</a:t>
            </a:r>
            <a:r>
              <a:rPr sz="1200" i="1" spc="-459" dirty="0">
                <a:latin typeface="Menlo"/>
                <a:cs typeface="Menlo"/>
              </a:rPr>
              <a:t> </a:t>
            </a:r>
            <a:r>
              <a:rPr sz="1200" i="1" spc="-130" dirty="0">
                <a:latin typeface="Arial"/>
                <a:cs typeface="Arial"/>
              </a:rPr>
              <a:t>C</a:t>
            </a:r>
            <a:r>
              <a:rPr sz="1200" i="1" spc="-190" dirty="0">
                <a:latin typeface="Arial"/>
                <a:cs typeface="Arial"/>
              </a:rPr>
              <a:t> </a:t>
            </a:r>
            <a:r>
              <a:rPr sz="1200" i="1" spc="-490" dirty="0">
                <a:latin typeface="Arial"/>
                <a:cs typeface="Arial"/>
              </a:rPr>
              <a:t>x</a:t>
            </a:r>
            <a:r>
              <a:rPr sz="1200" spc="210" dirty="0">
                <a:latin typeface="Arial"/>
                <a:cs typeface="Arial"/>
              </a:rPr>
              <a:t>ˆ</a:t>
            </a:r>
            <a:r>
              <a:rPr sz="1200" spc="30" dirty="0">
                <a:latin typeface="Arial"/>
                <a:cs typeface="Arial"/>
              </a:rPr>
              <a:t>(</a:t>
            </a:r>
            <a:r>
              <a:rPr sz="1200" i="1" spc="130" dirty="0">
                <a:latin typeface="Arial"/>
                <a:cs typeface="Arial"/>
              </a:rPr>
              <a:t>k</a:t>
            </a:r>
            <a:r>
              <a:rPr sz="1200" spc="30" dirty="0">
                <a:latin typeface="Arial"/>
                <a:cs typeface="Arial"/>
              </a:rPr>
              <a:t>))</a:t>
            </a:r>
            <a:endParaRPr sz="1200" dirty="0">
              <a:latin typeface="Arial"/>
              <a:cs typeface="Arial"/>
            </a:endParaRPr>
          </a:p>
          <a:p>
            <a:pPr marR="379095" algn="r">
              <a:lnSpc>
                <a:spcPct val="100000"/>
              </a:lnSpc>
              <a:spcBef>
                <a:spcPts val="5"/>
              </a:spcBef>
            </a:pPr>
            <a:r>
              <a:rPr sz="1200" spc="-40" dirty="0">
                <a:latin typeface="Arial"/>
                <a:cs typeface="Arial"/>
              </a:rPr>
              <a:t>doesn’t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spc="-120" dirty="0">
                <a:latin typeface="Arial"/>
                <a:cs typeface="Arial"/>
              </a:rPr>
              <a:t>use</a:t>
            </a:r>
            <a:r>
              <a:rPr sz="1200" spc="40" dirty="0">
                <a:latin typeface="Arial"/>
                <a:cs typeface="Arial"/>
              </a:rPr>
              <a:t> </a:t>
            </a:r>
            <a:r>
              <a:rPr sz="1200" spc="-45" dirty="0">
                <a:latin typeface="Arial"/>
                <a:cs typeface="Arial"/>
              </a:rPr>
              <a:t>most</a:t>
            </a:r>
            <a:r>
              <a:rPr sz="1200" spc="35" dirty="0">
                <a:latin typeface="Arial"/>
                <a:cs typeface="Arial"/>
              </a:rPr>
              <a:t> </a:t>
            </a:r>
            <a:r>
              <a:rPr sz="1200" spc="-60" dirty="0">
                <a:latin typeface="Arial"/>
                <a:cs typeface="Arial"/>
              </a:rPr>
              <a:t>recent</a:t>
            </a:r>
            <a:r>
              <a:rPr sz="1200" spc="40" dirty="0">
                <a:latin typeface="Arial"/>
                <a:cs typeface="Arial"/>
              </a:rPr>
              <a:t> </a:t>
            </a:r>
            <a:r>
              <a:rPr sz="1200" spc="-80" dirty="0">
                <a:latin typeface="Arial"/>
                <a:cs typeface="Arial"/>
              </a:rPr>
              <a:t>measurement</a:t>
            </a:r>
            <a:r>
              <a:rPr sz="1200" spc="50" dirty="0">
                <a:latin typeface="Arial"/>
                <a:cs typeface="Arial"/>
              </a:rPr>
              <a:t> </a:t>
            </a:r>
            <a:r>
              <a:rPr sz="1200" i="1" spc="-75" dirty="0">
                <a:latin typeface="Arial"/>
                <a:cs typeface="Arial"/>
              </a:rPr>
              <a:t>y</a:t>
            </a:r>
            <a:r>
              <a:rPr sz="1200" i="1" spc="-204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(</a:t>
            </a:r>
            <a:r>
              <a:rPr sz="1200" i="1" dirty="0">
                <a:latin typeface="Arial"/>
                <a:cs typeface="Arial"/>
              </a:rPr>
              <a:t>k</a:t>
            </a:r>
            <a:r>
              <a:rPr sz="1200" i="1" spc="15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8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1)</a:t>
            </a:r>
            <a:r>
              <a:rPr sz="1200" spc="-20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-20" dirty="0">
                <a:latin typeface="Arial"/>
                <a:cs typeface="Arial"/>
              </a:rPr>
              <a:t> </a:t>
            </a:r>
            <a:r>
              <a:rPr sz="1200" i="1" spc="-105" dirty="0">
                <a:latin typeface="Arial"/>
                <a:cs typeface="Arial"/>
              </a:rPr>
              <a:t>Cx</a:t>
            </a:r>
            <a:r>
              <a:rPr sz="1200" i="1" spc="-2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(</a:t>
            </a:r>
            <a:r>
              <a:rPr sz="1200" i="1" dirty="0">
                <a:latin typeface="Arial"/>
                <a:cs typeface="Arial"/>
              </a:rPr>
              <a:t>k</a:t>
            </a:r>
            <a:r>
              <a:rPr sz="1200" i="1" spc="15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80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1)</a:t>
            </a:r>
            <a:endParaRPr sz="1200" dirty="0">
              <a:latin typeface="Arial"/>
              <a:cs typeface="Arial"/>
            </a:endParaRPr>
          </a:p>
          <a:p>
            <a:pPr marR="1743710" algn="r">
              <a:lnSpc>
                <a:spcPct val="100000"/>
              </a:lnSpc>
              <a:spcBef>
                <a:spcPts val="17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3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55" dirty="0">
                <a:latin typeface="Arial"/>
                <a:cs typeface="Arial"/>
              </a:rPr>
              <a:t>discrete-</a:t>
            </a:r>
            <a:r>
              <a:rPr sz="1200" spc="-25" dirty="0">
                <a:latin typeface="Arial"/>
                <a:cs typeface="Arial"/>
              </a:rPr>
              <a:t>time</a:t>
            </a:r>
            <a:r>
              <a:rPr sz="1200" spc="45" dirty="0">
                <a:latin typeface="Arial"/>
                <a:cs typeface="Arial"/>
              </a:rPr>
              <a:t> </a:t>
            </a:r>
            <a:r>
              <a:rPr sz="1200" spc="-85" dirty="0">
                <a:latin typeface="Arial"/>
                <a:cs typeface="Arial"/>
              </a:rPr>
              <a:t>observer</a:t>
            </a:r>
            <a:r>
              <a:rPr sz="1200" spc="60" dirty="0">
                <a:latin typeface="Arial"/>
                <a:cs typeface="Arial"/>
              </a:rPr>
              <a:t> </a:t>
            </a:r>
            <a:r>
              <a:rPr sz="1200" b="1" dirty="0">
                <a:latin typeface="Arial"/>
                <a:cs typeface="Arial"/>
              </a:rPr>
              <a:t>with</a:t>
            </a:r>
            <a:r>
              <a:rPr sz="1200" b="1" spc="95" dirty="0">
                <a:latin typeface="Arial"/>
                <a:cs typeface="Arial"/>
              </a:rPr>
              <a:t> </a:t>
            </a:r>
            <a:r>
              <a:rPr sz="1200" b="1" spc="-10" dirty="0">
                <a:latin typeface="Arial"/>
                <a:cs typeface="Arial"/>
              </a:rPr>
              <a:t>predictor</a:t>
            </a:r>
            <a:r>
              <a:rPr sz="1200" spc="-10" dirty="0">
                <a:latin typeface="Arial"/>
                <a:cs typeface="Arial"/>
              </a:rPr>
              <a:t>:</a:t>
            </a:r>
            <a:endParaRPr sz="1200" dirty="0">
              <a:latin typeface="Arial"/>
              <a:cs typeface="Arial"/>
            </a:endParaRPr>
          </a:p>
          <a:p>
            <a:pPr marR="1699895" algn="r">
              <a:lnSpc>
                <a:spcPct val="100000"/>
              </a:lnSpc>
              <a:spcBef>
                <a:spcPts val="700"/>
              </a:spcBef>
            </a:pPr>
            <a:r>
              <a:rPr sz="1100" spc="-30" dirty="0">
                <a:latin typeface="Arial"/>
                <a:cs typeface="Arial"/>
              </a:rPr>
              <a:t>predictor:</a:t>
            </a:r>
            <a:r>
              <a:rPr sz="1100" spc="140" dirty="0">
                <a:latin typeface="Arial"/>
                <a:cs typeface="Arial"/>
              </a:rPr>
              <a:t> </a:t>
            </a:r>
            <a:r>
              <a:rPr sz="1100" i="1" spc="-405" dirty="0">
                <a:latin typeface="Arial"/>
                <a:cs typeface="Arial"/>
              </a:rPr>
              <a:t>x</a:t>
            </a:r>
            <a:r>
              <a:rPr sz="1100" spc="240" dirty="0">
                <a:latin typeface="Arial"/>
                <a:cs typeface="Arial"/>
              </a:rPr>
              <a:t>ˆ</a:t>
            </a:r>
            <a:r>
              <a:rPr sz="1100" spc="75" dirty="0">
                <a:latin typeface="Arial"/>
                <a:cs typeface="Arial"/>
              </a:rPr>
              <a:t>(</a:t>
            </a:r>
            <a:r>
              <a:rPr sz="1100" i="1" spc="75" dirty="0">
                <a:latin typeface="Arial"/>
                <a:cs typeface="Arial"/>
              </a:rPr>
              <a:t>k</a:t>
            </a:r>
            <a:r>
              <a:rPr sz="1100" i="1" spc="20" dirty="0">
                <a:latin typeface="Arial"/>
                <a:cs typeface="Arial"/>
              </a:rPr>
              <a:t> </a:t>
            </a:r>
            <a:r>
              <a:rPr sz="1100" spc="200" dirty="0">
                <a:latin typeface="Arial"/>
                <a:cs typeface="Arial"/>
              </a:rPr>
              <a:t>+</a:t>
            </a:r>
            <a:r>
              <a:rPr sz="1100" spc="-70" dirty="0">
                <a:latin typeface="Arial"/>
                <a:cs typeface="Arial"/>
              </a:rPr>
              <a:t> </a:t>
            </a:r>
            <a:r>
              <a:rPr sz="1100" spc="-85" dirty="0">
                <a:latin typeface="Arial"/>
                <a:cs typeface="Arial"/>
              </a:rPr>
              <a:t>1</a:t>
            </a:r>
            <a:r>
              <a:rPr sz="1100" spc="-85" dirty="0">
                <a:latin typeface="Menlo"/>
                <a:cs typeface="Menlo"/>
              </a:rPr>
              <a:t>|</a:t>
            </a:r>
            <a:r>
              <a:rPr sz="1100" i="1" spc="-85" dirty="0">
                <a:latin typeface="Arial"/>
                <a:cs typeface="Arial"/>
              </a:rPr>
              <a:t>k</a:t>
            </a:r>
            <a:r>
              <a:rPr sz="1100" spc="-85" dirty="0">
                <a:latin typeface="Arial"/>
                <a:cs typeface="Arial"/>
              </a:rPr>
              <a:t>)</a:t>
            </a:r>
            <a:r>
              <a:rPr sz="1100" spc="-5" dirty="0">
                <a:latin typeface="Arial"/>
                <a:cs typeface="Arial"/>
              </a:rPr>
              <a:t> </a:t>
            </a:r>
            <a:r>
              <a:rPr sz="1100" spc="200" dirty="0">
                <a:latin typeface="Arial"/>
                <a:cs typeface="Arial"/>
              </a:rPr>
              <a:t>=</a:t>
            </a:r>
            <a:r>
              <a:rPr sz="1100" spc="-10" dirty="0">
                <a:latin typeface="Arial"/>
                <a:cs typeface="Arial"/>
              </a:rPr>
              <a:t> </a:t>
            </a:r>
            <a:r>
              <a:rPr sz="1100" i="1" spc="-25" dirty="0">
                <a:latin typeface="Arial"/>
                <a:cs typeface="Arial"/>
              </a:rPr>
              <a:t>A</a:t>
            </a:r>
            <a:r>
              <a:rPr lang="en-US" altLang="zh-CN" sz="1100" i="1" spc="-405" dirty="0">
                <a:latin typeface="Arial"/>
                <a:cs typeface="Arial"/>
              </a:rPr>
              <a:t> x</a:t>
            </a:r>
            <a:r>
              <a:rPr lang="en-US" altLang="zh-CN" sz="1100" spc="240" dirty="0">
                <a:latin typeface="Arial"/>
                <a:cs typeface="Arial"/>
              </a:rPr>
              <a:t>ˆ</a:t>
            </a:r>
            <a:r>
              <a:rPr sz="1100" spc="-25" dirty="0">
                <a:latin typeface="Arial"/>
                <a:cs typeface="Arial"/>
              </a:rPr>
              <a:t>(</a:t>
            </a:r>
            <a:r>
              <a:rPr sz="1100" i="1" spc="65" dirty="0">
                <a:latin typeface="Arial"/>
                <a:cs typeface="Arial"/>
              </a:rPr>
              <a:t>k</a:t>
            </a:r>
            <a:r>
              <a:rPr sz="1100" spc="-25" dirty="0">
                <a:latin typeface="Menlo"/>
                <a:cs typeface="Menlo"/>
              </a:rPr>
              <a:t>|</a:t>
            </a:r>
            <a:r>
              <a:rPr sz="1100" i="1" spc="65" dirty="0">
                <a:latin typeface="Arial"/>
                <a:cs typeface="Arial"/>
              </a:rPr>
              <a:t>k</a:t>
            </a:r>
            <a:r>
              <a:rPr sz="1100" spc="-25" dirty="0">
                <a:latin typeface="Arial"/>
                <a:cs typeface="Arial"/>
              </a:rPr>
              <a:t>)</a:t>
            </a:r>
            <a:r>
              <a:rPr sz="1100" spc="-65" dirty="0">
                <a:latin typeface="Arial"/>
                <a:cs typeface="Arial"/>
              </a:rPr>
              <a:t> </a:t>
            </a:r>
            <a:r>
              <a:rPr sz="1100" spc="200" dirty="0">
                <a:latin typeface="Arial"/>
                <a:cs typeface="Arial"/>
              </a:rPr>
              <a:t>+</a:t>
            </a:r>
            <a:r>
              <a:rPr sz="1100" spc="-70" dirty="0">
                <a:latin typeface="Arial"/>
                <a:cs typeface="Arial"/>
              </a:rPr>
              <a:t> </a:t>
            </a:r>
            <a:r>
              <a:rPr sz="1100" i="1" spc="-40" dirty="0">
                <a:latin typeface="Arial"/>
                <a:cs typeface="Arial"/>
              </a:rPr>
              <a:t>Bu</a:t>
            </a:r>
            <a:r>
              <a:rPr sz="1100" i="1" spc="-80" dirty="0">
                <a:latin typeface="Arial"/>
                <a:cs typeface="Arial"/>
              </a:rPr>
              <a:t> </a:t>
            </a:r>
            <a:r>
              <a:rPr sz="1100" spc="35" dirty="0">
                <a:latin typeface="Arial"/>
                <a:cs typeface="Arial"/>
              </a:rPr>
              <a:t>(</a:t>
            </a:r>
            <a:r>
              <a:rPr sz="1100" i="1" spc="35" dirty="0">
                <a:latin typeface="Arial"/>
                <a:cs typeface="Arial"/>
              </a:rPr>
              <a:t>k</a:t>
            </a:r>
            <a:r>
              <a:rPr sz="1100" spc="35" dirty="0">
                <a:latin typeface="Arial"/>
                <a:cs typeface="Arial"/>
              </a:rPr>
              <a:t>)</a:t>
            </a:r>
            <a:endParaRPr sz="1100" dirty="0">
              <a:latin typeface="Arial"/>
              <a:cs typeface="Arial"/>
            </a:endParaRPr>
          </a:p>
          <a:p>
            <a:pPr marL="382270">
              <a:lnSpc>
                <a:spcPct val="100000"/>
              </a:lnSpc>
              <a:spcBef>
                <a:spcPts val="334"/>
              </a:spcBef>
            </a:pPr>
            <a:r>
              <a:rPr sz="1100" spc="-30" dirty="0">
                <a:latin typeface="Arial"/>
                <a:cs typeface="Arial"/>
              </a:rPr>
              <a:t>corrector:</a:t>
            </a:r>
            <a:r>
              <a:rPr sz="1100" spc="80" dirty="0">
                <a:latin typeface="Arial"/>
                <a:cs typeface="Arial"/>
              </a:rPr>
              <a:t> </a:t>
            </a:r>
            <a:r>
              <a:rPr sz="1100" i="1" spc="-405" dirty="0">
                <a:latin typeface="Arial"/>
                <a:cs typeface="Arial"/>
              </a:rPr>
              <a:t>x</a:t>
            </a:r>
            <a:r>
              <a:rPr sz="1100" spc="240" dirty="0">
                <a:latin typeface="Arial"/>
                <a:cs typeface="Arial"/>
              </a:rPr>
              <a:t>ˆ</a:t>
            </a:r>
            <a:r>
              <a:rPr sz="1100" spc="75" dirty="0">
                <a:latin typeface="Arial"/>
                <a:cs typeface="Arial"/>
              </a:rPr>
              <a:t>(</a:t>
            </a:r>
            <a:r>
              <a:rPr sz="1100" i="1" spc="75" dirty="0">
                <a:latin typeface="Arial"/>
                <a:cs typeface="Arial"/>
              </a:rPr>
              <a:t>k</a:t>
            </a:r>
            <a:r>
              <a:rPr sz="1100" i="1" spc="10" dirty="0">
                <a:latin typeface="Arial"/>
                <a:cs typeface="Arial"/>
              </a:rPr>
              <a:t> </a:t>
            </a:r>
            <a:r>
              <a:rPr sz="1100" spc="200" dirty="0">
                <a:latin typeface="Arial"/>
                <a:cs typeface="Arial"/>
              </a:rPr>
              <a:t>+</a:t>
            </a:r>
            <a:r>
              <a:rPr sz="1100" spc="-75" dirty="0">
                <a:latin typeface="Arial"/>
                <a:cs typeface="Arial"/>
              </a:rPr>
              <a:t> </a:t>
            </a:r>
            <a:r>
              <a:rPr sz="1100" spc="-155" dirty="0">
                <a:latin typeface="Arial"/>
                <a:cs typeface="Arial"/>
              </a:rPr>
              <a:t>1</a:t>
            </a:r>
            <a:r>
              <a:rPr sz="1100" spc="-155" dirty="0">
                <a:latin typeface="Menlo"/>
                <a:cs typeface="Menlo"/>
              </a:rPr>
              <a:t>|</a:t>
            </a:r>
            <a:r>
              <a:rPr sz="1100" i="1" spc="-155" dirty="0">
                <a:latin typeface="Arial"/>
                <a:cs typeface="Arial"/>
              </a:rPr>
              <a:t>k</a:t>
            </a:r>
            <a:r>
              <a:rPr sz="1100" i="1" spc="25" dirty="0">
                <a:latin typeface="Arial"/>
                <a:cs typeface="Arial"/>
              </a:rPr>
              <a:t> </a:t>
            </a:r>
            <a:r>
              <a:rPr sz="1100" spc="200" dirty="0">
                <a:latin typeface="Arial"/>
                <a:cs typeface="Arial"/>
              </a:rPr>
              <a:t>+</a:t>
            </a:r>
            <a:r>
              <a:rPr sz="1100" spc="-7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1)</a:t>
            </a:r>
            <a:r>
              <a:rPr sz="1100" spc="-20" dirty="0">
                <a:latin typeface="Arial"/>
                <a:cs typeface="Arial"/>
              </a:rPr>
              <a:t> </a:t>
            </a:r>
            <a:r>
              <a:rPr sz="1100" spc="200" dirty="0">
                <a:latin typeface="Arial"/>
                <a:cs typeface="Arial"/>
              </a:rPr>
              <a:t>=</a:t>
            </a:r>
            <a:r>
              <a:rPr sz="1100" spc="-15" dirty="0">
                <a:latin typeface="Arial"/>
                <a:cs typeface="Arial"/>
              </a:rPr>
              <a:t> </a:t>
            </a:r>
            <a:r>
              <a:rPr sz="1100" i="1" spc="-405" dirty="0">
                <a:latin typeface="Arial"/>
                <a:cs typeface="Arial"/>
              </a:rPr>
              <a:t>x</a:t>
            </a:r>
            <a:r>
              <a:rPr sz="1100" spc="240" dirty="0">
                <a:latin typeface="Arial"/>
                <a:cs typeface="Arial"/>
              </a:rPr>
              <a:t>ˆ</a:t>
            </a:r>
            <a:r>
              <a:rPr sz="1100" spc="75" dirty="0">
                <a:latin typeface="Arial"/>
                <a:cs typeface="Arial"/>
              </a:rPr>
              <a:t>(</a:t>
            </a:r>
            <a:r>
              <a:rPr sz="1100" i="1" spc="75" dirty="0">
                <a:latin typeface="Arial"/>
                <a:cs typeface="Arial"/>
              </a:rPr>
              <a:t>k</a:t>
            </a:r>
            <a:r>
              <a:rPr sz="1100" i="1" spc="10" dirty="0">
                <a:latin typeface="Arial"/>
                <a:cs typeface="Arial"/>
              </a:rPr>
              <a:t> </a:t>
            </a:r>
            <a:r>
              <a:rPr sz="1100" spc="200" dirty="0">
                <a:latin typeface="Arial"/>
                <a:cs typeface="Arial"/>
              </a:rPr>
              <a:t>+</a:t>
            </a:r>
            <a:r>
              <a:rPr sz="1100" spc="-75" dirty="0">
                <a:latin typeface="Arial"/>
                <a:cs typeface="Arial"/>
              </a:rPr>
              <a:t> </a:t>
            </a:r>
            <a:r>
              <a:rPr sz="1100" spc="-85" dirty="0">
                <a:latin typeface="Arial"/>
                <a:cs typeface="Arial"/>
              </a:rPr>
              <a:t>1</a:t>
            </a:r>
            <a:r>
              <a:rPr sz="1100" spc="-85" dirty="0">
                <a:latin typeface="Menlo"/>
                <a:cs typeface="Menlo"/>
              </a:rPr>
              <a:t>|</a:t>
            </a:r>
            <a:r>
              <a:rPr sz="1100" i="1" spc="-85" dirty="0">
                <a:latin typeface="Arial"/>
                <a:cs typeface="Arial"/>
              </a:rPr>
              <a:t>k</a:t>
            </a:r>
            <a:r>
              <a:rPr sz="1100" spc="-85" dirty="0">
                <a:latin typeface="Arial"/>
                <a:cs typeface="Arial"/>
              </a:rPr>
              <a:t>)</a:t>
            </a:r>
            <a:r>
              <a:rPr sz="1100" spc="-65" dirty="0">
                <a:latin typeface="Arial"/>
                <a:cs typeface="Arial"/>
              </a:rPr>
              <a:t> </a:t>
            </a:r>
            <a:r>
              <a:rPr sz="1100" spc="200" dirty="0">
                <a:latin typeface="Arial"/>
                <a:cs typeface="Arial"/>
              </a:rPr>
              <a:t>+</a:t>
            </a:r>
            <a:r>
              <a:rPr sz="1100" spc="-75" dirty="0">
                <a:latin typeface="Arial"/>
                <a:cs typeface="Arial"/>
              </a:rPr>
              <a:t> </a:t>
            </a:r>
            <a:r>
              <a:rPr sz="1100" i="1" spc="-30" dirty="0">
                <a:latin typeface="Arial"/>
                <a:cs typeface="Arial"/>
              </a:rPr>
              <a:t>L</a:t>
            </a:r>
            <a:r>
              <a:rPr sz="1100" i="1" spc="-1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(</a:t>
            </a:r>
            <a:r>
              <a:rPr sz="1100" i="1" dirty="0">
                <a:latin typeface="Arial"/>
                <a:cs typeface="Arial"/>
              </a:rPr>
              <a:t>y</a:t>
            </a:r>
            <a:r>
              <a:rPr sz="1100" i="1" spc="-2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(</a:t>
            </a:r>
            <a:r>
              <a:rPr sz="1100" i="1" dirty="0">
                <a:latin typeface="Arial"/>
                <a:cs typeface="Arial"/>
              </a:rPr>
              <a:t>k</a:t>
            </a:r>
            <a:r>
              <a:rPr sz="1100" i="1" spc="10" dirty="0">
                <a:latin typeface="Arial"/>
                <a:cs typeface="Arial"/>
              </a:rPr>
              <a:t> </a:t>
            </a:r>
            <a:r>
              <a:rPr sz="1100" spc="200" dirty="0">
                <a:latin typeface="Arial"/>
                <a:cs typeface="Arial"/>
              </a:rPr>
              <a:t>+</a:t>
            </a:r>
            <a:r>
              <a:rPr sz="1100" spc="-75" dirty="0">
                <a:latin typeface="Arial"/>
                <a:cs typeface="Arial"/>
              </a:rPr>
              <a:t> </a:t>
            </a:r>
            <a:r>
              <a:rPr sz="1100" spc="-20" dirty="0">
                <a:latin typeface="Arial"/>
                <a:cs typeface="Arial"/>
              </a:rPr>
              <a:t>1)</a:t>
            </a:r>
            <a:r>
              <a:rPr sz="1100" spc="-65" dirty="0">
                <a:latin typeface="Arial"/>
                <a:cs typeface="Arial"/>
              </a:rPr>
              <a:t> </a:t>
            </a:r>
            <a:r>
              <a:rPr sz="1100" i="1" spc="175" dirty="0">
                <a:latin typeface="Menlo"/>
                <a:cs typeface="Menlo"/>
              </a:rPr>
              <a:t>−</a:t>
            </a:r>
            <a:r>
              <a:rPr sz="1100" i="1" spc="-420" dirty="0">
                <a:latin typeface="Menlo"/>
                <a:cs typeface="Menlo"/>
              </a:rPr>
              <a:t> </a:t>
            </a:r>
            <a:r>
              <a:rPr sz="1100" i="1" spc="-110" dirty="0">
                <a:latin typeface="Arial"/>
                <a:cs typeface="Arial"/>
              </a:rPr>
              <a:t>C</a:t>
            </a:r>
            <a:r>
              <a:rPr sz="1100" i="1" spc="-175" dirty="0">
                <a:latin typeface="Arial"/>
                <a:cs typeface="Arial"/>
              </a:rPr>
              <a:t> </a:t>
            </a:r>
            <a:r>
              <a:rPr sz="1100" i="1" spc="-405" dirty="0">
                <a:latin typeface="Arial"/>
                <a:cs typeface="Arial"/>
              </a:rPr>
              <a:t>x</a:t>
            </a:r>
            <a:r>
              <a:rPr sz="1100" spc="240" dirty="0">
                <a:latin typeface="Arial"/>
                <a:cs typeface="Arial"/>
              </a:rPr>
              <a:t>ˆ</a:t>
            </a:r>
            <a:r>
              <a:rPr sz="1100" spc="75" dirty="0">
                <a:latin typeface="Arial"/>
                <a:cs typeface="Arial"/>
              </a:rPr>
              <a:t>(</a:t>
            </a:r>
            <a:r>
              <a:rPr sz="1100" i="1" spc="75" dirty="0">
                <a:latin typeface="Arial"/>
                <a:cs typeface="Arial"/>
              </a:rPr>
              <a:t>k</a:t>
            </a:r>
            <a:r>
              <a:rPr sz="1100" i="1" spc="10" dirty="0">
                <a:latin typeface="Arial"/>
                <a:cs typeface="Arial"/>
              </a:rPr>
              <a:t> </a:t>
            </a:r>
            <a:r>
              <a:rPr sz="1100" spc="200" dirty="0">
                <a:latin typeface="Arial"/>
                <a:cs typeface="Arial"/>
              </a:rPr>
              <a:t>+</a:t>
            </a:r>
            <a:r>
              <a:rPr sz="1100" spc="-75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1</a:t>
            </a:r>
            <a:r>
              <a:rPr sz="1100" spc="-10" dirty="0">
                <a:latin typeface="Menlo"/>
                <a:cs typeface="Menlo"/>
              </a:rPr>
              <a:t>|</a:t>
            </a:r>
            <a:r>
              <a:rPr sz="1100" i="1" spc="-10" dirty="0">
                <a:latin typeface="Arial"/>
                <a:cs typeface="Arial"/>
              </a:rPr>
              <a:t>k</a:t>
            </a:r>
            <a:r>
              <a:rPr sz="1100" spc="-10" dirty="0">
                <a:latin typeface="Arial"/>
                <a:cs typeface="Arial"/>
              </a:rPr>
              <a:t>))</a:t>
            </a:r>
            <a:endParaRPr sz="1100" dirty="0">
              <a:latin typeface="Arial"/>
              <a:cs typeface="Arial"/>
            </a:endParaRPr>
          </a:p>
          <a:p>
            <a:pPr marL="497205">
              <a:lnSpc>
                <a:spcPct val="100000"/>
              </a:lnSpc>
              <a:spcBef>
                <a:spcPts val="695"/>
              </a:spcBef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240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lang="en-US" altLang="zh-CN" sz="1100" i="1" spc="-405" dirty="0">
                <a:latin typeface="Arial"/>
                <a:cs typeface="Arial"/>
              </a:rPr>
              <a:t>x</a:t>
            </a:r>
            <a:r>
              <a:rPr lang="en-US" altLang="zh-CN" sz="1100" spc="240" dirty="0">
                <a:latin typeface="Arial"/>
                <a:cs typeface="Arial"/>
              </a:rPr>
              <a:t>ˆ</a:t>
            </a:r>
            <a:r>
              <a:rPr lang="en-US" altLang="zh-CN" sz="1100" dirty="0">
                <a:latin typeface="Arial"/>
                <a:cs typeface="Arial"/>
              </a:rPr>
              <a:t>(</a:t>
            </a:r>
            <a:r>
              <a:rPr lang="en-US" sz="1100" i="1" spc="90" dirty="0" err="1">
                <a:latin typeface="Arial"/>
                <a:cs typeface="Arial"/>
              </a:rPr>
              <a:t>k</a:t>
            </a:r>
            <a:r>
              <a:rPr sz="1100" dirty="0" err="1">
                <a:latin typeface="Menlo"/>
                <a:cs typeface="Menlo"/>
              </a:rPr>
              <a:t>|</a:t>
            </a:r>
            <a:r>
              <a:rPr sz="1100" i="1" spc="90" dirty="0" err="1">
                <a:latin typeface="Arial"/>
                <a:cs typeface="Arial"/>
              </a:rPr>
              <a:t>k</a:t>
            </a:r>
            <a:r>
              <a:rPr sz="1100" dirty="0">
                <a:latin typeface="Arial"/>
                <a:cs typeface="Arial"/>
              </a:rPr>
              <a:t>):</a:t>
            </a:r>
            <a:r>
              <a:rPr sz="1100" spc="100" dirty="0">
                <a:latin typeface="Arial"/>
                <a:cs typeface="Arial"/>
              </a:rPr>
              <a:t> </a:t>
            </a:r>
            <a:r>
              <a:rPr sz="1100" spc="-45" dirty="0">
                <a:latin typeface="Arial"/>
                <a:cs typeface="Arial"/>
              </a:rPr>
              <a:t>estimate</a:t>
            </a:r>
            <a:r>
              <a:rPr sz="1100" spc="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of</a:t>
            </a:r>
            <a:r>
              <a:rPr sz="1100" spc="5" dirty="0">
                <a:latin typeface="Arial"/>
                <a:cs typeface="Arial"/>
              </a:rPr>
              <a:t> </a:t>
            </a:r>
            <a:r>
              <a:rPr sz="1100" i="1" spc="-55" dirty="0">
                <a:latin typeface="Arial"/>
                <a:cs typeface="Arial"/>
              </a:rPr>
              <a:t>x</a:t>
            </a:r>
            <a:r>
              <a:rPr sz="1100" i="1" spc="-210" dirty="0">
                <a:latin typeface="Arial"/>
                <a:cs typeface="Arial"/>
              </a:rPr>
              <a:t> </a:t>
            </a:r>
            <a:r>
              <a:rPr sz="1100" spc="60" dirty="0">
                <a:latin typeface="Arial"/>
                <a:cs typeface="Arial"/>
              </a:rPr>
              <a:t>(</a:t>
            </a:r>
            <a:r>
              <a:rPr sz="1100" i="1" spc="60" dirty="0">
                <a:latin typeface="Arial"/>
                <a:cs typeface="Arial"/>
              </a:rPr>
              <a:t>k</a:t>
            </a:r>
            <a:r>
              <a:rPr sz="1100" spc="60" dirty="0">
                <a:latin typeface="Arial"/>
                <a:cs typeface="Arial"/>
              </a:rPr>
              <a:t>)</a:t>
            </a:r>
            <a:r>
              <a:rPr sz="1100" spc="5" dirty="0">
                <a:latin typeface="Arial"/>
                <a:cs typeface="Arial"/>
              </a:rPr>
              <a:t> </a:t>
            </a:r>
            <a:r>
              <a:rPr sz="1100" spc="-95" dirty="0">
                <a:latin typeface="Arial"/>
                <a:cs typeface="Arial"/>
              </a:rPr>
              <a:t>based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on</a:t>
            </a:r>
            <a:r>
              <a:rPr sz="1100" spc="5" dirty="0">
                <a:latin typeface="Arial"/>
                <a:cs typeface="Arial"/>
              </a:rPr>
              <a:t> </a:t>
            </a:r>
            <a:r>
              <a:rPr sz="1100" spc="-80" dirty="0">
                <a:latin typeface="Arial"/>
                <a:cs typeface="Arial"/>
              </a:rPr>
              <a:t>measurements</a:t>
            </a:r>
            <a:r>
              <a:rPr sz="1100" spc="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up</a:t>
            </a:r>
            <a:r>
              <a:rPr sz="1100" spc="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to</a:t>
            </a:r>
            <a:r>
              <a:rPr sz="1100" spc="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time </a:t>
            </a:r>
            <a:r>
              <a:rPr sz="1100" i="1" spc="-50" dirty="0">
                <a:latin typeface="Arial"/>
                <a:cs typeface="Arial"/>
              </a:rPr>
              <a:t>k</a:t>
            </a:r>
            <a:endParaRPr sz="1100" dirty="0">
              <a:latin typeface="Arial"/>
              <a:cs typeface="Arial"/>
            </a:endParaRPr>
          </a:p>
          <a:p>
            <a:pPr marL="497205">
              <a:lnSpc>
                <a:spcPct val="100000"/>
              </a:lnSpc>
              <a:spcBef>
                <a:spcPts val="35"/>
              </a:spcBef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20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lang="en-US" altLang="zh-CN" sz="1100" i="1" spc="-405" dirty="0">
                <a:latin typeface="Arial"/>
                <a:cs typeface="Arial"/>
              </a:rPr>
              <a:t>x</a:t>
            </a:r>
            <a:r>
              <a:rPr lang="en-US" altLang="zh-CN" sz="1100" spc="240" dirty="0">
                <a:latin typeface="Arial"/>
                <a:cs typeface="Arial"/>
              </a:rPr>
              <a:t>ˆ</a:t>
            </a:r>
            <a:r>
              <a:rPr sz="1100" spc="-35" dirty="0">
                <a:latin typeface="Arial"/>
                <a:cs typeface="Arial"/>
              </a:rPr>
              <a:t>(</a:t>
            </a:r>
            <a:r>
              <a:rPr sz="1100" i="1" spc="55" dirty="0">
                <a:latin typeface="Arial"/>
                <a:cs typeface="Arial"/>
              </a:rPr>
              <a:t>k</a:t>
            </a:r>
            <a:r>
              <a:rPr sz="1100" spc="-35" dirty="0">
                <a:latin typeface="Menlo"/>
                <a:cs typeface="Menlo"/>
              </a:rPr>
              <a:t>|</a:t>
            </a:r>
            <a:r>
              <a:rPr sz="1100" i="1" spc="-35" dirty="0">
                <a:latin typeface="Arial"/>
                <a:cs typeface="Arial"/>
              </a:rPr>
              <a:t>k</a:t>
            </a:r>
            <a:r>
              <a:rPr sz="1100" i="1" spc="25" dirty="0">
                <a:latin typeface="Arial"/>
                <a:cs typeface="Arial"/>
              </a:rPr>
              <a:t> </a:t>
            </a:r>
            <a:r>
              <a:rPr sz="1100" i="1" spc="175" dirty="0">
                <a:latin typeface="Menlo"/>
                <a:cs typeface="Menlo"/>
              </a:rPr>
              <a:t>−</a:t>
            </a:r>
            <a:r>
              <a:rPr sz="1100" i="1" spc="-420" dirty="0">
                <a:latin typeface="Menlo"/>
                <a:cs typeface="Menlo"/>
              </a:rPr>
              <a:t> </a:t>
            </a:r>
            <a:r>
              <a:rPr sz="1100" dirty="0">
                <a:latin typeface="Arial"/>
                <a:cs typeface="Arial"/>
              </a:rPr>
              <a:t>1):</a:t>
            </a:r>
            <a:r>
              <a:rPr sz="1100" spc="125" dirty="0">
                <a:latin typeface="Arial"/>
                <a:cs typeface="Arial"/>
              </a:rPr>
              <a:t> </a:t>
            </a:r>
            <a:r>
              <a:rPr sz="1100" spc="-45" dirty="0">
                <a:latin typeface="Arial"/>
                <a:cs typeface="Arial"/>
              </a:rPr>
              <a:t>estimate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spc="-95" dirty="0">
                <a:latin typeface="Arial"/>
                <a:cs typeface="Arial"/>
              </a:rPr>
              <a:t>based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on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spc="-80" dirty="0">
                <a:latin typeface="Arial"/>
                <a:cs typeface="Arial"/>
              </a:rPr>
              <a:t>measurements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up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to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time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k</a:t>
            </a:r>
            <a:r>
              <a:rPr sz="1100" i="1" spc="-5" dirty="0">
                <a:latin typeface="Arial"/>
                <a:cs typeface="Arial"/>
              </a:rPr>
              <a:t> </a:t>
            </a:r>
            <a:r>
              <a:rPr sz="1100" i="1" spc="175" dirty="0">
                <a:latin typeface="Menlo"/>
                <a:cs typeface="Menlo"/>
              </a:rPr>
              <a:t>−</a:t>
            </a:r>
            <a:r>
              <a:rPr sz="1100" i="1" spc="-420" dirty="0">
                <a:latin typeface="Menlo"/>
                <a:cs typeface="Menlo"/>
              </a:rPr>
              <a:t> </a:t>
            </a:r>
            <a:r>
              <a:rPr sz="1100" spc="-50" dirty="0">
                <a:latin typeface="Arial"/>
                <a:cs typeface="Arial"/>
              </a:rPr>
              <a:t>1</a:t>
            </a:r>
            <a:endParaRPr sz="1100" dirty="0">
              <a:latin typeface="Arial"/>
              <a:cs typeface="Arial"/>
            </a:endParaRPr>
          </a:p>
          <a:p>
            <a:pPr marL="497205">
              <a:lnSpc>
                <a:spcPct val="100000"/>
              </a:lnSpc>
              <a:spcBef>
                <a:spcPts val="35"/>
              </a:spcBef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35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100" i="1" dirty="0">
                <a:latin typeface="Arial"/>
                <a:cs typeface="Arial"/>
              </a:rPr>
              <a:t>e</a:t>
            </a:r>
            <a:r>
              <a:rPr sz="1100" dirty="0">
                <a:latin typeface="Arial"/>
                <a:cs typeface="Arial"/>
              </a:rPr>
              <a:t>(</a:t>
            </a:r>
            <a:r>
              <a:rPr sz="1100" i="1" dirty="0">
                <a:latin typeface="Arial"/>
                <a:cs typeface="Arial"/>
              </a:rPr>
              <a:t>k</a:t>
            </a:r>
            <a:r>
              <a:rPr sz="1100" dirty="0">
                <a:latin typeface="Arial"/>
                <a:cs typeface="Arial"/>
              </a:rPr>
              <a:t>)</a:t>
            </a:r>
            <a:r>
              <a:rPr sz="1100" spc="-15" dirty="0">
                <a:latin typeface="Arial"/>
                <a:cs typeface="Arial"/>
              </a:rPr>
              <a:t> </a:t>
            </a:r>
            <a:r>
              <a:rPr sz="1100" spc="200" dirty="0">
                <a:latin typeface="Arial Unicode MS"/>
                <a:cs typeface="Arial Unicode MS"/>
              </a:rPr>
              <a:t>≜</a:t>
            </a:r>
            <a:r>
              <a:rPr sz="1100" spc="-20" dirty="0">
                <a:latin typeface="Arial Unicode MS"/>
                <a:cs typeface="Arial Unicode MS"/>
              </a:rPr>
              <a:t> </a:t>
            </a:r>
            <a:r>
              <a:rPr sz="1100" i="1" dirty="0">
                <a:latin typeface="Arial"/>
                <a:cs typeface="Arial"/>
              </a:rPr>
              <a:t>x</a:t>
            </a:r>
            <a:r>
              <a:rPr sz="1100" i="1" spc="-35" dirty="0">
                <a:latin typeface="Arial"/>
                <a:cs typeface="Arial"/>
              </a:rPr>
              <a:t> </a:t>
            </a:r>
            <a:r>
              <a:rPr sz="1100" spc="60" dirty="0">
                <a:latin typeface="Arial"/>
                <a:cs typeface="Arial"/>
              </a:rPr>
              <a:t>(</a:t>
            </a:r>
            <a:r>
              <a:rPr sz="1100" i="1" spc="60" dirty="0">
                <a:latin typeface="Arial"/>
                <a:cs typeface="Arial"/>
              </a:rPr>
              <a:t>k</a:t>
            </a:r>
            <a:r>
              <a:rPr sz="1100" spc="60" dirty="0">
                <a:latin typeface="Arial"/>
                <a:cs typeface="Arial"/>
              </a:rPr>
              <a:t>)</a:t>
            </a:r>
            <a:r>
              <a:rPr sz="1100" spc="-75" dirty="0">
                <a:latin typeface="Arial"/>
                <a:cs typeface="Arial"/>
              </a:rPr>
              <a:t> </a:t>
            </a:r>
            <a:r>
              <a:rPr sz="1100" i="1" spc="175" dirty="0">
                <a:latin typeface="Menlo"/>
                <a:cs typeface="Menlo"/>
              </a:rPr>
              <a:t>−</a:t>
            </a:r>
            <a:r>
              <a:rPr sz="1100" i="1" spc="-420" dirty="0">
                <a:latin typeface="Menlo"/>
                <a:cs typeface="Menlo"/>
              </a:rPr>
              <a:t> </a:t>
            </a:r>
            <a:r>
              <a:rPr lang="en-US" altLang="zh-CN" sz="1100" i="1" spc="-405" dirty="0">
                <a:latin typeface="Arial"/>
                <a:cs typeface="Arial"/>
              </a:rPr>
              <a:t>x</a:t>
            </a:r>
            <a:r>
              <a:rPr lang="en-US" altLang="zh-CN" sz="1100" spc="240" dirty="0">
                <a:latin typeface="Arial"/>
                <a:cs typeface="Arial"/>
              </a:rPr>
              <a:t>ˆ</a:t>
            </a:r>
            <a:r>
              <a:rPr sz="1100" spc="5" dirty="0">
                <a:latin typeface="Arial"/>
                <a:cs typeface="Arial"/>
              </a:rPr>
              <a:t>(</a:t>
            </a:r>
            <a:r>
              <a:rPr sz="1100" i="1" spc="95" dirty="0">
                <a:latin typeface="Arial"/>
                <a:cs typeface="Arial"/>
              </a:rPr>
              <a:t>k</a:t>
            </a:r>
            <a:r>
              <a:rPr sz="1100" spc="5" dirty="0">
                <a:latin typeface="Menlo"/>
                <a:cs typeface="Menlo"/>
              </a:rPr>
              <a:t>|</a:t>
            </a:r>
            <a:r>
              <a:rPr sz="1100" i="1" spc="95" dirty="0">
                <a:latin typeface="Arial"/>
                <a:cs typeface="Arial"/>
              </a:rPr>
              <a:t>k</a:t>
            </a:r>
            <a:r>
              <a:rPr sz="1100" spc="5" dirty="0">
                <a:latin typeface="Arial"/>
                <a:cs typeface="Arial"/>
              </a:rPr>
              <a:t>):</a:t>
            </a:r>
            <a:r>
              <a:rPr sz="1100" spc="150" dirty="0">
                <a:latin typeface="Arial"/>
                <a:cs typeface="Arial"/>
              </a:rPr>
              <a:t> </a:t>
            </a:r>
            <a:r>
              <a:rPr sz="1100" spc="-35" dirty="0">
                <a:latin typeface="Arial"/>
                <a:cs typeface="Arial"/>
              </a:rPr>
              <a:t>estimation</a:t>
            </a:r>
            <a:r>
              <a:rPr sz="1100" spc="45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error</a:t>
            </a:r>
            <a:endParaRPr sz="1100" dirty="0">
              <a:latin typeface="Arial"/>
              <a:cs typeface="Arial"/>
            </a:endParaRPr>
          </a:p>
          <a:p>
            <a:pPr marL="189865">
              <a:lnSpc>
                <a:spcPct val="100000"/>
              </a:lnSpc>
              <a:spcBef>
                <a:spcPts val="3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84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35" dirty="0">
                <a:latin typeface="Arial"/>
                <a:cs typeface="Arial"/>
              </a:rPr>
              <a:t>error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dynamics</a:t>
            </a:r>
            <a:endParaRPr sz="1200" dirty="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700"/>
              </a:spcBef>
            </a:pPr>
            <a:r>
              <a:rPr lang="en-US" altLang="zh-CN" sz="1100" i="1" spc="-405" dirty="0">
                <a:latin typeface="Arial"/>
                <a:cs typeface="Arial"/>
              </a:rPr>
              <a:t>x</a:t>
            </a:r>
            <a:r>
              <a:rPr lang="en-US" altLang="zh-CN" sz="1100" spc="240" dirty="0">
                <a:latin typeface="Arial"/>
                <a:cs typeface="Arial"/>
              </a:rPr>
              <a:t>ˆ(</a:t>
            </a:r>
            <a:r>
              <a:rPr sz="1100" i="1" spc="-65" dirty="0">
                <a:latin typeface="Arial"/>
                <a:cs typeface="Arial"/>
              </a:rPr>
              <a:t>k</a:t>
            </a:r>
            <a:r>
              <a:rPr sz="1100" i="1" spc="10" dirty="0">
                <a:latin typeface="Arial"/>
                <a:cs typeface="Arial"/>
              </a:rPr>
              <a:t> </a:t>
            </a:r>
            <a:r>
              <a:rPr sz="1100" spc="200" dirty="0">
                <a:latin typeface="Arial"/>
                <a:cs typeface="Arial"/>
              </a:rPr>
              <a:t>+</a:t>
            </a:r>
            <a:r>
              <a:rPr sz="1100" spc="-65" dirty="0">
                <a:latin typeface="Arial"/>
                <a:cs typeface="Arial"/>
              </a:rPr>
              <a:t> </a:t>
            </a:r>
            <a:r>
              <a:rPr sz="1100" spc="-155" dirty="0">
                <a:latin typeface="Arial"/>
                <a:cs typeface="Arial"/>
              </a:rPr>
              <a:t>1</a:t>
            </a:r>
            <a:r>
              <a:rPr sz="1100" spc="-155" dirty="0">
                <a:latin typeface="Menlo"/>
                <a:cs typeface="Menlo"/>
              </a:rPr>
              <a:t>|</a:t>
            </a:r>
            <a:r>
              <a:rPr sz="1100" i="1" spc="-155" dirty="0">
                <a:latin typeface="Arial"/>
                <a:cs typeface="Arial"/>
              </a:rPr>
              <a:t>k</a:t>
            </a:r>
            <a:r>
              <a:rPr sz="1100" i="1" spc="25" dirty="0">
                <a:latin typeface="Arial"/>
                <a:cs typeface="Arial"/>
              </a:rPr>
              <a:t> </a:t>
            </a:r>
            <a:r>
              <a:rPr sz="1100" spc="200" dirty="0">
                <a:latin typeface="Arial"/>
                <a:cs typeface="Arial"/>
              </a:rPr>
              <a:t>+</a:t>
            </a:r>
            <a:r>
              <a:rPr sz="1100" spc="-6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1)</a:t>
            </a:r>
            <a:r>
              <a:rPr sz="1100" spc="-10" dirty="0">
                <a:latin typeface="Arial"/>
                <a:cs typeface="Arial"/>
              </a:rPr>
              <a:t> </a:t>
            </a:r>
            <a:r>
              <a:rPr sz="1100" spc="200" dirty="0">
                <a:latin typeface="Arial"/>
                <a:cs typeface="Arial"/>
              </a:rPr>
              <a:t>=</a:t>
            </a:r>
            <a:r>
              <a:rPr sz="1100" spc="-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(</a:t>
            </a:r>
            <a:r>
              <a:rPr sz="1100" i="1" dirty="0">
                <a:latin typeface="Arial"/>
                <a:cs typeface="Arial"/>
              </a:rPr>
              <a:t>I</a:t>
            </a:r>
            <a:r>
              <a:rPr sz="1100" i="1" spc="75" dirty="0">
                <a:latin typeface="Arial"/>
                <a:cs typeface="Arial"/>
              </a:rPr>
              <a:t> </a:t>
            </a:r>
            <a:r>
              <a:rPr sz="1100" i="1" spc="175" dirty="0">
                <a:latin typeface="Menlo"/>
                <a:cs typeface="Menlo"/>
              </a:rPr>
              <a:t>−</a:t>
            </a:r>
            <a:r>
              <a:rPr sz="1100" i="1" spc="-420" dirty="0">
                <a:latin typeface="Menlo"/>
                <a:cs typeface="Menlo"/>
              </a:rPr>
              <a:t> </a:t>
            </a:r>
            <a:r>
              <a:rPr sz="1100" i="1" spc="-75" dirty="0">
                <a:latin typeface="Arial"/>
                <a:cs typeface="Arial"/>
              </a:rPr>
              <a:t>LC</a:t>
            </a:r>
            <a:r>
              <a:rPr sz="1100" i="1" spc="-175" dirty="0">
                <a:latin typeface="Arial"/>
                <a:cs typeface="Arial"/>
              </a:rPr>
              <a:t> </a:t>
            </a:r>
            <a:r>
              <a:rPr sz="1100" spc="55" dirty="0">
                <a:latin typeface="Arial"/>
                <a:cs typeface="Arial"/>
              </a:rPr>
              <a:t>)</a:t>
            </a:r>
            <a:r>
              <a:rPr sz="1100" spc="-125" dirty="0">
                <a:latin typeface="Arial"/>
                <a:cs typeface="Arial"/>
              </a:rPr>
              <a:t> </a:t>
            </a:r>
            <a:r>
              <a:rPr sz="1100" i="1" spc="-405" dirty="0">
                <a:latin typeface="Arial"/>
                <a:cs typeface="Arial"/>
              </a:rPr>
              <a:t>x</a:t>
            </a:r>
            <a:r>
              <a:rPr sz="1100" spc="240" dirty="0">
                <a:latin typeface="Arial"/>
                <a:cs typeface="Arial"/>
              </a:rPr>
              <a:t>ˆ</a:t>
            </a:r>
            <a:r>
              <a:rPr sz="1100" spc="75" dirty="0">
                <a:latin typeface="Arial"/>
                <a:cs typeface="Arial"/>
              </a:rPr>
              <a:t>(</a:t>
            </a:r>
            <a:r>
              <a:rPr sz="1100" i="1" spc="75" dirty="0">
                <a:latin typeface="Arial"/>
                <a:cs typeface="Arial"/>
              </a:rPr>
              <a:t>k</a:t>
            </a:r>
            <a:r>
              <a:rPr sz="1100" i="1" spc="25" dirty="0">
                <a:latin typeface="Arial"/>
                <a:cs typeface="Arial"/>
              </a:rPr>
              <a:t> </a:t>
            </a:r>
            <a:r>
              <a:rPr sz="1100" spc="200" dirty="0">
                <a:latin typeface="Arial"/>
                <a:cs typeface="Arial"/>
              </a:rPr>
              <a:t>+</a:t>
            </a:r>
            <a:r>
              <a:rPr sz="1100" spc="-70" dirty="0">
                <a:latin typeface="Arial"/>
                <a:cs typeface="Arial"/>
              </a:rPr>
              <a:t> </a:t>
            </a:r>
            <a:r>
              <a:rPr sz="1100" spc="-85" dirty="0">
                <a:latin typeface="Arial"/>
                <a:cs typeface="Arial"/>
              </a:rPr>
              <a:t>1</a:t>
            </a:r>
            <a:r>
              <a:rPr sz="1100" spc="-85" dirty="0">
                <a:latin typeface="Menlo"/>
                <a:cs typeface="Menlo"/>
              </a:rPr>
              <a:t>|</a:t>
            </a:r>
            <a:r>
              <a:rPr sz="1100" i="1" spc="-85" dirty="0">
                <a:latin typeface="Arial"/>
                <a:cs typeface="Arial"/>
              </a:rPr>
              <a:t>k</a:t>
            </a:r>
            <a:r>
              <a:rPr sz="1100" spc="-85" dirty="0">
                <a:latin typeface="Arial"/>
                <a:cs typeface="Arial"/>
              </a:rPr>
              <a:t>)</a:t>
            </a:r>
            <a:r>
              <a:rPr sz="1100" spc="-65" dirty="0">
                <a:latin typeface="Arial"/>
                <a:cs typeface="Arial"/>
              </a:rPr>
              <a:t> </a:t>
            </a:r>
            <a:r>
              <a:rPr sz="1100" spc="200" dirty="0">
                <a:latin typeface="Arial"/>
                <a:cs typeface="Arial"/>
              </a:rPr>
              <a:t>+</a:t>
            </a:r>
            <a:r>
              <a:rPr sz="1100" spc="-65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Ly</a:t>
            </a:r>
            <a:r>
              <a:rPr sz="1100" i="1" spc="-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(</a:t>
            </a:r>
            <a:r>
              <a:rPr sz="1100" i="1" dirty="0">
                <a:latin typeface="Arial"/>
                <a:cs typeface="Arial"/>
              </a:rPr>
              <a:t>k</a:t>
            </a:r>
            <a:r>
              <a:rPr sz="1100" i="1" spc="20" dirty="0">
                <a:latin typeface="Arial"/>
                <a:cs typeface="Arial"/>
              </a:rPr>
              <a:t> </a:t>
            </a:r>
            <a:r>
              <a:rPr sz="1100" spc="200" dirty="0">
                <a:latin typeface="Arial"/>
                <a:cs typeface="Arial"/>
              </a:rPr>
              <a:t>+</a:t>
            </a:r>
            <a:r>
              <a:rPr sz="1100" spc="-65" dirty="0">
                <a:latin typeface="Arial"/>
                <a:cs typeface="Arial"/>
              </a:rPr>
              <a:t> </a:t>
            </a:r>
            <a:r>
              <a:rPr sz="1100" spc="-25" dirty="0">
                <a:latin typeface="Arial"/>
                <a:cs typeface="Arial"/>
              </a:rPr>
              <a:t>1)</a:t>
            </a:r>
            <a:endParaRPr sz="1100" dirty="0">
              <a:latin typeface="Arial"/>
              <a:cs typeface="Arial"/>
            </a:endParaRPr>
          </a:p>
          <a:p>
            <a:pPr marL="934085">
              <a:lnSpc>
                <a:spcPct val="100000"/>
              </a:lnSpc>
              <a:spcBef>
                <a:spcPts val="330"/>
              </a:spcBef>
            </a:pPr>
            <a:r>
              <a:rPr sz="1100" spc="200" dirty="0">
                <a:latin typeface="Arial"/>
                <a:cs typeface="Arial"/>
              </a:rPr>
              <a:t>=</a:t>
            </a:r>
            <a:r>
              <a:rPr sz="1100" spc="1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(</a:t>
            </a:r>
            <a:r>
              <a:rPr sz="1100" i="1" dirty="0">
                <a:latin typeface="Arial"/>
                <a:cs typeface="Arial"/>
              </a:rPr>
              <a:t>I</a:t>
            </a:r>
            <a:r>
              <a:rPr sz="1100" i="1" spc="100" dirty="0">
                <a:latin typeface="Arial"/>
                <a:cs typeface="Arial"/>
              </a:rPr>
              <a:t> </a:t>
            </a:r>
            <a:r>
              <a:rPr sz="1100" i="1" spc="175" dirty="0">
                <a:latin typeface="Menlo"/>
                <a:cs typeface="Menlo"/>
              </a:rPr>
              <a:t>−</a:t>
            </a:r>
            <a:r>
              <a:rPr sz="1100" i="1" spc="-405" dirty="0">
                <a:latin typeface="Menlo"/>
                <a:cs typeface="Menlo"/>
              </a:rPr>
              <a:t> </a:t>
            </a:r>
            <a:r>
              <a:rPr sz="1100" i="1" spc="-75" dirty="0">
                <a:latin typeface="Arial"/>
                <a:cs typeface="Arial"/>
              </a:rPr>
              <a:t>LC</a:t>
            </a:r>
            <a:r>
              <a:rPr sz="1100" i="1" spc="-170" dirty="0">
                <a:latin typeface="Arial"/>
                <a:cs typeface="Arial"/>
              </a:rPr>
              <a:t> </a:t>
            </a:r>
            <a:r>
              <a:rPr sz="1100" spc="55" dirty="0">
                <a:latin typeface="Arial"/>
                <a:cs typeface="Arial"/>
              </a:rPr>
              <a:t>)</a:t>
            </a:r>
            <a:r>
              <a:rPr sz="1100" spc="-114" dirty="0">
                <a:latin typeface="Arial"/>
                <a:cs typeface="Arial"/>
              </a:rPr>
              <a:t> </a:t>
            </a:r>
            <a:r>
              <a:rPr sz="1100" i="1" spc="-25" dirty="0">
                <a:latin typeface="Arial"/>
                <a:cs typeface="Arial"/>
              </a:rPr>
              <a:t>A</a:t>
            </a:r>
            <a:r>
              <a:rPr lang="en-US" altLang="zh-CN" sz="1100" i="1" spc="-405" dirty="0">
                <a:latin typeface="Arial"/>
                <a:cs typeface="Arial"/>
              </a:rPr>
              <a:t> x</a:t>
            </a:r>
            <a:r>
              <a:rPr lang="en-US" altLang="zh-CN" sz="1100" spc="240" dirty="0">
                <a:latin typeface="Arial"/>
                <a:cs typeface="Arial"/>
              </a:rPr>
              <a:t>ˆ</a:t>
            </a:r>
            <a:r>
              <a:rPr sz="1100" spc="-25" dirty="0">
                <a:latin typeface="Arial"/>
                <a:cs typeface="Arial"/>
              </a:rPr>
              <a:t>(</a:t>
            </a:r>
            <a:r>
              <a:rPr sz="1100" i="1" spc="65" dirty="0">
                <a:latin typeface="Arial"/>
                <a:cs typeface="Arial"/>
              </a:rPr>
              <a:t>k</a:t>
            </a:r>
            <a:r>
              <a:rPr sz="1100" spc="-25" dirty="0">
                <a:latin typeface="Menlo"/>
                <a:cs typeface="Menlo"/>
              </a:rPr>
              <a:t>|</a:t>
            </a:r>
            <a:r>
              <a:rPr sz="1100" i="1" spc="65" dirty="0">
                <a:latin typeface="Arial"/>
                <a:cs typeface="Arial"/>
              </a:rPr>
              <a:t>k</a:t>
            </a:r>
            <a:r>
              <a:rPr sz="1100" spc="-25" dirty="0">
                <a:latin typeface="Arial"/>
                <a:cs typeface="Arial"/>
              </a:rPr>
              <a:t>)</a:t>
            </a:r>
            <a:r>
              <a:rPr sz="1100" spc="-50" dirty="0">
                <a:latin typeface="Arial"/>
                <a:cs typeface="Arial"/>
              </a:rPr>
              <a:t> </a:t>
            </a:r>
            <a:r>
              <a:rPr sz="1100" spc="200" dirty="0">
                <a:latin typeface="Arial"/>
                <a:cs typeface="Arial"/>
              </a:rPr>
              <a:t>+</a:t>
            </a:r>
            <a:r>
              <a:rPr sz="1100" spc="-5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(</a:t>
            </a:r>
            <a:r>
              <a:rPr sz="1100" i="1" dirty="0">
                <a:latin typeface="Arial"/>
                <a:cs typeface="Arial"/>
              </a:rPr>
              <a:t>I</a:t>
            </a:r>
            <a:r>
              <a:rPr sz="1100" i="1" spc="100" dirty="0">
                <a:latin typeface="Arial"/>
                <a:cs typeface="Arial"/>
              </a:rPr>
              <a:t> </a:t>
            </a:r>
            <a:r>
              <a:rPr sz="1100" i="1" spc="175" dirty="0">
                <a:latin typeface="Menlo"/>
                <a:cs typeface="Menlo"/>
              </a:rPr>
              <a:t>−</a:t>
            </a:r>
            <a:r>
              <a:rPr sz="1100" i="1" spc="-405" dirty="0">
                <a:latin typeface="Menlo"/>
                <a:cs typeface="Menlo"/>
              </a:rPr>
              <a:t> </a:t>
            </a:r>
            <a:r>
              <a:rPr sz="1100" i="1" spc="-75" dirty="0">
                <a:latin typeface="Arial"/>
                <a:cs typeface="Arial"/>
              </a:rPr>
              <a:t>LC</a:t>
            </a:r>
            <a:r>
              <a:rPr sz="1100" i="1" spc="-170" dirty="0">
                <a:latin typeface="Arial"/>
                <a:cs typeface="Arial"/>
              </a:rPr>
              <a:t> </a:t>
            </a:r>
            <a:r>
              <a:rPr sz="1100" spc="55" dirty="0">
                <a:latin typeface="Arial"/>
                <a:cs typeface="Arial"/>
              </a:rPr>
              <a:t>)</a:t>
            </a:r>
            <a:r>
              <a:rPr sz="1100" spc="-114" dirty="0">
                <a:latin typeface="Arial"/>
                <a:cs typeface="Arial"/>
              </a:rPr>
              <a:t> </a:t>
            </a:r>
            <a:r>
              <a:rPr sz="1100" i="1" spc="-40" dirty="0">
                <a:latin typeface="Arial"/>
                <a:cs typeface="Arial"/>
              </a:rPr>
              <a:t>Bu</a:t>
            </a:r>
            <a:r>
              <a:rPr sz="1100" i="1" spc="-70" dirty="0">
                <a:latin typeface="Arial"/>
                <a:cs typeface="Arial"/>
              </a:rPr>
              <a:t> </a:t>
            </a:r>
            <a:r>
              <a:rPr sz="1100" spc="60" dirty="0">
                <a:latin typeface="Arial"/>
                <a:cs typeface="Arial"/>
              </a:rPr>
              <a:t>(</a:t>
            </a:r>
            <a:r>
              <a:rPr sz="1100" i="1" spc="60" dirty="0">
                <a:latin typeface="Arial"/>
                <a:cs typeface="Arial"/>
              </a:rPr>
              <a:t>k</a:t>
            </a:r>
            <a:r>
              <a:rPr sz="1100" spc="60" dirty="0">
                <a:latin typeface="Arial"/>
                <a:cs typeface="Arial"/>
              </a:rPr>
              <a:t>)</a:t>
            </a:r>
            <a:r>
              <a:rPr sz="1100" spc="-50" dirty="0">
                <a:latin typeface="Arial"/>
                <a:cs typeface="Arial"/>
              </a:rPr>
              <a:t> </a:t>
            </a:r>
            <a:r>
              <a:rPr sz="1100" spc="200" dirty="0">
                <a:latin typeface="Arial"/>
                <a:cs typeface="Arial"/>
              </a:rPr>
              <a:t>+</a:t>
            </a:r>
            <a:r>
              <a:rPr sz="1100" spc="-50" dirty="0">
                <a:latin typeface="Arial"/>
                <a:cs typeface="Arial"/>
              </a:rPr>
              <a:t> </a:t>
            </a:r>
            <a:r>
              <a:rPr sz="1100" i="1" dirty="0">
                <a:latin typeface="Arial"/>
                <a:cs typeface="Arial"/>
              </a:rPr>
              <a:t>Ly</a:t>
            </a:r>
            <a:r>
              <a:rPr sz="1100" i="1" spc="1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(</a:t>
            </a:r>
            <a:r>
              <a:rPr sz="1100" i="1" dirty="0">
                <a:latin typeface="Arial"/>
                <a:cs typeface="Arial"/>
              </a:rPr>
              <a:t>k</a:t>
            </a:r>
            <a:r>
              <a:rPr sz="1100" i="1" spc="45" dirty="0">
                <a:latin typeface="Arial"/>
                <a:cs typeface="Arial"/>
              </a:rPr>
              <a:t> </a:t>
            </a:r>
            <a:r>
              <a:rPr sz="1100" spc="200" dirty="0">
                <a:latin typeface="Arial"/>
                <a:cs typeface="Arial"/>
              </a:rPr>
              <a:t>+</a:t>
            </a:r>
            <a:r>
              <a:rPr sz="1100" spc="-55" dirty="0">
                <a:latin typeface="Arial"/>
                <a:cs typeface="Arial"/>
              </a:rPr>
              <a:t> </a:t>
            </a:r>
            <a:r>
              <a:rPr sz="1100" spc="-25" dirty="0">
                <a:latin typeface="Arial"/>
                <a:cs typeface="Arial"/>
              </a:rPr>
              <a:t>1)</a:t>
            </a:r>
            <a:endParaRPr sz="1100" dirty="0">
              <a:latin typeface="Arial"/>
              <a:cs typeface="Arial"/>
            </a:endParaRPr>
          </a:p>
          <a:p>
            <a:pPr marL="199390">
              <a:lnSpc>
                <a:spcPct val="100000"/>
              </a:lnSpc>
              <a:spcBef>
                <a:spcPts val="335"/>
              </a:spcBef>
            </a:pPr>
            <a:r>
              <a:rPr sz="1100" i="1" spc="420" dirty="0">
                <a:latin typeface="Menlo"/>
                <a:cs typeface="Menlo"/>
              </a:rPr>
              <a:t>⇒</a:t>
            </a:r>
            <a:r>
              <a:rPr sz="1100" i="1" spc="-340" dirty="0">
                <a:latin typeface="Menlo"/>
                <a:cs typeface="Menlo"/>
              </a:rPr>
              <a:t> </a:t>
            </a:r>
            <a:r>
              <a:rPr sz="1100" i="1" spc="-135" dirty="0">
                <a:latin typeface="Arial"/>
                <a:cs typeface="Arial"/>
              </a:rPr>
              <a:t>e</a:t>
            </a:r>
            <a:r>
              <a:rPr sz="1100" i="1" spc="-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(</a:t>
            </a:r>
            <a:r>
              <a:rPr sz="1100" i="1" dirty="0">
                <a:latin typeface="Arial"/>
                <a:cs typeface="Arial"/>
              </a:rPr>
              <a:t>k</a:t>
            </a:r>
            <a:r>
              <a:rPr sz="1100" i="1" spc="45" dirty="0">
                <a:latin typeface="Arial"/>
                <a:cs typeface="Arial"/>
              </a:rPr>
              <a:t> </a:t>
            </a:r>
            <a:r>
              <a:rPr sz="1100" spc="200" dirty="0">
                <a:latin typeface="Arial"/>
                <a:cs typeface="Arial"/>
              </a:rPr>
              <a:t>+</a:t>
            </a:r>
            <a:r>
              <a:rPr sz="1100" spc="-5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1)</a:t>
            </a:r>
            <a:r>
              <a:rPr sz="1100" spc="15" dirty="0">
                <a:latin typeface="Arial"/>
                <a:cs typeface="Arial"/>
              </a:rPr>
              <a:t> </a:t>
            </a:r>
            <a:r>
              <a:rPr sz="1100" spc="200" dirty="0">
                <a:latin typeface="Arial"/>
                <a:cs typeface="Arial"/>
              </a:rPr>
              <a:t>=</a:t>
            </a:r>
            <a:r>
              <a:rPr sz="1100" spc="15" dirty="0">
                <a:latin typeface="Arial"/>
                <a:cs typeface="Arial"/>
              </a:rPr>
              <a:t> </a:t>
            </a:r>
            <a:r>
              <a:rPr sz="1100" i="1" spc="-55" dirty="0">
                <a:latin typeface="Arial"/>
                <a:cs typeface="Arial"/>
              </a:rPr>
              <a:t>x</a:t>
            </a:r>
            <a:r>
              <a:rPr sz="1100" i="1" spc="-204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(</a:t>
            </a:r>
            <a:r>
              <a:rPr sz="1100" i="1" dirty="0">
                <a:latin typeface="Arial"/>
                <a:cs typeface="Arial"/>
              </a:rPr>
              <a:t>k</a:t>
            </a:r>
            <a:r>
              <a:rPr sz="1100" i="1" spc="50" dirty="0">
                <a:latin typeface="Arial"/>
                <a:cs typeface="Arial"/>
              </a:rPr>
              <a:t> </a:t>
            </a:r>
            <a:r>
              <a:rPr sz="1100" spc="200" dirty="0">
                <a:latin typeface="Arial"/>
                <a:cs typeface="Arial"/>
              </a:rPr>
              <a:t>+</a:t>
            </a:r>
            <a:r>
              <a:rPr sz="1100" spc="-50" dirty="0">
                <a:latin typeface="Arial"/>
                <a:cs typeface="Arial"/>
              </a:rPr>
              <a:t> </a:t>
            </a:r>
            <a:r>
              <a:rPr sz="1100" spc="-20" dirty="0">
                <a:latin typeface="Arial"/>
                <a:cs typeface="Arial"/>
              </a:rPr>
              <a:t>1)</a:t>
            </a:r>
            <a:r>
              <a:rPr sz="1100" spc="-50" dirty="0">
                <a:latin typeface="Arial"/>
                <a:cs typeface="Arial"/>
              </a:rPr>
              <a:t> </a:t>
            </a:r>
            <a:r>
              <a:rPr sz="1100" i="1" spc="175" dirty="0">
                <a:latin typeface="Menlo"/>
                <a:cs typeface="Menlo"/>
              </a:rPr>
              <a:t>−</a:t>
            </a:r>
            <a:r>
              <a:rPr sz="1100" i="1" spc="-405" dirty="0">
                <a:latin typeface="Menlo"/>
                <a:cs typeface="Menlo"/>
              </a:rPr>
              <a:t> </a:t>
            </a:r>
            <a:r>
              <a:rPr sz="1100" i="1" spc="-40" dirty="0">
                <a:latin typeface="Arial"/>
                <a:cs typeface="Arial"/>
              </a:rPr>
              <a:t>Ly</a:t>
            </a:r>
            <a:r>
              <a:rPr sz="1100" i="1" spc="-18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(</a:t>
            </a:r>
            <a:r>
              <a:rPr sz="1100" i="1" dirty="0">
                <a:latin typeface="Arial"/>
                <a:cs typeface="Arial"/>
              </a:rPr>
              <a:t>k</a:t>
            </a:r>
            <a:r>
              <a:rPr sz="1100" i="1" spc="45" dirty="0">
                <a:latin typeface="Arial"/>
                <a:cs typeface="Arial"/>
              </a:rPr>
              <a:t> </a:t>
            </a:r>
            <a:r>
              <a:rPr sz="1100" spc="200" dirty="0">
                <a:latin typeface="Arial"/>
                <a:cs typeface="Arial"/>
              </a:rPr>
              <a:t>+</a:t>
            </a:r>
            <a:r>
              <a:rPr sz="1100" spc="-50" dirty="0">
                <a:latin typeface="Arial"/>
                <a:cs typeface="Arial"/>
              </a:rPr>
              <a:t> </a:t>
            </a:r>
            <a:r>
              <a:rPr sz="1100" spc="-20" dirty="0">
                <a:latin typeface="Arial"/>
                <a:cs typeface="Arial"/>
              </a:rPr>
              <a:t>1)</a:t>
            </a:r>
            <a:r>
              <a:rPr sz="1100" spc="-50" dirty="0">
                <a:latin typeface="Arial"/>
                <a:cs typeface="Arial"/>
              </a:rPr>
              <a:t> </a:t>
            </a:r>
            <a:r>
              <a:rPr sz="1100" i="1" spc="175" dirty="0">
                <a:latin typeface="Menlo"/>
                <a:cs typeface="Menlo"/>
              </a:rPr>
              <a:t>−</a:t>
            </a:r>
            <a:r>
              <a:rPr sz="1100" i="1" spc="-400" dirty="0">
                <a:latin typeface="Menlo"/>
                <a:cs typeface="Menlo"/>
              </a:rPr>
              <a:t> </a:t>
            </a:r>
            <a:r>
              <a:rPr sz="1100" dirty="0">
                <a:latin typeface="Arial"/>
                <a:cs typeface="Arial"/>
              </a:rPr>
              <a:t>(</a:t>
            </a:r>
            <a:r>
              <a:rPr sz="1100" i="1" dirty="0">
                <a:latin typeface="Arial"/>
                <a:cs typeface="Arial"/>
              </a:rPr>
              <a:t>I</a:t>
            </a:r>
            <a:r>
              <a:rPr sz="1100" i="1" spc="105" dirty="0">
                <a:latin typeface="Arial"/>
                <a:cs typeface="Arial"/>
              </a:rPr>
              <a:t> </a:t>
            </a:r>
            <a:r>
              <a:rPr sz="1100" i="1" spc="175" dirty="0">
                <a:latin typeface="Menlo"/>
                <a:cs typeface="Menlo"/>
              </a:rPr>
              <a:t>−</a:t>
            </a:r>
            <a:r>
              <a:rPr sz="1100" i="1" spc="-405" dirty="0">
                <a:latin typeface="Menlo"/>
                <a:cs typeface="Menlo"/>
              </a:rPr>
              <a:t> </a:t>
            </a:r>
            <a:r>
              <a:rPr sz="1100" i="1" spc="-75" dirty="0">
                <a:latin typeface="Arial"/>
                <a:cs typeface="Arial"/>
              </a:rPr>
              <a:t>LC</a:t>
            </a:r>
            <a:r>
              <a:rPr sz="1100" i="1" spc="-165" dirty="0">
                <a:latin typeface="Arial"/>
                <a:cs typeface="Arial"/>
              </a:rPr>
              <a:t> </a:t>
            </a:r>
            <a:r>
              <a:rPr sz="1100" spc="-15" dirty="0">
                <a:latin typeface="Arial"/>
                <a:cs typeface="Arial"/>
              </a:rPr>
              <a:t>)</a:t>
            </a:r>
            <a:r>
              <a:rPr sz="1100" i="1" spc="-15" dirty="0">
                <a:latin typeface="Arial"/>
                <a:cs typeface="Arial"/>
              </a:rPr>
              <a:t>A</a:t>
            </a:r>
            <a:r>
              <a:rPr lang="en-US" altLang="zh-CN" sz="1100" i="1" spc="-405" dirty="0">
                <a:latin typeface="Arial"/>
                <a:cs typeface="Arial"/>
              </a:rPr>
              <a:t> x</a:t>
            </a:r>
            <a:r>
              <a:rPr lang="en-US" altLang="zh-CN" sz="1100" spc="240" dirty="0">
                <a:latin typeface="Arial"/>
                <a:cs typeface="Arial"/>
              </a:rPr>
              <a:t>ˆ</a:t>
            </a:r>
            <a:r>
              <a:rPr sz="1100" spc="-15" dirty="0">
                <a:latin typeface="Arial"/>
                <a:cs typeface="Arial"/>
              </a:rPr>
              <a:t>(</a:t>
            </a:r>
            <a:r>
              <a:rPr sz="1100" i="1" spc="75" dirty="0">
                <a:latin typeface="Arial"/>
                <a:cs typeface="Arial"/>
              </a:rPr>
              <a:t>k</a:t>
            </a:r>
            <a:r>
              <a:rPr sz="1100" spc="-15" dirty="0">
                <a:latin typeface="Menlo"/>
                <a:cs typeface="Menlo"/>
              </a:rPr>
              <a:t>|</a:t>
            </a:r>
            <a:r>
              <a:rPr sz="1100" i="1" spc="75" dirty="0">
                <a:latin typeface="Arial"/>
                <a:cs typeface="Arial"/>
              </a:rPr>
              <a:t>k</a:t>
            </a:r>
            <a:r>
              <a:rPr sz="1100" spc="-15" dirty="0">
                <a:latin typeface="Arial"/>
                <a:cs typeface="Arial"/>
              </a:rPr>
              <a:t>)</a:t>
            </a:r>
            <a:r>
              <a:rPr sz="1100" spc="-50" dirty="0">
                <a:latin typeface="Arial"/>
                <a:cs typeface="Arial"/>
              </a:rPr>
              <a:t> </a:t>
            </a:r>
            <a:r>
              <a:rPr sz="1100" i="1" spc="175" dirty="0">
                <a:latin typeface="Menlo"/>
                <a:cs typeface="Menlo"/>
              </a:rPr>
              <a:t>−</a:t>
            </a:r>
            <a:r>
              <a:rPr sz="1100" i="1" spc="-405" dirty="0">
                <a:latin typeface="Menlo"/>
                <a:cs typeface="Menlo"/>
              </a:rPr>
              <a:t> </a:t>
            </a:r>
            <a:r>
              <a:rPr sz="1100" dirty="0">
                <a:latin typeface="Arial"/>
                <a:cs typeface="Arial"/>
              </a:rPr>
              <a:t>(</a:t>
            </a:r>
            <a:r>
              <a:rPr sz="1100" i="1" dirty="0">
                <a:latin typeface="Arial"/>
                <a:cs typeface="Arial"/>
              </a:rPr>
              <a:t>I</a:t>
            </a:r>
            <a:r>
              <a:rPr sz="1100" i="1" spc="105" dirty="0">
                <a:latin typeface="Arial"/>
                <a:cs typeface="Arial"/>
              </a:rPr>
              <a:t> </a:t>
            </a:r>
            <a:r>
              <a:rPr sz="1100" i="1" spc="175" dirty="0">
                <a:latin typeface="Menlo"/>
                <a:cs typeface="Menlo"/>
              </a:rPr>
              <a:t>−</a:t>
            </a:r>
            <a:r>
              <a:rPr sz="1100" i="1" spc="-405" dirty="0">
                <a:latin typeface="Menlo"/>
                <a:cs typeface="Menlo"/>
              </a:rPr>
              <a:t> </a:t>
            </a:r>
            <a:r>
              <a:rPr sz="1100" i="1" spc="-75" dirty="0">
                <a:latin typeface="Arial"/>
                <a:cs typeface="Arial"/>
              </a:rPr>
              <a:t>LC</a:t>
            </a:r>
            <a:r>
              <a:rPr sz="1100" i="1" spc="-165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)</a:t>
            </a:r>
            <a:r>
              <a:rPr sz="1100" i="1" spc="-10" dirty="0">
                <a:latin typeface="Arial"/>
                <a:cs typeface="Arial"/>
              </a:rPr>
              <a:t>Bu</a:t>
            </a:r>
            <a:r>
              <a:rPr sz="1100" spc="-10" dirty="0">
                <a:latin typeface="Arial"/>
                <a:cs typeface="Arial"/>
              </a:rPr>
              <a:t>(</a:t>
            </a:r>
            <a:r>
              <a:rPr sz="1100" i="1" spc="-10" dirty="0">
                <a:latin typeface="Arial"/>
                <a:cs typeface="Arial"/>
              </a:rPr>
              <a:t>k</a:t>
            </a:r>
            <a:r>
              <a:rPr sz="1100" spc="-10" dirty="0">
                <a:latin typeface="Arial"/>
                <a:cs typeface="Arial"/>
              </a:rPr>
              <a:t>)</a:t>
            </a:r>
            <a:endParaRPr sz="1100" dirty="0">
              <a:latin typeface="Arial"/>
              <a:cs typeface="Arial"/>
            </a:endParaRPr>
          </a:p>
          <a:p>
            <a:pPr marL="934085">
              <a:lnSpc>
                <a:spcPct val="100000"/>
              </a:lnSpc>
              <a:spcBef>
                <a:spcPts val="335"/>
              </a:spcBef>
            </a:pPr>
            <a:r>
              <a:rPr sz="1100" spc="200" dirty="0">
                <a:latin typeface="Arial"/>
                <a:cs typeface="Arial"/>
              </a:rPr>
              <a:t>=</a:t>
            </a:r>
            <a:r>
              <a:rPr sz="1100" dirty="0">
                <a:latin typeface="Arial"/>
                <a:cs typeface="Arial"/>
              </a:rPr>
              <a:t> (</a:t>
            </a:r>
            <a:r>
              <a:rPr sz="1100" i="1" dirty="0">
                <a:latin typeface="Arial"/>
                <a:cs typeface="Arial"/>
              </a:rPr>
              <a:t>A</a:t>
            </a:r>
            <a:r>
              <a:rPr sz="1100" i="1" spc="-45" dirty="0">
                <a:latin typeface="Arial"/>
                <a:cs typeface="Arial"/>
              </a:rPr>
              <a:t> </a:t>
            </a:r>
            <a:r>
              <a:rPr sz="1100" i="1" spc="175" dirty="0">
                <a:latin typeface="Menlo"/>
                <a:cs typeface="Menlo"/>
              </a:rPr>
              <a:t>−</a:t>
            </a:r>
            <a:r>
              <a:rPr sz="1100" i="1" spc="-405" dirty="0">
                <a:latin typeface="Menlo"/>
                <a:cs typeface="Menlo"/>
              </a:rPr>
              <a:t> </a:t>
            </a:r>
            <a:r>
              <a:rPr sz="1100" i="1" spc="-30" dirty="0">
                <a:latin typeface="Arial"/>
                <a:cs typeface="Arial"/>
              </a:rPr>
              <a:t>LCA</a:t>
            </a:r>
            <a:r>
              <a:rPr sz="1100" spc="-30" dirty="0">
                <a:latin typeface="Arial"/>
                <a:cs typeface="Arial"/>
              </a:rPr>
              <a:t>)</a:t>
            </a:r>
            <a:r>
              <a:rPr sz="1100" spc="-114" dirty="0">
                <a:latin typeface="Arial"/>
                <a:cs typeface="Arial"/>
              </a:rPr>
              <a:t> </a:t>
            </a:r>
            <a:r>
              <a:rPr sz="1100" i="1" spc="-135" dirty="0">
                <a:latin typeface="Arial"/>
                <a:cs typeface="Arial"/>
              </a:rPr>
              <a:t>e</a:t>
            </a:r>
            <a:r>
              <a:rPr sz="1100" i="1" spc="-30" dirty="0">
                <a:latin typeface="Arial"/>
                <a:cs typeface="Arial"/>
              </a:rPr>
              <a:t> </a:t>
            </a:r>
            <a:r>
              <a:rPr sz="1100" spc="35" dirty="0">
                <a:latin typeface="Arial"/>
                <a:cs typeface="Arial"/>
              </a:rPr>
              <a:t>(</a:t>
            </a:r>
            <a:r>
              <a:rPr sz="1100" i="1" spc="35" dirty="0">
                <a:latin typeface="Arial"/>
                <a:cs typeface="Arial"/>
              </a:rPr>
              <a:t>k</a:t>
            </a:r>
            <a:r>
              <a:rPr sz="1100" spc="35" dirty="0">
                <a:latin typeface="Arial"/>
                <a:cs typeface="Arial"/>
              </a:rPr>
              <a:t>)</a:t>
            </a:r>
            <a:endParaRPr sz="1100" dirty="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Observers</a:t>
            </a:r>
            <a:r>
              <a:rPr sz="600" spc="135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and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Observer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State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275163" y="3338410"/>
            <a:ext cx="27813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191919"/>
                </a:solidFill>
                <a:latin typeface="Arial"/>
                <a:cs typeface="Arial"/>
              </a:rPr>
              <a:t>20</a:t>
            </a:r>
            <a:r>
              <a:rPr sz="600" spc="-40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191919"/>
                </a:solidFill>
                <a:latin typeface="Arial"/>
                <a:cs typeface="Arial"/>
              </a:rPr>
              <a:t>/</a:t>
            </a:r>
            <a:r>
              <a:rPr sz="600" spc="-40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191919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95300" y="60916"/>
            <a:ext cx="3161665" cy="288290"/>
          </a:xfrm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dirty="0"/>
              <a:t>DT</a:t>
            </a:r>
            <a:r>
              <a:rPr spc="-25" dirty="0"/>
              <a:t> </a:t>
            </a:r>
            <a:r>
              <a:rPr dirty="0"/>
              <a:t>full</a:t>
            </a:r>
            <a:r>
              <a:rPr spc="-5" dirty="0"/>
              <a:t> </a:t>
            </a:r>
            <a:r>
              <a:rPr spc="-75" dirty="0"/>
              <a:t>state</a:t>
            </a:r>
            <a:r>
              <a:rPr dirty="0"/>
              <a:t> </a:t>
            </a:r>
            <a:r>
              <a:rPr spc="-140" dirty="0"/>
              <a:t>observer</a:t>
            </a:r>
            <a:r>
              <a:rPr spc="20" dirty="0"/>
              <a:t> </a:t>
            </a:r>
            <a:r>
              <a:rPr dirty="0"/>
              <a:t>with </a:t>
            </a:r>
            <a:r>
              <a:rPr spc="-65" dirty="0"/>
              <a:t>predictor</a:t>
            </a:r>
          </a:p>
        </p:txBody>
      </p:sp>
      <p:sp>
        <p:nvSpPr>
          <p:cNvPr id="9" name="object 9"/>
          <p:cNvSpPr txBox="1"/>
          <p:nvPr/>
        </p:nvSpPr>
        <p:spPr>
          <a:xfrm>
            <a:off x="215442" y="1182164"/>
            <a:ext cx="373634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47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latin typeface="Arial"/>
                <a:cs typeface="Arial"/>
              </a:rPr>
              <a:t>the </a:t>
            </a:r>
            <a:r>
              <a:rPr sz="1200" spc="-35" dirty="0">
                <a:latin typeface="Arial"/>
                <a:cs typeface="Arial"/>
              </a:rPr>
              <a:t>error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75" dirty="0">
                <a:latin typeface="Arial"/>
                <a:cs typeface="Arial"/>
              </a:rPr>
              <a:t>dynamics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70" dirty="0">
                <a:latin typeface="Arial"/>
                <a:cs typeface="Arial"/>
              </a:rPr>
              <a:t>can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be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arbitrarily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95" dirty="0">
                <a:latin typeface="Arial"/>
                <a:cs typeface="Arial"/>
              </a:rPr>
              <a:t>assigned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if the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pair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0" name="object 10"/>
          <p:cNvSpPr txBox="1"/>
          <p:nvPr/>
        </p:nvSpPr>
        <p:spPr>
          <a:xfrm>
            <a:off x="407860" y="1398940"/>
            <a:ext cx="2139950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lang="en-US" sz="1200" spc="100" dirty="0">
                <a:latin typeface="Arial"/>
                <a:cs typeface="Arial"/>
              </a:rPr>
              <a:t>(</a:t>
            </a:r>
            <a:r>
              <a:rPr sz="1200" i="1" spc="100" dirty="0">
                <a:latin typeface="Arial"/>
                <a:cs typeface="Arial"/>
              </a:rPr>
              <a:t>A</a:t>
            </a:r>
            <a:r>
              <a:rPr sz="1200" i="1" spc="100" dirty="0">
                <a:latin typeface="Times New Roman"/>
                <a:cs typeface="Times New Roman"/>
              </a:rPr>
              <a:t>,</a:t>
            </a:r>
            <a:r>
              <a:rPr sz="1200" i="1" spc="235" dirty="0">
                <a:latin typeface="Times New Roman"/>
                <a:cs typeface="Times New Roman"/>
              </a:rPr>
              <a:t> </a:t>
            </a:r>
            <a:r>
              <a:rPr sz="1200" i="1" spc="-360" dirty="0">
                <a:latin typeface="Arial"/>
                <a:cs typeface="Arial"/>
              </a:rPr>
              <a:t>C</a:t>
            </a:r>
            <a:r>
              <a:rPr sz="1800" spc="270" baseline="13888" dirty="0">
                <a:latin typeface="Arial"/>
                <a:cs typeface="Arial"/>
              </a:rPr>
              <a:t>˜</a:t>
            </a:r>
            <a:r>
              <a:rPr lang="en-US" sz="1200" spc="200" dirty="0">
                <a:latin typeface="Arial"/>
                <a:cs typeface="Arial"/>
              </a:rPr>
              <a:t>)=</a:t>
            </a:r>
            <a:r>
              <a:rPr sz="1200" spc="-4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(</a:t>
            </a:r>
            <a:r>
              <a:rPr sz="1200" i="1" dirty="0">
                <a:latin typeface="Arial"/>
                <a:cs typeface="Arial"/>
              </a:rPr>
              <a:t>A</a:t>
            </a:r>
            <a:r>
              <a:rPr sz="1200" i="1" dirty="0">
                <a:latin typeface="Times New Roman"/>
                <a:cs typeface="Times New Roman"/>
              </a:rPr>
              <a:t>,</a:t>
            </a:r>
            <a:r>
              <a:rPr sz="1200" i="1" spc="235" dirty="0">
                <a:latin typeface="Times New Roman"/>
                <a:cs typeface="Times New Roman"/>
              </a:rPr>
              <a:t> </a:t>
            </a:r>
            <a:r>
              <a:rPr sz="1200" i="1" dirty="0">
                <a:latin typeface="Arial"/>
                <a:cs typeface="Arial"/>
              </a:rPr>
              <a:t>CA</a:t>
            </a:r>
            <a:r>
              <a:rPr sz="1200" dirty="0">
                <a:latin typeface="Arial"/>
                <a:cs typeface="Arial"/>
              </a:rPr>
              <a:t>)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is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spc="-55" dirty="0">
                <a:latin typeface="Arial"/>
                <a:cs typeface="Arial"/>
              </a:rPr>
              <a:t>observable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1" name="object 11"/>
          <p:cNvSpPr txBox="1"/>
          <p:nvPr/>
        </p:nvSpPr>
        <p:spPr>
          <a:xfrm>
            <a:off x="215442" y="1636532"/>
            <a:ext cx="1673225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54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50" dirty="0">
                <a:latin typeface="Arial"/>
                <a:cs typeface="Arial"/>
              </a:rPr>
              <a:t>observability</a:t>
            </a:r>
            <a:r>
              <a:rPr sz="1200" dirty="0">
                <a:latin typeface="Arial"/>
                <a:cs typeface="Arial"/>
              </a:rPr>
              <a:t> matrix</a:t>
            </a:r>
            <a:r>
              <a:rPr sz="1200" spc="330" dirty="0">
                <a:latin typeface="Arial"/>
                <a:cs typeface="Arial"/>
              </a:rPr>
              <a:t> </a:t>
            </a:r>
            <a:endParaRPr sz="1800" baseline="13888" dirty="0">
              <a:latin typeface="Arial"/>
              <a:cs typeface="Arial"/>
            </a:endParaRPr>
          </a:p>
        </p:txBody>
      </p:sp>
      <p:sp>
        <p:nvSpPr>
          <p:cNvPr id="41" name="object 41"/>
          <p:cNvSpPr txBox="1"/>
          <p:nvPr/>
        </p:nvSpPr>
        <p:spPr>
          <a:xfrm>
            <a:off x="190042" y="2618842"/>
            <a:ext cx="3819525" cy="665375"/>
          </a:xfrm>
          <a:prstGeom prst="rect">
            <a:avLst/>
          </a:prstGeom>
        </p:spPr>
        <p:txBody>
          <a:bodyPr vert="horz" wrap="square" lIns="0" tIns="41275" rIns="0" bIns="0" rtlCol="0">
            <a:spAutoFit/>
          </a:bodyPr>
          <a:lstStyle/>
          <a:p>
            <a:pPr marL="63500">
              <a:lnSpc>
                <a:spcPct val="100000"/>
              </a:lnSpc>
              <a:spcBef>
                <a:spcPts val="32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75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latin typeface="Arial"/>
                <a:cs typeface="Arial"/>
              </a:rPr>
              <a:t>if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A </a:t>
            </a:r>
            <a:r>
              <a:rPr sz="1200" spc="-10" dirty="0">
                <a:latin typeface="Arial"/>
                <a:cs typeface="Arial"/>
              </a:rPr>
              <a:t>is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35" dirty="0">
                <a:latin typeface="Arial"/>
                <a:cs typeface="Arial"/>
              </a:rPr>
              <a:t>invertible,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then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i="1" spc="-509" dirty="0">
                <a:latin typeface="Arial"/>
                <a:cs typeface="Arial"/>
              </a:rPr>
              <a:t>Q</a:t>
            </a:r>
            <a:r>
              <a:rPr sz="1800" spc="112" baseline="13888" dirty="0">
                <a:latin typeface="Arial"/>
                <a:cs typeface="Arial"/>
              </a:rPr>
              <a:t>˜</a:t>
            </a:r>
            <a:r>
              <a:rPr sz="1200" i="1" spc="150" baseline="-13888" dirty="0">
                <a:latin typeface="Arial"/>
                <a:cs typeface="Arial"/>
              </a:rPr>
              <a:t>d</a:t>
            </a:r>
            <a:r>
              <a:rPr sz="1200" i="1" spc="330" baseline="-13888" dirty="0">
                <a:latin typeface="Arial"/>
                <a:cs typeface="Arial"/>
              </a:rPr>
              <a:t> </a:t>
            </a:r>
            <a:r>
              <a:rPr sz="1200" spc="-100" dirty="0">
                <a:latin typeface="Arial"/>
                <a:cs typeface="Arial"/>
              </a:rPr>
              <a:t>has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120" dirty="0">
                <a:latin typeface="Arial"/>
                <a:cs typeface="Arial"/>
              </a:rPr>
              <a:t>same</a:t>
            </a:r>
            <a:r>
              <a:rPr sz="1200" spc="40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rank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140" dirty="0">
                <a:latin typeface="Arial"/>
                <a:cs typeface="Arial"/>
              </a:rPr>
              <a:t>as</a:t>
            </a:r>
            <a:r>
              <a:rPr sz="1200" spc="50" dirty="0">
                <a:latin typeface="Arial"/>
                <a:cs typeface="Arial"/>
              </a:rPr>
              <a:t> </a:t>
            </a:r>
            <a:r>
              <a:rPr sz="1200" i="1" spc="-25" dirty="0">
                <a:latin typeface="Arial"/>
                <a:cs typeface="Arial"/>
              </a:rPr>
              <a:t>Q</a:t>
            </a:r>
            <a:r>
              <a:rPr sz="1200" i="1" spc="-37" baseline="-13888" dirty="0">
                <a:latin typeface="Arial"/>
                <a:cs typeface="Arial"/>
              </a:rPr>
              <a:t>d</a:t>
            </a:r>
            <a:endParaRPr sz="1200" baseline="-13888" dirty="0">
              <a:latin typeface="Arial"/>
              <a:cs typeface="Arial"/>
            </a:endParaRPr>
          </a:p>
          <a:p>
            <a:pPr marL="255904" marR="17780" indent="-193040">
              <a:lnSpc>
                <a:spcPts val="1770"/>
              </a:lnSpc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200" spc="315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lang="en-US" altLang="zh-CN" sz="1200" spc="100" dirty="0">
                <a:latin typeface="Arial"/>
                <a:cs typeface="Arial"/>
              </a:rPr>
              <a:t>(</a:t>
            </a:r>
            <a:r>
              <a:rPr lang="en-US" altLang="zh-CN" sz="1200" i="1" spc="100" dirty="0">
                <a:latin typeface="Arial"/>
                <a:cs typeface="Arial"/>
              </a:rPr>
              <a:t>A</a:t>
            </a:r>
            <a:r>
              <a:rPr lang="en-US" altLang="zh-CN" sz="1200" i="1" spc="100" dirty="0">
                <a:latin typeface="Times New Roman"/>
                <a:cs typeface="Times New Roman"/>
              </a:rPr>
              <a:t>,</a:t>
            </a:r>
            <a:r>
              <a:rPr lang="en-US" altLang="zh-CN" sz="1200" i="1" spc="235" dirty="0">
                <a:latin typeface="Times New Roman"/>
                <a:cs typeface="Times New Roman"/>
              </a:rPr>
              <a:t> </a:t>
            </a:r>
            <a:r>
              <a:rPr lang="en-US" altLang="zh-CN" sz="1200" i="1" spc="-360" dirty="0">
                <a:latin typeface="Arial"/>
                <a:cs typeface="Arial"/>
              </a:rPr>
              <a:t>C</a:t>
            </a:r>
            <a:r>
              <a:rPr lang="en-US" altLang="zh-CN" sz="1800" spc="270" baseline="13888" dirty="0">
                <a:latin typeface="Arial"/>
                <a:cs typeface="Arial"/>
              </a:rPr>
              <a:t>˜</a:t>
            </a:r>
            <a:r>
              <a:rPr lang="en-US" altLang="zh-CN" sz="1200" spc="200" dirty="0">
                <a:latin typeface="Arial"/>
                <a:cs typeface="Arial"/>
              </a:rPr>
              <a:t>)</a:t>
            </a:r>
            <a:r>
              <a:rPr sz="1200" spc="-10" dirty="0">
                <a:latin typeface="Arial"/>
                <a:cs typeface="Arial"/>
              </a:rPr>
              <a:t>is</a:t>
            </a:r>
            <a:r>
              <a:rPr sz="1200" spc="35" dirty="0">
                <a:latin typeface="Arial"/>
                <a:cs typeface="Arial"/>
              </a:rPr>
              <a:t> </a:t>
            </a:r>
            <a:r>
              <a:rPr sz="1200" spc="-85" dirty="0">
                <a:latin typeface="Arial"/>
                <a:cs typeface="Arial"/>
              </a:rPr>
              <a:t>observable</a:t>
            </a:r>
            <a:r>
              <a:rPr sz="1200" spc="3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if</a:t>
            </a:r>
            <a:r>
              <a:rPr sz="1200" spc="3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(</a:t>
            </a:r>
            <a:r>
              <a:rPr sz="1200" i="1" dirty="0">
                <a:latin typeface="Arial"/>
                <a:cs typeface="Arial"/>
              </a:rPr>
              <a:t>A</a:t>
            </a:r>
            <a:r>
              <a:rPr sz="1200" i="1" dirty="0">
                <a:latin typeface="Times New Roman"/>
                <a:cs typeface="Times New Roman"/>
              </a:rPr>
              <a:t>,</a:t>
            </a:r>
            <a:r>
              <a:rPr sz="1200" i="1" spc="260" dirty="0">
                <a:latin typeface="Times New Roman"/>
                <a:cs typeface="Times New Roman"/>
              </a:rPr>
              <a:t> </a:t>
            </a:r>
            <a:r>
              <a:rPr sz="1200" i="1" spc="-130" dirty="0">
                <a:latin typeface="Arial"/>
                <a:cs typeface="Arial"/>
              </a:rPr>
              <a:t>C</a:t>
            </a:r>
            <a:r>
              <a:rPr sz="1200" i="1" spc="-190" dirty="0">
                <a:latin typeface="Arial"/>
                <a:cs typeface="Arial"/>
              </a:rPr>
              <a:t> </a:t>
            </a:r>
            <a:r>
              <a:rPr sz="1200" spc="50" dirty="0">
                <a:latin typeface="Arial"/>
                <a:cs typeface="Arial"/>
              </a:rPr>
              <a:t>)</a:t>
            </a:r>
            <a:r>
              <a:rPr sz="1200" spc="3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is</a:t>
            </a:r>
            <a:r>
              <a:rPr sz="1200" spc="35" dirty="0">
                <a:latin typeface="Arial"/>
                <a:cs typeface="Arial"/>
              </a:rPr>
              <a:t> </a:t>
            </a:r>
            <a:r>
              <a:rPr sz="1200" spc="-85" dirty="0">
                <a:latin typeface="Arial"/>
                <a:cs typeface="Arial"/>
              </a:rPr>
              <a:t>observable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and</a:t>
            </a:r>
            <a:r>
              <a:rPr sz="1200" spc="3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A</a:t>
            </a:r>
            <a:r>
              <a:rPr sz="1200" i="1" spc="35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is </a:t>
            </a:r>
            <a:r>
              <a:rPr sz="1200" spc="-60" dirty="0">
                <a:latin typeface="Arial"/>
                <a:cs typeface="Arial"/>
              </a:rPr>
              <a:t>nonsingular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55" dirty="0">
                <a:latin typeface="Arial"/>
                <a:cs typeface="Arial"/>
              </a:rPr>
              <a:t>(guaranteed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if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discretized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from </a:t>
            </a:r>
            <a:r>
              <a:rPr sz="1200" dirty="0">
                <a:latin typeface="Arial"/>
                <a:cs typeface="Arial"/>
              </a:rPr>
              <a:t>a</a:t>
            </a:r>
            <a:r>
              <a:rPr sz="1200" spc="-1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CT</a:t>
            </a:r>
            <a:r>
              <a:rPr sz="1200" spc="-10" dirty="0">
                <a:latin typeface="Arial"/>
                <a:cs typeface="Arial"/>
              </a:rPr>
              <a:t> </a:t>
            </a:r>
            <a:r>
              <a:rPr sz="1200" spc="-60" dirty="0">
                <a:latin typeface="Arial"/>
                <a:cs typeface="Arial"/>
              </a:rPr>
              <a:t>system)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42" name="object 42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3" name="object 43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44" name="object 44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Observers</a:t>
            </a:r>
            <a:r>
              <a:rPr sz="600" spc="135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and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Observer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State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45" name="object 45"/>
          <p:cNvSpPr txBox="1"/>
          <p:nvPr/>
        </p:nvSpPr>
        <p:spPr>
          <a:xfrm>
            <a:off x="4275163" y="3338410"/>
            <a:ext cx="27813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191919"/>
                </a:solidFill>
                <a:latin typeface="Arial"/>
                <a:cs typeface="Arial"/>
              </a:rPr>
              <a:t>21</a:t>
            </a:r>
            <a:r>
              <a:rPr sz="600" spc="-40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191919"/>
                </a:solidFill>
                <a:latin typeface="Arial"/>
                <a:cs typeface="Arial"/>
              </a:rPr>
              <a:t>/</a:t>
            </a:r>
            <a:r>
              <a:rPr sz="600" spc="-40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191919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3BD7DED4-5AD2-8247-1C3A-6F0476C952AF}"/>
                  </a:ext>
                </a:extLst>
              </p:cNvPr>
              <p:cNvSpPr txBox="1"/>
              <p:nvPr/>
            </p:nvSpPr>
            <p:spPr>
              <a:xfrm>
                <a:off x="558506" y="1697958"/>
                <a:ext cx="3150010" cy="966355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acc>
                            <m:accPr>
                              <m:chr m:val="̃"/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acc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</m:acc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sub>
                      </m:sSub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⋮</m:t>
                                </m:r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̃"/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</m:acc>
                                <m:sSup>
                                  <m:sSup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𝐴</m:t>
                                    </m:r>
                                  </m:e>
                                  <m:sup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p>
                                </m:sSup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limUpp>
                        <m:limUpp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limUppPr>
                        <m:e>
                          <m:groupChr>
                            <m:groupChrPr>
                              <m:chr m:val="⏞"/>
                              <m:pos m:val="top"/>
                              <m:vertJc m:val="bot"/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groupChrPr>
                            <m:e>
                              <m:d>
                                <m:dPr>
                                  <m:begChr m:val="["/>
                                  <m:endChr m:val="]"/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m>
                                    <m:mPr>
                                      <m:mcs>
                                        <m:mc>
                                          <m:mcPr>
                                            <m:count m:val="1"/>
                                            <m:mcJc m:val="center"/>
                                          </m:mcPr>
                                        </m:mc>
                                      </m:mcs>
                                      <m:ctrlP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mPr>
                                    <m:mr>
                                      <m:e>
                                        <m:r>
                                          <m:rPr>
                                            <m:brk m:alnAt="7"/>
                                          </m:rPr>
                                          <a:rPr lang="en-US" altLang="zh-CN" sz="1200" b="0" i="1" smtClean="0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altLang="zh-CN" sz="1200" b="0" i="1" smtClean="0">
                                            <a:latin typeface="Cambria Math" panose="02040503050406030204" pitchFamily="18" charset="0"/>
                                          </a:rPr>
                                          <m:t>𝐶𝐴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altLang="zh-CN" sz="1200" b="0" i="1" smtClean="0">
                                            <a:latin typeface="Cambria Math" panose="02040503050406030204" pitchFamily="18" charset="0"/>
                                          </a:rPr>
                                          <m:t>⋮</m:t>
                                        </m:r>
                                      </m:e>
                                    </m:mr>
                                    <m:mr>
                                      <m:e>
                                        <m:r>
                                          <a:rPr lang="en-US" altLang="zh-CN" sz="1200" b="0" i="1" smtClean="0">
                                            <a:latin typeface="Cambria Math" panose="02040503050406030204" pitchFamily="18" charset="0"/>
                                          </a:rPr>
                                          <m:t>𝐶</m:t>
                                        </m:r>
                                        <m:sSup>
                                          <m:sSupPr>
                                            <m:ctrlPr>
                                              <a:rPr lang="en-US" altLang="zh-CN" sz="1200" b="0" i="1" smtClean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sSupPr>
                                          <m:e>
                                            <m:r>
                                              <a:rPr lang="en-US" altLang="zh-CN" sz="1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𝐴</m:t>
                                            </m:r>
                                          </m:e>
                                          <m:sup>
                                            <m:r>
                                              <a:rPr lang="en-US" altLang="zh-CN" sz="1200" b="0" i="1" smtClean="0">
                                                <a:latin typeface="Cambria Math" panose="02040503050406030204" pitchFamily="18" charset="0"/>
                                              </a:rPr>
                                              <m:t>𝑛</m:t>
                                            </m:r>
                                            <m:r>
                                              <a:rPr lang="en-US" altLang="zh-CN" sz="1200" b="0" i="1" smtClean="0">
                                                <a:latin typeface="Cambria Math" panose="02040503050406030204" pitchFamily="18" charset="0"/>
                                              </a:rPr>
                                              <m:t>−</m:t>
                                            </m:r>
                                            <m:r>
                                              <a:rPr lang="en-US" altLang="zh-CN" sz="1200" b="0" i="1" smtClean="0">
                                                <a:latin typeface="Cambria Math" panose="02040503050406030204" pitchFamily="18" charset="0"/>
                                              </a:rPr>
                                              <m:t>1</m:t>
                                            </m:r>
                                          </m:sup>
                                        </m:sSup>
                                      </m:e>
                                    </m:mr>
                                  </m:m>
                                </m:e>
                              </m:d>
                            </m:e>
                          </m:groupChr>
                        </m:e>
                        <m:lim>
                          <m:sSub>
                            <m:sSub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sSubPr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𝑄</m:t>
                              </m:r>
                            </m:e>
                            <m: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𝑑</m:t>
                              </m:r>
                            </m:sub>
                          </m:sSub>
                        </m:lim>
                      </m:limUpp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𝐴</m:t>
                      </m:r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46" name="文本框 45">
                <a:extLst>
                  <a:ext uri="{FF2B5EF4-FFF2-40B4-BE49-F238E27FC236}">
                    <a16:creationId xmlns:a16="http://schemas.microsoft.com/office/drawing/2014/main" id="{3BD7DED4-5AD2-8247-1C3A-6F0476C952AF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58506" y="1697958"/>
                <a:ext cx="3150010" cy="966355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BDCABCDB-C620-68D7-A38A-7FB028C3B139}"/>
                  </a:ext>
                </a:extLst>
              </p:cNvPr>
              <p:cNvSpPr txBox="1"/>
              <p:nvPr/>
            </p:nvSpPr>
            <p:spPr>
              <a:xfrm>
                <a:off x="599466" y="662969"/>
                <a:ext cx="3410101" cy="342081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+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𝐴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𝐿</m:t>
                          </m:r>
                          <m:limLow>
                            <m:limLowPr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limLowPr>
                            <m:e>
                              <m:groupChr>
                                <m:groupChrPr>
                                  <m:chr m:val="⏟"/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groupChr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𝐶𝐴</m:t>
                                  </m:r>
                                </m:e>
                              </m:groupChr>
                            </m:e>
                            <m:lim>
                              <m:acc>
                                <m:accPr>
                                  <m:chr m:val="̃"/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acc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</m:acc>
                            </m:lim>
                          </m:limLow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,  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𝑒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𝐼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−</m:t>
                          </m:r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𝐿𝐶</m:t>
                          </m:r>
                        </m:e>
                      </m:d>
                      <m:sSub>
                        <m:sSub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47" name="文本框 46">
                <a:extLst>
                  <a:ext uri="{FF2B5EF4-FFF2-40B4-BE49-F238E27FC236}">
                    <a16:creationId xmlns:a16="http://schemas.microsoft.com/office/drawing/2014/main" id="{BDCABCDB-C620-68D7-A38A-7FB028C3B139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599466" y="662969"/>
                <a:ext cx="3410101" cy="342081"/>
              </a:xfrm>
              <a:prstGeom prst="rect">
                <a:avLst/>
              </a:prstGeom>
              <a:blipFill>
                <a:blip r:embed="rId4"/>
                <a:stretch>
                  <a:fillRect b="-14286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35928" y="102461"/>
            <a:ext cx="639445" cy="244475"/>
          </a:xfrm>
          <a:prstGeom prst="rect">
            <a:avLst/>
          </a:prstGeom>
        </p:spPr>
        <p:txBody>
          <a:bodyPr vert="horz" wrap="square" lIns="0" tIns="1714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35"/>
              </a:spcBef>
            </a:pPr>
            <a:r>
              <a:rPr sz="1400" spc="-85" dirty="0">
                <a:solidFill>
                  <a:srgbClr val="000000"/>
                </a:solidFill>
              </a:rPr>
              <a:t>Example</a:t>
            </a:r>
            <a:endParaRPr sz="1400"/>
          </a:p>
        </p:txBody>
      </p:sp>
      <p:sp>
        <p:nvSpPr>
          <p:cNvPr id="13" name="object 13"/>
          <p:cNvSpPr txBox="1"/>
          <p:nvPr/>
        </p:nvSpPr>
        <p:spPr>
          <a:xfrm>
            <a:off x="124104" y="994901"/>
            <a:ext cx="4359910" cy="37125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50800">
              <a:lnSpc>
                <a:spcPts val="1390"/>
              </a:lnSpc>
            </a:pPr>
            <a:r>
              <a:rPr sz="1200" i="1" dirty="0">
                <a:latin typeface="Arial"/>
                <a:cs typeface="Arial"/>
              </a:rPr>
              <a:t>y</a:t>
            </a:r>
            <a:r>
              <a:rPr sz="1200" i="1" spc="-30" dirty="0">
                <a:latin typeface="Arial"/>
                <a:cs typeface="Arial"/>
              </a:rPr>
              <a:t> </a:t>
            </a:r>
            <a:r>
              <a:rPr sz="1200" spc="55" dirty="0">
                <a:latin typeface="Arial"/>
                <a:cs typeface="Arial"/>
              </a:rPr>
              <a:t>(</a:t>
            </a:r>
            <a:r>
              <a:rPr sz="1200" i="1" spc="55" dirty="0">
                <a:latin typeface="Arial"/>
                <a:cs typeface="Arial"/>
              </a:rPr>
              <a:t>k</a:t>
            </a:r>
            <a:r>
              <a:rPr sz="1200" spc="55" dirty="0">
                <a:latin typeface="Arial"/>
                <a:cs typeface="Arial"/>
              </a:rPr>
              <a:t>)</a:t>
            </a:r>
            <a:r>
              <a:rPr sz="1200" spc="-30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-30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x</a:t>
            </a:r>
            <a:r>
              <a:rPr sz="1200" baseline="-13888" dirty="0">
                <a:latin typeface="Arial"/>
                <a:cs typeface="Arial"/>
              </a:rPr>
              <a:t>1</a:t>
            </a:r>
            <a:r>
              <a:rPr sz="1200" dirty="0">
                <a:latin typeface="Arial"/>
                <a:cs typeface="Arial"/>
              </a:rPr>
              <a:t>(</a:t>
            </a:r>
            <a:r>
              <a:rPr sz="1200" i="1" dirty="0">
                <a:latin typeface="Arial"/>
                <a:cs typeface="Arial"/>
              </a:rPr>
              <a:t>k</a:t>
            </a:r>
            <a:r>
              <a:rPr sz="1200" dirty="0">
                <a:latin typeface="Arial"/>
                <a:cs typeface="Arial"/>
              </a:rPr>
              <a:t>).</a:t>
            </a:r>
            <a:r>
              <a:rPr sz="1200" spc="150" dirty="0">
                <a:latin typeface="Arial"/>
                <a:cs typeface="Arial"/>
              </a:rPr>
              <a:t> </a:t>
            </a:r>
            <a:r>
              <a:rPr sz="1200" spc="-70" dirty="0">
                <a:latin typeface="Arial"/>
                <a:cs typeface="Arial"/>
              </a:rPr>
              <a:t>Place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all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spc="-90" dirty="0">
                <a:latin typeface="Arial"/>
                <a:cs typeface="Arial"/>
              </a:rPr>
              <a:t>eigenvalues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of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spc="-45" dirty="0">
                <a:latin typeface="Arial"/>
                <a:cs typeface="Arial"/>
              </a:rPr>
              <a:t>an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b="1" spc="-45" dirty="0">
                <a:latin typeface="Arial"/>
                <a:cs typeface="Arial"/>
              </a:rPr>
              <a:t>observer</a:t>
            </a:r>
            <a:r>
              <a:rPr sz="1200" b="1" spc="80" dirty="0">
                <a:latin typeface="Arial"/>
                <a:cs typeface="Arial"/>
              </a:rPr>
              <a:t> </a:t>
            </a:r>
            <a:r>
              <a:rPr sz="1200" b="1" dirty="0">
                <a:latin typeface="Arial"/>
                <a:cs typeface="Arial"/>
              </a:rPr>
              <a:t>with</a:t>
            </a:r>
            <a:r>
              <a:rPr sz="1200" b="1" spc="75" dirty="0">
                <a:latin typeface="Arial"/>
                <a:cs typeface="Arial"/>
              </a:rPr>
              <a:t> </a:t>
            </a:r>
            <a:r>
              <a:rPr sz="1200" b="1" spc="-10" dirty="0">
                <a:latin typeface="Arial"/>
                <a:cs typeface="Arial"/>
              </a:rPr>
              <a:t>predictor</a:t>
            </a:r>
            <a:endParaRPr sz="1200" dirty="0">
              <a:latin typeface="Arial"/>
              <a:cs typeface="Arial"/>
            </a:endParaRPr>
          </a:p>
          <a:p>
            <a:pPr marL="50800">
              <a:lnSpc>
                <a:spcPts val="1395"/>
              </a:lnSpc>
            </a:pPr>
            <a:r>
              <a:rPr sz="1200" dirty="0">
                <a:latin typeface="Arial"/>
                <a:cs typeface="Arial"/>
              </a:rPr>
              <a:t>at</a:t>
            </a:r>
            <a:r>
              <a:rPr sz="1200" spc="-2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2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origin.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34" name="object 34"/>
          <p:cNvSpPr txBox="1"/>
          <p:nvPr/>
        </p:nvSpPr>
        <p:spPr>
          <a:xfrm>
            <a:off x="110528" y="2629596"/>
            <a:ext cx="3997960" cy="57467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200" spc="-50" dirty="0">
                <a:latin typeface="Arial"/>
                <a:cs typeface="Arial"/>
              </a:rPr>
              <a:t>det</a:t>
            </a:r>
            <a:r>
              <a:rPr sz="1200" spc="-13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(</a:t>
            </a:r>
            <a:r>
              <a:rPr sz="1200" i="1" dirty="0">
                <a:latin typeface="Arial"/>
                <a:cs typeface="Arial"/>
              </a:rPr>
              <a:t>A</a:t>
            </a:r>
            <a:r>
              <a:rPr sz="1200" i="1" spc="-65" dirty="0">
                <a:latin typeface="Arial"/>
                <a:cs typeface="Arial"/>
              </a:rPr>
              <a:t> </a:t>
            </a:r>
            <a:r>
              <a:rPr sz="1200" i="1" spc="200" dirty="0">
                <a:latin typeface="Menlo"/>
                <a:cs typeface="Menlo"/>
              </a:rPr>
              <a:t>−</a:t>
            </a:r>
            <a:r>
              <a:rPr sz="1200" i="1" spc="-450" dirty="0">
                <a:latin typeface="Menlo"/>
                <a:cs typeface="Menlo"/>
              </a:rPr>
              <a:t> </a:t>
            </a:r>
            <a:r>
              <a:rPr sz="1200" i="1" spc="-65" dirty="0">
                <a:latin typeface="Arial"/>
                <a:cs typeface="Arial"/>
              </a:rPr>
              <a:t>LCA </a:t>
            </a:r>
            <a:r>
              <a:rPr sz="1200" i="1" spc="200" dirty="0">
                <a:latin typeface="Menlo"/>
                <a:cs typeface="Menlo"/>
              </a:rPr>
              <a:t>−</a:t>
            </a:r>
            <a:r>
              <a:rPr sz="1200" i="1" spc="-450" dirty="0">
                <a:latin typeface="Menlo"/>
                <a:cs typeface="Menlo"/>
              </a:rPr>
              <a:t> </a:t>
            </a:r>
            <a:r>
              <a:rPr sz="1200" i="1" spc="65" dirty="0">
                <a:latin typeface="Times New Roman"/>
                <a:cs typeface="Times New Roman"/>
              </a:rPr>
              <a:t>λ</a:t>
            </a:r>
            <a:r>
              <a:rPr sz="1200" i="1" spc="65" dirty="0">
                <a:latin typeface="Arial"/>
                <a:cs typeface="Arial"/>
              </a:rPr>
              <a:t>I</a:t>
            </a:r>
            <a:r>
              <a:rPr sz="1200" i="1" spc="-170" dirty="0">
                <a:latin typeface="Arial"/>
                <a:cs typeface="Arial"/>
              </a:rPr>
              <a:t> </a:t>
            </a:r>
            <a:r>
              <a:rPr sz="1200" spc="50" dirty="0">
                <a:latin typeface="Arial"/>
                <a:cs typeface="Arial"/>
              </a:rPr>
              <a:t>)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((</a:t>
            </a:r>
            <a:r>
              <a:rPr sz="1200" i="1" dirty="0">
                <a:latin typeface="Arial"/>
                <a:cs typeface="Arial"/>
              </a:rPr>
              <a:t>l</a:t>
            </a:r>
            <a:r>
              <a:rPr sz="1200" baseline="-13888" dirty="0">
                <a:latin typeface="Arial"/>
                <a:cs typeface="Arial"/>
              </a:rPr>
              <a:t>1</a:t>
            </a:r>
            <a:r>
              <a:rPr sz="1200" spc="150" baseline="-13888" dirty="0">
                <a:latin typeface="Arial"/>
                <a:cs typeface="Arial"/>
              </a:rPr>
              <a:t> </a:t>
            </a:r>
            <a:r>
              <a:rPr sz="1200" i="1" spc="200" dirty="0">
                <a:latin typeface="Menlo"/>
                <a:cs typeface="Menlo"/>
              </a:rPr>
              <a:t>−</a:t>
            </a:r>
            <a:r>
              <a:rPr sz="1200" i="1" spc="-450" dirty="0">
                <a:latin typeface="Menlo"/>
                <a:cs typeface="Menlo"/>
              </a:rPr>
              <a:t> </a:t>
            </a:r>
            <a:r>
              <a:rPr sz="1200" spc="-20" dirty="0">
                <a:latin typeface="Arial"/>
                <a:cs typeface="Arial"/>
              </a:rPr>
              <a:t>1)</a:t>
            </a:r>
            <a:r>
              <a:rPr sz="1200" spc="-130" dirty="0">
                <a:latin typeface="Arial"/>
                <a:cs typeface="Arial"/>
              </a:rPr>
              <a:t> </a:t>
            </a:r>
            <a:r>
              <a:rPr sz="1200" i="1" spc="-20" dirty="0">
                <a:latin typeface="Arial"/>
                <a:cs typeface="Arial"/>
              </a:rPr>
              <a:t>a</a:t>
            </a:r>
            <a:r>
              <a:rPr sz="1200" spc="-30" baseline="-13888" dirty="0">
                <a:latin typeface="Arial"/>
                <a:cs typeface="Arial"/>
              </a:rPr>
              <a:t>2</a:t>
            </a:r>
            <a:r>
              <a:rPr sz="1200" spc="142" baseline="-13888" dirty="0">
                <a:latin typeface="Arial"/>
                <a:cs typeface="Arial"/>
              </a:rPr>
              <a:t> </a:t>
            </a:r>
            <a:r>
              <a:rPr sz="1200" i="1" spc="200" dirty="0">
                <a:latin typeface="Menlo"/>
                <a:cs typeface="Menlo"/>
              </a:rPr>
              <a:t>−</a:t>
            </a:r>
            <a:r>
              <a:rPr sz="1200" i="1" spc="-450" dirty="0">
                <a:latin typeface="Menlo"/>
                <a:cs typeface="Menlo"/>
              </a:rPr>
              <a:t> </a:t>
            </a:r>
            <a:r>
              <a:rPr sz="1200" i="1" spc="100" dirty="0">
                <a:latin typeface="Times New Roman"/>
                <a:cs typeface="Times New Roman"/>
              </a:rPr>
              <a:t>λ</a:t>
            </a:r>
            <a:r>
              <a:rPr sz="1200" spc="100" dirty="0">
                <a:latin typeface="Arial"/>
                <a:cs typeface="Arial"/>
              </a:rPr>
              <a:t>)</a:t>
            </a:r>
            <a:r>
              <a:rPr sz="1200" spc="-13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(</a:t>
            </a:r>
            <a:r>
              <a:rPr sz="1200" i="1" dirty="0">
                <a:latin typeface="Arial"/>
                <a:cs typeface="Arial"/>
              </a:rPr>
              <a:t>l</a:t>
            </a:r>
            <a:r>
              <a:rPr sz="1200" baseline="-13888" dirty="0">
                <a:latin typeface="Arial"/>
                <a:cs typeface="Arial"/>
              </a:rPr>
              <a:t>2</a:t>
            </a:r>
            <a:r>
              <a:rPr sz="1200" spc="150" baseline="-13888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65" dirty="0">
                <a:latin typeface="Arial"/>
                <a:cs typeface="Arial"/>
              </a:rPr>
              <a:t> </a:t>
            </a:r>
            <a:r>
              <a:rPr sz="1200" i="1" spc="100" dirty="0">
                <a:latin typeface="Times New Roman"/>
                <a:cs typeface="Times New Roman"/>
              </a:rPr>
              <a:t>λ</a:t>
            </a:r>
            <a:r>
              <a:rPr sz="1200" spc="100" dirty="0">
                <a:latin typeface="Arial"/>
                <a:cs typeface="Arial"/>
              </a:rPr>
              <a:t>)</a:t>
            </a:r>
            <a:r>
              <a:rPr sz="1200" spc="-130" dirty="0">
                <a:latin typeface="Arial"/>
                <a:cs typeface="Arial"/>
              </a:rPr>
              <a:t> </a:t>
            </a:r>
            <a:r>
              <a:rPr sz="1200" i="1" spc="155" dirty="0">
                <a:latin typeface="Times New Roman"/>
                <a:cs typeface="Times New Roman"/>
              </a:rPr>
              <a:t>λ</a:t>
            </a:r>
            <a:r>
              <a:rPr sz="1200" i="1" spc="-25" dirty="0">
                <a:latin typeface="Times New Roman"/>
                <a:cs typeface="Times New Roman"/>
              </a:rPr>
              <a:t> </a:t>
            </a:r>
            <a:r>
              <a:rPr sz="1200" spc="150" dirty="0">
                <a:latin typeface="Arial"/>
                <a:cs typeface="Arial"/>
              </a:rPr>
              <a:t>+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5"/>
              </a:spcBef>
            </a:pPr>
            <a:r>
              <a:rPr sz="1200" spc="-20" dirty="0">
                <a:latin typeface="Arial"/>
                <a:cs typeface="Arial"/>
              </a:rPr>
              <a:t>(1</a:t>
            </a:r>
            <a:r>
              <a:rPr sz="1200" spc="-65" dirty="0">
                <a:latin typeface="Arial"/>
                <a:cs typeface="Arial"/>
              </a:rPr>
              <a:t> </a:t>
            </a:r>
            <a:r>
              <a:rPr sz="1200" i="1" spc="200" dirty="0">
                <a:latin typeface="Menlo"/>
                <a:cs typeface="Menlo"/>
              </a:rPr>
              <a:t>−</a:t>
            </a:r>
            <a:r>
              <a:rPr sz="1200" i="1" spc="-455" dirty="0">
                <a:latin typeface="Menlo"/>
                <a:cs typeface="Menlo"/>
              </a:rPr>
              <a:t> </a:t>
            </a:r>
            <a:r>
              <a:rPr sz="1200" i="1" dirty="0">
                <a:latin typeface="Arial"/>
                <a:cs typeface="Arial"/>
              </a:rPr>
              <a:t>l</a:t>
            </a:r>
            <a:r>
              <a:rPr sz="1200" baseline="-13888" dirty="0">
                <a:latin typeface="Arial"/>
                <a:cs typeface="Arial"/>
              </a:rPr>
              <a:t>1</a:t>
            </a:r>
            <a:r>
              <a:rPr sz="1200" dirty="0">
                <a:latin typeface="Arial"/>
                <a:cs typeface="Arial"/>
              </a:rPr>
              <a:t>)</a:t>
            </a:r>
            <a:r>
              <a:rPr sz="1200" spc="-13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(</a:t>
            </a:r>
            <a:r>
              <a:rPr sz="1200" i="1" dirty="0">
                <a:latin typeface="Arial"/>
                <a:cs typeface="Arial"/>
              </a:rPr>
              <a:t>l</a:t>
            </a:r>
            <a:r>
              <a:rPr sz="1200" baseline="-13888" dirty="0">
                <a:latin typeface="Arial"/>
                <a:cs typeface="Arial"/>
              </a:rPr>
              <a:t>3</a:t>
            </a:r>
            <a:r>
              <a:rPr sz="1200" i="1" dirty="0">
                <a:latin typeface="Arial"/>
                <a:cs typeface="Arial"/>
              </a:rPr>
              <a:t>a</a:t>
            </a:r>
            <a:r>
              <a:rPr sz="1200" i="1" baseline="-13888" dirty="0">
                <a:latin typeface="Arial"/>
                <a:cs typeface="Arial"/>
              </a:rPr>
              <a:t>a</a:t>
            </a:r>
            <a:r>
              <a:rPr sz="1200" i="1" spc="157" baseline="-13888" dirty="0">
                <a:latin typeface="Arial"/>
                <a:cs typeface="Arial"/>
              </a:rPr>
              <a:t> </a:t>
            </a:r>
            <a:r>
              <a:rPr sz="1200" i="1" spc="200" dirty="0">
                <a:latin typeface="Menlo"/>
                <a:cs typeface="Menlo"/>
              </a:rPr>
              <a:t>−</a:t>
            </a:r>
            <a:r>
              <a:rPr sz="1200" i="1" spc="-455" dirty="0">
                <a:latin typeface="Menlo"/>
                <a:cs typeface="Menlo"/>
              </a:rPr>
              <a:t> </a:t>
            </a:r>
            <a:r>
              <a:rPr sz="1200" i="1" spc="-20" dirty="0">
                <a:latin typeface="Arial"/>
                <a:cs typeface="Arial"/>
              </a:rPr>
              <a:t>a</a:t>
            </a:r>
            <a:r>
              <a:rPr sz="1200" spc="-30" baseline="-13888" dirty="0">
                <a:latin typeface="Arial"/>
                <a:cs typeface="Arial"/>
              </a:rPr>
              <a:t>0</a:t>
            </a:r>
            <a:r>
              <a:rPr sz="1200" spc="-20" dirty="0">
                <a:latin typeface="Arial"/>
                <a:cs typeface="Arial"/>
              </a:rPr>
              <a:t>)</a:t>
            </a:r>
            <a:r>
              <a:rPr sz="1200" spc="-65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6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l</a:t>
            </a:r>
            <a:r>
              <a:rPr sz="1200" baseline="-13888" dirty="0">
                <a:latin typeface="Arial"/>
                <a:cs typeface="Arial"/>
              </a:rPr>
              <a:t>3</a:t>
            </a:r>
            <a:r>
              <a:rPr sz="1200" spc="52" baseline="-13888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((</a:t>
            </a:r>
            <a:r>
              <a:rPr sz="1200" i="1" dirty="0">
                <a:latin typeface="Arial"/>
                <a:cs typeface="Arial"/>
              </a:rPr>
              <a:t>l</a:t>
            </a:r>
            <a:r>
              <a:rPr sz="1200" baseline="-13888" dirty="0">
                <a:latin typeface="Arial"/>
                <a:cs typeface="Arial"/>
              </a:rPr>
              <a:t>1</a:t>
            </a:r>
            <a:r>
              <a:rPr sz="1200" spc="142" baseline="-13888" dirty="0">
                <a:latin typeface="Arial"/>
                <a:cs typeface="Arial"/>
              </a:rPr>
              <a:t> </a:t>
            </a:r>
            <a:r>
              <a:rPr sz="1200" i="1" spc="200" dirty="0">
                <a:latin typeface="Menlo"/>
                <a:cs typeface="Menlo"/>
              </a:rPr>
              <a:t>−</a:t>
            </a:r>
            <a:r>
              <a:rPr sz="1200" i="1" spc="-455" dirty="0">
                <a:latin typeface="Menlo"/>
                <a:cs typeface="Menlo"/>
              </a:rPr>
              <a:t> </a:t>
            </a:r>
            <a:r>
              <a:rPr sz="1200" spc="-20" dirty="0">
                <a:latin typeface="Arial"/>
                <a:cs typeface="Arial"/>
              </a:rPr>
              <a:t>1)</a:t>
            </a:r>
            <a:r>
              <a:rPr sz="1200" spc="-130" dirty="0">
                <a:latin typeface="Arial"/>
                <a:cs typeface="Arial"/>
              </a:rPr>
              <a:t> </a:t>
            </a:r>
            <a:r>
              <a:rPr sz="1200" i="1" spc="-20" dirty="0">
                <a:latin typeface="Arial"/>
                <a:cs typeface="Arial"/>
              </a:rPr>
              <a:t>a</a:t>
            </a:r>
            <a:r>
              <a:rPr sz="1200" spc="-30" baseline="-13888" dirty="0">
                <a:latin typeface="Arial"/>
                <a:cs typeface="Arial"/>
              </a:rPr>
              <a:t>2</a:t>
            </a:r>
            <a:r>
              <a:rPr sz="1200" spc="142" baseline="-13888" dirty="0">
                <a:latin typeface="Arial"/>
                <a:cs typeface="Arial"/>
              </a:rPr>
              <a:t> </a:t>
            </a:r>
            <a:r>
              <a:rPr sz="1200" i="1" spc="200" dirty="0">
                <a:latin typeface="Menlo"/>
                <a:cs typeface="Menlo"/>
              </a:rPr>
              <a:t>−</a:t>
            </a:r>
            <a:r>
              <a:rPr sz="1200" i="1" spc="-455" dirty="0">
                <a:latin typeface="Menlo"/>
                <a:cs typeface="Menlo"/>
              </a:rPr>
              <a:t> </a:t>
            </a:r>
            <a:r>
              <a:rPr sz="1200" i="1" spc="100" dirty="0">
                <a:latin typeface="Times New Roman"/>
                <a:cs typeface="Times New Roman"/>
              </a:rPr>
              <a:t>λ</a:t>
            </a:r>
            <a:r>
              <a:rPr sz="1200" spc="100" dirty="0">
                <a:latin typeface="Arial"/>
                <a:cs typeface="Arial"/>
              </a:rPr>
              <a:t>)</a:t>
            </a:r>
            <a:r>
              <a:rPr sz="1200" spc="-60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+</a:t>
            </a:r>
            <a:r>
              <a:rPr sz="1200" spc="-65" dirty="0">
                <a:latin typeface="Arial"/>
                <a:cs typeface="Arial"/>
              </a:rPr>
              <a:t> </a:t>
            </a:r>
            <a:r>
              <a:rPr sz="1200" i="1" spc="155" dirty="0">
                <a:latin typeface="Times New Roman"/>
                <a:cs typeface="Times New Roman"/>
              </a:rPr>
              <a:t>λ</a:t>
            </a:r>
            <a:r>
              <a:rPr sz="1200" i="1" spc="-100" dirty="0">
                <a:latin typeface="Times New Roman"/>
                <a:cs typeface="Times New Roman"/>
              </a:rPr>
              <a:t> </a:t>
            </a:r>
            <a:r>
              <a:rPr sz="1200" spc="-20" dirty="0">
                <a:latin typeface="Arial"/>
                <a:cs typeface="Arial"/>
              </a:rPr>
              <a:t>(1</a:t>
            </a:r>
            <a:r>
              <a:rPr sz="1200" spc="-65" dirty="0">
                <a:latin typeface="Arial"/>
                <a:cs typeface="Arial"/>
              </a:rPr>
              <a:t> </a:t>
            </a:r>
            <a:r>
              <a:rPr sz="1200" i="1" spc="200" dirty="0">
                <a:latin typeface="Menlo"/>
                <a:cs typeface="Menlo"/>
              </a:rPr>
              <a:t>−</a:t>
            </a:r>
            <a:r>
              <a:rPr sz="1200" i="1" spc="-455" dirty="0">
                <a:latin typeface="Menlo"/>
                <a:cs typeface="Menlo"/>
              </a:rPr>
              <a:t> </a:t>
            </a:r>
            <a:r>
              <a:rPr sz="1200" i="1" dirty="0">
                <a:latin typeface="Arial"/>
                <a:cs typeface="Arial"/>
              </a:rPr>
              <a:t>l</a:t>
            </a:r>
            <a:r>
              <a:rPr sz="1200" baseline="-13888" dirty="0">
                <a:latin typeface="Arial"/>
                <a:cs typeface="Arial"/>
              </a:rPr>
              <a:t>1</a:t>
            </a:r>
            <a:r>
              <a:rPr sz="1200" dirty="0">
                <a:latin typeface="Arial"/>
                <a:cs typeface="Arial"/>
              </a:rPr>
              <a:t>)</a:t>
            </a:r>
            <a:r>
              <a:rPr sz="1200" spc="-13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(</a:t>
            </a:r>
            <a:r>
              <a:rPr sz="1200" i="1" dirty="0">
                <a:latin typeface="Arial"/>
                <a:cs typeface="Arial"/>
              </a:rPr>
              <a:t>l</a:t>
            </a:r>
            <a:r>
              <a:rPr sz="1200" baseline="-13888" dirty="0">
                <a:latin typeface="Arial"/>
                <a:cs typeface="Arial"/>
              </a:rPr>
              <a:t>2</a:t>
            </a:r>
            <a:r>
              <a:rPr sz="1200" i="1" dirty="0">
                <a:latin typeface="Arial"/>
                <a:cs typeface="Arial"/>
              </a:rPr>
              <a:t>a</a:t>
            </a:r>
            <a:r>
              <a:rPr sz="1200" baseline="-13888" dirty="0">
                <a:latin typeface="Arial"/>
                <a:cs typeface="Arial"/>
              </a:rPr>
              <a:t>2</a:t>
            </a:r>
            <a:r>
              <a:rPr sz="1200" spc="142" baseline="-13888" dirty="0">
                <a:latin typeface="Arial"/>
                <a:cs typeface="Arial"/>
              </a:rPr>
              <a:t> </a:t>
            </a:r>
            <a:r>
              <a:rPr sz="1200" i="1" spc="200" dirty="0">
                <a:latin typeface="Menlo"/>
                <a:cs typeface="Menlo"/>
              </a:rPr>
              <a:t>−</a:t>
            </a:r>
            <a:r>
              <a:rPr sz="1200" i="1" spc="-455" dirty="0">
                <a:latin typeface="Menlo"/>
                <a:cs typeface="Menlo"/>
              </a:rPr>
              <a:t> </a:t>
            </a:r>
            <a:r>
              <a:rPr sz="1200" i="1" spc="-25" dirty="0">
                <a:latin typeface="Arial"/>
                <a:cs typeface="Arial"/>
              </a:rPr>
              <a:t>a</a:t>
            </a:r>
            <a:r>
              <a:rPr sz="1200" spc="-37" baseline="-13888" dirty="0">
                <a:latin typeface="Arial"/>
                <a:cs typeface="Arial"/>
              </a:rPr>
              <a:t>1</a:t>
            </a:r>
            <a:r>
              <a:rPr sz="1200" spc="-25" dirty="0">
                <a:latin typeface="Arial"/>
                <a:cs typeface="Arial"/>
              </a:rPr>
              <a:t>)</a:t>
            </a:r>
            <a:endParaRPr sz="120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5"/>
              </a:spcBef>
            </a:pPr>
            <a:r>
              <a:rPr sz="1200" spc="-20" dirty="0">
                <a:latin typeface="Arial"/>
                <a:cs typeface="Arial"/>
              </a:rPr>
              <a:t>roots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30" dirty="0">
                <a:latin typeface="Arial"/>
                <a:cs typeface="Arial"/>
              </a:rPr>
              <a:t>must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be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all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0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i="1" spc="145" dirty="0">
                <a:latin typeface="Menlo"/>
                <a:cs typeface="Menlo"/>
              </a:rPr>
              <a:t>⇒</a:t>
            </a:r>
            <a:r>
              <a:rPr sz="1200" i="1" spc="145" dirty="0">
                <a:latin typeface="Arial"/>
                <a:cs typeface="Arial"/>
              </a:rPr>
              <a:t>l</a:t>
            </a:r>
            <a:r>
              <a:rPr sz="1200" spc="217" baseline="-13888" dirty="0">
                <a:latin typeface="Arial"/>
                <a:cs typeface="Arial"/>
              </a:rPr>
              <a:t>1</a:t>
            </a:r>
            <a:r>
              <a:rPr sz="1200" spc="172" baseline="-13888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-45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1,</a:t>
            </a:r>
            <a:r>
              <a:rPr sz="1200" spc="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l</a:t>
            </a:r>
            <a:r>
              <a:rPr sz="1200" baseline="-13888" dirty="0">
                <a:latin typeface="Arial"/>
                <a:cs typeface="Arial"/>
              </a:rPr>
              <a:t>2</a:t>
            </a:r>
            <a:r>
              <a:rPr sz="1200" spc="165" baseline="-13888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-45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l</a:t>
            </a:r>
            <a:r>
              <a:rPr sz="1200" baseline="-13888" dirty="0">
                <a:latin typeface="Arial"/>
                <a:cs typeface="Arial"/>
              </a:rPr>
              <a:t>3</a:t>
            </a:r>
            <a:r>
              <a:rPr sz="1200" spc="165" baseline="-13888" dirty="0">
                <a:latin typeface="Arial"/>
                <a:cs typeface="Arial"/>
              </a:rPr>
              <a:t> </a:t>
            </a:r>
            <a:r>
              <a:rPr sz="1200" spc="200" dirty="0">
                <a:latin typeface="Arial"/>
                <a:cs typeface="Arial"/>
              </a:rPr>
              <a:t>=</a:t>
            </a:r>
            <a:r>
              <a:rPr sz="1200" spc="-45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0.</a:t>
            </a:r>
            <a:endParaRPr sz="1200">
              <a:latin typeface="Arial"/>
              <a:cs typeface="Arial"/>
            </a:endParaRPr>
          </a:p>
        </p:txBody>
      </p:sp>
      <p:sp>
        <p:nvSpPr>
          <p:cNvPr id="35" name="object 35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37" name="object 37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Observers</a:t>
            </a:r>
            <a:r>
              <a:rPr sz="600" spc="135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and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Observer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State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38" name="object 38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r>
              <a:rPr dirty="0"/>
              <a:t>22</a:t>
            </a:r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27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1097AEF8-B32E-EF7B-502A-3A0585FACBF0}"/>
                  </a:ext>
                </a:extLst>
              </p:cNvPr>
              <p:cNvSpPr txBox="1"/>
              <p:nvPr/>
            </p:nvSpPr>
            <p:spPr>
              <a:xfrm>
                <a:off x="437159" y="321568"/>
                <a:ext cx="3733800" cy="688650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(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𝑘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+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)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  <m:d>
                                  <m:d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𝑘</m:t>
                                    </m:r>
                                  </m:e>
                                </m:d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𝑏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𝑢</m:t>
                      </m:r>
                      <m:d>
                        <m:d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𝑘</m:t>
                          </m:r>
                        </m:e>
                      </m:d>
                    </m:oMath>
                  </m:oMathPara>
                </a14:m>
                <a:endParaRPr lang="en-US" altLang="zh-CN" sz="1200" b="0" dirty="0"/>
              </a:p>
            </p:txBody>
          </p:sp>
        </mc:Choice>
        <mc:Fallback xmlns="">
          <p:sp>
            <p:nvSpPr>
              <p:cNvPr id="41" name="文本框 40">
                <a:extLst>
                  <a:ext uri="{FF2B5EF4-FFF2-40B4-BE49-F238E27FC236}">
                    <a16:creationId xmlns:a16="http://schemas.microsoft.com/office/drawing/2014/main" id="{1097AEF8-B32E-EF7B-502A-3A0585FACBF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159" y="321568"/>
                <a:ext cx="3733800" cy="688650"/>
              </a:xfrm>
              <a:prstGeom prst="rect">
                <a:avLst/>
              </a:prstGeom>
              <a:blipFill>
                <a:blip r:embed="rId3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9708402D-B55C-81B6-3036-D05075A443C3}"/>
                  </a:ext>
                </a:extLst>
              </p:cNvPr>
              <p:cNvSpPr txBox="1"/>
              <p:nvPr/>
            </p:nvSpPr>
            <p:spPr>
              <a:xfrm>
                <a:off x="437159" y="1380873"/>
                <a:ext cx="3733800" cy="1266244"/>
              </a:xfrm>
              <a:prstGeom prst="rect">
                <a:avLst/>
              </a:prstGeom>
              <a:noFill/>
            </p:spPr>
            <p:txBody>
              <a:bodyPr wrap="square">
                <a:spAutoFit/>
              </a:bodyPr>
              <a:lstStyle/>
              <a:p>
                <a:pPr algn="l"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𝐴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𝐿𝐶𝐴</m:t>
                      </m:r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−</m:t>
                                    </m:r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0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−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1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3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3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𝑎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2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1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en-US" altLang="zh-CN" sz="1200" b="0" i="1" dirty="0">
                  <a:latin typeface="Cambria Math" panose="02040503050406030204" pitchFamily="18" charset="0"/>
                </a:endParaRPr>
              </a:p>
              <a:p>
                <a:pPr algn="l"/>
                <a:r>
                  <a:rPr lang="en-US" altLang="zh-CN" sz="1200" b="0" dirty="0"/>
                  <a:t>                     </a:t>
                </a:r>
                <a14:m>
                  <m:oMath xmlns:m="http://schemas.openxmlformats.org/officeDocument/2006/math">
                    <m:r>
                      <a:rPr lang="en-US" altLang="zh-CN" sz="1200" b="0" i="1" smtClean="0">
                        <a:latin typeface="Cambria Math" panose="02040503050406030204" pitchFamily="18" charset="0"/>
                      </a:rPr>
                      <m:t>=</m:t>
                    </m:r>
                  </m:oMath>
                </a14:m>
                <a:r>
                  <a:rPr lang="en-US" altLang="zh-CN" sz="1200" dirty="0"/>
                  <a:t> </a:t>
                </a:r>
                <a14:m>
                  <m:oMath xmlns:m="http://schemas.openxmlformats.org/officeDocument/2006/math">
                    <m:d>
                      <m:dPr>
                        <m:begChr m:val="["/>
                        <m:endChr m:val="]"/>
                        <m:ctrlPr>
                          <a:rPr lang="en-US" altLang="zh-CN" sz="1200" i="1" smtClean="0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m>
                          <m:mPr>
                            <m:mcs>
                              <m:mc>
                                <m:mcPr>
                                  <m:count m:val="3"/>
                                  <m:mcJc m:val="center"/>
                                </m:mcPr>
                              </m:mc>
                            </m:mcs>
                            <m:ctrlPr>
                              <a:rPr lang="en-US" altLang="zh-CN" sz="1200" i="1" smtClean="0">
                                <a:latin typeface="Cambria Math" panose="02040503050406030204" pitchFamily="18" charset="0"/>
                              </a:rPr>
                            </m:ctrlPr>
                          </m:mPr>
                          <m:mr>
                            <m:e>
                              <m:r>
                                <m:rPr>
                                  <m:brk m:alnAt="7"/>
                                </m:r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(</m:t>
                              </m:r>
                              <m:sSub>
                                <m:sSub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m:rPr>
                                      <m:brk m:alnAt="7"/>
                                    </m:r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m:rPr>
                                      <m:brk m:alnAt="7"/>
                                    </m:r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  <m:r>
                                <m:rPr>
                                  <m:brk m:alnAt="7"/>
                                </m:r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r>
                                <m:rPr>
                                  <m:brk m:alnAt="7"/>
                                </m:r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m:rPr>
                                  <m:brk m:alnAt="7"/>
                                </m:r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)</m:t>
                              </m:r>
                              <m:sSub>
                                <m:sSubPr>
                                  <m:ctrlPr>
                                    <a:rPr lang="en-US" altLang="zh-CN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sSub>
                                <m:sSub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</m:e>
                          </m:mr>
                          <m:mr>
                            <m:e>
                              <m:sSub>
                                <m:sSubPr>
                                  <m:ctrlPr>
                                    <a:rPr lang="en-US" altLang="zh-CN" sz="120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sSub>
                                    <m:sSubPr>
                                      <m:ctrlP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  <m:t>𝐼</m:t>
                                      </m:r>
                                    </m:e>
                                    <m:sub>
                                      <m: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  <m:t>3</m:t>
                                      </m:r>
                                    </m:sub>
                                  </m:sSub>
                                  <m:sSub>
                                    <m:sSubPr>
                                      <m:ctrlP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</m:ctrlPr>
                                    </m:sSubPr>
                                    <m:e>
                                      <m: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  <m:t>𝑎</m:t>
                                      </m:r>
                                    </m:e>
                                    <m:sub>
                                      <m:r>
                                        <a:rPr lang="en-US" altLang="zh-CN" sz="1200" b="0" i="1" smtClean="0">
                                          <a:latin typeface="Cambria Math" panose="02040503050406030204" pitchFamily="18" charset="0"/>
                                        </a:rPr>
                                        <m:t>2</m:t>
                                      </m:r>
                                    </m:sub>
                                  </m:sSub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−</m:t>
                                  </m:r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𝑎</m:t>
                                  </m:r>
                                </m:e>
                                <m:sub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0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−</m:t>
                              </m:r>
                              <m:sSub>
                                <m:sSubPr>
                                  <m:ctrlP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𝐼</m:t>
                                  </m:r>
                                </m:e>
                                <m:sub>
                                  <m:r>
                                    <a:rPr lang="en-US" altLang="zh-CN" sz="1200" b="0" i="1" smtClean="0">
                                      <a:latin typeface="Cambria Math" panose="02040503050406030204" pitchFamily="18" charset="0"/>
                                    </a:rPr>
                                    <m:t>3</m:t>
                                  </m:r>
                                </m:sub>
                              </m:sSub>
                            </m:e>
                            <m:e>
                              <m: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mr>
                        </m:m>
                      </m:e>
                    </m:d>
                  </m:oMath>
                </a14:m>
                <a:endParaRPr lang="en-US" altLang="zh-CN" sz="1200" dirty="0"/>
              </a:p>
            </p:txBody>
          </p:sp>
        </mc:Choice>
        <mc:Fallback xmlns="">
          <p:sp>
            <p:nvSpPr>
              <p:cNvPr id="42" name="文本框 41">
                <a:extLst>
                  <a:ext uri="{FF2B5EF4-FFF2-40B4-BE49-F238E27FC236}">
                    <a16:creationId xmlns:a16="http://schemas.microsoft.com/office/drawing/2014/main" id="{9708402D-B55C-81B6-3036-D05075A443C3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37159" y="1380873"/>
                <a:ext cx="3733800" cy="1266244"/>
              </a:xfrm>
              <a:prstGeom prst="rect">
                <a:avLst/>
              </a:prstGeom>
              <a:blipFill>
                <a:blip r:embed="rId4"/>
                <a:stretch>
                  <a:fillRect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xfrm>
            <a:off x="135928" y="549742"/>
            <a:ext cx="77216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dirty="0">
                <a:solidFill>
                  <a:srgbClr val="E5E5E5"/>
                </a:solidFill>
              </a:rPr>
              <a:t>1.</a:t>
            </a:r>
            <a:r>
              <a:rPr sz="1200" spc="80" dirty="0">
                <a:solidFill>
                  <a:srgbClr val="E5E5E5"/>
                </a:solidFill>
              </a:rPr>
              <a:t> </a:t>
            </a:r>
            <a:r>
              <a:rPr sz="1200" spc="-75" dirty="0">
                <a:solidFill>
                  <a:srgbClr val="E5E5E5"/>
                </a:solidFill>
                <a:hlinkClick r:id="rId2" action="ppaction://hlinksldjump"/>
              </a:rPr>
              <a:t>Concepts</a:t>
            </a:r>
            <a:endParaRPr sz="1200"/>
          </a:p>
        </p:txBody>
      </p:sp>
      <p:sp>
        <p:nvSpPr>
          <p:cNvPr id="3" name="object 3"/>
          <p:cNvSpPr txBox="1"/>
          <p:nvPr/>
        </p:nvSpPr>
        <p:spPr>
          <a:xfrm>
            <a:off x="135928" y="1035758"/>
            <a:ext cx="2661920" cy="154686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93675" indent="-180975">
              <a:lnSpc>
                <a:spcPct val="100000"/>
              </a:lnSpc>
              <a:spcBef>
                <a:spcPts val="95"/>
              </a:spcBef>
              <a:buAutoNum type="arabicPeriod" startAt="2"/>
              <a:tabLst>
                <a:tab pos="193675" algn="l"/>
              </a:tabLst>
            </a:pPr>
            <a:r>
              <a:rPr sz="1200" spc="-60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Continuous-</a:t>
            </a:r>
            <a:r>
              <a:rPr sz="1200" spc="-25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time</a:t>
            </a:r>
            <a:r>
              <a:rPr sz="1200" spc="20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spc="-70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Luenberger</a:t>
            </a:r>
            <a:r>
              <a:rPr sz="1200" spc="20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1200" spc="-10" dirty="0">
                <a:solidFill>
                  <a:srgbClr val="E5E5E5"/>
                </a:solidFill>
                <a:latin typeface="Arial"/>
                <a:cs typeface="Arial"/>
                <a:hlinkClick r:id="rId3" action="ppaction://hlinksldjump"/>
              </a:rPr>
              <a:t>observer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05"/>
              </a:spcBef>
              <a:buAutoNum type="arabicPeriod" startAt="2"/>
            </a:pPr>
            <a:endParaRPr sz="1200">
              <a:latin typeface="Arial"/>
              <a:cs typeface="Arial"/>
            </a:endParaRPr>
          </a:p>
          <a:p>
            <a:pPr marL="193040" marR="910590" indent="-180975">
              <a:lnSpc>
                <a:spcPct val="100000"/>
              </a:lnSpc>
              <a:buAutoNum type="arabicPeriod" startAt="2"/>
              <a:tabLst>
                <a:tab pos="384175" algn="l"/>
              </a:tabLst>
            </a:pPr>
            <a:r>
              <a:rPr sz="1200" spc="-55" dirty="0">
                <a:solidFill>
                  <a:srgbClr val="E5E5E5"/>
                </a:solidFill>
                <a:latin typeface="Arial"/>
                <a:cs typeface="Arial"/>
                <a:hlinkClick r:id="" action="ppaction://noaction"/>
              </a:rPr>
              <a:t>Discrete-</a:t>
            </a:r>
            <a:r>
              <a:rPr sz="1200" spc="-25" dirty="0">
                <a:solidFill>
                  <a:srgbClr val="E5E5E5"/>
                </a:solidFill>
                <a:latin typeface="Arial"/>
                <a:cs typeface="Arial"/>
                <a:hlinkClick r:id="" action="ppaction://noaction"/>
              </a:rPr>
              <a:t>time</a:t>
            </a:r>
            <a:r>
              <a:rPr sz="1200" spc="15" dirty="0">
                <a:solidFill>
                  <a:srgbClr val="E5E5E5"/>
                </a:solidFill>
                <a:latin typeface="Arial"/>
                <a:cs typeface="Arial"/>
                <a:hlinkClick r:id="" action="ppaction://noaction"/>
              </a:rPr>
              <a:t> </a:t>
            </a:r>
            <a:r>
              <a:rPr sz="1200" spc="-10" dirty="0">
                <a:solidFill>
                  <a:srgbClr val="E5E5E5"/>
                </a:solidFill>
                <a:latin typeface="Arial"/>
                <a:cs typeface="Arial"/>
                <a:hlinkClick r:id="" action="ppaction://noaction"/>
              </a:rPr>
              <a:t>observers</a:t>
            </a:r>
            <a:r>
              <a:rPr sz="1200" spc="-10" dirty="0">
                <a:solidFill>
                  <a:srgbClr val="E5E5E5"/>
                </a:solidFill>
                <a:latin typeface="Arial"/>
                <a:cs typeface="Arial"/>
              </a:rPr>
              <a:t> 	</a:t>
            </a:r>
            <a:r>
              <a:rPr sz="1200" dirty="0">
                <a:solidFill>
                  <a:srgbClr val="CCCCCC"/>
                </a:solidFill>
                <a:latin typeface="Arial"/>
                <a:cs typeface="Arial"/>
                <a:hlinkClick r:id="" action="ppaction://noaction"/>
              </a:rPr>
              <a:t>DT</a:t>
            </a:r>
            <a:r>
              <a:rPr sz="1200" spc="15" dirty="0">
                <a:solidFill>
                  <a:srgbClr val="CCCCCC"/>
                </a:solidFill>
                <a:latin typeface="Arial"/>
                <a:cs typeface="Arial"/>
                <a:hlinkClick r:id="" action="ppaction://noaction"/>
              </a:rPr>
              <a:t> </a:t>
            </a:r>
            <a:r>
              <a:rPr sz="1200" dirty="0">
                <a:solidFill>
                  <a:srgbClr val="CCCCCC"/>
                </a:solidFill>
                <a:latin typeface="Arial"/>
                <a:cs typeface="Arial"/>
                <a:hlinkClick r:id="" action="ppaction://noaction"/>
              </a:rPr>
              <a:t>full</a:t>
            </a:r>
            <a:r>
              <a:rPr sz="1200" spc="20" dirty="0">
                <a:solidFill>
                  <a:srgbClr val="CCCCCC"/>
                </a:solidFill>
                <a:latin typeface="Arial"/>
                <a:cs typeface="Arial"/>
                <a:hlinkClick r:id="" action="ppaction://noaction"/>
              </a:rPr>
              <a:t> </a:t>
            </a:r>
            <a:r>
              <a:rPr sz="1200" spc="-25" dirty="0">
                <a:solidFill>
                  <a:srgbClr val="CCCCCC"/>
                </a:solidFill>
                <a:latin typeface="Arial"/>
                <a:cs typeface="Arial"/>
                <a:hlinkClick r:id="" action="ppaction://noaction"/>
              </a:rPr>
              <a:t>state</a:t>
            </a:r>
            <a:r>
              <a:rPr sz="1200" spc="15" dirty="0">
                <a:solidFill>
                  <a:srgbClr val="CCCCCC"/>
                </a:solidFill>
                <a:latin typeface="Arial"/>
                <a:cs typeface="Arial"/>
                <a:hlinkClick r:id="" action="ppaction://noaction"/>
              </a:rPr>
              <a:t> </a:t>
            </a:r>
            <a:r>
              <a:rPr sz="1200" spc="-90" dirty="0">
                <a:solidFill>
                  <a:srgbClr val="CCCCCC"/>
                </a:solidFill>
                <a:latin typeface="Arial"/>
                <a:cs typeface="Arial"/>
                <a:hlinkClick r:id="" action="ppaction://noaction"/>
              </a:rPr>
              <a:t>observer</a:t>
            </a:r>
            <a:endParaRPr sz="1200">
              <a:latin typeface="Arial"/>
              <a:cs typeface="Arial"/>
            </a:endParaRPr>
          </a:p>
          <a:p>
            <a:pPr marL="384175">
              <a:lnSpc>
                <a:spcPct val="100000"/>
              </a:lnSpc>
              <a:spcBef>
                <a:spcPts val="10"/>
              </a:spcBef>
            </a:pPr>
            <a:r>
              <a:rPr sz="1200" dirty="0">
                <a:solidFill>
                  <a:srgbClr val="CCCCCC"/>
                </a:solidFill>
                <a:latin typeface="Arial"/>
                <a:cs typeface="Arial"/>
                <a:hlinkClick r:id="" action="ppaction://noaction"/>
              </a:rPr>
              <a:t>DT</a:t>
            </a:r>
            <a:r>
              <a:rPr sz="1200" spc="20" dirty="0">
                <a:solidFill>
                  <a:srgbClr val="CCCCCC"/>
                </a:solidFill>
                <a:latin typeface="Arial"/>
                <a:cs typeface="Arial"/>
                <a:hlinkClick r:id="" action="ppaction://noaction"/>
              </a:rPr>
              <a:t> </a:t>
            </a:r>
            <a:r>
              <a:rPr sz="1200" dirty="0">
                <a:solidFill>
                  <a:srgbClr val="CCCCCC"/>
                </a:solidFill>
                <a:latin typeface="Arial"/>
                <a:cs typeface="Arial"/>
                <a:hlinkClick r:id="" action="ppaction://noaction"/>
              </a:rPr>
              <a:t>full</a:t>
            </a:r>
            <a:r>
              <a:rPr sz="1200" spc="25" dirty="0">
                <a:solidFill>
                  <a:srgbClr val="CCCCCC"/>
                </a:solidFill>
                <a:latin typeface="Arial"/>
                <a:cs typeface="Arial"/>
                <a:hlinkClick r:id="" action="ppaction://noaction"/>
              </a:rPr>
              <a:t> </a:t>
            </a:r>
            <a:r>
              <a:rPr sz="1200" spc="-25" dirty="0">
                <a:solidFill>
                  <a:srgbClr val="CCCCCC"/>
                </a:solidFill>
                <a:latin typeface="Arial"/>
                <a:cs typeface="Arial"/>
                <a:hlinkClick r:id="" action="ppaction://noaction"/>
              </a:rPr>
              <a:t>state</a:t>
            </a:r>
            <a:r>
              <a:rPr sz="1200" spc="20" dirty="0">
                <a:solidFill>
                  <a:srgbClr val="CCCCCC"/>
                </a:solidFill>
                <a:latin typeface="Arial"/>
                <a:cs typeface="Arial"/>
                <a:hlinkClick r:id="" action="ppaction://noaction"/>
              </a:rPr>
              <a:t> </a:t>
            </a:r>
            <a:r>
              <a:rPr sz="1200" spc="-85" dirty="0">
                <a:solidFill>
                  <a:srgbClr val="CCCCCC"/>
                </a:solidFill>
                <a:latin typeface="Arial"/>
                <a:cs typeface="Arial"/>
                <a:hlinkClick r:id="" action="ppaction://noaction"/>
              </a:rPr>
              <a:t>observer</a:t>
            </a:r>
            <a:r>
              <a:rPr sz="1200" spc="25" dirty="0">
                <a:solidFill>
                  <a:srgbClr val="CCCCCC"/>
                </a:solidFill>
                <a:latin typeface="Arial"/>
                <a:cs typeface="Arial"/>
                <a:hlinkClick r:id="" action="ppaction://noaction"/>
              </a:rPr>
              <a:t> </a:t>
            </a:r>
            <a:r>
              <a:rPr sz="1200" dirty="0">
                <a:solidFill>
                  <a:srgbClr val="CCCCCC"/>
                </a:solidFill>
                <a:latin typeface="Arial"/>
                <a:cs typeface="Arial"/>
                <a:hlinkClick r:id="" action="ppaction://noaction"/>
              </a:rPr>
              <a:t>with</a:t>
            </a:r>
            <a:r>
              <a:rPr sz="1200" spc="20" dirty="0">
                <a:solidFill>
                  <a:srgbClr val="CCCCCC"/>
                </a:solidFill>
                <a:latin typeface="Arial"/>
                <a:cs typeface="Arial"/>
                <a:hlinkClick r:id="" action="ppaction://noaction"/>
              </a:rPr>
              <a:t> </a:t>
            </a:r>
            <a:r>
              <a:rPr sz="1200" spc="-35" dirty="0">
                <a:solidFill>
                  <a:srgbClr val="CCCCCC"/>
                </a:solidFill>
                <a:latin typeface="Arial"/>
                <a:cs typeface="Arial"/>
                <a:hlinkClick r:id="" action="ppaction://noaction"/>
              </a:rPr>
              <a:t>predictor</a:t>
            </a:r>
            <a:endParaRPr sz="1200">
              <a:latin typeface="Arial"/>
              <a:cs typeface="Arial"/>
            </a:endParaRPr>
          </a:p>
          <a:p>
            <a:pPr>
              <a:lnSpc>
                <a:spcPct val="100000"/>
              </a:lnSpc>
              <a:spcBef>
                <a:spcPts val="1005"/>
              </a:spcBef>
            </a:pPr>
            <a:endParaRPr sz="1200">
              <a:latin typeface="Arial"/>
              <a:cs typeface="Arial"/>
            </a:endParaRPr>
          </a:p>
          <a:p>
            <a:pPr marL="193675" indent="-180975">
              <a:lnSpc>
                <a:spcPct val="100000"/>
              </a:lnSpc>
              <a:buAutoNum type="arabicPeriod" startAt="4"/>
              <a:tabLst>
                <a:tab pos="193675" algn="l"/>
              </a:tabLst>
            </a:pPr>
            <a:r>
              <a:rPr sz="1200" spc="-90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Observer</a:t>
            </a:r>
            <a:r>
              <a:rPr sz="1200" spc="5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1200" spc="-25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state</a:t>
            </a:r>
            <a:r>
              <a:rPr sz="1200" spc="-10" dirty="0">
                <a:solidFill>
                  <a:srgbClr val="7F7F7F"/>
                </a:solidFill>
                <a:latin typeface="Arial"/>
                <a:cs typeface="Arial"/>
                <a:hlinkClick r:id="rId4" action="ppaction://hlinksldjump"/>
              </a:rPr>
              <a:t> feedback</a:t>
            </a:r>
            <a:endParaRPr sz="1200">
              <a:latin typeface="Arial"/>
              <a:cs typeface="Arial"/>
            </a:endParaRPr>
          </a:p>
        </p:txBody>
      </p:sp>
      <p:sp>
        <p:nvSpPr>
          <p:cNvPr id="4" name="object 4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5" action="ppaction://hlinksldjump"/>
              </a:rPr>
              <a:t>Observers</a:t>
            </a:r>
            <a:r>
              <a:rPr sz="600" spc="135" dirty="0">
                <a:solidFill>
                  <a:srgbClr val="FF84BD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5" action="ppaction://hlinksldjump"/>
              </a:rPr>
              <a:t>and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5" action="ppaction://hlinksldjump"/>
              </a:rPr>
              <a:t>Observer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5" action="ppaction://hlinksldjump"/>
              </a:rPr>
              <a:t>State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5" action="ppaction://hlinksldjump"/>
              </a:rPr>
              <a:t> </a:t>
            </a: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5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r>
              <a:rPr dirty="0"/>
              <a:t>23</a:t>
            </a:r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27</a:t>
            </a:r>
          </a:p>
        </p:txBody>
      </p:sp>
    </p:spTree>
  </p:cSld>
  <p:clrMapOvr>
    <a:masterClrMapping/>
  </p:clrMapOvr>
  <p:transition>
    <p:cut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40" dirty="0"/>
              <a:t>Observer</a:t>
            </a:r>
            <a:r>
              <a:rPr spc="20" dirty="0"/>
              <a:t> </a:t>
            </a:r>
            <a:r>
              <a:rPr spc="-75" dirty="0"/>
              <a:t>state</a:t>
            </a:r>
            <a:r>
              <a:rPr spc="20" dirty="0"/>
              <a:t> </a:t>
            </a:r>
            <a:r>
              <a:rPr spc="-120" dirty="0"/>
              <a:t>feedback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object 3"/>
              <p:cNvSpPr txBox="1"/>
              <p:nvPr/>
            </p:nvSpPr>
            <p:spPr>
              <a:xfrm>
                <a:off x="123228" y="608924"/>
                <a:ext cx="4385310" cy="2430537"/>
              </a:xfrm>
              <a:prstGeom prst="rect">
                <a:avLst/>
              </a:prstGeom>
            </p:spPr>
            <p:txBody>
              <a:bodyPr vert="horz" wrap="square" lIns="0" tIns="12065" rIns="0" bIns="0" rtlCol="0">
                <a:spAutoFit/>
              </a:bodyPr>
              <a:lstStyle/>
              <a:p>
                <a:pPr marL="25400">
                  <a:lnSpc>
                    <a:spcPct val="100000"/>
                  </a:lnSpc>
                  <a:spcBef>
                    <a:spcPts val="95"/>
                  </a:spcBef>
                </a:pPr>
                <a:r>
                  <a:rPr lang="en-US" sz="1200" spc="-60" dirty="0">
                    <a:latin typeface="Arial"/>
                    <a:cs typeface="Arial"/>
                  </a:rPr>
                  <a:t>given</a:t>
                </a:r>
                <a:r>
                  <a:rPr lang="en-US" sz="1200" spc="20" dirty="0">
                    <a:latin typeface="Arial"/>
                    <a:cs typeface="Arial"/>
                  </a:rPr>
                  <a:t> </a:t>
                </a:r>
                <a:r>
                  <a:rPr lang="en-US" sz="1200" spc="-85" dirty="0">
                    <a:latin typeface="Arial"/>
                    <a:cs typeface="Arial"/>
                  </a:rPr>
                  <a:t>system</a:t>
                </a:r>
                <a:r>
                  <a:rPr lang="en-US" sz="1200" spc="25" dirty="0"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dynamics: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1765935" marR="1788160" indent="1905">
                  <a:lnSpc>
                    <a:spcPct val="121100"/>
                  </a:lnSpc>
                  <a:spcBef>
                    <a:spcPts val="894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pc="-245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en-US" sz="1200" b="0" i="1" spc="-245" dirty="0" smtClean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spc="200" dirty="0">
                    <a:latin typeface="Arial"/>
                    <a:cs typeface="Arial"/>
                  </a:rPr>
                  <a:t> =</a:t>
                </a:r>
                <a:r>
                  <a:rPr lang="en-US" sz="1200" spc="-50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Ax</a:t>
                </a:r>
                <a:r>
                  <a:rPr lang="en-US" sz="1200" i="1" spc="2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85" dirty="0">
                    <a:latin typeface="Arial"/>
                    <a:cs typeface="Arial"/>
                  </a:rPr>
                  <a:t> </a:t>
                </a:r>
                <a:r>
                  <a:rPr lang="en-US" sz="1200" i="1" spc="-50" dirty="0">
                    <a:latin typeface="Arial"/>
                    <a:cs typeface="Arial"/>
                  </a:rPr>
                  <a:t>Bu </a:t>
                </a:r>
                <a:r>
                  <a:rPr lang="en-US" sz="1200" i="1" dirty="0">
                    <a:latin typeface="Arial"/>
                    <a:cs typeface="Arial"/>
                  </a:rPr>
                  <a:t>y</a:t>
                </a:r>
                <a:r>
                  <a:rPr lang="en-US" sz="1200" i="1" spc="8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30" dirty="0"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latin typeface="Arial"/>
                    <a:cs typeface="Arial"/>
                  </a:rPr>
                  <a:t>Cx</a:t>
                </a:r>
                <a:endParaRPr lang="en-US" sz="1200" dirty="0">
                  <a:latin typeface="Arial"/>
                  <a:cs typeface="Arial"/>
                </a:endParaRPr>
              </a:p>
              <a:p>
                <a:pPr>
                  <a:lnSpc>
                    <a:spcPct val="100000"/>
                  </a:lnSpc>
                  <a:spcBef>
                    <a:spcPts val="120"/>
                  </a:spcBef>
                </a:pPr>
                <a:endParaRPr lang="en-US" sz="1200" dirty="0">
                  <a:latin typeface="Arial"/>
                  <a:cs typeface="Arial"/>
                </a:endParaRPr>
              </a:p>
              <a:p>
                <a:pPr marL="322580" marR="43180" indent="-193040">
                  <a:lnSpc>
                    <a:spcPct val="100000"/>
                  </a:lnSpc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277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25" dirty="0">
                    <a:latin typeface="Arial"/>
                    <a:cs typeface="Arial"/>
                  </a:rPr>
                  <a:t>state</a:t>
                </a:r>
                <a:r>
                  <a:rPr lang="en-US" sz="1200" spc="10" dirty="0">
                    <a:latin typeface="Arial"/>
                    <a:cs typeface="Arial"/>
                  </a:rPr>
                  <a:t> </a:t>
                </a:r>
                <a:r>
                  <a:rPr lang="en-US" sz="1200" spc="-80" dirty="0">
                    <a:latin typeface="Arial"/>
                    <a:cs typeface="Arial"/>
                  </a:rPr>
                  <a:t>feedback</a:t>
                </a:r>
                <a:r>
                  <a:rPr lang="en-US" sz="1200" spc="15" dirty="0"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control:</a:t>
                </a:r>
                <a:r>
                  <a:rPr lang="en-US" sz="1200" spc="130" dirty="0">
                    <a:latin typeface="Arial"/>
                    <a:cs typeface="Arial"/>
                  </a:rPr>
                  <a:t> </a:t>
                </a:r>
                <a:r>
                  <a:rPr lang="en-US" sz="1200" spc="-30" dirty="0">
                    <a:latin typeface="Arial"/>
                    <a:cs typeface="Arial"/>
                  </a:rPr>
                  <a:t>arbitrary</a:t>
                </a:r>
                <a:r>
                  <a:rPr lang="en-US" sz="1200" spc="10" dirty="0">
                    <a:latin typeface="Arial"/>
                    <a:cs typeface="Arial"/>
                  </a:rPr>
                  <a:t> </a:t>
                </a:r>
                <a:r>
                  <a:rPr lang="en-US" sz="1200" spc="-75" dirty="0">
                    <a:latin typeface="Arial"/>
                    <a:cs typeface="Arial"/>
                  </a:rPr>
                  <a:t>eigenvalue</a:t>
                </a:r>
                <a:r>
                  <a:rPr lang="en-US" sz="1200" spc="15" dirty="0">
                    <a:latin typeface="Arial"/>
                    <a:cs typeface="Arial"/>
                  </a:rPr>
                  <a:t> </a:t>
                </a:r>
                <a:r>
                  <a:rPr lang="en-US" sz="1200" spc="-80" dirty="0">
                    <a:latin typeface="Arial"/>
                    <a:cs typeface="Arial"/>
                  </a:rPr>
                  <a:t>assignment</a:t>
                </a:r>
                <a:r>
                  <a:rPr lang="en-US" sz="1200" spc="1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if</a:t>
                </a:r>
                <a:r>
                  <a:rPr lang="en-US" sz="1200" spc="10" dirty="0">
                    <a:latin typeface="Arial"/>
                    <a:cs typeface="Arial"/>
                  </a:rPr>
                  <a:t> </a:t>
                </a:r>
                <a:r>
                  <a:rPr lang="en-US" sz="1200" spc="-60" dirty="0">
                    <a:latin typeface="Arial"/>
                    <a:cs typeface="Arial"/>
                  </a:rPr>
                  <a:t>system </a:t>
                </a:r>
                <a:r>
                  <a:rPr lang="en-US" sz="1200" spc="-10" dirty="0">
                    <a:latin typeface="Arial"/>
                    <a:cs typeface="Arial"/>
                  </a:rPr>
                  <a:t>controllable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322580" marR="296545" indent="-193040">
                  <a:lnSpc>
                    <a:spcPct val="100000"/>
                  </a:lnSpc>
                  <a:spcBef>
                    <a:spcPts val="605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292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85" dirty="0">
                    <a:latin typeface="Arial"/>
                    <a:cs typeface="Arial"/>
                  </a:rPr>
                  <a:t>observer</a:t>
                </a:r>
                <a:r>
                  <a:rPr lang="en-US" sz="1200" spc="20" dirty="0">
                    <a:latin typeface="Arial"/>
                    <a:cs typeface="Arial"/>
                  </a:rPr>
                  <a:t> </a:t>
                </a:r>
                <a:r>
                  <a:rPr lang="en-US" sz="1200" spc="-55" dirty="0">
                    <a:latin typeface="Arial"/>
                    <a:cs typeface="Arial"/>
                  </a:rPr>
                  <a:t>design:</a:t>
                </a:r>
                <a:r>
                  <a:rPr lang="en-US" sz="1200" spc="135" dirty="0">
                    <a:latin typeface="Arial"/>
                    <a:cs typeface="Arial"/>
                  </a:rPr>
                  <a:t> </a:t>
                </a:r>
                <a:r>
                  <a:rPr lang="en-US" sz="1200" spc="-30" dirty="0">
                    <a:latin typeface="Arial"/>
                    <a:cs typeface="Arial"/>
                  </a:rPr>
                  <a:t>arbitrary</a:t>
                </a:r>
                <a:r>
                  <a:rPr lang="en-US" sz="1200" spc="20" dirty="0">
                    <a:latin typeface="Arial"/>
                    <a:cs typeface="Arial"/>
                  </a:rPr>
                  <a:t> </a:t>
                </a:r>
                <a:r>
                  <a:rPr lang="en-US" sz="1200" spc="-85" dirty="0">
                    <a:latin typeface="Arial"/>
                    <a:cs typeface="Arial"/>
                  </a:rPr>
                  <a:t>observer</a:t>
                </a:r>
                <a:r>
                  <a:rPr lang="en-US" sz="1200" spc="20" dirty="0">
                    <a:latin typeface="Arial"/>
                    <a:cs typeface="Arial"/>
                  </a:rPr>
                  <a:t> </a:t>
                </a:r>
                <a:r>
                  <a:rPr lang="en-US" sz="1200" spc="-75" dirty="0">
                    <a:latin typeface="Arial"/>
                    <a:cs typeface="Arial"/>
                  </a:rPr>
                  <a:t>eigenvalue</a:t>
                </a:r>
                <a:r>
                  <a:rPr lang="en-US" sz="1200" spc="20" dirty="0">
                    <a:latin typeface="Arial"/>
                    <a:cs typeface="Arial"/>
                  </a:rPr>
                  <a:t> </a:t>
                </a:r>
                <a:r>
                  <a:rPr lang="en-US" sz="1200" spc="-80" dirty="0">
                    <a:latin typeface="Arial"/>
                    <a:cs typeface="Arial"/>
                  </a:rPr>
                  <a:t>assignment</a:t>
                </a:r>
                <a:r>
                  <a:rPr lang="en-US" sz="1200" spc="20" dirty="0">
                    <a:latin typeface="Arial"/>
                    <a:cs typeface="Arial"/>
                  </a:rPr>
                  <a:t> </a:t>
                </a:r>
                <a:r>
                  <a:rPr lang="en-US" sz="1200" spc="-25" dirty="0">
                    <a:latin typeface="Arial"/>
                    <a:cs typeface="Arial"/>
                  </a:rPr>
                  <a:t>for state</a:t>
                </a:r>
                <a:r>
                  <a:rPr lang="en-US" sz="1200" spc="5" dirty="0">
                    <a:latin typeface="Arial"/>
                    <a:cs typeface="Arial"/>
                  </a:rPr>
                  <a:t> </a:t>
                </a:r>
                <a:r>
                  <a:rPr lang="en-US" sz="1200" spc="-35" dirty="0">
                    <a:latin typeface="Arial"/>
                    <a:cs typeface="Arial"/>
                  </a:rPr>
                  <a:t>estimation</a:t>
                </a:r>
                <a:r>
                  <a:rPr lang="en-US" sz="1200" spc="10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if</a:t>
                </a:r>
                <a:r>
                  <a:rPr lang="en-US" sz="1200" spc="5" dirty="0">
                    <a:latin typeface="Arial"/>
                    <a:cs typeface="Arial"/>
                  </a:rPr>
                  <a:t> </a:t>
                </a:r>
                <a:r>
                  <a:rPr lang="en-US" sz="1200" spc="-85" dirty="0">
                    <a:latin typeface="Arial"/>
                    <a:cs typeface="Arial"/>
                  </a:rPr>
                  <a:t>system</a:t>
                </a:r>
                <a:r>
                  <a:rPr lang="en-US" sz="1200" spc="10" dirty="0"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observable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322580" marR="130810" indent="-193040">
                  <a:lnSpc>
                    <a:spcPct val="100000"/>
                  </a:lnSpc>
                  <a:spcBef>
                    <a:spcPts val="610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262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spc="-70" dirty="0">
                    <a:latin typeface="Arial"/>
                    <a:cs typeface="Arial"/>
                  </a:rPr>
                  <a:t>when</a:t>
                </a:r>
                <a:r>
                  <a:rPr lang="en-US" sz="1200" spc="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full</a:t>
                </a:r>
                <a:r>
                  <a:rPr lang="en-US" sz="1200" spc="5" dirty="0">
                    <a:latin typeface="Arial"/>
                    <a:cs typeface="Arial"/>
                  </a:rPr>
                  <a:t> </a:t>
                </a:r>
                <a:r>
                  <a:rPr lang="en-US" sz="1200" spc="-50" dirty="0">
                    <a:latin typeface="Arial"/>
                    <a:cs typeface="Arial"/>
                  </a:rPr>
                  <a:t>states</a:t>
                </a:r>
                <a:r>
                  <a:rPr lang="en-US" sz="1200" spc="5" dirty="0">
                    <a:latin typeface="Arial"/>
                    <a:cs typeface="Arial"/>
                  </a:rPr>
                  <a:t> </a:t>
                </a:r>
                <a:r>
                  <a:rPr lang="en-US" sz="1200" spc="-85" dirty="0">
                    <a:latin typeface="Arial"/>
                    <a:cs typeface="Arial"/>
                  </a:rPr>
                  <a:t>are</a:t>
                </a:r>
                <a:r>
                  <a:rPr lang="en-US" sz="1200" spc="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not</a:t>
                </a:r>
                <a:r>
                  <a:rPr lang="en-US" sz="1200" spc="5" dirty="0">
                    <a:latin typeface="Arial"/>
                    <a:cs typeface="Arial"/>
                  </a:rPr>
                  <a:t> </a:t>
                </a:r>
                <a:r>
                  <a:rPr lang="en-US" sz="1200" spc="-55" dirty="0">
                    <a:latin typeface="Arial"/>
                    <a:cs typeface="Arial"/>
                  </a:rPr>
                  <a:t>available,</a:t>
                </a:r>
                <a:r>
                  <a:rPr lang="en-US" sz="1200" spc="5" dirty="0">
                    <a:latin typeface="Arial"/>
                    <a:cs typeface="Arial"/>
                  </a:rPr>
                  <a:t> </a:t>
                </a:r>
                <a:r>
                  <a:rPr lang="en-US" sz="1200" spc="-25" dirty="0">
                    <a:latin typeface="Arial"/>
                    <a:cs typeface="Arial"/>
                  </a:rPr>
                  <a:t>what’s</a:t>
                </a:r>
                <a:r>
                  <a:rPr lang="en-US" sz="1200" spc="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the</a:t>
                </a:r>
                <a:r>
                  <a:rPr lang="en-US" sz="1200" spc="5" dirty="0">
                    <a:latin typeface="Arial"/>
                    <a:cs typeface="Arial"/>
                  </a:rPr>
                  <a:t> </a:t>
                </a:r>
                <a:r>
                  <a:rPr lang="en-US" sz="1200" spc="-65" dirty="0">
                    <a:latin typeface="Arial"/>
                    <a:cs typeface="Arial"/>
                  </a:rPr>
                  <a:t>performance</a:t>
                </a:r>
                <a:r>
                  <a:rPr lang="en-US" sz="1200" spc="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if</a:t>
                </a:r>
                <a:r>
                  <a:rPr lang="en-US" sz="1200" spc="5" dirty="0">
                    <a:latin typeface="Arial"/>
                    <a:cs typeface="Arial"/>
                  </a:rPr>
                  <a:t> </a:t>
                </a:r>
                <a:r>
                  <a:rPr lang="en-US" sz="1200" spc="-70" dirty="0">
                    <a:latin typeface="Arial"/>
                    <a:cs typeface="Arial"/>
                  </a:rPr>
                  <a:t>we </a:t>
                </a:r>
                <a:r>
                  <a:rPr lang="en-US" sz="1200" spc="-60" dirty="0">
                    <a:latin typeface="Arial"/>
                    <a:cs typeface="Arial"/>
                  </a:rPr>
                  <a:t>combine</a:t>
                </a:r>
                <a:r>
                  <a:rPr lang="en-US" sz="1200" spc="-25" dirty="0"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both?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257175" algn="ctr">
                  <a:lnSpc>
                    <a:spcPct val="100000"/>
                  </a:lnSpc>
                  <a:spcBef>
                    <a:spcPts val="5"/>
                  </a:spcBef>
                </a:pPr>
                <a:r>
                  <a:rPr lang="en-US" sz="1200" i="1" dirty="0">
                    <a:latin typeface="Arial"/>
                    <a:cs typeface="Arial"/>
                  </a:rPr>
                  <a:t>u</a:t>
                </a:r>
                <a:r>
                  <a:rPr lang="en-US" sz="1200" i="1" spc="2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i="1" spc="100" dirty="0">
                    <a:latin typeface="Menlo"/>
                    <a:cs typeface="Menlo"/>
                  </a:rPr>
                  <a:t>−</a:t>
                </a:r>
                <a:r>
                  <a:rPr lang="en-US" sz="1200" i="1" spc="100" dirty="0">
                    <a:latin typeface="Arial"/>
                    <a:cs typeface="Arial"/>
                  </a:rPr>
                  <a:t>K</a:t>
                </a:r>
                <a:r>
                  <a:rPr lang="en-US" sz="1200" i="1" spc="-190" dirty="0">
                    <a:latin typeface="Arial"/>
                    <a:cs typeface="Arial"/>
                  </a:rPr>
                  <a:t> </a:t>
                </a:r>
                <a:r>
                  <a:rPr lang="en-US" sz="1200" i="1" spc="-440" dirty="0">
                    <a:latin typeface="Arial"/>
                    <a:cs typeface="Arial"/>
                  </a:rPr>
                  <a:t>x</a:t>
                </a:r>
                <a:r>
                  <a:rPr lang="en-US" sz="1200" spc="80" dirty="0">
                    <a:latin typeface="Arial"/>
                    <a:cs typeface="Arial"/>
                  </a:rPr>
                  <a:t>ˆ</a:t>
                </a:r>
                <a:r>
                  <a:rPr lang="en-US" sz="1200" spc="-8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75" dirty="0">
                    <a:latin typeface="Arial"/>
                    <a:cs typeface="Arial"/>
                  </a:rPr>
                  <a:t> </a:t>
                </a:r>
                <a:r>
                  <a:rPr lang="en-US" sz="1200" i="1" spc="-60" dirty="0">
                    <a:latin typeface="Arial"/>
                    <a:cs typeface="Arial"/>
                  </a:rPr>
                  <a:t>v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3" name="objec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23228" y="608924"/>
                <a:ext cx="4385310" cy="2430537"/>
              </a:xfrm>
              <a:prstGeom prst="rect">
                <a:avLst/>
              </a:prstGeom>
              <a:blipFill>
                <a:blip r:embed="rId2"/>
                <a:stretch>
                  <a:fillRect l="-1528" t="-1754" b="-1754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bject 4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Observers</a:t>
            </a:r>
            <a:r>
              <a:rPr sz="600" spc="135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and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Observer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State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7" name="object 7"/>
          <p:cNvSpPr txBox="1"/>
          <p:nvPr/>
        </p:nvSpPr>
        <p:spPr>
          <a:xfrm>
            <a:off x="4275163" y="3338410"/>
            <a:ext cx="27813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191919"/>
                </a:solidFill>
                <a:latin typeface="Arial"/>
                <a:cs typeface="Arial"/>
              </a:rPr>
              <a:t>24</a:t>
            </a:r>
            <a:r>
              <a:rPr sz="600" spc="-40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191919"/>
                </a:solidFill>
                <a:latin typeface="Arial"/>
                <a:cs typeface="Arial"/>
              </a:rPr>
              <a:t>/</a:t>
            </a:r>
            <a:r>
              <a:rPr sz="600" spc="-40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191919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</p:spTree>
  </p:cSld>
  <p:clrMapOvr>
    <a:masterClrMapping/>
  </p:clrMapOvr>
  <p:transition>
    <p:cut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135" dirty="0"/>
              <a:t>Closed-</a:t>
            </a:r>
            <a:r>
              <a:rPr spc="-85" dirty="0"/>
              <a:t>loop</a:t>
            </a:r>
            <a:r>
              <a:rPr spc="40" dirty="0"/>
              <a:t> </a:t>
            </a:r>
            <a:r>
              <a:rPr spc="-120" dirty="0"/>
              <a:t>dynamics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object 3"/>
              <p:cNvSpPr txBox="1"/>
              <p:nvPr/>
            </p:nvSpPr>
            <p:spPr>
              <a:xfrm>
                <a:off x="215442" y="365011"/>
                <a:ext cx="3124835" cy="1303049"/>
              </a:xfrm>
              <a:prstGeom prst="rect">
                <a:avLst/>
              </a:prstGeom>
            </p:spPr>
            <p:txBody>
              <a:bodyPr vert="horz" wrap="square" lIns="0" tIns="111760" rIns="0" bIns="0" rtlCol="0">
                <a:spAutoFit/>
              </a:bodyPr>
              <a:lstStyle/>
              <a:p>
                <a:pPr marL="38100">
                  <a:lnSpc>
                    <a:spcPct val="100000"/>
                  </a:lnSpc>
                  <a:spcBef>
                    <a:spcPts val="880"/>
                  </a:spcBef>
                </a:pPr>
                <a:r>
                  <a:rPr lang="en-US"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</a:t>
                </a:r>
                <a:r>
                  <a:rPr lang="en-US" sz="1800" spc="345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full</a:t>
                </a:r>
                <a:r>
                  <a:rPr lang="en-US" sz="1200" spc="40" dirty="0">
                    <a:latin typeface="Arial"/>
                    <a:cs typeface="Arial"/>
                  </a:rPr>
                  <a:t> </a:t>
                </a:r>
                <a:r>
                  <a:rPr lang="en-US" sz="1200" spc="-80" dirty="0">
                    <a:latin typeface="Arial"/>
                    <a:cs typeface="Arial"/>
                  </a:rPr>
                  <a:t>closed-</a:t>
                </a:r>
                <a:r>
                  <a:rPr lang="en-US" sz="1200" spc="-40" dirty="0">
                    <a:latin typeface="Arial"/>
                    <a:cs typeface="Arial"/>
                  </a:rPr>
                  <a:t>loop</a:t>
                </a:r>
                <a:r>
                  <a:rPr lang="en-US" sz="1200" spc="45" dirty="0">
                    <a:latin typeface="Arial"/>
                    <a:cs typeface="Arial"/>
                  </a:rPr>
                  <a:t> </a:t>
                </a:r>
                <a:r>
                  <a:rPr lang="en-US" sz="1200" spc="-10" dirty="0">
                    <a:latin typeface="Arial"/>
                    <a:cs typeface="Arial"/>
                  </a:rPr>
                  <a:t>system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1387475" marR="906144" indent="1905">
                  <a:lnSpc>
                    <a:spcPct val="121100"/>
                  </a:lnSpc>
                  <a:spcBef>
                    <a:spcPts val="475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pc="-245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r>
                          <a:rPr lang="zh-CN" altLang="en-US" sz="1200" b="0" i="1" spc="-245" dirty="0" smtClean="0">
                            <a:latin typeface="Cambria Math" panose="02040503050406030204" pitchFamily="18" charset="0"/>
                            <a:cs typeface="Arial"/>
                          </a:rPr>
                          <m:t>𝑥</m:t>
                        </m:r>
                      </m:e>
                    </m:acc>
                  </m:oMath>
                </a14:m>
                <a:r>
                  <a:rPr lang="en-US" sz="1200" spc="200" dirty="0">
                    <a:latin typeface="Arial"/>
                    <a:cs typeface="Arial"/>
                  </a:rPr>
                  <a:t> =</a:t>
                </a:r>
                <a:r>
                  <a:rPr lang="en-US" sz="1200" spc="-50" dirty="0">
                    <a:latin typeface="Arial"/>
                    <a:cs typeface="Arial"/>
                  </a:rPr>
                  <a:t> </a:t>
                </a:r>
                <a:r>
                  <a:rPr lang="en-US" sz="1200" i="1" dirty="0">
                    <a:latin typeface="Arial"/>
                    <a:cs typeface="Arial"/>
                  </a:rPr>
                  <a:t>Ax</a:t>
                </a:r>
                <a:r>
                  <a:rPr lang="en-US" sz="1200" i="1" spc="20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85" dirty="0">
                    <a:latin typeface="Arial"/>
                    <a:cs typeface="Arial"/>
                  </a:rPr>
                  <a:t> </a:t>
                </a:r>
                <a:r>
                  <a:rPr lang="en-US" sz="1200" i="1" spc="-50" dirty="0">
                    <a:latin typeface="Arial"/>
                    <a:cs typeface="Arial"/>
                  </a:rPr>
                  <a:t>Bu </a:t>
                </a:r>
                <a:r>
                  <a:rPr lang="en-US" sz="1200" i="1" dirty="0">
                    <a:latin typeface="Arial"/>
                    <a:cs typeface="Arial"/>
                  </a:rPr>
                  <a:t>y</a:t>
                </a:r>
                <a:r>
                  <a:rPr lang="en-US" sz="1200" i="1" spc="8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30" dirty="0">
                    <a:latin typeface="Arial"/>
                    <a:cs typeface="Arial"/>
                  </a:rPr>
                  <a:t> </a:t>
                </a:r>
                <a:r>
                  <a:rPr lang="en-US" sz="1200" i="1" spc="-25" dirty="0">
                    <a:latin typeface="Arial"/>
                    <a:cs typeface="Arial"/>
                  </a:rPr>
                  <a:t>Cx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1390015">
                  <a:lnSpc>
                    <a:spcPct val="100000"/>
                  </a:lnSpc>
                  <a:spcBef>
                    <a:spcPts val="500"/>
                  </a:spcBef>
                </a:pP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sz="1200" b="0" i="1" spc="-585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acc>
                          <m:accPr>
                            <m:chr m:val="̂"/>
                            <m:ctrlPr>
                              <a:rPr lang="en-US" sz="1200" b="0" i="1" spc="-585" dirty="0" smtClean="0"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sz="1200" b="0" i="1" spc="-585" dirty="0" smtClean="0">
                                <a:latin typeface="Cambria Math" panose="02040503050406030204" pitchFamily="18" charset="0"/>
                                <a:cs typeface="Arial"/>
                              </a:rPr>
                              <m:t>𝑥</m:t>
                            </m:r>
                          </m:e>
                        </m:acc>
                      </m:e>
                    </m:acc>
                  </m:oMath>
                </a14:m>
                <a:r>
                  <a:rPr lang="en-US" sz="1200" spc="200" dirty="0">
                    <a:latin typeface="Arial"/>
                    <a:cs typeface="Arial"/>
                  </a:rPr>
                  <a:t>  =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i="1" spc="35" dirty="0">
                    <a:latin typeface="Arial"/>
                    <a:cs typeface="Arial"/>
                  </a:rPr>
                  <a:t>A</a:t>
                </a:r>
                <a:r>
                  <a:rPr lang="en-US" sz="1200" i="1" spc="-475" dirty="0">
                    <a:latin typeface="Arial"/>
                    <a:cs typeface="Arial"/>
                  </a:rPr>
                  <a:t>x</a:t>
                </a:r>
                <a:r>
                  <a:rPr lang="en-US" sz="1200" spc="45" dirty="0">
                    <a:latin typeface="Arial"/>
                    <a:cs typeface="Arial"/>
                  </a:rPr>
                  <a:t>ˆ</a:t>
                </a:r>
                <a:r>
                  <a:rPr lang="en-US" sz="1200" spc="-8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70" dirty="0">
                    <a:latin typeface="Arial"/>
                    <a:cs typeface="Arial"/>
                  </a:rPr>
                  <a:t> </a:t>
                </a:r>
                <a:r>
                  <a:rPr lang="en-US" sz="1200" i="1" spc="-20" dirty="0">
                    <a:latin typeface="Arial"/>
                    <a:cs typeface="Arial"/>
                  </a:rPr>
                  <a:t>Bu</a:t>
                </a:r>
                <a:r>
                  <a:rPr lang="en-US" sz="1200" i="1" spc="-1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70" dirty="0">
                    <a:latin typeface="Arial"/>
                    <a:cs typeface="Arial"/>
                  </a:rPr>
                  <a:t> </a:t>
                </a:r>
                <a:r>
                  <a:rPr lang="en-US" sz="1200" i="1" spc="-40" dirty="0">
                    <a:latin typeface="Arial"/>
                    <a:cs typeface="Arial"/>
                  </a:rPr>
                  <a:t>L</a:t>
                </a:r>
                <a:r>
                  <a:rPr lang="en-US" sz="1200" i="1" spc="-135" dirty="0">
                    <a:latin typeface="Arial"/>
                    <a:cs typeface="Arial"/>
                  </a:rPr>
                  <a:t> </a:t>
                </a:r>
                <a:r>
                  <a:rPr lang="en-US" sz="1200" dirty="0">
                    <a:latin typeface="Arial"/>
                    <a:cs typeface="Arial"/>
                  </a:rPr>
                  <a:t>(</a:t>
                </a:r>
                <a:r>
                  <a:rPr lang="en-US" sz="1200" i="1" dirty="0">
                    <a:latin typeface="Arial"/>
                    <a:cs typeface="Arial"/>
                  </a:rPr>
                  <a:t>y</a:t>
                </a:r>
                <a:r>
                  <a:rPr lang="en-US" sz="1200" i="1" spc="60" dirty="0">
                    <a:latin typeface="Arial"/>
                    <a:cs typeface="Arial"/>
                  </a:rPr>
                  <a:t> </a:t>
                </a:r>
                <a:r>
                  <a:rPr lang="en-US" sz="1200" i="1" spc="200" dirty="0">
                    <a:latin typeface="Menlo"/>
                    <a:cs typeface="Menlo"/>
                  </a:rPr>
                  <a:t>−</a:t>
                </a:r>
                <a:r>
                  <a:rPr lang="en-US" sz="1200" i="1" spc="-459" dirty="0">
                    <a:latin typeface="Menlo"/>
                    <a:cs typeface="Menlo"/>
                  </a:rPr>
                  <a:t> </a:t>
                </a:r>
                <a:r>
                  <a:rPr lang="en-US" sz="1200" i="1" spc="-130" dirty="0">
                    <a:latin typeface="Arial"/>
                    <a:cs typeface="Arial"/>
                  </a:rPr>
                  <a:t>C</a:t>
                </a:r>
                <a:r>
                  <a:rPr lang="en-US" sz="1200" i="1" spc="-190" dirty="0">
                    <a:latin typeface="Arial"/>
                    <a:cs typeface="Arial"/>
                  </a:rPr>
                  <a:t> </a:t>
                </a:r>
                <a:r>
                  <a:rPr lang="en-US" sz="1200" i="1" spc="-370" dirty="0">
                    <a:latin typeface="Arial"/>
                    <a:cs typeface="Arial"/>
                  </a:rPr>
                  <a:t>x</a:t>
                </a:r>
                <a:r>
                  <a:rPr lang="en-US" sz="1200" spc="135" dirty="0">
                    <a:latin typeface="Arial"/>
                    <a:cs typeface="Arial"/>
                  </a:rPr>
                  <a:t>ˆ</a:t>
                </a:r>
                <a:r>
                  <a:rPr lang="en-US" sz="1200" spc="150" dirty="0">
                    <a:latin typeface="Arial"/>
                    <a:cs typeface="Arial"/>
                  </a:rPr>
                  <a:t>)</a:t>
                </a:r>
                <a:endParaRPr lang="en-US" sz="1200" dirty="0">
                  <a:latin typeface="Arial"/>
                  <a:cs typeface="Arial"/>
                </a:endParaRPr>
              </a:p>
              <a:p>
                <a:pPr marL="1388745">
                  <a:lnSpc>
                    <a:spcPct val="100000"/>
                  </a:lnSpc>
                  <a:spcBef>
                    <a:spcPts val="305"/>
                  </a:spcBef>
                </a:pPr>
                <a:r>
                  <a:rPr lang="en-US" sz="1200" i="1" dirty="0">
                    <a:latin typeface="Arial"/>
                    <a:cs typeface="Arial"/>
                  </a:rPr>
                  <a:t>u</a:t>
                </a:r>
                <a:r>
                  <a:rPr lang="en-US" sz="1200" i="1" spc="2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=</a:t>
                </a:r>
                <a:r>
                  <a:rPr lang="en-US" sz="1200" spc="-15" dirty="0">
                    <a:latin typeface="Arial"/>
                    <a:cs typeface="Arial"/>
                  </a:rPr>
                  <a:t> </a:t>
                </a:r>
                <a:r>
                  <a:rPr lang="en-US" sz="1200" i="1" spc="100" dirty="0">
                    <a:latin typeface="Menlo"/>
                    <a:cs typeface="Menlo"/>
                  </a:rPr>
                  <a:t>−</a:t>
                </a:r>
                <a:r>
                  <a:rPr lang="en-US" sz="1200" i="1" spc="100" dirty="0">
                    <a:latin typeface="Arial"/>
                    <a:cs typeface="Arial"/>
                  </a:rPr>
                  <a:t>K</a:t>
                </a:r>
                <a:r>
                  <a:rPr lang="en-US" sz="1200" i="1" spc="-190" dirty="0">
                    <a:latin typeface="Arial"/>
                    <a:cs typeface="Arial"/>
                  </a:rPr>
                  <a:t> </a:t>
                </a:r>
                <a:r>
                  <a:rPr lang="en-US" sz="1200" i="1" spc="-440" dirty="0">
                    <a:latin typeface="Arial"/>
                    <a:cs typeface="Arial"/>
                  </a:rPr>
                  <a:t>x</a:t>
                </a:r>
                <a:r>
                  <a:rPr lang="en-US" sz="1200" spc="80" dirty="0">
                    <a:latin typeface="Arial"/>
                    <a:cs typeface="Arial"/>
                  </a:rPr>
                  <a:t>ˆ</a:t>
                </a:r>
                <a:r>
                  <a:rPr lang="en-US" sz="1200" spc="-85" dirty="0">
                    <a:latin typeface="Arial"/>
                    <a:cs typeface="Arial"/>
                  </a:rPr>
                  <a:t> </a:t>
                </a:r>
                <a:r>
                  <a:rPr lang="en-US" sz="1200" spc="200" dirty="0">
                    <a:latin typeface="Arial"/>
                    <a:cs typeface="Arial"/>
                  </a:rPr>
                  <a:t>+</a:t>
                </a:r>
                <a:r>
                  <a:rPr lang="en-US" sz="1200" spc="-75" dirty="0">
                    <a:latin typeface="Arial"/>
                    <a:cs typeface="Arial"/>
                  </a:rPr>
                  <a:t> </a:t>
                </a:r>
                <a:r>
                  <a:rPr lang="en-US" sz="1200" i="1" spc="-60" dirty="0">
                    <a:latin typeface="Arial"/>
                    <a:cs typeface="Arial"/>
                  </a:rPr>
                  <a:t>v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3" name="object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15442" y="365011"/>
                <a:ext cx="3124835" cy="1303049"/>
              </a:xfrm>
              <a:prstGeom prst="rect">
                <a:avLst/>
              </a:prstGeom>
              <a:blipFill>
                <a:blip r:embed="rId2"/>
                <a:stretch>
                  <a:fillRect l="-1754" r="-1754" b="-560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4" name="object 4"/>
          <p:cNvSpPr txBox="1"/>
          <p:nvPr/>
        </p:nvSpPr>
        <p:spPr>
          <a:xfrm>
            <a:off x="524535" y="1951632"/>
            <a:ext cx="177165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i="1" spc="409" dirty="0">
                <a:latin typeface="Menlo"/>
                <a:cs typeface="Menlo"/>
              </a:rPr>
              <a:t>⇒</a:t>
            </a:r>
            <a:endParaRPr sz="1200">
              <a:latin typeface="Menlo"/>
              <a:cs typeface="Menlo"/>
            </a:endParaRPr>
          </a:p>
        </p:txBody>
      </p:sp>
      <p:sp>
        <p:nvSpPr>
          <p:cNvPr id="14" name="object 14"/>
          <p:cNvSpPr txBox="1"/>
          <p:nvPr/>
        </p:nvSpPr>
        <p:spPr>
          <a:xfrm>
            <a:off x="240842" y="2393566"/>
            <a:ext cx="14351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150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endParaRPr sz="1200">
              <a:latin typeface="Arial Unicode MS"/>
              <a:cs typeface="Arial Unicode MS"/>
            </a:endParaRPr>
          </a:p>
        </p:txBody>
      </p:sp>
      <p:sp>
        <p:nvSpPr>
          <p:cNvPr id="15" name="object 15"/>
          <p:cNvSpPr txBox="1"/>
          <p:nvPr/>
        </p:nvSpPr>
        <p:spPr>
          <a:xfrm>
            <a:off x="433260" y="2409378"/>
            <a:ext cx="194818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65" dirty="0">
                <a:latin typeface="Arial"/>
                <a:cs typeface="Arial"/>
              </a:rPr>
              <a:t>using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70" dirty="0">
                <a:latin typeface="Arial"/>
                <a:cs typeface="Arial"/>
              </a:rPr>
              <a:t>again</a:t>
            </a:r>
            <a:r>
              <a:rPr sz="1200" dirty="0">
                <a:latin typeface="Arial"/>
                <a:cs typeface="Arial"/>
              </a:rPr>
              <a:t> </a:t>
            </a:r>
            <a:r>
              <a:rPr sz="1200" spc="-35" dirty="0">
                <a:latin typeface="Arial"/>
                <a:cs typeface="Arial"/>
              </a:rPr>
              <a:t>similarity</a:t>
            </a:r>
            <a:r>
              <a:rPr sz="1200" spc="-5" dirty="0">
                <a:latin typeface="Arial"/>
                <a:cs typeface="Arial"/>
              </a:rPr>
              <a:t> </a:t>
            </a:r>
            <a:r>
              <a:rPr sz="1200" spc="-35" dirty="0">
                <a:latin typeface="Arial"/>
                <a:cs typeface="Arial"/>
              </a:rPr>
              <a:t>transform</a:t>
            </a:r>
            <a:endParaRPr sz="1200">
              <a:latin typeface="Arial"/>
              <a:cs typeface="Arial"/>
            </a:endParaRPr>
          </a:p>
        </p:txBody>
      </p:sp>
      <p:sp>
        <p:nvSpPr>
          <p:cNvPr id="25" name="object 25"/>
          <p:cNvSpPr txBox="1"/>
          <p:nvPr/>
        </p:nvSpPr>
        <p:spPr>
          <a:xfrm>
            <a:off x="3794296" y="2413705"/>
            <a:ext cx="326390" cy="207645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95"/>
              </a:spcBef>
            </a:pPr>
            <a:r>
              <a:rPr sz="1200" spc="-80" dirty="0">
                <a:latin typeface="Arial"/>
                <a:cs typeface="Arial"/>
              </a:rPr>
              <a:t>gives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35" name="object 35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28"/>
                </a:lnTo>
                <a:lnTo>
                  <a:pt x="1535963" y="109728"/>
                </a:lnTo>
                <a:lnTo>
                  <a:pt x="3071939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6" name="object 36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37" name="object 37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Observers</a:t>
            </a:r>
            <a:r>
              <a:rPr sz="600" spc="135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and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Observer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State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 </a:t>
            </a: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3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38" name="object 38"/>
          <p:cNvSpPr txBox="1"/>
          <p:nvPr/>
        </p:nvSpPr>
        <p:spPr>
          <a:xfrm>
            <a:off x="4275163" y="3338410"/>
            <a:ext cx="27813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191919"/>
                </a:solidFill>
                <a:latin typeface="Arial"/>
                <a:cs typeface="Arial"/>
              </a:rPr>
              <a:t>25</a:t>
            </a:r>
            <a:r>
              <a:rPr sz="600" spc="-40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191919"/>
                </a:solidFill>
                <a:latin typeface="Arial"/>
                <a:cs typeface="Arial"/>
              </a:rPr>
              <a:t>/</a:t>
            </a:r>
            <a:r>
              <a:rPr sz="600" spc="-40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191919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B3551194-ADBB-1384-569E-D90AE72A7E48}"/>
                  </a:ext>
                </a:extLst>
              </p:cNvPr>
              <p:cNvSpPr txBox="1"/>
              <p:nvPr/>
            </p:nvSpPr>
            <p:spPr>
              <a:xfrm>
                <a:off x="767994" y="1860945"/>
                <a:ext cx="2676758" cy="3555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𝐵𝐾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𝐿𝐶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𝐿𝐶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𝐵𝐾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39" name="文本框 38">
                <a:extLst>
                  <a:ext uri="{FF2B5EF4-FFF2-40B4-BE49-F238E27FC236}">
                    <a16:creationId xmlns:a16="http://schemas.microsoft.com/office/drawing/2014/main" id="{B3551194-ADBB-1384-569E-D90AE72A7E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767994" y="1860945"/>
                <a:ext cx="2676758" cy="355547"/>
              </a:xfrm>
              <a:prstGeom prst="rect">
                <a:avLst/>
              </a:prstGeom>
              <a:blipFill>
                <a:blip r:embed="rId4"/>
                <a:stretch>
                  <a:fillRect l="-911" t="-3390" b="-1355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AA2BF39E-0318-67A9-FC1E-C13035FA1848}"/>
                  </a:ext>
                </a:extLst>
              </p:cNvPr>
              <p:cNvSpPr txBox="1"/>
              <p:nvPr/>
            </p:nvSpPr>
            <p:spPr>
              <a:xfrm>
                <a:off x="2430348" y="2339975"/>
                <a:ext cx="1315040" cy="342914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m:rPr>
                                        <m:brk m:alnAt="7"/>
                                      </m:r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m:rPr>
                                        <m:brk m:alnAt="7"/>
                                      </m:r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  <m:mr>
                              <m:e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sSub>
                                  <m:sSubPr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𝐼</m:t>
                                    </m:r>
                                  </m:e>
                                  <m:sub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𝑛</m:t>
                                    </m:r>
                                  </m:sub>
                                </m:sSub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acc>
                                  <m:accPr>
                                    <m:chr m:val="̂"/>
                                    <m:ctrlP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accPr>
                                  <m:e>
                                    <m:r>
                                      <a:rPr lang="en-US" altLang="zh-CN" sz="1200" b="0" i="1" smtClean="0">
                                        <a:latin typeface="Cambria Math" panose="02040503050406030204" pitchFamily="18" charset="0"/>
                                      </a:rPr>
                                      <m:t>𝑥</m:t>
                                    </m:r>
                                  </m:e>
                                </m:acc>
                              </m:e>
                            </m:mr>
                          </m:m>
                        </m:e>
                      </m:d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40" name="文本框 39">
                <a:extLst>
                  <a:ext uri="{FF2B5EF4-FFF2-40B4-BE49-F238E27FC236}">
                    <a16:creationId xmlns:a16="http://schemas.microsoft.com/office/drawing/2014/main" id="{AA2BF39E-0318-67A9-FC1E-C13035FA1848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2430348" y="2339975"/>
                <a:ext cx="1315040" cy="342914"/>
              </a:xfrm>
              <a:prstGeom prst="rect">
                <a:avLst/>
              </a:prstGeom>
              <a:blipFill>
                <a:blip r:embed="rId5"/>
                <a:stretch>
                  <a:fillRect t="-1786" r="-13953" b="-8929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56AFDB8D-15C8-1212-78A5-74AA9B1A11AE}"/>
                  </a:ext>
                </a:extLst>
              </p:cNvPr>
              <p:cNvSpPr txBox="1"/>
              <p:nvPr/>
            </p:nvSpPr>
            <p:spPr>
              <a:xfrm>
                <a:off x="1009650" y="2768577"/>
                <a:ext cx="2596160" cy="3555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𝐵𝐾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𝐵𝐾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𝐿𝐶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43" name="文本框 42">
                <a:extLst>
                  <a:ext uri="{FF2B5EF4-FFF2-40B4-BE49-F238E27FC236}">
                    <a16:creationId xmlns:a16="http://schemas.microsoft.com/office/drawing/2014/main" id="{56AFDB8D-15C8-1212-78A5-74AA9B1A11AE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9650" y="2768577"/>
                <a:ext cx="2596160" cy="355547"/>
              </a:xfrm>
              <a:prstGeom prst="rect">
                <a:avLst/>
              </a:prstGeom>
              <a:blipFill>
                <a:blip r:embed="rId6"/>
                <a:stretch>
                  <a:fillRect l="-939" t="-3448" b="-15517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mc:AlternateContent xmlns:mc="http://schemas.openxmlformats.org/markup-compatibility/2006" xmlns:a14="http://schemas.microsoft.com/office/drawing/2010/main">
        <mc:Choice Requires="a14">
          <p:sp>
            <p:nvSpPr>
              <p:cNvPr id="2" name="object 2"/>
              <p:cNvSpPr txBox="1"/>
              <p:nvPr/>
            </p:nvSpPr>
            <p:spPr>
              <a:xfrm>
                <a:off x="82600" y="60916"/>
                <a:ext cx="3056255" cy="824649"/>
              </a:xfrm>
              <a:prstGeom prst="rect">
                <a:avLst/>
              </a:prstGeom>
            </p:spPr>
            <p:txBody>
              <a:bodyPr vert="horz" wrap="square" lIns="0" tIns="15240" rIns="0" bIns="0" rtlCol="0">
                <a:spAutoFit/>
              </a:bodyPr>
              <a:lstStyle/>
              <a:p>
                <a:pPr marL="25400">
                  <a:lnSpc>
                    <a:spcPct val="100000"/>
                  </a:lnSpc>
                  <a:spcBef>
                    <a:spcPts val="120"/>
                  </a:spcBef>
                </a:pPr>
                <a:r>
                  <a:rPr sz="1700" spc="-55" dirty="0">
                    <a:solidFill>
                      <a:srgbClr val="191919"/>
                    </a:solidFill>
                    <a:latin typeface="Arial"/>
                    <a:cs typeface="Arial"/>
                  </a:rPr>
                  <a:t>Block</a:t>
                </a:r>
                <a:r>
                  <a:rPr sz="1700" spc="-30" dirty="0">
                    <a:solidFill>
                      <a:srgbClr val="191919"/>
                    </a:solidFill>
                    <a:latin typeface="Arial"/>
                    <a:cs typeface="Arial"/>
                  </a:rPr>
                  <a:t> </a:t>
                </a:r>
                <a:r>
                  <a:rPr sz="1700" spc="-10" dirty="0">
                    <a:solidFill>
                      <a:srgbClr val="191919"/>
                    </a:solidFill>
                    <a:latin typeface="Arial"/>
                    <a:cs typeface="Arial"/>
                  </a:rPr>
                  <a:t>diagram</a:t>
                </a:r>
                <a:endParaRPr sz="1700" dirty="0">
                  <a:latin typeface="Arial"/>
                  <a:cs typeface="Arial"/>
                </a:endParaRPr>
              </a:p>
              <a:p>
                <a:pPr>
                  <a:lnSpc>
                    <a:spcPct val="100000"/>
                  </a:lnSpc>
                  <a:spcBef>
                    <a:spcPts val="715"/>
                  </a:spcBef>
                </a:pPr>
                <a:endParaRPr sz="1700" dirty="0">
                  <a:latin typeface="Arial"/>
                  <a:cs typeface="Arial"/>
                </a:endParaRPr>
              </a:p>
              <a:p>
                <a:pPr marL="170815">
                  <a:lnSpc>
                    <a:spcPct val="100000"/>
                  </a:lnSpc>
                </a:pPr>
                <a:r>
                  <a:rPr sz="1800" spc="300" baseline="4629" dirty="0">
                    <a:solidFill>
                      <a:srgbClr val="7F7F7F"/>
                    </a:solidFill>
                    <a:latin typeface="Arial Unicode MS"/>
                    <a:cs typeface="Arial Unicode MS"/>
                  </a:rPr>
                  <a:t>▶ </a:t>
                </a:r>
                <a14:m>
                  <m:oMath xmlns:m="http://schemas.openxmlformats.org/officeDocument/2006/math">
                    <m:acc>
                      <m:accPr>
                        <m:chr m:val="̇"/>
                        <m:ctrlPr>
                          <a:rPr lang="en-US" altLang="zh-CN" sz="1200" b="0" i="1" spc="-585" dirty="0" smtClean="0">
                            <a:latin typeface="Cambria Math" panose="02040503050406030204" pitchFamily="18" charset="0"/>
                            <a:cs typeface="Arial"/>
                          </a:rPr>
                        </m:ctrlPr>
                      </m:accPr>
                      <m:e>
                        <m:acc>
                          <m:accPr>
                            <m:chr m:val="̂"/>
                            <m:ctrlPr>
                              <a:rPr lang="en-US" altLang="zh-CN" sz="1200" b="0" i="1" spc="-585" dirty="0" smtClean="0">
                                <a:latin typeface="Cambria Math" panose="02040503050406030204" pitchFamily="18" charset="0"/>
                                <a:cs typeface="Arial"/>
                              </a:rPr>
                            </m:ctrlPr>
                          </m:accPr>
                          <m:e>
                            <m:r>
                              <a:rPr lang="en-US" altLang="zh-CN" sz="1200" b="0" i="1" spc="-585" dirty="0" smtClean="0">
                                <a:latin typeface="Cambria Math" panose="02040503050406030204" pitchFamily="18" charset="0"/>
                                <a:cs typeface="Arial"/>
                              </a:rPr>
                              <m:t>𝑥</m:t>
                            </m:r>
                          </m:e>
                        </m:acc>
                      </m:e>
                    </m:acc>
                  </m:oMath>
                </a14:m>
                <a:r>
                  <a:rPr lang="en-US" altLang="zh-CN" sz="1200" spc="200" dirty="0">
                    <a:latin typeface="Arial"/>
                    <a:cs typeface="Arial"/>
                  </a:rPr>
                  <a:t>  </a:t>
                </a:r>
                <a:r>
                  <a:rPr sz="1200" spc="200" dirty="0">
                    <a:latin typeface="Arial"/>
                    <a:cs typeface="Arial"/>
                  </a:rPr>
                  <a:t>=</a:t>
                </a:r>
                <a:r>
                  <a:rPr sz="1200" spc="-10" dirty="0">
                    <a:latin typeface="Arial"/>
                    <a:cs typeface="Arial"/>
                  </a:rPr>
                  <a:t> </a:t>
                </a:r>
                <a:r>
                  <a:rPr sz="1200" i="1" spc="40" dirty="0">
                    <a:latin typeface="Arial"/>
                    <a:cs typeface="Arial"/>
                  </a:rPr>
                  <a:t>A</a:t>
                </a:r>
                <a:r>
                  <a:rPr sz="1200" i="1" spc="-480" dirty="0">
                    <a:latin typeface="Arial"/>
                    <a:cs typeface="Arial"/>
                  </a:rPr>
                  <a:t>x</a:t>
                </a:r>
                <a:r>
                  <a:rPr sz="1200" spc="40" dirty="0">
                    <a:latin typeface="Arial"/>
                    <a:cs typeface="Arial"/>
                  </a:rPr>
                  <a:t>ˆ</a:t>
                </a:r>
                <a:r>
                  <a:rPr sz="1200" spc="-85" dirty="0">
                    <a:latin typeface="Arial"/>
                    <a:cs typeface="Arial"/>
                  </a:rPr>
                  <a:t> </a:t>
                </a:r>
                <a:r>
                  <a:rPr sz="1200" spc="200" dirty="0">
                    <a:latin typeface="Arial"/>
                    <a:cs typeface="Arial"/>
                  </a:rPr>
                  <a:t>+</a:t>
                </a:r>
                <a:r>
                  <a:rPr sz="1200" spc="-75" dirty="0">
                    <a:latin typeface="Arial"/>
                    <a:cs typeface="Arial"/>
                  </a:rPr>
                  <a:t> </a:t>
                </a:r>
                <a:r>
                  <a:rPr sz="1200" i="1" spc="-20" dirty="0">
                    <a:latin typeface="Arial"/>
                    <a:cs typeface="Arial"/>
                  </a:rPr>
                  <a:t>Bu </a:t>
                </a:r>
                <a:r>
                  <a:rPr sz="1200" spc="200" dirty="0">
                    <a:latin typeface="Arial"/>
                    <a:cs typeface="Arial"/>
                  </a:rPr>
                  <a:t>+</a:t>
                </a:r>
                <a:r>
                  <a:rPr sz="1200" spc="-75" dirty="0">
                    <a:latin typeface="Arial"/>
                    <a:cs typeface="Arial"/>
                  </a:rPr>
                  <a:t> </a:t>
                </a:r>
                <a:r>
                  <a:rPr sz="1200" i="1" spc="-40" dirty="0">
                    <a:latin typeface="Arial"/>
                    <a:cs typeface="Arial"/>
                  </a:rPr>
                  <a:t>L</a:t>
                </a:r>
                <a:r>
                  <a:rPr sz="1200" i="1" spc="-135" dirty="0">
                    <a:latin typeface="Arial"/>
                    <a:cs typeface="Arial"/>
                  </a:rPr>
                  <a:t> </a:t>
                </a:r>
                <a:r>
                  <a:rPr sz="1200" dirty="0">
                    <a:latin typeface="Arial"/>
                    <a:cs typeface="Arial"/>
                  </a:rPr>
                  <a:t>(</a:t>
                </a:r>
                <a:r>
                  <a:rPr sz="1200" i="1" dirty="0">
                    <a:latin typeface="Arial"/>
                    <a:cs typeface="Arial"/>
                  </a:rPr>
                  <a:t>y</a:t>
                </a:r>
                <a:r>
                  <a:rPr sz="1200" i="1" spc="50" dirty="0">
                    <a:latin typeface="Arial"/>
                    <a:cs typeface="Arial"/>
                  </a:rPr>
                  <a:t> </a:t>
                </a:r>
                <a:r>
                  <a:rPr sz="1200" i="1" spc="200" dirty="0">
                    <a:latin typeface="Menlo"/>
                    <a:cs typeface="Menlo"/>
                  </a:rPr>
                  <a:t>−</a:t>
                </a:r>
                <a:r>
                  <a:rPr sz="1200" i="1" spc="-459" dirty="0">
                    <a:latin typeface="Menlo"/>
                    <a:cs typeface="Menlo"/>
                  </a:rPr>
                  <a:t> </a:t>
                </a:r>
                <a:r>
                  <a:rPr sz="1200" i="1" spc="-130" dirty="0">
                    <a:latin typeface="Arial"/>
                    <a:cs typeface="Arial"/>
                  </a:rPr>
                  <a:t>C</a:t>
                </a:r>
                <a:r>
                  <a:rPr sz="1200" i="1" spc="-190" dirty="0">
                    <a:latin typeface="Arial"/>
                    <a:cs typeface="Arial"/>
                  </a:rPr>
                  <a:t> </a:t>
                </a:r>
                <a:r>
                  <a:rPr sz="1200" i="1" spc="-450" dirty="0">
                    <a:latin typeface="Arial"/>
                    <a:cs typeface="Arial"/>
                  </a:rPr>
                  <a:t>x</a:t>
                </a:r>
                <a:r>
                  <a:rPr sz="1200" spc="55" dirty="0">
                    <a:latin typeface="Arial"/>
                    <a:cs typeface="Arial"/>
                  </a:rPr>
                  <a:t>ˆ</a:t>
                </a:r>
                <a:r>
                  <a:rPr sz="1200" spc="70" dirty="0">
                    <a:latin typeface="Arial"/>
                    <a:cs typeface="Arial"/>
                  </a:rPr>
                  <a:t>),</a:t>
                </a:r>
                <a:r>
                  <a:rPr sz="1200" spc="50" dirty="0">
                    <a:latin typeface="Arial"/>
                    <a:cs typeface="Arial"/>
                  </a:rPr>
                  <a:t> </a:t>
                </a:r>
                <a:r>
                  <a:rPr sz="1200" i="1" dirty="0">
                    <a:latin typeface="Arial"/>
                    <a:cs typeface="Arial"/>
                  </a:rPr>
                  <a:t>u</a:t>
                </a:r>
                <a:r>
                  <a:rPr sz="1200" i="1" spc="40" dirty="0">
                    <a:latin typeface="Arial"/>
                    <a:cs typeface="Arial"/>
                  </a:rPr>
                  <a:t> </a:t>
                </a:r>
                <a:r>
                  <a:rPr sz="1200" spc="200" dirty="0">
                    <a:latin typeface="Arial"/>
                    <a:cs typeface="Arial"/>
                  </a:rPr>
                  <a:t>=</a:t>
                </a:r>
                <a:r>
                  <a:rPr sz="1200" spc="-10" dirty="0">
                    <a:latin typeface="Arial"/>
                    <a:cs typeface="Arial"/>
                  </a:rPr>
                  <a:t> </a:t>
                </a:r>
                <a:r>
                  <a:rPr sz="1200" i="1" spc="100" dirty="0">
                    <a:latin typeface="Menlo"/>
                    <a:cs typeface="Menlo"/>
                  </a:rPr>
                  <a:t>−</a:t>
                </a:r>
                <a:r>
                  <a:rPr sz="1200" i="1" spc="100" dirty="0">
                    <a:latin typeface="Arial"/>
                    <a:cs typeface="Arial"/>
                  </a:rPr>
                  <a:t>K</a:t>
                </a:r>
                <a:r>
                  <a:rPr sz="1200" i="1" spc="-190" dirty="0">
                    <a:latin typeface="Arial"/>
                    <a:cs typeface="Arial"/>
                  </a:rPr>
                  <a:t> </a:t>
                </a:r>
                <a:r>
                  <a:rPr sz="1200" i="1" spc="-440" dirty="0">
                    <a:latin typeface="Arial"/>
                    <a:cs typeface="Arial"/>
                  </a:rPr>
                  <a:t>x</a:t>
                </a:r>
                <a:r>
                  <a:rPr sz="1200" spc="80" dirty="0">
                    <a:latin typeface="Arial"/>
                    <a:cs typeface="Arial"/>
                  </a:rPr>
                  <a:t>ˆ</a:t>
                </a:r>
                <a:r>
                  <a:rPr sz="1200" spc="-85" dirty="0">
                    <a:latin typeface="Arial"/>
                    <a:cs typeface="Arial"/>
                  </a:rPr>
                  <a:t> </a:t>
                </a:r>
                <a:r>
                  <a:rPr sz="1200" spc="200" dirty="0">
                    <a:latin typeface="Arial"/>
                    <a:cs typeface="Arial"/>
                  </a:rPr>
                  <a:t>+</a:t>
                </a:r>
                <a:r>
                  <a:rPr sz="1200" spc="-75" dirty="0">
                    <a:latin typeface="Arial"/>
                    <a:cs typeface="Arial"/>
                  </a:rPr>
                  <a:t> </a:t>
                </a:r>
                <a:r>
                  <a:rPr sz="1200" i="1" spc="-50" dirty="0">
                    <a:latin typeface="Arial"/>
                    <a:cs typeface="Arial"/>
                  </a:rPr>
                  <a:t>v</a:t>
                </a:r>
                <a:endParaRPr sz="1200" dirty="0">
                  <a:latin typeface="Arial"/>
                  <a:cs typeface="Arial"/>
                </a:endParaRPr>
              </a:p>
            </p:txBody>
          </p:sp>
        </mc:Choice>
        <mc:Fallback xmlns="">
          <p:sp>
            <p:nvSpPr>
              <p:cNvPr id="2" name="object 2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82600" y="60916"/>
                <a:ext cx="3056255" cy="824649"/>
              </a:xfrm>
              <a:prstGeom prst="rect">
                <a:avLst/>
              </a:prstGeom>
              <a:blipFill>
                <a:blip r:embed="rId2"/>
                <a:stretch>
                  <a:fillRect l="-3593" t="-6667" r="-1198" b="-11111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3" name="object 3"/>
          <p:cNvPicPr/>
          <p:nvPr/>
        </p:nvPicPr>
        <p:blipFill>
          <a:blip r:embed="rId3" cstate="print"/>
          <a:stretch>
            <a:fillRect/>
          </a:stretch>
        </p:blipFill>
        <p:spPr>
          <a:xfrm>
            <a:off x="797771" y="1003945"/>
            <a:ext cx="2916681" cy="1894833"/>
          </a:xfrm>
          <a:prstGeom prst="rect">
            <a:avLst/>
          </a:prstGeom>
        </p:spPr>
      </p:pic>
      <p:sp>
        <p:nvSpPr>
          <p:cNvPr id="4" name="object 4"/>
          <p:cNvSpPr/>
          <p:nvPr/>
        </p:nvSpPr>
        <p:spPr>
          <a:xfrm>
            <a:off x="0" y="3346272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52" y="0"/>
                </a:lnTo>
                <a:lnTo>
                  <a:pt x="1535976" y="0"/>
                </a:lnTo>
                <a:lnTo>
                  <a:pt x="0" y="0"/>
                </a:lnTo>
                <a:lnTo>
                  <a:pt x="0" y="109728"/>
                </a:lnTo>
                <a:lnTo>
                  <a:pt x="1535976" y="109728"/>
                </a:lnTo>
                <a:lnTo>
                  <a:pt x="3071952" y="109728"/>
                </a:lnTo>
                <a:lnTo>
                  <a:pt x="4607928" y="109728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5" name="object 5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6" name="object 6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Observers</a:t>
            </a:r>
            <a:r>
              <a:rPr sz="600" spc="135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and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Observer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State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 </a:t>
            </a: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4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7" name="object 7"/>
          <p:cNvSpPr txBox="1">
            <a:spLocks noGrp="1"/>
          </p:cNvSpPr>
          <p:nvPr>
            <p:ph type="sldNum" sz="quarter" idx="7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60"/>
              </a:spcBef>
            </a:pPr>
            <a:r>
              <a:rPr dirty="0"/>
              <a:t>26</a:t>
            </a:r>
            <a:r>
              <a:rPr spc="-40" dirty="0"/>
              <a:t> </a:t>
            </a:r>
            <a:r>
              <a:rPr spc="185" dirty="0"/>
              <a:t>/</a:t>
            </a:r>
            <a:r>
              <a:rPr spc="-40" dirty="0"/>
              <a:t> </a:t>
            </a:r>
            <a:r>
              <a:rPr spc="-25" dirty="0"/>
              <a:t>27</a:t>
            </a:r>
          </a:p>
        </p:txBody>
      </p:sp>
    </p:spTree>
  </p:cSld>
  <p:clrMapOvr>
    <a:masterClrMapping/>
  </p:clrMapOvr>
  <p:transition>
    <p:cut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object 2"/>
          <p:cNvSpPr txBox="1">
            <a:spLocks noGrp="1"/>
          </p:cNvSpPr>
          <p:nvPr>
            <p:ph type="title"/>
          </p:nvPr>
        </p:nvSpPr>
        <p:spPr>
          <a:prstGeom prst="rect">
            <a:avLst/>
          </a:prstGeom>
        </p:spPr>
        <p:txBody>
          <a:bodyPr vert="horz" wrap="square" lIns="0" tIns="1524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20"/>
              </a:spcBef>
            </a:pPr>
            <a:r>
              <a:rPr spc="-60" dirty="0"/>
              <a:t>The</a:t>
            </a:r>
            <a:r>
              <a:rPr spc="-5" dirty="0"/>
              <a:t> </a:t>
            </a:r>
            <a:r>
              <a:rPr spc="-120" dirty="0"/>
              <a:t>separation</a:t>
            </a:r>
            <a:r>
              <a:rPr dirty="0"/>
              <a:t> </a:t>
            </a:r>
            <a:r>
              <a:rPr spc="-100" dirty="0"/>
              <a:t>theorem</a:t>
            </a:r>
          </a:p>
        </p:txBody>
      </p:sp>
      <p:sp>
        <p:nvSpPr>
          <p:cNvPr id="3" name="object 3"/>
          <p:cNvSpPr txBox="1"/>
          <p:nvPr/>
        </p:nvSpPr>
        <p:spPr>
          <a:xfrm>
            <a:off x="215442" y="521802"/>
            <a:ext cx="1861008" cy="196849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 marL="38100">
              <a:lnSpc>
                <a:spcPct val="100000"/>
              </a:lnSpc>
              <a:spcBef>
                <a:spcPts val="9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359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80" dirty="0">
                <a:latin typeface="Arial"/>
                <a:cs typeface="Arial"/>
              </a:rPr>
              <a:t>closed-</a:t>
            </a:r>
            <a:r>
              <a:rPr sz="1200" spc="-40" dirty="0">
                <a:latin typeface="Arial"/>
                <a:cs typeface="Arial"/>
              </a:rPr>
              <a:t>loop</a:t>
            </a:r>
            <a:r>
              <a:rPr sz="1200" spc="50" dirty="0">
                <a:latin typeface="Arial"/>
                <a:cs typeface="Arial"/>
              </a:rPr>
              <a:t> </a:t>
            </a:r>
            <a:r>
              <a:rPr sz="1200" spc="-40" dirty="0">
                <a:latin typeface="Arial"/>
                <a:cs typeface="Arial"/>
              </a:rPr>
              <a:t>dynamics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6" name="object 16"/>
          <p:cNvSpPr txBox="1"/>
          <p:nvPr/>
        </p:nvSpPr>
        <p:spPr>
          <a:xfrm>
            <a:off x="215442" y="1357894"/>
            <a:ext cx="4337851" cy="1856739"/>
          </a:xfrm>
          <a:prstGeom prst="rect">
            <a:avLst/>
          </a:prstGeom>
        </p:spPr>
        <p:txBody>
          <a:bodyPr vert="horz" wrap="square" lIns="0" tIns="27305" rIns="0" bIns="0" rtlCol="0">
            <a:spAutoFit/>
          </a:bodyPr>
          <a:lstStyle/>
          <a:p>
            <a:pPr marL="230504" marR="698500" indent="-193040">
              <a:lnSpc>
                <a:spcPts val="1350"/>
              </a:lnSpc>
              <a:spcBef>
                <a:spcPts val="21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02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b="1" spc="-30" dirty="0">
                <a:latin typeface="Arial"/>
                <a:cs typeface="Arial"/>
              </a:rPr>
              <a:t>powerful</a:t>
            </a:r>
            <a:r>
              <a:rPr sz="1200" b="1" spc="25" dirty="0">
                <a:latin typeface="Arial"/>
                <a:cs typeface="Arial"/>
              </a:rPr>
              <a:t> </a:t>
            </a:r>
            <a:r>
              <a:rPr sz="1200" b="1" spc="-10" dirty="0">
                <a:latin typeface="Arial"/>
                <a:cs typeface="Arial"/>
              </a:rPr>
              <a:t>result:</a:t>
            </a:r>
            <a:r>
              <a:rPr sz="1200" b="1" spc="85" dirty="0">
                <a:latin typeface="Arial"/>
                <a:cs typeface="Arial"/>
              </a:rPr>
              <a:t> </a:t>
            </a:r>
            <a:r>
              <a:rPr sz="1200" b="1" spc="-25" dirty="0">
                <a:latin typeface="Arial"/>
                <a:cs typeface="Arial"/>
              </a:rPr>
              <a:t>separation</a:t>
            </a:r>
            <a:r>
              <a:rPr sz="1200" b="1" spc="25" dirty="0">
                <a:latin typeface="Arial"/>
                <a:cs typeface="Arial"/>
              </a:rPr>
              <a:t> </a:t>
            </a:r>
            <a:r>
              <a:rPr sz="1200" b="1" spc="-10" dirty="0">
                <a:latin typeface="Arial"/>
                <a:cs typeface="Arial"/>
              </a:rPr>
              <a:t>theorem:</a:t>
            </a:r>
            <a:r>
              <a:rPr sz="1200" b="1" spc="80" dirty="0">
                <a:latin typeface="Arial"/>
                <a:cs typeface="Arial"/>
              </a:rPr>
              <a:t> </a:t>
            </a:r>
            <a:r>
              <a:rPr sz="1200" spc="-80" dirty="0">
                <a:latin typeface="Arial"/>
                <a:cs typeface="Arial"/>
              </a:rPr>
              <a:t>closed-</a:t>
            </a:r>
            <a:r>
              <a:rPr sz="1200" spc="-25" dirty="0">
                <a:latin typeface="Arial"/>
                <a:cs typeface="Arial"/>
              </a:rPr>
              <a:t>loop </a:t>
            </a:r>
            <a:r>
              <a:rPr sz="1200" spc="-90" dirty="0">
                <a:latin typeface="Arial"/>
                <a:cs typeface="Arial"/>
              </a:rPr>
              <a:t>eigenvalues</a:t>
            </a:r>
            <a:r>
              <a:rPr sz="1200" spc="60" dirty="0">
                <a:latin typeface="Arial"/>
                <a:cs typeface="Arial"/>
              </a:rPr>
              <a:t> </a:t>
            </a:r>
            <a:r>
              <a:rPr sz="1200" spc="-65" dirty="0">
                <a:latin typeface="Arial"/>
                <a:cs typeface="Arial"/>
              </a:rPr>
              <a:t>consist</a:t>
            </a:r>
            <a:r>
              <a:rPr sz="1200" spc="60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of</a:t>
            </a:r>
            <a:endParaRPr sz="1200" dirty="0">
              <a:latin typeface="Arial"/>
              <a:cs typeface="Arial"/>
            </a:endParaRPr>
          </a:p>
          <a:p>
            <a:pPr marL="345440">
              <a:lnSpc>
                <a:spcPct val="100000"/>
              </a:lnSpc>
              <a:spcBef>
                <a:spcPts val="190"/>
              </a:spcBef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247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100" spc="-90" dirty="0">
                <a:latin typeface="Arial"/>
                <a:cs typeface="Arial"/>
              </a:rPr>
              <a:t>eigenvalues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of</a:t>
            </a:r>
            <a:r>
              <a:rPr sz="1100" spc="15" dirty="0">
                <a:latin typeface="Arial"/>
                <a:cs typeface="Arial"/>
              </a:rPr>
              <a:t> </a:t>
            </a:r>
            <a:r>
              <a:rPr sz="1100" i="1" spc="-20" dirty="0">
                <a:latin typeface="Arial"/>
                <a:cs typeface="Arial"/>
              </a:rPr>
              <a:t>A</a:t>
            </a:r>
            <a:r>
              <a:rPr sz="1100" i="1" spc="-65" dirty="0">
                <a:latin typeface="Arial"/>
                <a:cs typeface="Arial"/>
              </a:rPr>
              <a:t> </a:t>
            </a:r>
            <a:r>
              <a:rPr sz="1100" i="1" spc="175" dirty="0">
                <a:latin typeface="Menlo"/>
                <a:cs typeface="Menlo"/>
              </a:rPr>
              <a:t>−</a:t>
            </a:r>
            <a:r>
              <a:rPr sz="1100" i="1" spc="-420" dirty="0">
                <a:latin typeface="Menlo"/>
                <a:cs typeface="Menlo"/>
              </a:rPr>
              <a:t> </a:t>
            </a:r>
            <a:r>
              <a:rPr sz="1100" i="1" dirty="0">
                <a:latin typeface="Arial"/>
                <a:cs typeface="Arial"/>
              </a:rPr>
              <a:t>BK</a:t>
            </a:r>
            <a:r>
              <a:rPr sz="1100" i="1" spc="13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from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the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spc="-25" dirty="0">
                <a:latin typeface="Arial"/>
                <a:cs typeface="Arial"/>
              </a:rPr>
              <a:t>state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spc="-60" dirty="0">
                <a:latin typeface="Arial"/>
                <a:cs typeface="Arial"/>
              </a:rPr>
              <a:t>feedback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spc="-20" dirty="0">
                <a:latin typeface="Arial"/>
                <a:cs typeface="Arial"/>
              </a:rPr>
              <a:t>control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design</a:t>
            </a:r>
            <a:endParaRPr sz="1100" dirty="0">
              <a:latin typeface="Arial"/>
              <a:cs typeface="Arial"/>
            </a:endParaRPr>
          </a:p>
          <a:p>
            <a:pPr marL="345440">
              <a:lnSpc>
                <a:spcPct val="100000"/>
              </a:lnSpc>
              <a:spcBef>
                <a:spcPts val="35"/>
              </a:spcBef>
            </a:pPr>
            <a:r>
              <a:rPr sz="1650" spc="262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650" spc="247" baseline="7575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100" spc="-90" dirty="0">
                <a:latin typeface="Arial"/>
                <a:cs typeface="Arial"/>
              </a:rPr>
              <a:t>eigenvalues</a:t>
            </a:r>
            <a:r>
              <a:rPr sz="1100" spc="1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of</a:t>
            </a:r>
            <a:r>
              <a:rPr sz="1100" spc="15" dirty="0">
                <a:latin typeface="Arial"/>
                <a:cs typeface="Arial"/>
              </a:rPr>
              <a:t> </a:t>
            </a:r>
            <a:r>
              <a:rPr sz="1100" i="1" spc="-20" dirty="0">
                <a:latin typeface="Arial"/>
                <a:cs typeface="Arial"/>
              </a:rPr>
              <a:t>A</a:t>
            </a:r>
            <a:r>
              <a:rPr sz="1100" i="1" spc="-65" dirty="0">
                <a:latin typeface="Arial"/>
                <a:cs typeface="Arial"/>
              </a:rPr>
              <a:t> </a:t>
            </a:r>
            <a:r>
              <a:rPr sz="1100" i="1" spc="175" dirty="0">
                <a:latin typeface="Menlo"/>
                <a:cs typeface="Menlo"/>
              </a:rPr>
              <a:t>−</a:t>
            </a:r>
            <a:r>
              <a:rPr sz="1100" i="1" spc="-420" dirty="0">
                <a:latin typeface="Menlo"/>
                <a:cs typeface="Menlo"/>
              </a:rPr>
              <a:t> </a:t>
            </a:r>
            <a:r>
              <a:rPr sz="1100" i="1" dirty="0">
                <a:latin typeface="Arial"/>
                <a:cs typeface="Arial"/>
              </a:rPr>
              <a:t>LC</a:t>
            </a:r>
            <a:r>
              <a:rPr sz="1100" i="1" spc="135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from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dirty="0">
                <a:latin typeface="Arial"/>
                <a:cs typeface="Arial"/>
              </a:rPr>
              <a:t>the</a:t>
            </a:r>
            <a:r>
              <a:rPr sz="1100" spc="20" dirty="0">
                <a:latin typeface="Arial"/>
                <a:cs typeface="Arial"/>
              </a:rPr>
              <a:t> </a:t>
            </a:r>
            <a:r>
              <a:rPr sz="1100" spc="-75" dirty="0">
                <a:latin typeface="Arial"/>
                <a:cs typeface="Arial"/>
              </a:rPr>
              <a:t>observer</a:t>
            </a:r>
            <a:r>
              <a:rPr sz="1100" spc="15" dirty="0">
                <a:latin typeface="Arial"/>
                <a:cs typeface="Arial"/>
              </a:rPr>
              <a:t> </a:t>
            </a:r>
            <a:r>
              <a:rPr sz="1100" spc="-10" dirty="0">
                <a:latin typeface="Arial"/>
                <a:cs typeface="Arial"/>
              </a:rPr>
              <a:t>design</a:t>
            </a:r>
            <a:endParaRPr sz="1100" dirty="0">
              <a:latin typeface="Arial"/>
              <a:cs typeface="Arial"/>
            </a:endParaRPr>
          </a:p>
          <a:p>
            <a:pPr marL="38100">
              <a:lnSpc>
                <a:spcPct val="100000"/>
              </a:lnSpc>
              <a:spcBef>
                <a:spcPts val="320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 </a:t>
            </a:r>
            <a:r>
              <a:rPr sz="1200" spc="-65" dirty="0">
                <a:latin typeface="Arial"/>
                <a:cs typeface="Arial"/>
              </a:rPr>
              <a:t>can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spc="-75" dirty="0">
                <a:latin typeface="Arial"/>
                <a:cs typeface="Arial"/>
              </a:rPr>
              <a:t>design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K</a:t>
            </a:r>
            <a:r>
              <a:rPr sz="1200" i="1" spc="160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and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i="1" dirty="0">
                <a:latin typeface="Arial"/>
                <a:cs typeface="Arial"/>
              </a:rPr>
              <a:t>L</a:t>
            </a:r>
            <a:r>
              <a:rPr sz="1200" i="1" spc="25" dirty="0">
                <a:latin typeface="Arial"/>
                <a:cs typeface="Arial"/>
              </a:rPr>
              <a:t> </a:t>
            </a:r>
            <a:r>
              <a:rPr sz="1200" spc="-80" dirty="0">
                <a:latin typeface="Arial"/>
                <a:cs typeface="Arial"/>
              </a:rPr>
              <a:t>separately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spc="-105" dirty="0">
                <a:latin typeface="Arial"/>
                <a:cs typeface="Arial"/>
              </a:rPr>
              <a:t>based</a:t>
            </a:r>
            <a:r>
              <a:rPr sz="1200" spc="2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on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spc="-100" dirty="0">
                <a:latin typeface="Arial"/>
                <a:cs typeface="Arial"/>
              </a:rPr>
              <a:t>discussed</a:t>
            </a:r>
            <a:r>
              <a:rPr sz="1200" spc="25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tools</a:t>
            </a:r>
            <a:endParaRPr sz="1200" dirty="0">
              <a:latin typeface="Arial"/>
              <a:cs typeface="Arial"/>
            </a:endParaRPr>
          </a:p>
          <a:p>
            <a:pPr marL="230504" marR="30480" indent="-193040">
              <a:lnSpc>
                <a:spcPct val="100000"/>
              </a:lnSpc>
              <a:spcBef>
                <a:spcPts val="60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54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dirty="0">
                <a:latin typeface="Arial"/>
                <a:cs typeface="Arial"/>
              </a:rPr>
              <a:t>if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85" dirty="0">
                <a:latin typeface="Arial"/>
                <a:cs typeface="Arial"/>
              </a:rPr>
              <a:t>system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is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spc="-35" dirty="0">
                <a:latin typeface="Arial"/>
                <a:cs typeface="Arial"/>
              </a:rPr>
              <a:t>controllable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and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80" dirty="0">
                <a:latin typeface="Arial"/>
                <a:cs typeface="Arial"/>
              </a:rPr>
              <a:t>observable,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spc="-114" dirty="0">
                <a:latin typeface="Arial"/>
                <a:cs typeface="Arial"/>
              </a:rPr>
              <a:t>we</a:t>
            </a:r>
            <a:r>
              <a:rPr sz="1200" spc="30" dirty="0">
                <a:latin typeface="Arial"/>
                <a:cs typeface="Arial"/>
              </a:rPr>
              <a:t> </a:t>
            </a:r>
            <a:r>
              <a:rPr sz="1200" spc="-65" dirty="0">
                <a:latin typeface="Arial"/>
                <a:cs typeface="Arial"/>
              </a:rPr>
              <a:t>can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spc="-25" dirty="0">
                <a:latin typeface="Arial"/>
                <a:cs typeface="Arial"/>
              </a:rPr>
              <a:t>arbitrarily</a:t>
            </a:r>
            <a:r>
              <a:rPr sz="1200" spc="15" dirty="0">
                <a:latin typeface="Arial"/>
                <a:cs typeface="Arial"/>
              </a:rPr>
              <a:t> </a:t>
            </a:r>
            <a:r>
              <a:rPr sz="1200" spc="-65" dirty="0">
                <a:latin typeface="Arial"/>
                <a:cs typeface="Arial"/>
              </a:rPr>
              <a:t>assign </a:t>
            </a:r>
            <a:r>
              <a:rPr sz="1200" dirty="0">
                <a:latin typeface="Arial"/>
                <a:cs typeface="Arial"/>
              </a:rPr>
              <a:t>the</a:t>
            </a:r>
            <a:r>
              <a:rPr sz="1200" spc="-20" dirty="0">
                <a:latin typeface="Arial"/>
                <a:cs typeface="Arial"/>
              </a:rPr>
              <a:t> </a:t>
            </a:r>
            <a:r>
              <a:rPr sz="1200" spc="-80" dirty="0">
                <a:latin typeface="Arial"/>
                <a:cs typeface="Arial"/>
              </a:rPr>
              <a:t>closed-</a:t>
            </a:r>
            <a:r>
              <a:rPr sz="1200" spc="-40" dirty="0">
                <a:latin typeface="Arial"/>
                <a:cs typeface="Arial"/>
              </a:rPr>
              <a:t>loop</a:t>
            </a:r>
            <a:r>
              <a:rPr sz="1200" spc="-2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eigenvalues</a:t>
            </a:r>
            <a:endParaRPr sz="1200" dirty="0">
              <a:latin typeface="Arial"/>
              <a:cs typeface="Arial"/>
            </a:endParaRPr>
          </a:p>
          <a:p>
            <a:pPr marL="230504" marR="428625" indent="-193040">
              <a:lnSpc>
                <a:spcPct val="100000"/>
              </a:lnSpc>
              <a:spcBef>
                <a:spcPts val="605"/>
              </a:spcBef>
            </a:pPr>
            <a:r>
              <a:rPr sz="1800" spc="30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▶</a:t>
            </a:r>
            <a:r>
              <a:rPr sz="1800" spc="270" baseline="4629" dirty="0">
                <a:solidFill>
                  <a:srgbClr val="7F7F7F"/>
                </a:solidFill>
                <a:latin typeface="Arial Unicode MS"/>
                <a:cs typeface="Arial Unicode MS"/>
              </a:rPr>
              <a:t> </a:t>
            </a:r>
            <a:r>
              <a:rPr sz="1200" spc="-25" dirty="0">
                <a:latin typeface="Arial"/>
                <a:cs typeface="Arial"/>
              </a:rPr>
              <a:t>rule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of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thumb:</a:t>
            </a:r>
            <a:r>
              <a:rPr sz="1200" spc="120" dirty="0">
                <a:latin typeface="Arial"/>
                <a:cs typeface="Arial"/>
              </a:rPr>
              <a:t> </a:t>
            </a:r>
            <a:r>
              <a:rPr sz="1200" spc="-85" dirty="0">
                <a:latin typeface="Arial"/>
                <a:cs typeface="Arial"/>
              </a:rPr>
              <a:t>assign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85" dirty="0">
                <a:latin typeface="Arial"/>
                <a:cs typeface="Arial"/>
              </a:rPr>
              <a:t>observer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75" dirty="0">
                <a:latin typeface="Arial"/>
                <a:cs typeface="Arial"/>
              </a:rPr>
              <a:t>dynamics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dirty="0">
                <a:latin typeface="Arial"/>
                <a:cs typeface="Arial"/>
              </a:rPr>
              <a:t>to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50" dirty="0">
                <a:latin typeface="Arial"/>
                <a:cs typeface="Arial"/>
              </a:rPr>
              <a:t>be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40" dirty="0">
                <a:latin typeface="Arial"/>
                <a:cs typeface="Arial"/>
              </a:rPr>
              <a:t>faster</a:t>
            </a:r>
            <a:r>
              <a:rPr sz="1200" spc="10" dirty="0">
                <a:latin typeface="Arial"/>
                <a:cs typeface="Arial"/>
              </a:rPr>
              <a:t> </a:t>
            </a:r>
            <a:r>
              <a:rPr sz="1200" spc="-20" dirty="0">
                <a:latin typeface="Arial"/>
                <a:cs typeface="Arial"/>
              </a:rPr>
              <a:t>than </a:t>
            </a:r>
            <a:r>
              <a:rPr sz="1200" spc="-55" dirty="0">
                <a:latin typeface="Arial"/>
                <a:cs typeface="Arial"/>
              </a:rPr>
              <a:t>state-</a:t>
            </a:r>
            <a:r>
              <a:rPr sz="1200" spc="-65" dirty="0">
                <a:latin typeface="Arial"/>
                <a:cs typeface="Arial"/>
              </a:rPr>
              <a:t>feedback</a:t>
            </a:r>
            <a:r>
              <a:rPr sz="1200" spc="40" dirty="0">
                <a:latin typeface="Arial"/>
                <a:cs typeface="Arial"/>
              </a:rPr>
              <a:t> </a:t>
            </a:r>
            <a:r>
              <a:rPr sz="1200" spc="-10" dirty="0">
                <a:latin typeface="Arial"/>
                <a:cs typeface="Arial"/>
              </a:rPr>
              <a:t>dynamics</a:t>
            </a:r>
            <a:endParaRPr sz="1200" dirty="0">
              <a:latin typeface="Arial"/>
              <a:cs typeface="Arial"/>
            </a:endParaRPr>
          </a:p>
        </p:txBody>
      </p:sp>
      <p:sp>
        <p:nvSpPr>
          <p:cNvPr id="17" name="object 17"/>
          <p:cNvSpPr/>
          <p:nvPr/>
        </p:nvSpPr>
        <p:spPr>
          <a:xfrm>
            <a:off x="0" y="3346284"/>
            <a:ext cx="4608195" cy="109855"/>
          </a:xfrm>
          <a:custGeom>
            <a:avLst/>
            <a:gdLst/>
            <a:ahLst/>
            <a:cxnLst/>
            <a:rect l="l" t="t" r="r" b="b"/>
            <a:pathLst>
              <a:path w="4608195" h="109854">
                <a:moveTo>
                  <a:pt x="4607928" y="0"/>
                </a:moveTo>
                <a:lnTo>
                  <a:pt x="3071939" y="0"/>
                </a:lnTo>
                <a:lnTo>
                  <a:pt x="1535963" y="0"/>
                </a:lnTo>
                <a:lnTo>
                  <a:pt x="0" y="0"/>
                </a:lnTo>
                <a:lnTo>
                  <a:pt x="0" y="109715"/>
                </a:lnTo>
                <a:lnTo>
                  <a:pt x="1535963" y="109715"/>
                </a:lnTo>
                <a:lnTo>
                  <a:pt x="3071939" y="109715"/>
                </a:lnTo>
                <a:lnTo>
                  <a:pt x="4607928" y="109715"/>
                </a:lnTo>
                <a:lnTo>
                  <a:pt x="4607928" y="0"/>
                </a:lnTo>
                <a:close/>
              </a:path>
            </a:pathLst>
          </a:custGeom>
          <a:solidFill>
            <a:srgbClr val="E5E5E5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8" name="object 18"/>
          <p:cNvSpPr txBox="1">
            <a:spLocks noGrp="1"/>
          </p:cNvSpPr>
          <p:nvPr>
            <p:ph type="ftr" sz="quarter" idx="5"/>
          </p:nvPr>
        </p:nvSpPr>
        <p:spPr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pc="50" dirty="0"/>
              <a:t>Mod</a:t>
            </a:r>
            <a:r>
              <a:rPr spc="125" dirty="0"/>
              <a:t> </a:t>
            </a:r>
            <a:r>
              <a:rPr spc="10" dirty="0"/>
              <a:t>Ctrl</a:t>
            </a:r>
            <a:r>
              <a:rPr spc="130" dirty="0"/>
              <a:t> </a:t>
            </a:r>
            <a:r>
              <a:rPr spc="10" dirty="0"/>
              <a:t>Intro</a:t>
            </a:r>
            <a:r>
              <a:rPr spc="415" dirty="0"/>
              <a:t> </a:t>
            </a:r>
            <a:r>
              <a:rPr spc="50" dirty="0"/>
              <a:t>(w</a:t>
            </a:r>
            <a:r>
              <a:rPr spc="125" dirty="0"/>
              <a:t> </a:t>
            </a:r>
            <a:r>
              <a:rPr spc="10" dirty="0"/>
              <a:t>Matlab</a:t>
            </a:r>
            <a:r>
              <a:rPr spc="130" dirty="0"/>
              <a:t> </a:t>
            </a:r>
            <a:r>
              <a:rPr spc="125" dirty="0"/>
              <a:t>&amp;</a:t>
            </a:r>
            <a:r>
              <a:rPr spc="130" dirty="0"/>
              <a:t> </a:t>
            </a:r>
            <a:r>
              <a:rPr spc="-10" dirty="0"/>
              <a:t>Python)</a:t>
            </a:r>
          </a:p>
        </p:txBody>
      </p:sp>
      <p:sp>
        <p:nvSpPr>
          <p:cNvPr id="19" name="object 19"/>
          <p:cNvSpPr txBox="1"/>
          <p:nvPr/>
        </p:nvSpPr>
        <p:spPr>
          <a:xfrm>
            <a:off x="1665249" y="3338410"/>
            <a:ext cx="127762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Observers</a:t>
            </a:r>
            <a:r>
              <a:rPr sz="600" spc="135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and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Observer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State</a:t>
            </a:r>
            <a:r>
              <a:rPr sz="600" spc="14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 </a:t>
            </a:r>
            <a:r>
              <a:rPr sz="600" spc="30" dirty="0">
                <a:solidFill>
                  <a:srgbClr val="FF84BD"/>
                </a:solidFill>
                <a:latin typeface="Arial"/>
                <a:cs typeface="Arial"/>
                <a:hlinkClick r:id="rId2" action="ppaction://hlinksldjump"/>
              </a:rPr>
              <a:t>FB</a:t>
            </a:r>
            <a:endParaRPr sz="600">
              <a:latin typeface="Arial"/>
              <a:cs typeface="Arial"/>
            </a:endParaRPr>
          </a:p>
        </p:txBody>
      </p:sp>
      <p:sp>
        <p:nvSpPr>
          <p:cNvPr id="20" name="object 20"/>
          <p:cNvSpPr txBox="1"/>
          <p:nvPr/>
        </p:nvSpPr>
        <p:spPr>
          <a:xfrm>
            <a:off x="4275163" y="3338410"/>
            <a:ext cx="278130" cy="122555"/>
          </a:xfrm>
          <a:prstGeom prst="rect">
            <a:avLst/>
          </a:prstGeom>
        </p:spPr>
        <p:txBody>
          <a:bodyPr vert="horz" wrap="square" lIns="0" tIns="762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60"/>
              </a:spcBef>
            </a:pPr>
            <a:r>
              <a:rPr sz="600" dirty="0">
                <a:solidFill>
                  <a:srgbClr val="191919"/>
                </a:solidFill>
                <a:latin typeface="Arial"/>
                <a:cs typeface="Arial"/>
              </a:rPr>
              <a:t>27</a:t>
            </a:r>
            <a:r>
              <a:rPr sz="600" spc="-40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185" dirty="0">
                <a:solidFill>
                  <a:srgbClr val="191919"/>
                </a:solidFill>
                <a:latin typeface="Arial"/>
                <a:cs typeface="Arial"/>
              </a:rPr>
              <a:t>/</a:t>
            </a:r>
            <a:r>
              <a:rPr sz="600" spc="-40" dirty="0">
                <a:solidFill>
                  <a:srgbClr val="191919"/>
                </a:solidFill>
                <a:latin typeface="Arial"/>
                <a:cs typeface="Arial"/>
              </a:rPr>
              <a:t> </a:t>
            </a:r>
            <a:r>
              <a:rPr sz="600" spc="-25" dirty="0">
                <a:solidFill>
                  <a:srgbClr val="191919"/>
                </a:solidFill>
                <a:latin typeface="Arial"/>
                <a:cs typeface="Arial"/>
              </a:rPr>
              <a:t>27</a:t>
            </a:r>
            <a:endParaRPr sz="600">
              <a:latin typeface="Arial"/>
              <a:cs typeface="Arial"/>
            </a:endParaRP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E62EC337-5010-24C9-ABCC-B58DFDE78ED0}"/>
                  </a:ext>
                </a:extLst>
              </p:cNvPr>
              <p:cNvSpPr txBox="1"/>
              <p:nvPr/>
            </p:nvSpPr>
            <p:spPr>
              <a:xfrm>
                <a:off x="1005979" y="785684"/>
                <a:ext cx="2596160" cy="355547"/>
              </a:xfrm>
              <a:prstGeom prst="rect">
                <a:avLst/>
              </a:prstGeom>
              <a:noFill/>
            </p:spPr>
            <p:txBody>
              <a:bodyPr wrap="none" lIns="0" tIns="0" rIns="0" bIns="0" rtlCol="0">
                <a:spAutoFit/>
              </a:bodyPr>
              <a:lstStyle/>
              <a:p>
                <a:pPr/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f>
                        <m:fPr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fPr>
                        <m:num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</m:t>
                          </m:r>
                        </m:num>
                        <m:den>
                          <m: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  <m:t>𝑑𝑡</m:t>
                          </m:r>
                        </m:den>
                      </m:f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m:rPr>
                                    <m:brk m:alnAt="7"/>
                                  </m:rP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𝐵𝐾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𝐵𝐾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𝐴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−</m:t>
                                </m:r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𝐿𝐶</m:t>
                                </m:r>
                              </m:e>
                            </m:mr>
                          </m:m>
                        </m:e>
                      </m:d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𝑥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𝑒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+</m:t>
                      </m:r>
                      <m:d>
                        <m:dPr>
                          <m:begChr m:val="["/>
                          <m:endChr m:val="]"/>
                          <m:ctrlPr>
                            <a:rPr lang="en-US" altLang="zh-CN" sz="1200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plcHide m:val="on"/>
                              <m:mcs>
                                <m:mc>
                                  <m:mcPr>
                                    <m:count m:val="1"/>
                                    <m:mcJc m:val="center"/>
                                  </m:mcPr>
                                </m:mc>
                              </m:mcs>
                              <m:ctrlPr>
                                <a:rPr lang="en-US" altLang="zh-CN" sz="1200" b="0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𝐵</m:t>
                                </m:r>
                              </m:e>
                            </m:mr>
                            <m:mr>
                              <m:e>
                                <m:r>
                                  <a:rPr lang="en-US" altLang="zh-CN" sz="1200" b="0" i="1" smtClean="0">
                                    <a:latin typeface="Cambria Math" panose="02040503050406030204" pitchFamily="18" charset="0"/>
                                  </a:rPr>
                                  <m:t>0</m:t>
                                </m:r>
                              </m:e>
                            </m:mr>
                          </m:m>
                        </m:e>
                      </m:d>
                      <m:r>
                        <a:rPr lang="en-US" altLang="zh-CN" sz="1200" b="0" i="1" smtClean="0">
                          <a:latin typeface="Cambria Math" panose="02040503050406030204" pitchFamily="18" charset="0"/>
                        </a:rPr>
                        <m:t>𝑣</m:t>
                      </m:r>
                    </m:oMath>
                  </m:oMathPara>
                </a14:m>
                <a:endParaRPr lang="zh-CN" altLang="en-US" sz="1200" dirty="0"/>
              </a:p>
            </p:txBody>
          </p:sp>
        </mc:Choice>
        <mc:Fallback xmlns="">
          <p:sp>
            <p:nvSpPr>
              <p:cNvPr id="21" name="文本框 20">
                <a:extLst>
                  <a:ext uri="{FF2B5EF4-FFF2-40B4-BE49-F238E27FC236}">
                    <a16:creationId xmlns:a16="http://schemas.microsoft.com/office/drawing/2014/main" id="{E62EC337-5010-24C9-ABCC-B58DFDE78E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05979" y="785684"/>
                <a:ext cx="2596160" cy="355547"/>
              </a:xfrm>
              <a:prstGeom prst="rect">
                <a:avLst/>
              </a:prstGeom>
              <a:blipFill>
                <a:blip r:embed="rId3"/>
                <a:stretch>
                  <a:fillRect l="-704" t="-3448" r="-235" b="-13793"/>
                </a:stretch>
              </a:blipFill>
            </p:spPr>
            <p:txBody>
              <a:bodyPr/>
              <a:lstStyle/>
              <a:p>
                <a:r>
                  <a:rPr lang="zh-CN" altLang="en-US">
                    <a:noFill/>
                  </a:rPr>
                  <a:t> </a:t>
                </a:r>
              </a:p>
            </p:txBody>
          </p:sp>
        </mc:Fallback>
      </mc:AlternateContent>
    </p:spTree>
  </p:cSld>
  <p:clrMapOvr>
    <a:masterClrMapping/>
  </p:clrMapOvr>
  <p:transition>
    <p:cut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369</TotalTime>
  <Words>2819</Words>
  <Application>Microsoft Office PowerPoint</Application>
  <PresentationFormat>自定义</PresentationFormat>
  <Paragraphs>316</Paragraphs>
  <Slides>27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6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27</vt:i4>
      </vt:variant>
    </vt:vector>
  </HeadingPairs>
  <TitlesOfParts>
    <vt:vector size="34" baseType="lpstr">
      <vt:lpstr>Arial Unicode MS</vt:lpstr>
      <vt:lpstr>Hack</vt:lpstr>
      <vt:lpstr>Menlo</vt:lpstr>
      <vt:lpstr>Arial</vt:lpstr>
      <vt:lpstr>Cambria Math</vt:lpstr>
      <vt:lpstr>Times New Roman</vt:lpstr>
      <vt:lpstr>Office Theme</vt:lpstr>
      <vt:lpstr>Observer and Observer State Feedback</vt:lpstr>
      <vt:lpstr>Introduction</vt:lpstr>
      <vt:lpstr>Open-loop observer</vt:lpstr>
      <vt:lpstr>Luenberger (closed-loop) observer concept</vt:lpstr>
      <vt:lpstr>Luenberger (closed-loop) observer algorithm</vt:lpstr>
      <vt:lpstr>Luenberger (closed-loop) observer error dynamics</vt:lpstr>
      <vt:lpstr>Luenberger (closed-loop) observer</vt:lpstr>
      <vt:lpstr>Observer eigenvalue placement: o.c.f.</vt:lpstr>
      <vt:lpstr>Observer eigenvalue placement: o.c.f.</vt:lpstr>
      <vt:lpstr>Observer eigenvalue placement: o.c.f.</vt:lpstr>
      <vt:lpstr>General observer eigenvalue placement</vt:lpstr>
      <vt:lpstr>General observer eigenvalue placement</vt:lpstr>
      <vt:lpstr>PowerPoint 演示文稿</vt:lpstr>
      <vt:lpstr>PowerPoint 演示文稿</vt:lpstr>
      <vt:lpstr>PowerPoint 演示文稿</vt:lpstr>
      <vt:lpstr>Luenberger observer summary</vt:lpstr>
      <vt:lpstr>Luenberger observer summary</vt:lpstr>
      <vt:lpstr>Discrete-time observers: Introduction</vt:lpstr>
      <vt:lpstr>Discrete-time full state observer</vt:lpstr>
      <vt:lpstr>DT full state observer with predictor</vt:lpstr>
      <vt:lpstr>DT full state observer with predictor</vt:lpstr>
      <vt:lpstr>Example</vt:lpstr>
      <vt:lpstr>1. Concepts</vt:lpstr>
      <vt:lpstr>Observer state feedback</vt:lpstr>
      <vt:lpstr>Closed-loop dynamics</vt:lpstr>
      <vt:lpstr>PowerPoint 演示文稿</vt:lpstr>
      <vt:lpstr>The separation theorem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Shuan Cheng</cp:lastModifiedBy>
  <cp:revision>1</cp:revision>
  <dcterms:created xsi:type="dcterms:W3CDTF">2025-07-12T07:58:44Z</dcterms:created>
  <dcterms:modified xsi:type="dcterms:W3CDTF">2025-11-22T05:56:58Z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2025-01-17T00:00:00Z</vt:filetime>
  </property>
  <property fmtid="{D5CDD505-2E9C-101B-9397-08002B2CF9AE}" pid="3" name="Creator">
    <vt:lpwstr>LaTeX with Beamer class</vt:lpwstr>
  </property>
  <property fmtid="{D5CDD505-2E9C-101B-9397-08002B2CF9AE}" pid="4" name="LastSaved">
    <vt:filetime>2025-07-12T00:00:00Z</vt:filetime>
  </property>
  <property fmtid="{D5CDD505-2E9C-101B-9397-08002B2CF9AE}" pid="5" name="PTEX.Fullbanner">
    <vt:lpwstr>This is pdfTeX, Version 3.141592653-2.6-1.40.26 (TeX Live 2024) kpathsea version 6.4.0</vt:lpwstr>
  </property>
  <property fmtid="{D5CDD505-2E9C-101B-9397-08002B2CF9AE}" pid="6" name="Producer">
    <vt:lpwstr>pdfTeX-1.40.26</vt:lpwstr>
  </property>
</Properties>
</file>